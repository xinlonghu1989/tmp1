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lang="ja-JP" sz="1800" kern="1200">
        <a:solidFill>
          <a:schemeClr val="tx1"/>
        </a:solidFill>
        <a:latin typeface="+mn-lt"/>
        <a:ea typeface="+mn-ea"/>
        <a:cs typeface="+mn-cs"/>
      </a:defRPr>
    </a:lvl1pPr>
    <a:lvl2pPr marL="457200" algn="l" defTabSz="914400" rtl="0" eaLnBrk="1" latinLnBrk="0" hangingPunct="1">
      <a:defRPr lang="ja-JP" sz="1800" kern="1200">
        <a:solidFill>
          <a:schemeClr val="tx1"/>
        </a:solidFill>
        <a:latin typeface="+mn-lt"/>
        <a:ea typeface="+mn-ea"/>
        <a:cs typeface="+mn-cs"/>
      </a:defRPr>
    </a:lvl2pPr>
    <a:lvl3pPr marL="914400" algn="l" defTabSz="914400" rtl="0" eaLnBrk="1" latinLnBrk="0" hangingPunct="1">
      <a:defRPr lang="ja-JP" sz="1800" kern="1200">
        <a:solidFill>
          <a:schemeClr val="tx1"/>
        </a:solidFill>
        <a:latin typeface="+mn-lt"/>
        <a:ea typeface="+mn-ea"/>
        <a:cs typeface="+mn-cs"/>
      </a:defRPr>
    </a:lvl3pPr>
    <a:lvl4pPr marL="1371600" algn="l" defTabSz="914400" rtl="0" eaLnBrk="1" latinLnBrk="0" hangingPunct="1">
      <a:defRPr lang="ja-JP" sz="1800" kern="1200">
        <a:solidFill>
          <a:schemeClr val="tx1"/>
        </a:solidFill>
        <a:latin typeface="+mn-lt"/>
        <a:ea typeface="+mn-ea"/>
        <a:cs typeface="+mn-cs"/>
      </a:defRPr>
    </a:lvl4pPr>
    <a:lvl5pPr marL="1828800" algn="l" defTabSz="914400" rtl="0" eaLnBrk="1" latinLnBrk="0" hangingPunct="1">
      <a:defRPr lang="ja-JP" sz="1800" kern="1200">
        <a:solidFill>
          <a:schemeClr val="tx1"/>
        </a:solidFill>
        <a:latin typeface="+mn-lt"/>
        <a:ea typeface="+mn-ea"/>
        <a:cs typeface="+mn-cs"/>
      </a:defRPr>
    </a:lvl5pPr>
    <a:lvl6pPr marL="2286000" algn="l" defTabSz="914400" rtl="0" eaLnBrk="1" latinLnBrk="0" hangingPunct="1">
      <a:defRPr lang="ja-JP" sz="1800" kern="1200">
        <a:solidFill>
          <a:schemeClr val="tx1"/>
        </a:solidFill>
        <a:latin typeface="+mn-lt"/>
        <a:ea typeface="+mn-ea"/>
        <a:cs typeface="+mn-cs"/>
      </a:defRPr>
    </a:lvl6pPr>
    <a:lvl7pPr marL="2743200" algn="l" defTabSz="914400" rtl="0" eaLnBrk="1" latinLnBrk="0" hangingPunct="1">
      <a:defRPr lang="ja-JP" sz="1800" kern="1200">
        <a:solidFill>
          <a:schemeClr val="tx1"/>
        </a:solidFill>
        <a:latin typeface="+mn-lt"/>
        <a:ea typeface="+mn-ea"/>
        <a:cs typeface="+mn-cs"/>
      </a:defRPr>
    </a:lvl7pPr>
    <a:lvl8pPr marL="3200400" algn="l" defTabSz="914400" rtl="0" eaLnBrk="1" latinLnBrk="0" hangingPunct="1">
      <a:defRPr lang="ja-JP" sz="1800" kern="1200">
        <a:solidFill>
          <a:schemeClr val="tx1"/>
        </a:solidFill>
        <a:latin typeface="+mn-lt"/>
        <a:ea typeface="+mn-ea"/>
        <a:cs typeface="+mn-cs"/>
      </a:defRPr>
    </a:lvl8pPr>
    <a:lvl9pPr marL="3657600" algn="l" defTabSz="914400" rtl="0" eaLnBrk="1" latinLnBrk="0" hangingPunct="1">
      <a:defRPr lang="ja-JP"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ja-JP" sz="1200"/>
            </a:lvl1pPr>
          </a:lstStyle>
          <a:p>
            <a:endParaRPr lang="ja-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ja-JP" sz="1200"/>
            </a:lvl1pPr>
          </a:lstStyle>
          <a:p>
            <a:fld id="{5282F153-3F37-0F45-9E97-73ACFA13230C}" type="datetimeFigureOut">
              <a:rPr lang="ja-JP"/>
              <a:t>7/23/19</a:t>
            </a:fld>
            <a:endParaRPr lang="ja-JP"/>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t>Click to edit Master text styles</a:t>
            </a:r>
          </a:p>
          <a:p>
            <a:pPr lvl="1"/>
            <a:r>
              <a:rPr lang="ja-JP"/>
              <a:t>Second level</a:t>
            </a:r>
          </a:p>
          <a:p>
            <a:pPr lvl="2"/>
            <a:r>
              <a:rPr lang="ja-JP"/>
              <a:t>Third level</a:t>
            </a:r>
          </a:p>
          <a:p>
            <a:pPr lvl="3"/>
            <a:r>
              <a:rPr lang="ja-JP"/>
              <a:t>Fourth level</a:t>
            </a:r>
          </a:p>
          <a:p>
            <a:pPr lvl="4"/>
            <a:r>
              <a:rPr lang="ja-JP"/>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ja-JP" sz="1200"/>
            </a:lvl1pPr>
          </a:lstStyle>
          <a:p>
            <a:endParaRPr lang="ja-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ja-JP" sz="1200"/>
            </a:lvl1pPr>
          </a:lstStyle>
          <a:p>
            <a:fld id="{CE5E9CC1-C706-0F49-92D6-E571CC5EEA8F}" type="slidenum">
              <a:rPr lang="ja-JP"/>
              <a:t>‹#›</a:t>
            </a:fld>
            <a:endParaRPr lang="ja-JP"/>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lang="ja-JP" sz="1200" kern="1200">
        <a:solidFill>
          <a:schemeClr val="tx1"/>
        </a:solidFill>
        <a:latin typeface="+mn-lt"/>
        <a:ea typeface="+mn-ea"/>
        <a:cs typeface="+mn-cs"/>
      </a:defRPr>
    </a:lvl1pPr>
    <a:lvl2pPr marL="457200" algn="l" defTabSz="914400" rtl="0" eaLnBrk="1" latinLnBrk="0" hangingPunct="1">
      <a:defRPr lang="ja-JP" sz="1200" kern="1200">
        <a:solidFill>
          <a:schemeClr val="tx1"/>
        </a:solidFill>
        <a:latin typeface="+mn-lt"/>
        <a:ea typeface="+mn-ea"/>
        <a:cs typeface="+mn-cs"/>
      </a:defRPr>
    </a:lvl2pPr>
    <a:lvl3pPr marL="914400" algn="l" defTabSz="914400" rtl="0" eaLnBrk="1" latinLnBrk="0" hangingPunct="1">
      <a:defRPr lang="ja-JP" sz="1200" kern="1200">
        <a:solidFill>
          <a:schemeClr val="tx1"/>
        </a:solidFill>
        <a:latin typeface="+mn-lt"/>
        <a:ea typeface="+mn-ea"/>
        <a:cs typeface="+mn-cs"/>
      </a:defRPr>
    </a:lvl3pPr>
    <a:lvl4pPr marL="1371600" algn="l" defTabSz="914400" rtl="0" eaLnBrk="1" latinLnBrk="0" hangingPunct="1">
      <a:defRPr lang="ja-JP" sz="1200" kern="1200">
        <a:solidFill>
          <a:schemeClr val="tx1"/>
        </a:solidFill>
        <a:latin typeface="+mn-lt"/>
        <a:ea typeface="+mn-ea"/>
        <a:cs typeface="+mn-cs"/>
      </a:defRPr>
    </a:lvl4pPr>
    <a:lvl5pPr marL="1828800" algn="l" defTabSz="914400" rtl="0" eaLnBrk="1" latinLnBrk="0" hangingPunct="1">
      <a:defRPr lang="ja-JP" sz="1200" kern="1200">
        <a:solidFill>
          <a:schemeClr val="tx1"/>
        </a:solidFill>
        <a:latin typeface="+mn-lt"/>
        <a:ea typeface="+mn-ea"/>
        <a:cs typeface="+mn-cs"/>
      </a:defRPr>
    </a:lvl5pPr>
    <a:lvl6pPr marL="2286000" algn="l" defTabSz="914400" rtl="0" eaLnBrk="1" latinLnBrk="0" hangingPunct="1">
      <a:defRPr lang="ja-JP" sz="1200" kern="1200">
        <a:solidFill>
          <a:schemeClr val="tx1"/>
        </a:solidFill>
        <a:latin typeface="+mn-lt"/>
        <a:ea typeface="+mn-ea"/>
        <a:cs typeface="+mn-cs"/>
      </a:defRPr>
    </a:lvl6pPr>
    <a:lvl7pPr marL="2743200" algn="l" defTabSz="914400" rtl="0" eaLnBrk="1" latinLnBrk="0" hangingPunct="1">
      <a:defRPr lang="ja-JP" sz="1200" kern="1200">
        <a:solidFill>
          <a:schemeClr val="tx1"/>
        </a:solidFill>
        <a:latin typeface="+mn-lt"/>
        <a:ea typeface="+mn-ea"/>
        <a:cs typeface="+mn-cs"/>
      </a:defRPr>
    </a:lvl7pPr>
    <a:lvl8pPr marL="3200400" algn="l" defTabSz="914400" rtl="0" eaLnBrk="1" latinLnBrk="0" hangingPunct="1">
      <a:defRPr lang="ja-JP" sz="1200" kern="1200">
        <a:solidFill>
          <a:schemeClr val="tx1"/>
        </a:solidFill>
        <a:latin typeface="+mn-lt"/>
        <a:ea typeface="+mn-ea"/>
        <a:cs typeface="+mn-cs"/>
      </a:defRPr>
    </a:lvl8pPr>
    <a:lvl9pPr marL="3657600" algn="l" defTabSz="914400" rtl="0" eaLnBrk="1" latinLnBrk="0" hangingPunct="1">
      <a:defRPr lang="ja-JP"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1</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2</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3</a:t>
            </a:fld>
            <a:endParaRPr lang="ja-JP"/>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
            </a:r>
            <a:endParaRPr lang="ja-JP" dirty="0"/>
          </a:p>
        </p:txBody>
      </p:sp>
      <p:sp>
        <p:nvSpPr>
          <p:cNvPr id="4" name="Slide Number Placeholder 3"/>
          <p:cNvSpPr>
            <a:spLocks noGrp="1"/>
          </p:cNvSpPr>
          <p:nvPr>
            <p:ph type="sldNum" sz="quarter" idx="10"/>
          </p:nvPr>
        </p:nvSpPr>
        <p:spPr/>
        <p:txBody>
          <a:bodyPr/>
          <a:lstStyle/>
          <a:p>
            <a:fld id="{F7021451-1387-4CA6-816F-3879F97B5CBC}" type="slidenum">
              <a:rPr lang="ja-JP"/>
              <a:t>4</a:t>
            </a:fld>
            <a:endParaRPr lang="ja-JP"/>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lang="ja-JP"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lang="ja-JP"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lang="ja-JP"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lang="ja-JP"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lang="ja-JP"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lang="ja-JP"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lang="ja-JP"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ja-JP"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ja-JP"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ja-JP" sz="2000" kern="1200">
          <a:solidFill>
            <a:schemeClr val="tx1"/>
          </a:solidFill>
          <a:latin typeface="+mn-lt"/>
          <a:ea typeface="+mn-ea"/>
          <a:cs typeface="+mn-cs"/>
        </a:defRPr>
      </a:lvl9pPr>
    </p:bodyStyle>
    <p:otherStyle>
      <a:defPPr>
        <a:defRPr lang="ja-JP"/>
      </a:defPPr>
      <a:lvl1pPr marL="0" algn="l" defTabSz="914400" rtl="0" eaLnBrk="1" latinLnBrk="0" hangingPunct="1">
        <a:defRPr lang="ja-JP" sz="1800" kern="1200">
          <a:solidFill>
            <a:schemeClr val="tx1"/>
          </a:solidFill>
          <a:latin typeface="+mn-lt"/>
          <a:ea typeface="+mn-ea"/>
          <a:cs typeface="+mn-cs"/>
        </a:defRPr>
      </a:lvl1pPr>
      <a:lvl2pPr marL="457200" algn="l" defTabSz="914400" rtl="0" eaLnBrk="1" latinLnBrk="0" hangingPunct="1">
        <a:defRPr lang="ja-JP" sz="1800" kern="1200">
          <a:solidFill>
            <a:schemeClr val="tx1"/>
          </a:solidFill>
          <a:latin typeface="+mn-lt"/>
          <a:ea typeface="+mn-ea"/>
          <a:cs typeface="+mn-cs"/>
        </a:defRPr>
      </a:lvl2pPr>
      <a:lvl3pPr marL="914400" algn="l" defTabSz="914400" rtl="0" eaLnBrk="1" latinLnBrk="0" hangingPunct="1">
        <a:defRPr lang="ja-JP" sz="1800" kern="1200">
          <a:solidFill>
            <a:schemeClr val="tx1"/>
          </a:solidFill>
          <a:latin typeface="+mn-lt"/>
          <a:ea typeface="+mn-ea"/>
          <a:cs typeface="+mn-cs"/>
        </a:defRPr>
      </a:lvl3pPr>
      <a:lvl4pPr marL="1371600" algn="l" defTabSz="914400" rtl="0" eaLnBrk="1" latinLnBrk="0" hangingPunct="1">
        <a:defRPr lang="ja-JP" sz="1800" kern="1200">
          <a:solidFill>
            <a:schemeClr val="tx1"/>
          </a:solidFill>
          <a:latin typeface="+mn-lt"/>
          <a:ea typeface="+mn-ea"/>
          <a:cs typeface="+mn-cs"/>
        </a:defRPr>
      </a:lvl4pPr>
      <a:lvl5pPr marL="1828800" algn="l" defTabSz="914400" rtl="0" eaLnBrk="1" latinLnBrk="0" hangingPunct="1">
        <a:defRPr lang="ja-JP" sz="1800" kern="1200">
          <a:solidFill>
            <a:schemeClr val="tx1"/>
          </a:solidFill>
          <a:latin typeface="+mn-lt"/>
          <a:ea typeface="+mn-ea"/>
          <a:cs typeface="+mn-cs"/>
        </a:defRPr>
      </a:lvl5pPr>
      <a:lvl6pPr marL="2286000" algn="l" defTabSz="914400" rtl="0" eaLnBrk="1" latinLnBrk="0" hangingPunct="1">
        <a:defRPr lang="ja-JP" sz="1800" kern="1200">
          <a:solidFill>
            <a:schemeClr val="tx1"/>
          </a:solidFill>
          <a:latin typeface="+mn-lt"/>
          <a:ea typeface="+mn-ea"/>
          <a:cs typeface="+mn-cs"/>
        </a:defRPr>
      </a:lvl6pPr>
      <a:lvl7pPr marL="2743200" algn="l" defTabSz="914400" rtl="0" eaLnBrk="1" latinLnBrk="0" hangingPunct="1">
        <a:defRPr lang="ja-JP" sz="1800" kern="1200">
          <a:solidFill>
            <a:schemeClr val="tx1"/>
          </a:solidFill>
          <a:latin typeface="+mn-lt"/>
          <a:ea typeface="+mn-ea"/>
          <a:cs typeface="+mn-cs"/>
        </a:defRPr>
      </a:lvl7pPr>
      <a:lvl8pPr marL="3200400" algn="l" defTabSz="914400" rtl="0" eaLnBrk="1" latinLnBrk="0" hangingPunct="1">
        <a:defRPr lang="ja-JP" sz="1800" kern="1200">
          <a:solidFill>
            <a:schemeClr val="tx1"/>
          </a:solidFill>
          <a:latin typeface="+mn-lt"/>
          <a:ea typeface="+mn-ea"/>
          <a:cs typeface="+mn-cs"/>
        </a:defRPr>
      </a:lvl8pPr>
      <a:lvl9pPr marL="3657600" algn="l" defTabSz="914400" rtl="0" eaLnBrk="1" latinLnBrk="0" hangingPunct="1">
        <a:defRPr lang="ja-JP"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ja-JP" sz="900" b="1" spc="200" kern="0" dirty="0">
                <a:solidFill>
                  <a:srgbClr val="5F8C11"/>
                </a:solidFill>
                <a:latin typeface="Arial" pitchFamily="34" charset="0"/>
                <a:ea typeface="Arial" pitchFamily="34" charset="-122"/>
                <a:cs typeface="Arial" pitchFamily="34" charset="-120"/>
              </a:rPr>
              <a:t>NEXT PHASE PROPOSAL — 01 / EXECUTIVE SUMMARY</a:t>
            </a:r>
            <a:endParaRPr lang="ja-JP" sz="900" dirty="0"/>
          </a:p>
        </p:txBody>
      </p:sp>
      <p:sp>
        <p:nvSpPr>
          <p:cNvPr id="3" name="Text 1"/>
          <p:cNvSpPr txBox="1"/>
          <p:nvPr/>
        </p:nvSpPr>
        <p:spPr>
          <a:xfrm>
            <a:off x="548640" y="603504"/>
            <a:ext cx="11091672" cy="777240"/>
          </a:xfrm>
          <a:prstGeom prst="rect">
            <a:avLst/>
          </a:prstGeom>
          <a:noFill/>
          <a:ln/>
        </p:spPr>
        <p:txBody>
          <a:bodyPr wrap="square" lIns="0" tIns="0" rIns="0" bIns="0" rtlCol="0" anchor="ctr"/>
          <a:lstStyle/>
          <a:p>
            <a:pPr indent="0" marL="0">
              <a:lnSpc>
                <a:spcPct val="125000"/>
              </a:lnSpc>
              <a:buNone/>
            </a:pPr>
            <a:r>
              <a:rPr lang="ja-JP" sz="1850" b="1" dirty="0">
                <a:solidFill>
                  <a:srgbClr val="1E2226"/>
                </a:solidFill>
                <a:latin typeface="Yu Gothic" pitchFamily="34" charset="0"/>
                <a:ea typeface="Yu Gothic" pitchFamily="34" charset="-122"/>
                <a:cs typeface="Yu Gothic" pitchFamily="34" charset="-120"/>
              </a:rPr>
              <a:t>投資の「量」は宣言された。問われるのは「質」</a:t>
            </a:r>
            <a:endParaRPr lang="ja-JP" sz="1850" dirty="0"/>
          </a:p>
          <a:p>
            <a:pPr indent="0" marL="0">
              <a:lnSpc>
                <a:spcPct val="125000"/>
              </a:lnSpc>
              <a:buNone/>
            </a:pPr>
            <a:r>
              <a:rPr lang="ja-JP" sz="1850" b="1" dirty="0">
                <a:solidFill>
                  <a:srgbClr val="1E2226"/>
                </a:solidFill>
                <a:latin typeface="Yu Gothic" pitchFamily="34" charset="0"/>
                <a:ea typeface="Yu Gothic" pitchFamily="34" charset="-122"/>
                <a:cs typeface="Yu Gothic" pitchFamily="34" charset="-120"/>
              </a:rPr>
              <a:t>——</a:t>
            </a:r>
            <a:pPr indent="0" marL="0">
              <a:lnSpc>
                <a:spcPct val="125000"/>
              </a:lnSpc>
              <a:buNone/>
            </a:pPr>
            <a:r>
              <a:rPr lang="ja-JP" sz="1850" b="1" dirty="0">
                <a:solidFill>
                  <a:srgbClr val="5F8C11"/>
                </a:solidFill>
                <a:latin typeface="Yu Gothic" pitchFamily="34" charset="0"/>
                <a:ea typeface="Yu Gothic" pitchFamily="34" charset="-122"/>
                <a:cs typeface="Yu Gothic" pitchFamily="34" charset="-120"/>
              </a:rPr>
              <a:t>判断を、組織の資産に変える</a:t>
            </a:r>
            <a:pPr indent="0" marL="0">
              <a:lnSpc>
                <a:spcPct val="125000"/>
              </a:lnSpc>
              <a:buNone/>
            </a:pPr>
            <a:r>
              <a:rPr lang="ja-JP" sz="1850" b="1" dirty="0">
                <a:solidFill>
                  <a:srgbClr val="1E2226"/>
                </a:solidFill>
                <a:latin typeface="Yu Gothic" pitchFamily="34" charset="0"/>
                <a:ea typeface="Yu Gothic" pitchFamily="34" charset="-122"/>
                <a:cs typeface="Yu Gothic" pitchFamily="34" charset="-120"/>
              </a:rPr>
              <a:t>、3つのAI</a:t>
            </a:r>
            <a:endParaRPr lang="ja-JP" sz="18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960120"/>
                <a:gridCol w="3376879"/>
                <a:gridCol w="3376879"/>
                <a:gridCol w="3377794"/>
              </a:tblGrid>
              <a:tr h="548640">
                <a:tc>
                  <a:txBody>
                    <a:bodyPr/>
                    <a:lstStyle/>
                    <a:p>
                      <a:pPr indent="0" marL="0">
                        <a:buNone/>
                      </a:pPr>
                      <a:endParaRPr lang="ja-JP" sz="1200" dirty="0"/>
                    </a:p>
                  </a:txBody>
                  <a:tcPr marL="91440" marR="91440" marT="45720" marB="45720">
                    <a:lnL w="9525" cap="flat" cmpd="sng" algn="ctr">
                      <a:solidFill>
                        <a:srgbClr val="FFFFFF"/>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FFFFFF"/>
                      </a:solidFill>
                      <a:prstDash val="solid"/>
                      <a:round/>
                      <a:headEnd type="none" w="med" len="med"/>
                      <a:tailEnd type="none" w="med" len="med"/>
                    </a:lnT>
                    <a:lnB w="19050" cap="flat" cmpd="sng" algn="ctr">
                      <a:solidFill>
                        <a:srgbClr val="1E2226"/>
                      </a:solidFill>
                      <a:prstDash val="solid"/>
                      <a:round/>
                      <a:headEnd type="none" w="med" len="med"/>
                      <a:tailEnd type="none" w="med" len="med"/>
                    </a:lnB>
                  </a:tcPr>
                </a:tc>
                <a:tc>
                  <a:txBody>
                    <a:bodyPr/>
                    <a:lstStyle/>
                    <a:p>
                      <a:pPr indent="0" marL="0">
                        <a:buNone/>
                      </a:pPr>
                      <a:r>
                        <a:rPr lang="ja-JP" sz="750" b="1" spc="150" kern="0" dirty="0">
                          <a:solidFill>
                            <a:srgbClr val="5F8C11"/>
                          </a:solidFill>
                          <a:latin typeface="Arial" pitchFamily="34" charset="0"/>
                          <a:ea typeface="Arial" pitchFamily="34" charset="-122"/>
                          <a:cs typeface="Arial" pitchFamily="34" charset="-120"/>
                        </a:rPr>
                        <a:t>探す｜配分</a:t>
                      </a:r>
                      <a:endParaRPr lang="ja-JP" sz="1200" dirty="0"/>
                    </a:p>
                    <a:p>
                      <a:pPr indent="0" marL="0">
                        <a:buNone/>
                      </a:pPr>
                      <a:r>
                        <a:rPr lang="ja-JP" sz="1050" b="1" dirty="0">
                          <a:solidFill>
                            <a:srgbClr val="1E2226"/>
                          </a:solidFill>
                          <a:latin typeface="Yu Gothic" pitchFamily="34" charset="0"/>
                          <a:ea typeface="Yu Gothic" pitchFamily="34" charset="-122"/>
                          <a:cs typeface="Yu Gothic" pitchFamily="34" charset="-120"/>
                        </a:rPr>
                        <a:t>投資ポテンシャル（RoI）インテリジェンス</a:t>
                      </a:r>
                      <a:endParaRPr lang="ja-JP" sz="1200" dirty="0"/>
                    </a:p>
                  </a:txBody>
                  <a:tcPr marL="64008" marR="64008" marT="64008" marB="64008" anchor="t">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FFFFFF"/>
                      </a:solidFill>
                      <a:prstDash val="solid"/>
                      <a:round/>
                      <a:headEnd type="none" w="med" len="med"/>
                      <a:tailEnd type="none" w="med" len="med"/>
                    </a:lnT>
                    <a:lnB w="19050" cap="flat" cmpd="sng" algn="ctr">
                      <a:solidFill>
                        <a:srgbClr val="1E2226"/>
                      </a:solidFill>
                      <a:prstDash val="solid"/>
                      <a:round/>
                      <a:headEnd type="none" w="med" len="med"/>
                      <a:tailEnd type="none" w="med" len="med"/>
                    </a:lnB>
                  </a:tcPr>
                </a:tc>
                <a:tc>
                  <a:txBody>
                    <a:bodyPr/>
                    <a:lstStyle/>
                    <a:p>
                      <a:pPr indent="0" marL="0">
                        <a:buNone/>
                      </a:pPr>
                      <a:r>
                        <a:rPr lang="ja-JP" sz="750" b="1" spc="150" kern="0" dirty="0">
                          <a:solidFill>
                            <a:srgbClr val="5F8C11"/>
                          </a:solidFill>
                          <a:latin typeface="Arial" pitchFamily="34" charset="0"/>
                          <a:ea typeface="Arial" pitchFamily="34" charset="-122"/>
                          <a:cs typeface="Arial" pitchFamily="34" charset="-120"/>
                        </a:rPr>
                        <a:t>審る｜精査</a:t>
                      </a:r>
                      <a:endParaRPr lang="ja-JP" sz="1200" dirty="0"/>
                    </a:p>
                    <a:p>
                      <a:pPr indent="0" marL="0">
                        <a:buNone/>
                      </a:pPr>
                      <a:r>
                        <a:rPr lang="ja-JP" sz="1050" b="1" dirty="0">
                          <a:solidFill>
                            <a:srgbClr val="1E2226"/>
                          </a:solidFill>
                          <a:latin typeface="Yu Gothic" pitchFamily="34" charset="0"/>
                          <a:ea typeface="Yu Gothic" pitchFamily="34" charset="-122"/>
                          <a:cs typeface="Yu Gothic" pitchFamily="34" charset="-120"/>
                        </a:rPr>
                        <a:t>投資判断の記憶装置</a:t>
                      </a:r>
                      <a:endParaRPr lang="ja-JP" sz="1200" dirty="0"/>
                    </a:p>
                  </a:txBody>
                  <a:tcPr marL="64008" marR="64008" marT="64008" marB="64008" anchor="t">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FFFFFF"/>
                      </a:solidFill>
                      <a:prstDash val="solid"/>
                      <a:round/>
                      <a:headEnd type="none" w="med" len="med"/>
                      <a:tailEnd type="none" w="med" len="med"/>
                    </a:lnT>
                    <a:lnB w="19050" cap="flat" cmpd="sng" algn="ctr">
                      <a:solidFill>
                        <a:srgbClr val="1E2226"/>
                      </a:solidFill>
                      <a:prstDash val="solid"/>
                      <a:round/>
                      <a:headEnd type="none" w="med" len="med"/>
                      <a:tailEnd type="none" w="med" len="med"/>
                    </a:lnB>
                  </a:tcPr>
                </a:tc>
                <a:tc>
                  <a:txBody>
                    <a:bodyPr/>
                    <a:lstStyle/>
                    <a:p>
                      <a:pPr indent="0" marL="0">
                        <a:buNone/>
                      </a:pPr>
                      <a:r>
                        <a:rPr lang="ja-JP" sz="750" b="1" spc="150" kern="0" dirty="0">
                          <a:solidFill>
                            <a:srgbClr val="5F8C11"/>
                          </a:solidFill>
                          <a:latin typeface="Arial" pitchFamily="34" charset="0"/>
                          <a:ea typeface="Arial" pitchFamily="34" charset="-122"/>
                          <a:cs typeface="Arial" pitchFamily="34" charset="-120"/>
                        </a:rPr>
                        <a:t>掴む｜創出</a:t>
                      </a:r>
                      <a:endParaRPr lang="ja-JP" sz="1200" dirty="0"/>
                    </a:p>
                    <a:p>
                      <a:pPr indent="0" marL="0">
                        <a:buNone/>
                      </a:pPr>
                      <a:r>
                        <a:rPr lang="ja-JP" sz="1050" b="1" dirty="0">
                          <a:solidFill>
                            <a:srgbClr val="1E2226"/>
                          </a:solidFill>
                          <a:latin typeface="Yu Gothic" pitchFamily="34" charset="0"/>
                          <a:ea typeface="Yu Gothic" pitchFamily="34" charset="-122"/>
                          <a:cs typeface="Yu Gothic" pitchFamily="34" charset="-120"/>
                        </a:rPr>
                        <a:t>M&amp;Aインテリジェンス</a:t>
                      </a:r>
                      <a:endParaRPr lang="ja-JP" sz="1200" dirty="0"/>
                    </a:p>
                  </a:txBody>
                  <a:tcPr marL="64008" marR="64008" marT="64008" marB="64008" anchor="t">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FFFFFF"/>
                      </a:solidFill>
                      <a:prstDash val="solid"/>
                      <a:round/>
                      <a:headEnd type="none" w="med" len="med"/>
                      <a:tailEnd type="none" w="med" len="med"/>
                    </a:lnT>
                    <a:lnB w="19050" cap="flat" cmpd="sng" algn="ctr">
                      <a:solidFill>
                        <a:srgbClr val="1E2226"/>
                      </a:solidFill>
                      <a:prstDash val="solid"/>
                      <a:round/>
                      <a:headEnd type="none" w="med" len="med"/>
                      <a:tailEnd type="none" w="med" len="med"/>
                    </a:lnB>
                  </a:tcPr>
                </a:tc>
              </a:tr>
              <a:tr h="329184">
                <a:tc>
                  <a:txBody>
                    <a:bodyPr/>
                    <a:lstStyle/>
                    <a:p>
                      <a:pPr indent="0" marL="0">
                        <a:buNone/>
                      </a:pPr>
                      <a:r>
                        <a:rPr lang="ja-JP" sz="750" b="1" dirty="0">
                          <a:solidFill>
                            <a:srgbClr val="7D838A"/>
                          </a:solidFill>
                          <a:latin typeface="Yu Gothic" pitchFamily="34" charset="0"/>
                          <a:ea typeface="Yu Gothic" pitchFamily="34" charset="-122"/>
                          <a:cs typeface="Yu Gothic" pitchFamily="34" charset="-120"/>
                        </a:rPr>
                        <a:t>提案先</a:t>
                      </a:r>
                      <a:endParaRPr lang="ja-JP" sz="750" dirty="0">
                        <a:latin typeface="Yu Gothic" charset="0"/>
                        <a:ea typeface="Yu Gothic" charset="0"/>
                        <a:cs typeface="Yu Gothic" charset="0"/>
                      </a:endParaRPr>
                    </a:p>
                  </a:txBody>
                  <a:tcPr marL="54864" marR="54864" marT="54864" marB="54864" anchor="ctr">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solidFill>
                      <a:srgbClr val="F6F7F5"/>
                    </a:solidFill>
                  </a:tcPr>
                </a:tc>
                <a:tc>
                  <a:txBody>
                    <a:bodyPr/>
                    <a:lstStyle/>
                    <a:p>
                      <a:pPr indent="0" marL="0">
                        <a:buNone/>
                      </a:pPr>
                      <a:r>
                        <a:rPr lang="ja-JP" sz="900" dirty="0">
                          <a:solidFill>
                            <a:srgbClr val="464C52"/>
                          </a:solidFill>
                          <a:latin typeface="Yu Gothic" pitchFamily="34" charset="0"/>
                          <a:ea typeface="Yu Gothic" pitchFamily="34" charset="-122"/>
                          <a:cs typeface="Yu Gothic" pitchFamily="34" charset="-120"/>
                        </a:rPr>
                        <a:t>経営企画・財務（配分審議の事務局）</a:t>
                      </a:r>
                      <a:endParaRPr lang="ja-JP" sz="900" dirty="0">
                        <a:latin typeface="Yu Gothic" charset="0"/>
                        <a:ea typeface="Yu Gothic" charset="0"/>
                        <a:cs typeface="Yu Gothic" charset="0"/>
                      </a:endParaRPr>
                    </a:p>
                  </a:txBody>
                  <a:tcPr marL="64008" marR="64008" marT="64008" marB="64008" anchor="t">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tcPr>
                </a:tc>
                <a:tc>
                  <a:txBody>
                    <a:bodyPr/>
                    <a:lstStyle/>
                    <a:p>
                      <a:pPr indent="0" marL="0">
                        <a:buNone/>
                      </a:pPr>
                      <a:r>
                        <a:rPr lang="ja-JP" sz="900" dirty="0">
                          <a:solidFill>
                            <a:srgbClr val="464C52"/>
                          </a:solidFill>
                          <a:latin typeface="Yu Gothic" pitchFamily="34" charset="0"/>
                          <a:ea typeface="Yu Gothic" pitchFamily="34" charset="-122"/>
                          <a:cs typeface="Yu Gothic" pitchFamily="34" charset="-120"/>
                        </a:rPr>
                        <a:t>投資審議の場・起案部門</a:t>
                      </a:r>
                      <a:endParaRPr lang="ja-JP" sz="900" dirty="0">
                        <a:latin typeface="Yu Gothic" charset="0"/>
                        <a:ea typeface="Yu Gothic" charset="0"/>
                        <a:cs typeface="Yu Gothic" charset="0"/>
                      </a:endParaRPr>
                    </a:p>
                  </a:txBody>
                  <a:tcPr marL="64008" marR="64008" marT="64008" marB="64008" anchor="t">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tcPr>
                </a:tc>
                <a:tc>
                  <a:txBody>
                    <a:bodyPr/>
                    <a:lstStyle/>
                    <a:p>
                      <a:pPr indent="0" marL="0">
                        <a:buNone/>
                      </a:pPr>
                      <a:r>
                        <a:rPr lang="ja-JP" sz="900" dirty="0">
                          <a:solidFill>
                            <a:srgbClr val="464C52"/>
                          </a:solidFill>
                          <a:latin typeface="Yu Gothic" pitchFamily="34" charset="0"/>
                          <a:ea typeface="Yu Gothic" pitchFamily="34" charset="-122"/>
                          <a:cs typeface="Yu Gothic" pitchFamily="34" charset="-120"/>
                        </a:rPr>
                        <a:t>経営企画・投資／M&amp;A担当</a:t>
                      </a:r>
                      <a:endParaRPr lang="ja-JP" sz="900" dirty="0">
                        <a:latin typeface="Yu Gothic" charset="0"/>
                        <a:ea typeface="Yu Gothic" charset="0"/>
                        <a:cs typeface="Yu Gothic" charset="0"/>
                      </a:endParaRPr>
                    </a:p>
                  </a:txBody>
                  <a:tcPr marL="64008" marR="64008" marT="64008" marB="64008" anchor="t">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tcPr>
                </a:tc>
              </a:tr>
              <a:tr h="548640">
                <a:tc>
                  <a:txBody>
                    <a:bodyPr/>
                    <a:lstStyle/>
                    <a:p>
                      <a:pPr indent="0" marL="0">
                        <a:buNone/>
                      </a:pPr>
                      <a:r>
                        <a:rPr lang="ja-JP" sz="750" b="1" dirty="0">
                          <a:solidFill>
                            <a:srgbClr val="7D838A"/>
                          </a:solidFill>
                          <a:latin typeface="Yu Gothic" pitchFamily="34" charset="0"/>
                          <a:ea typeface="Yu Gothic" pitchFamily="34" charset="-122"/>
                          <a:cs typeface="Yu Gothic" pitchFamily="34" charset="-120"/>
                        </a:rPr>
                        <a:t>課題</a:t>
                      </a:r>
                      <a:endParaRPr lang="ja-JP" sz="750" dirty="0">
                        <a:latin typeface="Yu Gothic" charset="0"/>
                        <a:ea typeface="Yu Gothic" charset="0"/>
                        <a:cs typeface="Yu Gothic" charset="0"/>
                      </a:endParaRPr>
                    </a:p>
                  </a:txBody>
                  <a:tcPr marL="54864" marR="54864" marT="54864" marB="54864" anchor="ctr">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solidFill>
                      <a:srgbClr val="F6F7F5"/>
                    </a:solidFill>
                  </a:tcPr>
                </a:tc>
                <a:tc>
                  <a:txBody>
                    <a:bodyPr/>
                    <a:lstStyle/>
                    <a:p>
                      <a:pPr indent="0" marL="0">
                        <a:buNone/>
                      </a:pPr>
                      <a:r>
                        <a:rPr lang="ja-JP" sz="900" b="1" dirty="0">
                          <a:solidFill>
                            <a:srgbClr val="1E2226"/>
                          </a:solidFill>
                          <a:latin typeface="Yu Gothic" pitchFamily="34" charset="0"/>
                          <a:ea typeface="Yu Gothic" pitchFamily="34" charset="-122"/>
                          <a:cs typeface="Yu Gothic" pitchFamily="34" charset="-120"/>
                        </a:rPr>
                        <a:t>「次にどこへ投資すべきか」を全社を見渡して探せている人がいない</a:t>
                      </a:r>
                      <a:pPr indent="0" marL="0">
                        <a:buNone/>
                      </a:pPr>
                      <a:r>
                        <a:rPr lang="ja-JP" sz="900" dirty="0">
                          <a:solidFill>
                            <a:srgbClr val="464C52"/>
                          </a:solidFill>
                          <a:latin typeface="Yu Gothic" pitchFamily="34" charset="0"/>
                          <a:ea typeface="Yu Gothic" pitchFamily="34" charset="-122"/>
                          <a:cs typeface="Yu Gothic" pitchFamily="34" charset="-120"/>
                        </a:rPr>
                        <a:t>——機会は各事業からの起案待ち</a:t>
                      </a:r>
                      <a:endParaRPr lang="ja-JP" sz="900" dirty="0">
                        <a:latin typeface="Yu Gothic" charset="0"/>
                        <a:ea typeface="Yu Gothic" charset="0"/>
                        <a:cs typeface="Yu Gothic" charset="0"/>
                      </a:endParaRPr>
                    </a:p>
                  </a:txBody>
                  <a:tcPr marL="64008" marR="64008" marT="64008" marB="64008" anchor="t">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tcPr>
                </a:tc>
                <a:tc>
                  <a:txBody>
                    <a:bodyPr/>
                    <a:lstStyle/>
                    <a:p>
                      <a:pPr indent="0" marL="0">
                        <a:buNone/>
                      </a:pPr>
                      <a:r>
                        <a:rPr lang="ja-JP" sz="900" b="1" dirty="0">
                          <a:solidFill>
                            <a:srgbClr val="1E2226"/>
                          </a:solidFill>
                          <a:latin typeface="Yu Gothic" pitchFamily="34" charset="0"/>
                          <a:ea typeface="Yu Gothic" pitchFamily="34" charset="-122"/>
                          <a:cs typeface="Yu Gothic" pitchFamily="34" charset="-120"/>
                        </a:rPr>
                        <a:t>案件を「通すべきか」の判断材料が、審議者個人の記憶しかない</a:t>
                      </a:r>
                      <a:pPr indent="0" marL="0">
                        <a:buNone/>
                      </a:pPr>
                      <a:r>
                        <a:rPr lang="ja-JP" sz="900" dirty="0">
                          <a:solidFill>
                            <a:srgbClr val="464C52"/>
                          </a:solidFill>
                          <a:latin typeface="Yu Gothic" pitchFamily="34" charset="0"/>
                          <a:ea typeface="Yu Gothic" pitchFamily="34" charset="-122"/>
                          <a:cs typeface="Yu Gothic" pitchFamily="34" charset="-120"/>
                        </a:rPr>
                        <a:t>——審議は毎回ゼロから</a:t>
                      </a:r>
                      <a:endParaRPr lang="ja-JP" sz="900" dirty="0">
                        <a:latin typeface="Yu Gothic" charset="0"/>
                        <a:ea typeface="Yu Gothic" charset="0"/>
                        <a:cs typeface="Yu Gothic" charset="0"/>
                      </a:endParaRPr>
                    </a:p>
                  </a:txBody>
                  <a:tcPr marL="64008" marR="64008" marT="64008" marB="64008" anchor="t">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tcPr>
                </a:tc>
                <a:tc>
                  <a:txBody>
                    <a:bodyPr/>
                    <a:lstStyle/>
                    <a:p>
                      <a:pPr indent="0" marL="0">
                        <a:buNone/>
                      </a:pPr>
                      <a:r>
                        <a:rPr lang="ja-JP" sz="900" b="1" dirty="0">
                          <a:solidFill>
                            <a:srgbClr val="1E2226"/>
                          </a:solidFill>
                          <a:latin typeface="Yu Gothic" pitchFamily="34" charset="0"/>
                          <a:ea typeface="Yu Gothic" pitchFamily="34" charset="-122"/>
                          <a:cs typeface="Yu Gothic" pitchFamily="34" charset="-120"/>
                        </a:rPr>
                        <a:t>買収は持ち込まれた時に、その時の状況だけで判断</a:t>
                      </a:r>
                      <a:pPr indent="0" marL="0">
                        <a:buNone/>
                      </a:pPr>
                      <a:r>
                        <a:rPr lang="ja-JP" sz="900" dirty="0">
                          <a:solidFill>
                            <a:srgbClr val="464C52"/>
                          </a:solidFill>
                          <a:latin typeface="Yu Gothic" pitchFamily="34" charset="0"/>
                          <a:ea typeface="Yu Gothic" pitchFamily="34" charset="-122"/>
                          <a:cs typeface="Yu Gothic" pitchFamily="34" charset="-120"/>
                        </a:rPr>
                        <a:t>——「今なら買える」は個人の偶然頼み</a:t>
                      </a:r>
                      <a:endParaRPr lang="ja-JP" sz="900" dirty="0">
                        <a:latin typeface="Yu Gothic" charset="0"/>
                        <a:ea typeface="Yu Gothic" charset="0"/>
                        <a:cs typeface="Yu Gothic" charset="0"/>
                      </a:endParaRPr>
                    </a:p>
                  </a:txBody>
                  <a:tcPr marL="64008" marR="64008" marT="64008" marB="64008" anchor="t">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tcPr>
                </a:tc>
              </a:tr>
              <a:tr h="566928">
                <a:tc>
                  <a:txBody>
                    <a:bodyPr/>
                    <a:lstStyle/>
                    <a:p>
                      <a:pPr indent="0" marL="0">
                        <a:buNone/>
                      </a:pPr>
                      <a:r>
                        <a:rPr lang="ja-JP" sz="750" b="1" dirty="0">
                          <a:solidFill>
                            <a:srgbClr val="7D838A"/>
                          </a:solidFill>
                          <a:latin typeface="Yu Gothic" pitchFamily="34" charset="0"/>
                          <a:ea typeface="Yu Gothic" pitchFamily="34" charset="-122"/>
                          <a:cs typeface="Yu Gothic" pitchFamily="34" charset="-120"/>
                        </a:rPr>
                        <a:t>AIで、こうなる</a:t>
                      </a:r>
                      <a:endParaRPr lang="ja-JP" sz="750" dirty="0">
                        <a:latin typeface="Yu Gothic" charset="0"/>
                        <a:ea typeface="Yu Gothic" charset="0"/>
                        <a:cs typeface="Yu Gothic" charset="0"/>
                      </a:endParaRPr>
                    </a:p>
                  </a:txBody>
                  <a:tcPr marL="54864" marR="54864" marT="54864" marB="54864" anchor="ctr">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solidFill>
                      <a:srgbClr val="F6F7F5"/>
                    </a:solidFill>
                  </a:tcPr>
                </a:tc>
                <a:tc>
                  <a:txBody>
                    <a:bodyPr/>
                    <a:lstStyle/>
                    <a:p>
                      <a:pPr indent="0" marL="0">
                        <a:buNone/>
                      </a:pPr>
                      <a:r>
                        <a:rPr lang="ja-JP" sz="900" dirty="0">
                          <a:solidFill>
                            <a:srgbClr val="464C52"/>
                          </a:solidFill>
                          <a:latin typeface="Yu Gothic" pitchFamily="34" charset="0"/>
                          <a:ea typeface="Yu Gothic" pitchFamily="34" charset="-122"/>
                          <a:cs typeface="Yu Gothic" pitchFamily="34" charset="-120"/>
                        </a:rPr>
                        <a:t>約100社の業績・投資実績・市場環境を常時読み込み、リターン期待の高い領域を</a:t>
                      </a:r>
                      <a:pPr indent="0" marL="0">
                        <a:buNone/>
                      </a:pPr>
                      <a:r>
                        <a:rPr lang="ja-JP" sz="900" b="1" dirty="0">
                          <a:solidFill>
                            <a:srgbClr val="1E2226"/>
                          </a:solidFill>
                          <a:latin typeface="Yu Gothic" pitchFamily="34" charset="0"/>
                          <a:ea typeface="Yu Gothic" pitchFamily="34" charset="-122"/>
                          <a:cs typeface="Yu Gothic" pitchFamily="34" charset="-120"/>
                        </a:rPr>
                        <a:t>投資ポテンシャル・マップ</a:t>
                      </a:r>
                      <a:pPr indent="0" marL="0">
                        <a:buNone/>
                      </a:pPr>
                      <a:r>
                        <a:rPr lang="ja-JP" sz="900" dirty="0">
                          <a:solidFill>
                            <a:srgbClr val="464C52"/>
                          </a:solidFill>
                          <a:latin typeface="Yu Gothic" pitchFamily="34" charset="0"/>
                          <a:ea typeface="Yu Gothic" pitchFamily="34" charset="-122"/>
                          <a:cs typeface="Yu Gothic" pitchFamily="34" charset="-120"/>
                        </a:rPr>
                        <a:t>として提示</a:t>
                      </a:r>
                      <a:endParaRPr lang="ja-JP" sz="900" dirty="0">
                        <a:latin typeface="Yu Gothic" charset="0"/>
                        <a:ea typeface="Yu Gothic" charset="0"/>
                        <a:cs typeface="Yu Gothic" charset="0"/>
                      </a:endParaRPr>
                    </a:p>
                  </a:txBody>
                  <a:tcPr marL="64008" marR="64008" marT="64008" marB="64008" anchor="t">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solidFill>
                      <a:srgbClr val="F2F7E6"/>
                    </a:solidFill>
                  </a:tcPr>
                </a:tc>
                <a:tc>
                  <a:txBody>
                    <a:bodyPr/>
                    <a:lstStyle/>
                    <a:p>
                      <a:pPr indent="0" marL="0">
                        <a:buNone/>
                      </a:pPr>
                      <a:r>
                        <a:rPr lang="ja-JP" sz="900" dirty="0">
                          <a:solidFill>
                            <a:srgbClr val="464C52"/>
                          </a:solidFill>
                          <a:latin typeface="Yu Gothic" pitchFamily="34" charset="0"/>
                          <a:ea typeface="Yu Gothic" pitchFamily="34" charset="-122"/>
                          <a:cs typeface="Yu Gothic" pitchFamily="34" charset="-120"/>
                        </a:rPr>
                        <a:t>過去の審議論点・前提の乖離実績と突合した</a:t>
                      </a:r>
                      <a:pPr indent="0" marL="0">
                        <a:buNone/>
                      </a:pPr>
                      <a:r>
                        <a:rPr lang="ja-JP" sz="900" b="1" dirty="0">
                          <a:solidFill>
                            <a:srgbClr val="1E2226"/>
                          </a:solidFill>
                          <a:latin typeface="Yu Gothic" pitchFamily="34" charset="0"/>
                          <a:ea typeface="Yu Gothic" pitchFamily="34" charset="-122"/>
                          <a:cs typeface="Yu Gothic" pitchFamily="34" charset="-120"/>
                        </a:rPr>
                        <a:t>案件精査メモ</a:t>
                      </a:r>
                      <a:pPr indent="0" marL="0">
                        <a:buNone/>
                      </a:pPr>
                      <a:r>
                        <a:rPr lang="ja-JP" sz="900" dirty="0">
                          <a:solidFill>
                            <a:srgbClr val="464C52"/>
                          </a:solidFill>
                          <a:latin typeface="Yu Gothic" pitchFamily="34" charset="0"/>
                          <a:ea typeface="Yu Gothic" pitchFamily="34" charset="-122"/>
                          <a:cs typeface="Yu Gothic" pitchFamily="34" charset="-120"/>
                        </a:rPr>
                        <a:t>が上程前に返る</a:t>
                      </a:r>
                      <a:endParaRPr lang="ja-JP" sz="900" dirty="0">
                        <a:latin typeface="Yu Gothic" charset="0"/>
                        <a:ea typeface="Yu Gothic" charset="0"/>
                        <a:cs typeface="Yu Gothic" charset="0"/>
                      </a:endParaRPr>
                    </a:p>
                  </a:txBody>
                  <a:tcPr marL="64008" marR="64008" marT="64008" marB="64008" anchor="t">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solidFill>
                      <a:srgbClr val="F2F7E6"/>
                    </a:solidFill>
                  </a:tcPr>
                </a:tc>
                <a:tc>
                  <a:txBody>
                    <a:bodyPr/>
                    <a:lstStyle/>
                    <a:p>
                      <a:pPr indent="0" marL="0">
                        <a:buNone/>
                      </a:pPr>
                      <a:r>
                        <a:rPr lang="ja-JP" sz="900" b="1" dirty="0">
                          <a:solidFill>
                            <a:srgbClr val="1E2226"/>
                          </a:solidFill>
                          <a:latin typeface="Yu Gothic" pitchFamily="34" charset="0"/>
                          <a:ea typeface="Yu Gothic" pitchFamily="34" charset="-122"/>
                          <a:cs typeface="Yu Gothic" pitchFamily="34" charset="-120"/>
                        </a:rPr>
                        <a:t>診断</a:t>
                      </a:r>
                      <a:pPr indent="0" marL="0">
                        <a:buNone/>
                      </a:pPr>
                      <a:r>
                        <a:rPr lang="ja-JP" sz="900" dirty="0">
                          <a:solidFill>
                            <a:srgbClr val="464C52"/>
                          </a:solidFill>
                          <a:latin typeface="Yu Gothic" pitchFamily="34" charset="0"/>
                          <a:ea typeface="Yu Gothic" pitchFamily="34" charset="-122"/>
                          <a:cs typeface="Yu Gothic" pitchFamily="34" charset="-120"/>
                        </a:rPr>
                        <a:t>は数日で。見送り案件を条件つきで蓄積・常時監視し、</a:t>
                      </a:r>
                      <a:pPr indent="0" marL="0">
                        <a:buNone/>
                      </a:pPr>
                      <a:r>
                        <a:rPr lang="ja-JP" sz="900" b="1" dirty="0">
                          <a:solidFill>
                            <a:srgbClr val="1E2226"/>
                          </a:solidFill>
                          <a:latin typeface="Yu Gothic" pitchFamily="34" charset="0"/>
                          <a:ea typeface="Yu Gothic" pitchFamily="34" charset="-122"/>
                          <a:cs typeface="Yu Gothic" pitchFamily="34" charset="-120"/>
                        </a:rPr>
                        <a:t>「条件が変わった今、この案件」</a:t>
                      </a:r>
                      <a:pPr indent="0" marL="0">
                        <a:buNone/>
                      </a:pPr>
                      <a:r>
                        <a:rPr lang="ja-JP" sz="900" dirty="0">
                          <a:solidFill>
                            <a:srgbClr val="464C52"/>
                          </a:solidFill>
                          <a:latin typeface="Yu Gothic" pitchFamily="34" charset="0"/>
                          <a:ea typeface="Yu Gothic" pitchFamily="34" charset="-122"/>
                          <a:cs typeface="Yu Gothic" pitchFamily="34" charset="-120"/>
                        </a:rPr>
                        <a:t>を提案</a:t>
                      </a:r>
                      <a:endParaRPr lang="ja-JP" sz="900" dirty="0">
                        <a:latin typeface="Yu Gothic" charset="0"/>
                        <a:ea typeface="Yu Gothic" charset="0"/>
                        <a:cs typeface="Yu Gothic" charset="0"/>
                      </a:endParaRPr>
                    </a:p>
                  </a:txBody>
                  <a:tcPr marL="64008" marR="64008" marT="64008" marB="64008" anchor="t">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solidFill>
                      <a:srgbClr val="F2F7E6"/>
                    </a:solidFill>
                  </a:tcPr>
                </a:tc>
              </a:tr>
              <a:tr h="502920">
                <a:tc>
                  <a:txBody>
                    <a:bodyPr/>
                    <a:lstStyle/>
                    <a:p>
                      <a:pPr indent="0" marL="0">
                        <a:buNone/>
                      </a:pPr>
                      <a:r>
                        <a:rPr lang="ja-JP" sz="750" b="1" dirty="0">
                          <a:solidFill>
                            <a:srgbClr val="7D838A"/>
                          </a:solidFill>
                          <a:latin typeface="Yu Gothic" pitchFamily="34" charset="0"/>
                          <a:ea typeface="Yu Gothic" pitchFamily="34" charset="-122"/>
                          <a:cs typeface="Yu Gothic" pitchFamily="34" charset="-120"/>
                        </a:rPr>
                        <a:t>AIの介在点</a:t>
                      </a:r>
                      <a:endParaRPr lang="ja-JP" sz="750" dirty="0">
                        <a:latin typeface="Yu Gothic" charset="0"/>
                        <a:ea typeface="Yu Gothic" charset="0"/>
                        <a:cs typeface="Yu Gothic" charset="0"/>
                      </a:endParaRPr>
                    </a:p>
                  </a:txBody>
                  <a:tcPr marL="54864" marR="54864" marT="54864" marB="54864" anchor="ctr">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solidFill>
                      <a:srgbClr val="F6F7F5"/>
                    </a:solidFill>
                  </a:tcPr>
                </a:tc>
                <a:tc>
                  <a:txBody>
                    <a:bodyPr/>
                    <a:lstStyle/>
                    <a:p>
                      <a:pPr indent="0" marL="0">
                        <a:buNone/>
                      </a:pPr>
                      <a:r>
                        <a:rPr lang="ja-JP" sz="900" dirty="0">
                          <a:solidFill>
                            <a:srgbClr val="464C52"/>
                          </a:solidFill>
                          <a:latin typeface="Yu Gothic" pitchFamily="34" charset="0"/>
                          <a:ea typeface="Yu Gothic" pitchFamily="34" charset="-122"/>
                          <a:cs typeface="Yu Gothic" pitchFamily="34" charset="-120"/>
                        </a:rPr>
                        <a:t>全社データの常時読解／管理会計の正規化／候補提示と根拠説明</a:t>
                      </a:r>
                      <a:endParaRPr lang="ja-JP" sz="900" dirty="0">
                        <a:latin typeface="Yu Gothic" charset="0"/>
                        <a:ea typeface="Yu Gothic" charset="0"/>
                        <a:cs typeface="Yu Gothic" charset="0"/>
                      </a:endParaRPr>
                    </a:p>
                  </a:txBody>
                  <a:tcPr marL="64008" marR="64008" marT="64008" marB="64008" anchor="t">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tcPr>
                </a:tc>
                <a:tc>
                  <a:txBody>
                    <a:bodyPr/>
                    <a:lstStyle/>
                    <a:p>
                      <a:pPr indent="0" marL="0">
                        <a:buNone/>
                      </a:pPr>
                      <a:r>
                        <a:rPr lang="ja-JP" sz="900" dirty="0">
                          <a:solidFill>
                            <a:srgbClr val="464C52"/>
                          </a:solidFill>
                          <a:latin typeface="Yu Gothic" pitchFamily="34" charset="0"/>
                          <a:ea typeface="Yu Gothic" pitchFamily="34" charset="-122"/>
                          <a:cs typeface="Yu Gothic" pitchFamily="34" charset="-120"/>
                        </a:rPr>
                        <a:t>論点・前提の構造化抽出／過去類型との照合／前提×実績・外部データの突合</a:t>
                      </a:r>
                      <a:endParaRPr lang="ja-JP" sz="900" dirty="0">
                        <a:latin typeface="Yu Gothic" charset="0"/>
                        <a:ea typeface="Yu Gothic" charset="0"/>
                        <a:cs typeface="Yu Gothic" charset="0"/>
                      </a:endParaRPr>
                    </a:p>
                  </a:txBody>
                  <a:tcPr marL="64008" marR="64008" marT="64008" marB="64008" anchor="t">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tcPr>
                </a:tc>
                <a:tc>
                  <a:txBody>
                    <a:bodyPr/>
                    <a:lstStyle/>
                    <a:p>
                      <a:pPr indent="0" marL="0">
                        <a:buNone/>
                      </a:pPr>
                      <a:r>
                        <a:rPr lang="ja-JP" sz="900" dirty="0">
                          <a:solidFill>
                            <a:srgbClr val="464C52"/>
                          </a:solidFill>
                          <a:latin typeface="Yu Gothic" pitchFamily="34" charset="0"/>
                          <a:ea typeface="Yu Gothic" pitchFamily="34" charset="-122"/>
                          <a:cs typeface="Yu Gothic" pitchFamily="34" charset="-120"/>
                        </a:rPr>
                        <a:t>公開情報診断の自動実行／却下理由の条件化／市況・対象・自社の監視と買い時検知</a:t>
                      </a:r>
                      <a:endParaRPr lang="ja-JP" sz="900" dirty="0">
                        <a:latin typeface="Yu Gothic" charset="0"/>
                        <a:ea typeface="Yu Gothic" charset="0"/>
                        <a:cs typeface="Yu Gothic" charset="0"/>
                      </a:endParaRPr>
                    </a:p>
                  </a:txBody>
                  <a:tcPr marL="64008" marR="64008" marT="64008" marB="64008" anchor="t">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tcPr>
                </a:tc>
              </a:tr>
              <a:tr h="310896">
                <a:tc>
                  <a:txBody>
                    <a:bodyPr/>
                    <a:lstStyle/>
                    <a:p>
                      <a:pPr indent="0" marL="0">
                        <a:buNone/>
                      </a:pPr>
                      <a:r>
                        <a:rPr lang="ja-JP" sz="750" b="1" dirty="0">
                          <a:solidFill>
                            <a:srgbClr val="7D838A"/>
                          </a:solidFill>
                          <a:latin typeface="Yu Gothic" pitchFamily="34" charset="0"/>
                          <a:ea typeface="Yu Gothic" pitchFamily="34" charset="-122"/>
                          <a:cs typeface="Yu Gothic" pitchFamily="34" charset="-120"/>
                        </a:rPr>
                        <a:t>人が担うこと</a:t>
                      </a:r>
                      <a:endParaRPr lang="ja-JP" sz="750" dirty="0">
                        <a:latin typeface="Yu Gothic" charset="0"/>
                        <a:ea typeface="Yu Gothic" charset="0"/>
                        <a:cs typeface="Yu Gothic" charset="0"/>
                      </a:endParaRPr>
                    </a:p>
                  </a:txBody>
                  <a:tcPr marL="54864" marR="54864" marT="54864" marB="54864" anchor="ctr">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solidFill>
                      <a:srgbClr val="F6F7F5"/>
                    </a:solidFill>
                  </a:tcPr>
                </a:tc>
                <a:tc>
                  <a:txBody>
                    <a:bodyPr/>
                    <a:lstStyle/>
                    <a:p>
                      <a:pPr indent="0" marL="0">
                        <a:buNone/>
                      </a:pPr>
                      <a:r>
                        <a:rPr lang="ja-JP" sz="900" dirty="0">
                          <a:solidFill>
                            <a:srgbClr val="464C52"/>
                          </a:solidFill>
                          <a:latin typeface="Yu Gothic" pitchFamily="34" charset="0"/>
                          <a:ea typeface="Yu Gothic" pitchFamily="34" charset="-122"/>
                          <a:cs typeface="Yu Gothic" pitchFamily="34" charset="-120"/>
                        </a:rPr>
                        <a:t>張るか否かの決定</a:t>
                      </a:r>
                      <a:endParaRPr lang="ja-JP" sz="900" dirty="0">
                        <a:latin typeface="Yu Gothic" charset="0"/>
                        <a:ea typeface="Yu Gothic" charset="0"/>
                        <a:cs typeface="Yu Gothic" charset="0"/>
                      </a:endParaRPr>
                    </a:p>
                  </a:txBody>
                  <a:tcPr marL="64008" marR="64008" marT="64008" marB="64008" anchor="t">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tcPr>
                </a:tc>
                <a:tc>
                  <a:txBody>
                    <a:bodyPr/>
                    <a:lstStyle/>
                    <a:p>
                      <a:pPr indent="0" marL="0">
                        <a:buNone/>
                      </a:pPr>
                      <a:r>
                        <a:rPr lang="ja-JP" sz="900" dirty="0">
                          <a:solidFill>
                            <a:srgbClr val="464C52"/>
                          </a:solidFill>
                          <a:latin typeface="Yu Gothic" pitchFamily="34" charset="0"/>
                          <a:ea typeface="Yu Gothic" pitchFamily="34" charset="-122"/>
                          <a:cs typeface="Yu Gothic" pitchFamily="34" charset="-120"/>
                        </a:rPr>
                        <a:t>通すか否かの決定</a:t>
                      </a:r>
                      <a:endParaRPr lang="ja-JP" sz="900" dirty="0">
                        <a:latin typeface="Yu Gothic" charset="0"/>
                        <a:ea typeface="Yu Gothic" charset="0"/>
                        <a:cs typeface="Yu Gothic" charset="0"/>
                      </a:endParaRPr>
                    </a:p>
                  </a:txBody>
                  <a:tcPr marL="64008" marR="64008" marT="64008" marB="64008" anchor="t">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tcPr>
                </a:tc>
                <a:tc>
                  <a:txBody>
                    <a:bodyPr/>
                    <a:lstStyle/>
                    <a:p>
                      <a:pPr indent="0" marL="0">
                        <a:buNone/>
                      </a:pPr>
                      <a:r>
                        <a:rPr lang="ja-JP" sz="900" dirty="0">
                          <a:solidFill>
                            <a:srgbClr val="464C52"/>
                          </a:solidFill>
                          <a:latin typeface="Yu Gothic" pitchFamily="34" charset="0"/>
                          <a:ea typeface="Yu Gothic" pitchFamily="34" charset="-122"/>
                          <a:cs typeface="Yu Gothic" pitchFamily="34" charset="-120"/>
                        </a:rPr>
                        <a:t>買うか否かの決定とアプローチ</a:t>
                      </a:r>
                      <a:endParaRPr lang="ja-JP" sz="900" dirty="0">
                        <a:latin typeface="Yu Gothic" charset="0"/>
                        <a:ea typeface="Yu Gothic" charset="0"/>
                        <a:cs typeface="Yu Gothic" charset="0"/>
                      </a:endParaRPr>
                    </a:p>
                  </a:txBody>
                  <a:tcPr marL="64008" marR="64008" marT="64008" marB="64008" anchor="t">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tcPr>
                </a:tc>
              </a:tr>
              <a:tr h="512064">
                <a:tc>
                  <a:txBody>
                    <a:bodyPr/>
                    <a:lstStyle/>
                    <a:p>
                      <a:pPr indent="0" marL="0">
                        <a:buNone/>
                      </a:pPr>
                      <a:r>
                        <a:rPr lang="ja-JP" sz="750" b="1" dirty="0">
                          <a:solidFill>
                            <a:srgbClr val="7D838A"/>
                          </a:solidFill>
                          <a:latin typeface="Yu Gothic" pitchFamily="34" charset="0"/>
                          <a:ea typeface="Yu Gothic" pitchFamily="34" charset="-122"/>
                          <a:cs typeface="Yu Gothic" pitchFamily="34" charset="-120"/>
                        </a:rPr>
                        <a:t>なぜ自社開発か</a:t>
                      </a:r>
                      <a:endParaRPr lang="ja-JP" sz="750" dirty="0">
                        <a:latin typeface="Yu Gothic" charset="0"/>
                        <a:ea typeface="Yu Gothic" charset="0"/>
                        <a:cs typeface="Yu Gothic" charset="0"/>
                      </a:endParaRPr>
                    </a:p>
                  </a:txBody>
                  <a:tcPr marL="54864" marR="54864" marT="54864" marB="54864" anchor="ctr">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solidFill>
                      <a:srgbClr val="F6F7F5"/>
                    </a:solidFill>
                  </a:tcPr>
                </a:tc>
                <a:tc>
                  <a:txBody>
                    <a:bodyPr/>
                    <a:lstStyle/>
                    <a:p>
                      <a:pPr indent="0" marL="0">
                        <a:buNone/>
                      </a:pPr>
                      <a:r>
                        <a:rPr lang="ja-JP" sz="900" dirty="0">
                          <a:solidFill>
                            <a:srgbClr val="464C52"/>
                          </a:solidFill>
                          <a:latin typeface="Yu Gothic" pitchFamily="34" charset="0"/>
                          <a:ea typeface="Yu Gothic" pitchFamily="34" charset="-122"/>
                          <a:cs typeface="Yu Gothic" pitchFamily="34" charset="-120"/>
                        </a:rPr>
                        <a:t>管理会計・案件明細は社外に存在しない——正規化ロジック自体が蓄積資産になる</a:t>
                      </a:r>
                      <a:endParaRPr lang="ja-JP" sz="900" dirty="0">
                        <a:latin typeface="Yu Gothic" charset="0"/>
                        <a:ea typeface="Yu Gothic" charset="0"/>
                        <a:cs typeface="Yu Gothic" charset="0"/>
                      </a:endParaRPr>
                    </a:p>
                  </a:txBody>
                  <a:tcPr marL="64008" marR="64008" marT="64008" marB="64008" anchor="t">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tcPr>
                </a:tc>
                <a:tc>
                  <a:txBody>
                    <a:bodyPr/>
                    <a:lstStyle/>
                    <a:p>
                      <a:pPr indent="0" marL="0">
                        <a:buNone/>
                      </a:pPr>
                      <a:r>
                        <a:rPr lang="ja-JP" sz="900" dirty="0">
                          <a:solidFill>
                            <a:srgbClr val="464C52"/>
                          </a:solidFill>
                          <a:latin typeface="Yu Gothic" pitchFamily="34" charset="0"/>
                          <a:ea typeface="Yu Gothic" pitchFamily="34" charset="-122"/>
                          <a:cs typeface="Yu Gothic" pitchFamily="34" charset="-120"/>
                        </a:rPr>
                        <a:t>最高機密の判断履歴で動く——審議を重ねるほど賢くなる</a:t>
                      </a:r>
                      <a:endParaRPr lang="ja-JP" sz="900" dirty="0">
                        <a:latin typeface="Yu Gothic" charset="0"/>
                        <a:ea typeface="Yu Gothic" charset="0"/>
                        <a:cs typeface="Yu Gothic" charset="0"/>
                      </a:endParaRPr>
                    </a:p>
                  </a:txBody>
                  <a:tcPr marL="64008" marR="64008" marT="64008" marB="64008" anchor="t">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tcPr>
                </a:tc>
                <a:tc>
                  <a:txBody>
                    <a:bodyPr/>
                    <a:lstStyle/>
                    <a:p>
                      <a:pPr indent="0" marL="0">
                        <a:buNone/>
                      </a:pPr>
                      <a:r>
                        <a:rPr lang="ja-JP" sz="900" dirty="0">
                          <a:solidFill>
                            <a:srgbClr val="464C52"/>
                          </a:solidFill>
                          <a:latin typeface="Yu Gothic" pitchFamily="34" charset="0"/>
                          <a:ea typeface="Yu Gothic" pitchFamily="34" charset="-122"/>
                          <a:cs typeface="Yu Gothic" pitchFamily="34" charset="-120"/>
                        </a:rPr>
                        <a:t>却下履歴は自社だけの案件パイプライン——守秘上、外部ツールは選択肢にならない</a:t>
                      </a:r>
                      <a:endParaRPr lang="ja-JP" sz="900" dirty="0">
                        <a:latin typeface="Yu Gothic" charset="0"/>
                        <a:ea typeface="Yu Gothic" charset="0"/>
                        <a:cs typeface="Yu Gothic" charset="0"/>
                      </a:endParaRPr>
                    </a:p>
                  </a:txBody>
                  <a:tcPr marL="64008" marR="64008" marT="64008" marB="64008" anchor="t">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tcPr>
                </a:tc>
              </a:tr>
              <a:tr h="493776">
                <a:tc>
                  <a:txBody>
                    <a:bodyPr/>
                    <a:lstStyle/>
                    <a:p>
                      <a:pPr indent="0" marL="0">
                        <a:buNone/>
                      </a:pPr>
                      <a:r>
                        <a:rPr lang="ja-JP" sz="750" b="1" dirty="0">
                          <a:solidFill>
                            <a:srgbClr val="7D838A"/>
                          </a:solidFill>
                          <a:latin typeface="Yu Gothic" pitchFamily="34" charset="0"/>
                          <a:ea typeface="Yu Gothic" pitchFamily="34" charset="-122"/>
                          <a:cs typeface="Yu Gothic" pitchFamily="34" charset="-120"/>
                        </a:rPr>
                        <a:t>始め方（第一歩）</a:t>
                      </a:r>
                      <a:endParaRPr lang="ja-JP" sz="750" dirty="0">
                        <a:latin typeface="Yu Gothic" charset="0"/>
                        <a:ea typeface="Yu Gothic" charset="0"/>
                        <a:cs typeface="Yu Gothic" charset="0"/>
                      </a:endParaRPr>
                    </a:p>
                  </a:txBody>
                  <a:tcPr marL="54864" marR="54864" marT="54864" marB="54864" anchor="ctr">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solidFill>
                      <a:srgbClr val="F6F7F5"/>
                    </a:solidFill>
                  </a:tcPr>
                </a:tc>
                <a:tc>
                  <a:txBody>
                    <a:bodyPr/>
                    <a:lstStyle/>
                    <a:p>
                      <a:pPr indent="0" marL="0">
                        <a:buNone/>
                      </a:pPr>
                      <a:r>
                        <a:rPr lang="ja-JP" sz="900" dirty="0">
                          <a:solidFill>
                            <a:srgbClr val="464C52"/>
                          </a:solidFill>
                          <a:latin typeface="Yu Gothic" pitchFamily="34" charset="0"/>
                          <a:ea typeface="Yu Gothic" pitchFamily="34" charset="-122"/>
                          <a:cs typeface="Yu Gothic" pitchFamily="34" charset="-120"/>
                        </a:rPr>
                        <a:t>事業体単位のマップから着手し、物差しは財務と共同設計</a:t>
                      </a:r>
                      <a:endParaRPr lang="ja-JP" sz="900" dirty="0">
                        <a:latin typeface="Yu Gothic" charset="0"/>
                        <a:ea typeface="Yu Gothic" charset="0"/>
                        <a:cs typeface="Yu Gothic" charset="0"/>
                      </a:endParaRPr>
                    </a:p>
                  </a:txBody>
                  <a:tcPr marL="64008" marR="64008" marT="64008" marB="64008" anchor="t">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tcPr>
                </a:tc>
                <a:tc>
                  <a:txBody>
                    <a:bodyPr/>
                    <a:lstStyle/>
                    <a:p>
                      <a:pPr indent="0" marL="0">
                        <a:buNone/>
                      </a:pPr>
                      <a:r>
                        <a:rPr lang="ja-JP" sz="900" dirty="0">
                          <a:solidFill>
                            <a:srgbClr val="464C52"/>
                          </a:solidFill>
                          <a:latin typeface="Yu Gothic" pitchFamily="34" charset="0"/>
                          <a:ea typeface="Yu Gothic" pitchFamily="34" charset="-122"/>
                          <a:cs typeface="Yu Gothic" pitchFamily="34" charset="-120"/>
                        </a:rPr>
                        <a:t>文書アセスメント（2〜4週）で成立範囲を検証してから約束</a:t>
                      </a:r>
                      <a:endParaRPr lang="ja-JP" sz="900" dirty="0">
                        <a:latin typeface="Yu Gothic" charset="0"/>
                        <a:ea typeface="Yu Gothic" charset="0"/>
                        <a:cs typeface="Yu Gothic" charset="0"/>
                      </a:endParaRPr>
                    </a:p>
                  </a:txBody>
                  <a:tcPr marL="64008" marR="64008" marT="64008" marB="64008" anchor="t">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tcPr>
                </a:tc>
                <a:tc>
                  <a:txBody>
                    <a:bodyPr/>
                    <a:lstStyle/>
                    <a:p>
                      <a:pPr indent="0" marL="0">
                        <a:buNone/>
                      </a:pPr>
                      <a:r>
                        <a:rPr lang="ja-JP" sz="900" dirty="0">
                          <a:solidFill>
                            <a:srgbClr val="464C52"/>
                          </a:solidFill>
                          <a:latin typeface="Yu Gothic" pitchFamily="34" charset="0"/>
                          <a:ea typeface="Yu Gothic" pitchFamily="34" charset="-122"/>
                          <a:cs typeface="Yu Gothic" pitchFamily="34" charset="-120"/>
                        </a:rPr>
                        <a:t>初期診断の自動化から（公開情報のみで即動）→ 過去案件の棚卸しへ</a:t>
                      </a:r>
                      <a:endParaRPr lang="ja-JP" sz="900" dirty="0">
                        <a:latin typeface="Yu Gothic" charset="0"/>
                        <a:ea typeface="Yu Gothic" charset="0"/>
                        <a:cs typeface="Yu Gothic" charset="0"/>
                      </a:endParaRPr>
                    </a:p>
                  </a:txBody>
                  <a:tcPr marL="64008" marR="64008" marT="64008" marB="64008" anchor="t">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tcPr>
                </a:tc>
              </a:tr>
              <a:tr h="566928">
                <a:tc>
                  <a:txBody>
                    <a:bodyPr/>
                    <a:lstStyle/>
                    <a:p>
                      <a:pPr indent="0" marL="0">
                        <a:buNone/>
                      </a:pPr>
                      <a:r>
                        <a:rPr lang="ja-JP" sz="750" b="1" dirty="0">
                          <a:solidFill>
                            <a:srgbClr val="7D838A"/>
                          </a:solidFill>
                          <a:latin typeface="Yu Gothic" pitchFamily="34" charset="0"/>
                          <a:ea typeface="Yu Gothic" pitchFamily="34" charset="-122"/>
                          <a:cs typeface="Yu Gothic" pitchFamily="34" charset="-120"/>
                        </a:rPr>
                        <a:t>評価</a:t>
                      </a:r>
                      <a:endParaRPr lang="ja-JP" sz="750" dirty="0">
                        <a:latin typeface="Yu Gothic" charset="0"/>
                        <a:ea typeface="Yu Gothic" charset="0"/>
                        <a:cs typeface="Yu Gothic" charset="0"/>
                      </a:endParaRPr>
                    </a:p>
                  </a:txBody>
                  <a:tcPr marL="54864" marR="54864" marT="54864" marB="54864" anchor="ctr">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solidFill>
                      <a:srgbClr val="F6F7F5"/>
                    </a:solidFill>
                  </a:tcPr>
                </a:tc>
                <a:tc>
                  <a:txBody>
                    <a:bodyPr/>
                    <a:lstStyle/>
                    <a:p>
                      <a:pPr indent="0" marL="0">
                        <a:buNone/>
                      </a:pPr>
                      <a:r>
                        <a:rPr lang="ja-JP" sz="700" b="1" spc="100" kern="0" dirty="0">
                          <a:solidFill>
                            <a:srgbClr val="7D838A"/>
                          </a:solidFill>
                          <a:latin typeface="Arial" pitchFamily="34" charset="0"/>
                          <a:ea typeface="Arial" pitchFamily="34" charset="-122"/>
                          <a:cs typeface="Arial" pitchFamily="34" charset="-120"/>
                        </a:rPr>
                        <a:t>IMPACT </a:t>
                      </a:r>
                      <a:pPr indent="0" marL="0">
                        <a:buNone/>
                      </a:pPr>
                      <a:r>
                        <a:rPr lang="ja-JP" sz="800" dirty="0">
                          <a:solidFill>
                            <a:srgbClr val="86BC25"/>
                          </a:solidFill>
                          <a:latin typeface="Yu Gothic" pitchFamily="34" charset="0"/>
                          <a:ea typeface="Yu Gothic" pitchFamily="34" charset="-122"/>
                          <a:cs typeface="Yu Gothic" pitchFamily="34" charset="-120"/>
                        </a:rPr>
                        <a:t>■■■■</a:t>
                      </a:r>
                      <a:pPr indent="0" marL="0">
                        <a:buNone/>
                      </a:pPr>
                      <a:r>
                        <a:rPr lang="ja-JP" sz="800" dirty="0">
                          <a:solidFill>
                            <a:srgbClr val="E0E4DE"/>
                          </a:solidFill>
                          <a:latin typeface="Yu Gothic" pitchFamily="34" charset="0"/>
                          <a:ea typeface="Yu Gothic" pitchFamily="34" charset="-122"/>
                          <a:cs typeface="Yu Gothic" pitchFamily="34" charset="-120"/>
                        </a:rPr>
                        <a:t>■</a:t>
                      </a:r>
                      <a:pPr indent="0" marL="0">
                        <a:buNone/>
                      </a:pPr>
                      <a:r>
                        <a:rPr lang="ja-JP" sz="850" b="1" dirty="0">
                          <a:solidFill>
                            <a:srgbClr val="1E2226"/>
                          </a:solidFill>
                          <a:latin typeface="Yu Gothic" pitchFamily="34" charset="0"/>
                          <a:ea typeface="Yu Gothic" pitchFamily="34" charset="-122"/>
                          <a:cs typeface="Yu Gothic" pitchFamily="34" charset="-120"/>
                        </a:rPr>
                        <a:t> 高</a:t>
                      </a:r>
                      <a:endParaRPr lang="ja-JP" sz="900" dirty="0">
                        <a:latin typeface="Yu Gothic" charset="0"/>
                        <a:ea typeface="Yu Gothic" charset="0"/>
                        <a:cs typeface="Yu Gothic" charset="0"/>
                      </a:endParaRPr>
                    </a:p>
                    <a:p>
                      <a:pPr indent="0" marL="0">
                        <a:buNone/>
                      </a:pPr>
                      <a:r>
                        <a:rPr lang="ja-JP" sz="700" b="1" spc="100" kern="0" dirty="0">
                          <a:solidFill>
                            <a:srgbClr val="7D838A"/>
                          </a:solidFill>
                          <a:latin typeface="Arial" pitchFamily="34" charset="0"/>
                          <a:ea typeface="Arial" pitchFamily="34" charset="-122"/>
                          <a:cs typeface="Arial" pitchFamily="34" charset="-120"/>
                        </a:rPr>
                        <a:t>FEASIBILITY </a:t>
                      </a:r>
                      <a:pPr indent="0" marL="0">
                        <a:buNone/>
                      </a:pPr>
                      <a:r>
                        <a:rPr lang="ja-JP" sz="800" dirty="0">
                          <a:solidFill>
                            <a:srgbClr val="86BC25"/>
                          </a:solidFill>
                          <a:latin typeface="Yu Gothic" pitchFamily="34" charset="0"/>
                          <a:ea typeface="Yu Gothic" pitchFamily="34" charset="-122"/>
                          <a:cs typeface="Yu Gothic" pitchFamily="34" charset="-120"/>
                        </a:rPr>
                        <a:t>■■■</a:t>
                      </a:r>
                      <a:pPr indent="0" marL="0">
                        <a:buNone/>
                      </a:pPr>
                      <a:r>
                        <a:rPr lang="ja-JP" sz="800" dirty="0">
                          <a:solidFill>
                            <a:srgbClr val="E0E4DE"/>
                          </a:solidFill>
                          <a:latin typeface="Yu Gothic" pitchFamily="34" charset="0"/>
                          <a:ea typeface="Yu Gothic" pitchFamily="34" charset="-122"/>
                          <a:cs typeface="Yu Gothic" pitchFamily="34" charset="-120"/>
                        </a:rPr>
                        <a:t>■■</a:t>
                      </a:r>
                      <a:pPr indent="0" marL="0">
                        <a:buNone/>
                      </a:pPr>
                      <a:r>
                        <a:rPr lang="ja-JP" sz="850" b="1" dirty="0">
                          <a:solidFill>
                            <a:srgbClr val="1E2226"/>
                          </a:solidFill>
                          <a:latin typeface="Yu Gothic" pitchFamily="34" charset="0"/>
                          <a:ea typeface="Yu Gothic" pitchFamily="34" charset="-122"/>
                          <a:cs typeface="Yu Gothic" pitchFamily="34" charset="-120"/>
                        </a:rPr>
                        <a:t> 中</a:t>
                      </a:r>
                      <a:endParaRPr lang="ja-JP" sz="900" dirty="0">
                        <a:latin typeface="Yu Gothic" charset="0"/>
                        <a:ea typeface="Yu Gothic" charset="0"/>
                        <a:cs typeface="Yu Gothic" charset="0"/>
                      </a:endParaRPr>
                    </a:p>
                  </a:txBody>
                  <a:tcPr marL="64008" marR="64008" marT="64008" marB="64008" anchor="t">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tcPr>
                </a:tc>
                <a:tc>
                  <a:txBody>
                    <a:bodyPr/>
                    <a:lstStyle/>
                    <a:p>
                      <a:pPr indent="0" marL="0">
                        <a:buNone/>
                      </a:pPr>
                      <a:r>
                        <a:rPr lang="ja-JP" sz="700" b="1" spc="100" kern="0" dirty="0">
                          <a:solidFill>
                            <a:srgbClr val="7D838A"/>
                          </a:solidFill>
                          <a:latin typeface="Arial" pitchFamily="34" charset="0"/>
                          <a:ea typeface="Arial" pitchFamily="34" charset="-122"/>
                          <a:cs typeface="Arial" pitchFamily="34" charset="-120"/>
                        </a:rPr>
                        <a:t>IMPACT </a:t>
                      </a:r>
                      <a:pPr indent="0" marL="0">
                        <a:buNone/>
                      </a:pPr>
                      <a:r>
                        <a:rPr lang="ja-JP" sz="800" dirty="0">
                          <a:solidFill>
                            <a:srgbClr val="86BC25"/>
                          </a:solidFill>
                          <a:latin typeface="Yu Gothic" pitchFamily="34" charset="0"/>
                          <a:ea typeface="Yu Gothic" pitchFamily="34" charset="-122"/>
                          <a:cs typeface="Yu Gothic" pitchFamily="34" charset="-120"/>
                        </a:rPr>
                        <a:t>■■■■■</a:t>
                      </a:r>
                      <a:pPr indent="0" marL="0">
                        <a:buNone/>
                      </a:pPr>
                      <a:r>
                        <a:rPr lang="ja-JP" sz="850" b="1" dirty="0">
                          <a:solidFill>
                            <a:srgbClr val="1E2226"/>
                          </a:solidFill>
                          <a:latin typeface="Yu Gothic" pitchFamily="34" charset="0"/>
                          <a:ea typeface="Yu Gothic" pitchFamily="34" charset="-122"/>
                          <a:cs typeface="Yu Gothic" pitchFamily="34" charset="-120"/>
                        </a:rPr>
                        <a:t> 最高</a:t>
                      </a:r>
                      <a:endParaRPr lang="ja-JP" sz="900" dirty="0">
                        <a:latin typeface="Yu Gothic" charset="0"/>
                        <a:ea typeface="Yu Gothic" charset="0"/>
                        <a:cs typeface="Yu Gothic" charset="0"/>
                      </a:endParaRPr>
                    </a:p>
                    <a:p>
                      <a:pPr indent="0" marL="0">
                        <a:buNone/>
                      </a:pPr>
                      <a:r>
                        <a:rPr lang="ja-JP" sz="700" b="1" spc="100" kern="0" dirty="0">
                          <a:solidFill>
                            <a:srgbClr val="7D838A"/>
                          </a:solidFill>
                          <a:latin typeface="Arial" pitchFamily="34" charset="0"/>
                          <a:ea typeface="Arial" pitchFamily="34" charset="-122"/>
                          <a:cs typeface="Arial" pitchFamily="34" charset="-120"/>
                        </a:rPr>
                        <a:t>FEASIBILITY </a:t>
                      </a:r>
                      <a:pPr indent="0" marL="0">
                        <a:buNone/>
                      </a:pPr>
                      <a:r>
                        <a:rPr lang="ja-JP" sz="800" dirty="0">
                          <a:solidFill>
                            <a:srgbClr val="86BC25"/>
                          </a:solidFill>
                          <a:latin typeface="Yu Gothic" pitchFamily="34" charset="0"/>
                          <a:ea typeface="Yu Gothic" pitchFamily="34" charset="-122"/>
                          <a:cs typeface="Yu Gothic" pitchFamily="34" charset="-120"/>
                        </a:rPr>
                        <a:t>■■■■</a:t>
                      </a:r>
                      <a:pPr indent="0" marL="0">
                        <a:buNone/>
                      </a:pPr>
                      <a:r>
                        <a:rPr lang="ja-JP" sz="800" dirty="0">
                          <a:solidFill>
                            <a:srgbClr val="E0E4DE"/>
                          </a:solidFill>
                          <a:latin typeface="Yu Gothic" pitchFamily="34" charset="0"/>
                          <a:ea typeface="Yu Gothic" pitchFamily="34" charset="-122"/>
                          <a:cs typeface="Yu Gothic" pitchFamily="34" charset="-120"/>
                        </a:rPr>
                        <a:t>■</a:t>
                      </a:r>
                      <a:pPr indent="0" marL="0">
                        <a:buNone/>
                      </a:pPr>
                      <a:r>
                        <a:rPr lang="ja-JP" sz="850" b="1" dirty="0">
                          <a:solidFill>
                            <a:srgbClr val="1E2226"/>
                          </a:solidFill>
                          <a:latin typeface="Yu Gothic" pitchFamily="34" charset="0"/>
                          <a:ea typeface="Yu Gothic" pitchFamily="34" charset="-122"/>
                          <a:cs typeface="Yu Gothic" pitchFamily="34" charset="-120"/>
                        </a:rPr>
                        <a:t> 中〜高</a:t>
                      </a:r>
                      <a:endParaRPr lang="ja-JP" sz="900" dirty="0">
                        <a:latin typeface="Yu Gothic" charset="0"/>
                        <a:ea typeface="Yu Gothic" charset="0"/>
                        <a:cs typeface="Yu Gothic" charset="0"/>
                      </a:endParaRPr>
                    </a:p>
                  </a:txBody>
                  <a:tcPr marL="64008" marR="64008" marT="64008" marB="64008" anchor="t">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tcPr>
                </a:tc>
                <a:tc>
                  <a:txBody>
                    <a:bodyPr/>
                    <a:lstStyle/>
                    <a:p>
                      <a:pPr indent="0" marL="0">
                        <a:buNone/>
                      </a:pPr>
                      <a:r>
                        <a:rPr lang="ja-JP" sz="700" b="1" spc="100" kern="0" dirty="0">
                          <a:solidFill>
                            <a:srgbClr val="7D838A"/>
                          </a:solidFill>
                          <a:latin typeface="Arial" pitchFamily="34" charset="0"/>
                          <a:ea typeface="Arial" pitchFamily="34" charset="-122"/>
                          <a:cs typeface="Arial" pitchFamily="34" charset="-120"/>
                        </a:rPr>
                        <a:t>IMPACT </a:t>
                      </a:r>
                      <a:pPr indent="0" marL="0">
                        <a:buNone/>
                      </a:pPr>
                      <a:r>
                        <a:rPr lang="ja-JP" sz="800" dirty="0">
                          <a:solidFill>
                            <a:srgbClr val="86BC25"/>
                          </a:solidFill>
                          <a:latin typeface="Yu Gothic" pitchFamily="34" charset="0"/>
                          <a:ea typeface="Yu Gothic" pitchFamily="34" charset="-122"/>
                          <a:cs typeface="Yu Gothic" pitchFamily="34" charset="-120"/>
                        </a:rPr>
                        <a:t>■■■■</a:t>
                      </a:r>
                      <a:pPr indent="0" marL="0">
                        <a:buNone/>
                      </a:pPr>
                      <a:r>
                        <a:rPr lang="ja-JP" sz="800" dirty="0">
                          <a:solidFill>
                            <a:srgbClr val="E0E4DE"/>
                          </a:solidFill>
                          <a:latin typeface="Yu Gothic" pitchFamily="34" charset="0"/>
                          <a:ea typeface="Yu Gothic" pitchFamily="34" charset="-122"/>
                          <a:cs typeface="Yu Gothic" pitchFamily="34" charset="-120"/>
                        </a:rPr>
                        <a:t>■</a:t>
                      </a:r>
                      <a:pPr indent="0" marL="0">
                        <a:buNone/>
                      </a:pPr>
                      <a:r>
                        <a:rPr lang="ja-JP" sz="850" b="1" dirty="0">
                          <a:solidFill>
                            <a:srgbClr val="1E2226"/>
                          </a:solidFill>
                          <a:latin typeface="Yu Gothic" pitchFamily="34" charset="0"/>
                          <a:ea typeface="Yu Gothic" pitchFamily="34" charset="-122"/>
                          <a:cs typeface="Yu Gothic" pitchFamily="34" charset="-120"/>
                        </a:rPr>
                        <a:t> 高</a:t>
                      </a:r>
                      <a:endParaRPr lang="ja-JP" sz="900" dirty="0">
                        <a:latin typeface="Yu Gothic" charset="0"/>
                        <a:ea typeface="Yu Gothic" charset="0"/>
                        <a:cs typeface="Yu Gothic" charset="0"/>
                      </a:endParaRPr>
                    </a:p>
                    <a:p>
                      <a:pPr indent="0" marL="0">
                        <a:buNone/>
                      </a:pPr>
                      <a:r>
                        <a:rPr lang="ja-JP" sz="700" b="1" spc="100" kern="0" dirty="0">
                          <a:solidFill>
                            <a:srgbClr val="7D838A"/>
                          </a:solidFill>
                          <a:latin typeface="Arial" pitchFamily="34" charset="0"/>
                          <a:ea typeface="Arial" pitchFamily="34" charset="-122"/>
                          <a:cs typeface="Arial" pitchFamily="34" charset="-120"/>
                        </a:rPr>
                        <a:t>FEASIBILITY </a:t>
                      </a:r>
                      <a:pPr indent="0" marL="0">
                        <a:buNone/>
                      </a:pPr>
                      <a:r>
                        <a:rPr lang="ja-JP" sz="800" dirty="0">
                          <a:solidFill>
                            <a:srgbClr val="86BC25"/>
                          </a:solidFill>
                          <a:latin typeface="Yu Gothic" pitchFamily="34" charset="0"/>
                          <a:ea typeface="Yu Gothic" pitchFamily="34" charset="-122"/>
                          <a:cs typeface="Yu Gothic" pitchFamily="34" charset="-120"/>
                        </a:rPr>
                        <a:t>■■■</a:t>
                      </a:r>
                      <a:pPr indent="0" marL="0">
                        <a:buNone/>
                      </a:pPr>
                      <a:r>
                        <a:rPr lang="ja-JP" sz="800" dirty="0">
                          <a:solidFill>
                            <a:srgbClr val="E0E4DE"/>
                          </a:solidFill>
                          <a:latin typeface="Yu Gothic" pitchFamily="34" charset="0"/>
                          <a:ea typeface="Yu Gothic" pitchFamily="34" charset="-122"/>
                          <a:cs typeface="Yu Gothic" pitchFamily="34" charset="-120"/>
                        </a:rPr>
                        <a:t>■■</a:t>
                      </a:r>
                      <a:pPr indent="0" marL="0">
                        <a:buNone/>
                      </a:pPr>
                      <a:r>
                        <a:rPr lang="ja-JP" sz="850" b="1" dirty="0">
                          <a:solidFill>
                            <a:srgbClr val="1E2226"/>
                          </a:solidFill>
                          <a:latin typeface="Yu Gothic" pitchFamily="34" charset="0"/>
                          <a:ea typeface="Yu Gothic" pitchFamily="34" charset="-122"/>
                          <a:cs typeface="Yu Gothic" pitchFamily="34" charset="-120"/>
                        </a:rPr>
                        <a:t> 中</a:t>
                      </a:r>
                      <a:endParaRPr lang="ja-JP" sz="900" dirty="0">
                        <a:latin typeface="Yu Gothic" charset="0"/>
                        <a:ea typeface="Yu Gothic" charset="0"/>
                        <a:cs typeface="Yu Gothic" charset="0"/>
                      </a:endParaRPr>
                    </a:p>
                  </a:txBody>
                  <a:tcPr marL="64008" marR="64008" marT="64008" marB="64008" anchor="t">
                    <a:lnL w="9525" cap="flat" cmpd="sng" algn="ctr">
                      <a:solidFill>
                        <a:srgbClr val="E2E5E0"/>
                      </a:solidFill>
                      <a:prstDash val="solid"/>
                      <a:round/>
                      <a:headEnd type="none" w="med" len="med"/>
                      <a:tailEnd type="none" w="med" len="med"/>
                    </a:lnL>
                    <a:lnR w="9525" cap="flat" cmpd="sng" algn="ctr">
                      <a:solidFill>
                        <a:srgbClr val="E2E5E0"/>
                      </a:solidFill>
                      <a:prstDash val="solid"/>
                      <a:round/>
                      <a:headEnd type="none" w="med" len="med"/>
                      <a:tailEnd type="none" w="med" len="med"/>
                    </a:lnR>
                    <a:lnT w="9525" cap="flat" cmpd="sng" algn="ctr">
                      <a:solidFill>
                        <a:srgbClr val="E2E5E0"/>
                      </a:solidFill>
                      <a:prstDash val="solid"/>
                      <a:round/>
                      <a:headEnd type="none" w="med" len="med"/>
                      <a:tailEnd type="none" w="med" len="med"/>
                    </a:lnT>
                    <a:lnB w="9525" cap="flat" cmpd="sng" algn="ctr">
                      <a:solidFill>
                        <a:srgbClr val="E2E5E0"/>
                      </a:solidFill>
                      <a:prstDash val="solid"/>
                      <a:round/>
                      <a:headEnd type="none" w="med" len="med"/>
                      <a:tailEnd type="none" w="med" len="med"/>
                    </a:lnB>
                  </a:tcPr>
                </a:tc>
              </a:tr>
            </a:tbl>
          </a:graphicData>
        </a:graphic>
      </p:graphicFrame>
      <p:sp>
        <p:nvSpPr>
          <p:cNvPr id="5" name="Text 2"/>
          <p:cNvSpPr txBox="1"/>
          <p:nvPr/>
        </p:nvSpPr>
        <p:spPr>
          <a:xfrm>
            <a:off x="548640" y="6053328"/>
            <a:ext cx="11091672" cy="274320"/>
          </a:xfrm>
          <a:prstGeom prst="rect">
            <a:avLst/>
          </a:prstGeom>
          <a:noFill/>
          <a:ln/>
        </p:spPr>
        <p:txBody>
          <a:bodyPr wrap="square" lIns="0" tIns="0" rIns="0" bIns="0" rtlCol="0" anchor="ctr"/>
          <a:lstStyle/>
          <a:p>
            <a:pPr indent="0" marL="0">
              <a:buNone/>
            </a:pPr>
            <a:r>
              <a:rPr lang="ja-JP" sz="950" dirty="0">
                <a:solidFill>
                  <a:srgbClr val="464C52"/>
                </a:solidFill>
                <a:latin typeface="Yu Gothic" pitchFamily="34" charset="0"/>
                <a:ea typeface="Yu Gothic" pitchFamily="34" charset="-122"/>
                <a:cs typeface="Yu Gothic" pitchFamily="34" charset="-120"/>
              </a:rPr>
              <a:t>3つは同じ</a:t>
            </a:r>
            <a:pPr indent="0" marL="0">
              <a:buNone/>
            </a:pPr>
            <a:r>
              <a:rPr lang="ja-JP" sz="950" b="1" dirty="0">
                <a:solidFill>
                  <a:srgbClr val="1E2226"/>
                </a:solidFill>
                <a:latin typeface="Yu Gothic" pitchFamily="34" charset="0"/>
                <a:ea typeface="Yu Gothic" pitchFamily="34" charset="-122"/>
                <a:cs typeface="Yu Gothic" pitchFamily="34" charset="-120"/>
              </a:rPr>
              <a:t>「判断資産」</a:t>
            </a:r>
            <a:pPr indent="0" marL="0">
              <a:buNone/>
            </a:pPr>
            <a:r>
              <a:rPr lang="ja-JP" sz="950" dirty="0">
                <a:solidFill>
                  <a:srgbClr val="464C52"/>
                </a:solidFill>
                <a:latin typeface="Yu Gothic" pitchFamily="34" charset="0"/>
                <a:ea typeface="Yu Gothic" pitchFamily="34" charset="-122"/>
                <a:cs typeface="Yu Gothic" pitchFamily="34" charset="-120"/>
              </a:rPr>
              <a:t>（判断の履歴 × 実績・外部データ）の上に立ち、使うほど互いを賢くする——基盤は貴社環境内に構築し、アクセス統制を初期要件とする</a:t>
            </a:r>
            <a:endParaRPr lang="ja-JP" sz="950" dirty="0"/>
          </a:p>
        </p:txBody>
      </p:sp>
      <p:sp>
        <p:nvSpPr>
          <p:cNvPr id="6" name="Text 3"/>
          <p:cNvSpPr txBox="1"/>
          <p:nvPr/>
        </p:nvSpPr>
        <p:spPr>
          <a:xfrm>
            <a:off x="11091672" y="6510528"/>
            <a:ext cx="822960" cy="228600"/>
          </a:xfrm>
          <a:prstGeom prst="rect">
            <a:avLst/>
          </a:prstGeom>
          <a:noFill/>
          <a:ln/>
        </p:spPr>
        <p:txBody>
          <a:bodyPr wrap="square" lIns="0" tIns="0" rIns="0" bIns="0" rtlCol="0" anchor="ctr"/>
          <a:lstStyle/>
          <a:p>
            <a:pPr algn="r" indent="0" marL="0">
              <a:buNone/>
            </a:pPr>
            <a:r>
              <a:rPr lang="ja-JP" sz="800" dirty="0">
                <a:solidFill>
                  <a:srgbClr val="7D838A"/>
                </a:solidFill>
                <a:latin typeface="Arial" pitchFamily="34" charset="0"/>
                <a:ea typeface="Arial" pitchFamily="34" charset="-122"/>
                <a:cs typeface="Arial" pitchFamily="34" charset="-120"/>
              </a:rPr>
              <a:t>01</a:t>
            </a:r>
            <a:endParaRPr lang="ja-JP"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ja-JP" sz="900" b="1" spc="200" kern="0" dirty="0">
                <a:solidFill>
                  <a:srgbClr val="5F8C11"/>
                </a:solidFill>
                <a:latin typeface="Arial" pitchFamily="34" charset="0"/>
                <a:ea typeface="Arial" pitchFamily="34" charset="-122"/>
                <a:cs typeface="Arial" pitchFamily="34" charset="-120"/>
              </a:rPr>
              <a:t>NEXT PHASE PROPOSAL — 02 / 探す｜配分</a:t>
            </a:r>
            <a:endParaRPr lang="ja-JP" sz="900" dirty="0"/>
          </a:p>
        </p:txBody>
      </p:sp>
      <p:sp>
        <p:nvSpPr>
          <p:cNvPr id="3" name="Text 1"/>
          <p:cNvSpPr txBox="1"/>
          <p:nvPr/>
        </p:nvSpPr>
        <p:spPr>
          <a:xfrm>
            <a:off x="548640" y="603504"/>
            <a:ext cx="11091672" cy="749808"/>
          </a:xfrm>
          <a:prstGeom prst="rect">
            <a:avLst/>
          </a:prstGeom>
          <a:noFill/>
          <a:ln/>
        </p:spPr>
        <p:txBody>
          <a:bodyPr wrap="square" lIns="0" tIns="0" rIns="0" bIns="0" rtlCol="0" anchor="ctr"/>
          <a:lstStyle/>
          <a:p>
            <a:pPr indent="0" marL="0">
              <a:lnSpc>
                <a:spcPct val="128000"/>
              </a:lnSpc>
              <a:buNone/>
            </a:pPr>
            <a:r>
              <a:rPr lang="ja-JP" sz="1550" b="1" dirty="0">
                <a:solidFill>
                  <a:srgbClr val="1E2226"/>
                </a:solidFill>
                <a:latin typeface="Yu Gothic" pitchFamily="34" charset="0"/>
                <a:ea typeface="Yu Gothic" pitchFamily="34" charset="-122"/>
                <a:cs typeface="Yu Gothic" pitchFamily="34" charset="-120"/>
              </a:rPr>
              <a:t>投資ポテンシャル（RoI）インテリジェンス</a:t>
            </a:r>
            <a:endParaRPr lang="ja-JP" sz="1550" dirty="0"/>
          </a:p>
          <a:p>
            <a:pPr indent="0" marL="0">
              <a:lnSpc>
                <a:spcPct val="128000"/>
              </a:lnSpc>
              <a:buNone/>
            </a:pPr>
            <a:r>
              <a:rPr lang="ja-JP" sz="1550" b="1" dirty="0">
                <a:solidFill>
                  <a:srgbClr val="1E2226"/>
                </a:solidFill>
                <a:latin typeface="Yu Gothic" pitchFamily="34" charset="0"/>
                <a:ea typeface="Yu Gothic" pitchFamily="34" charset="-122"/>
                <a:cs typeface="Yu Gothic" pitchFamily="34" charset="-120"/>
              </a:rPr>
              <a:t>——グループ全体を読み、</a:t>
            </a:r>
            <a:pPr indent="0" marL="0">
              <a:lnSpc>
                <a:spcPct val="128000"/>
              </a:lnSpc>
              <a:buNone/>
            </a:pPr>
            <a:r>
              <a:rPr lang="ja-JP" sz="1550" b="1" dirty="0">
                <a:solidFill>
                  <a:srgbClr val="5F8C11"/>
                </a:solidFill>
                <a:latin typeface="Yu Gothic" pitchFamily="34" charset="0"/>
                <a:ea typeface="Yu Gothic" pitchFamily="34" charset="-122"/>
                <a:cs typeface="Yu Gothic" pitchFamily="34" charset="-120"/>
              </a:rPr>
              <a:t>「次にどこへ張るべきか」</a:t>
            </a:r>
            <a:pPr indent="0" marL="0">
              <a:lnSpc>
                <a:spcPct val="128000"/>
              </a:lnSpc>
              <a:buNone/>
            </a:pPr>
            <a:r>
              <a:rPr lang="ja-JP" sz="1550" b="1" dirty="0">
                <a:solidFill>
                  <a:srgbClr val="1E2226"/>
                </a:solidFill>
                <a:latin typeface="Yu Gothic" pitchFamily="34" charset="0"/>
                <a:ea typeface="Yu Gothic" pitchFamily="34" charset="-122"/>
                <a:cs typeface="Yu Gothic" pitchFamily="34" charset="-120"/>
              </a:rPr>
              <a:t>の候補を能動的に見つけ出す</a:t>
            </a:r>
            <a:endParaRPr lang="ja-JP" sz="1550" dirty="0"/>
          </a:p>
        </p:txBody>
      </p:sp>
      <p:sp>
        <p:nvSpPr>
          <p:cNvPr id="4" name="Shape 2"/>
          <p:cNvSpPr/>
          <p:nvPr/>
        </p:nvSpPr>
        <p:spPr>
          <a:xfrm>
            <a:off x="548640" y="1426464"/>
            <a:ext cx="11091672" cy="329184"/>
          </a:xfrm>
          <a:prstGeom prst="rect">
            <a:avLst/>
          </a:prstGeom>
          <a:solidFill>
            <a:srgbClr val="F6F7F5"/>
          </a:solidFill>
          <a:ln w="9525">
            <a:solidFill>
              <a:srgbClr val="E2E5E0"/>
            </a:solidFill>
            <a:prstDash val="solid"/>
          </a:ln>
        </p:spPr>
      </p:sp>
      <p:sp>
        <p:nvSpPr>
          <p:cNvPr id="5" name="Text 3"/>
          <p:cNvSpPr txBox="1"/>
          <p:nvPr/>
        </p:nvSpPr>
        <p:spPr>
          <a:xfrm>
            <a:off x="685800" y="1426464"/>
            <a:ext cx="10817352" cy="329184"/>
          </a:xfrm>
          <a:prstGeom prst="rect">
            <a:avLst/>
          </a:prstGeom>
          <a:noFill/>
          <a:ln/>
        </p:spPr>
        <p:txBody>
          <a:bodyPr wrap="square" lIns="0" tIns="0" rIns="0" bIns="0" rtlCol="0" anchor="ctr"/>
          <a:lstStyle/>
          <a:p>
            <a:pPr indent="0" marL="0">
              <a:buNone/>
            </a:pPr>
            <a:r>
              <a:rPr lang="ja-JP" sz="800" b="1" spc="100" kern="0" dirty="0">
                <a:solidFill>
                  <a:srgbClr val="7D838A"/>
                </a:solidFill>
                <a:latin typeface="Yu Gothic" pitchFamily="34" charset="0"/>
                <a:ea typeface="Yu Gothic" pitchFamily="34" charset="-122"/>
                <a:cs typeface="Yu Gothic" pitchFamily="34" charset="-120"/>
              </a:rPr>
              <a:t>差し込む場面   </a:t>
            </a:r>
            <a:pPr indent="0" marL="0">
              <a:buNone/>
            </a:pPr>
            <a:r>
              <a:rPr lang="ja-JP" sz="950" dirty="0">
                <a:solidFill>
                  <a:srgbClr val="1E2226"/>
                </a:solidFill>
                <a:latin typeface="Yu Gothic" pitchFamily="34" charset="0"/>
                <a:ea typeface="Yu Gothic" pitchFamily="34" charset="-122"/>
                <a:cs typeface="Yu Gothic" pitchFamily="34" charset="-120"/>
              </a:rPr>
              <a:t>年次予算編成・中期計画ローリングの配分審議——「投資ポテンシャル・マップ」として経営企画・財務が事前配布</a:t>
            </a:r>
            <a:endParaRPr lang="ja-JP" sz="800" dirty="0"/>
          </a:p>
        </p:txBody>
      </p:sp>
      <p:sp>
        <p:nvSpPr>
          <p:cNvPr id="6" name="Shape 4"/>
          <p:cNvSpPr/>
          <p:nvPr/>
        </p:nvSpPr>
        <p:spPr>
          <a:xfrm>
            <a:off x="548640" y="1883664"/>
            <a:ext cx="5330952" cy="1481328"/>
          </a:xfrm>
          <a:prstGeom prst="rect">
            <a:avLst/>
          </a:prstGeom>
          <a:solidFill>
            <a:srgbClr val="F6F7F5"/>
          </a:solidFill>
          <a:ln w="9525">
            <a:solidFill>
              <a:srgbClr val="E2E5E0"/>
            </a:solidFill>
            <a:prstDash val="solid"/>
          </a:ln>
        </p:spPr>
      </p:sp>
      <p:sp>
        <p:nvSpPr>
          <p:cNvPr id="7" name="Shape 5"/>
          <p:cNvSpPr/>
          <p:nvPr/>
        </p:nvSpPr>
        <p:spPr>
          <a:xfrm>
            <a:off x="6309360" y="1883664"/>
            <a:ext cx="5330952" cy="1481328"/>
          </a:xfrm>
          <a:prstGeom prst="rect">
            <a:avLst/>
          </a:prstGeom>
          <a:solidFill>
            <a:srgbClr val="FFFFFF"/>
          </a:solidFill>
          <a:ln w="9525">
            <a:solidFill>
              <a:srgbClr val="E2E5E0"/>
            </a:solidFill>
            <a:prstDash val="solid"/>
          </a:ln>
        </p:spPr>
      </p:sp>
      <p:sp>
        <p:nvSpPr>
          <p:cNvPr id="8" name="Text 6"/>
          <p:cNvSpPr txBox="1"/>
          <p:nvPr/>
        </p:nvSpPr>
        <p:spPr>
          <a:xfrm>
            <a:off x="5897880" y="1883664"/>
            <a:ext cx="393192" cy="1481328"/>
          </a:xfrm>
          <a:prstGeom prst="rect">
            <a:avLst/>
          </a:prstGeom>
          <a:noFill/>
          <a:ln/>
        </p:spPr>
        <p:txBody>
          <a:bodyPr wrap="square" lIns="0" tIns="0" rIns="0" bIns="0" rtlCol="0" anchor="ctr"/>
          <a:lstStyle/>
          <a:p>
            <a:pPr algn="ctr" indent="0" marL="0">
              <a:buNone/>
            </a:pPr>
            <a:r>
              <a:rPr lang="ja-JP" sz="1100" dirty="0">
                <a:solidFill>
                  <a:srgbClr val="B9BFB6"/>
                </a:solidFill>
                <a:latin typeface="Yu Gothic" pitchFamily="34" charset="0"/>
                <a:ea typeface="Yu Gothic" pitchFamily="34" charset="-122"/>
                <a:cs typeface="Yu Gothic" pitchFamily="34" charset="-120"/>
              </a:rPr>
              <a:t>▶</a:t>
            </a:r>
            <a:endParaRPr lang="ja-JP" sz="1100" dirty="0"/>
          </a:p>
        </p:txBody>
      </p:sp>
      <p:sp>
        <p:nvSpPr>
          <p:cNvPr id="9" name="Text 7"/>
          <p:cNvSpPr txBox="1"/>
          <p:nvPr/>
        </p:nvSpPr>
        <p:spPr>
          <a:xfrm>
            <a:off x="694944" y="1956816"/>
            <a:ext cx="5038344" cy="1335024"/>
          </a:xfrm>
          <a:prstGeom prst="rect">
            <a:avLst/>
          </a:prstGeom>
          <a:noFill/>
          <a:ln/>
        </p:spPr>
        <p:txBody>
          <a:bodyPr wrap="square" lIns="0" tIns="0" rIns="0" bIns="0" rtlCol="0" anchor="t"/>
          <a:lstStyle/>
          <a:p>
            <a:pPr indent="0" marL="0">
              <a:lnSpc>
                <a:spcPct val="118000"/>
              </a:lnSpc>
              <a:spcAft>
                <a:spcPts val="300"/>
              </a:spcAft>
              <a:buNone/>
            </a:pPr>
            <a:r>
              <a:rPr lang="ja-JP" sz="800" b="1" spc="200" kern="0" dirty="0">
                <a:solidFill>
                  <a:srgbClr val="7D838A"/>
                </a:solidFill>
                <a:latin typeface="Arial" pitchFamily="34" charset="0"/>
                <a:ea typeface="Arial" pitchFamily="34" charset="-122"/>
                <a:cs typeface="Arial" pitchFamily="34" charset="-120"/>
              </a:rPr>
              <a:t>BEFORE</a:t>
            </a:r>
            <a:endParaRPr lang="ja-JP" sz="880" dirty="0"/>
          </a:p>
          <a:p>
            <a:pPr indent="0" marL="0">
              <a:lnSpc>
                <a:spcPct val="118000"/>
              </a:lnSpc>
              <a:spcAft>
                <a:spcPts val="300"/>
              </a:spcAft>
              <a:buNone/>
            </a:pPr>
            <a:r>
              <a:rPr lang="ja-JP" sz="880" b="1" dirty="0">
                <a:solidFill>
                  <a:srgbClr val="1E2226"/>
                </a:solidFill>
                <a:latin typeface="Yu Gothic" pitchFamily="34" charset="0"/>
                <a:ea typeface="Yu Gothic" pitchFamily="34" charset="-122"/>
                <a:cs typeface="Yu Gothic" pitchFamily="34" charset="-120"/>
              </a:rPr>
              <a:t>「次にどこへ投資すべきか」を、グループ全体を見渡して探せている人は、誰もいない。</a:t>
            </a:r>
            <a:pPr indent="0" marL="0">
              <a:lnSpc>
                <a:spcPct val="118000"/>
              </a:lnSpc>
              <a:spcAft>
                <a:spcPts val="300"/>
              </a:spcAft>
              <a:buNone/>
            </a:pPr>
            <a:r>
              <a:rPr lang="ja-JP" sz="880" dirty="0">
                <a:solidFill>
                  <a:srgbClr val="464C52"/>
                </a:solidFill>
                <a:latin typeface="Yu Gothic" pitchFamily="34" charset="0"/>
                <a:ea typeface="Yu Gothic" pitchFamily="34" charset="-122"/>
                <a:cs typeface="Yu Gothic" pitchFamily="34" charset="-120"/>
              </a:rPr>
              <a:t>約100社・複数事業の状況をすべて把握して比べることは人間には物量的に不可能で、投資の議論は各事業から持ち上がる起案の審査から始まる。起案されなかった機会は、誰にも気づかれないまま消えていく。</a:t>
            </a:r>
            <a:endParaRPr lang="ja-JP" sz="880" dirty="0"/>
          </a:p>
        </p:txBody>
      </p:sp>
      <p:sp>
        <p:nvSpPr>
          <p:cNvPr id="10" name="Text 8"/>
          <p:cNvSpPr txBox="1"/>
          <p:nvPr/>
        </p:nvSpPr>
        <p:spPr>
          <a:xfrm>
            <a:off x="6455664" y="1956816"/>
            <a:ext cx="5038344" cy="1335024"/>
          </a:xfrm>
          <a:prstGeom prst="rect">
            <a:avLst/>
          </a:prstGeom>
          <a:noFill/>
          <a:ln/>
        </p:spPr>
        <p:txBody>
          <a:bodyPr wrap="square" lIns="0" tIns="0" rIns="0" bIns="0" rtlCol="0" anchor="t"/>
          <a:lstStyle/>
          <a:p>
            <a:pPr indent="0" marL="0">
              <a:lnSpc>
                <a:spcPct val="118000"/>
              </a:lnSpc>
              <a:spcAft>
                <a:spcPts val="300"/>
              </a:spcAft>
              <a:buNone/>
            </a:pPr>
            <a:r>
              <a:rPr lang="ja-JP" sz="800" b="1" spc="200" kern="0" dirty="0">
                <a:solidFill>
                  <a:srgbClr val="5F8C11"/>
                </a:solidFill>
                <a:latin typeface="Arial" pitchFamily="34" charset="0"/>
                <a:ea typeface="Arial" pitchFamily="34" charset="-122"/>
                <a:cs typeface="Arial" pitchFamily="34" charset="-120"/>
              </a:rPr>
              <a:t>AFTER</a:t>
            </a:r>
            <a:endParaRPr lang="ja-JP" sz="880" dirty="0"/>
          </a:p>
          <a:p>
            <a:pPr indent="0" marL="0">
              <a:lnSpc>
                <a:spcPct val="118000"/>
              </a:lnSpc>
              <a:spcAft>
                <a:spcPts val="300"/>
              </a:spcAft>
              <a:buNone/>
            </a:pPr>
            <a:r>
              <a:rPr lang="ja-JP" sz="880" dirty="0">
                <a:solidFill>
                  <a:srgbClr val="464C52"/>
                </a:solidFill>
                <a:latin typeface="Yu Gothic" pitchFamily="34" charset="0"/>
                <a:ea typeface="Yu Gothic" pitchFamily="34" charset="-122"/>
                <a:cs typeface="Yu Gothic" pitchFamily="34" charset="-120"/>
              </a:rPr>
              <a:t>AIがグループ約100社の業績・投資実績・市場環境を常時読み込み、</a:t>
            </a:r>
            <a:pPr indent="0" marL="0">
              <a:lnSpc>
                <a:spcPct val="118000"/>
              </a:lnSpc>
              <a:spcAft>
                <a:spcPts val="300"/>
              </a:spcAft>
              <a:buNone/>
            </a:pPr>
            <a:r>
              <a:rPr lang="ja-JP" sz="880" b="1" dirty="0">
                <a:solidFill>
                  <a:srgbClr val="1E2226"/>
                </a:solidFill>
                <a:latin typeface="Yu Gothic" pitchFamily="34" charset="0"/>
                <a:ea typeface="Yu Gothic" pitchFamily="34" charset="-122"/>
                <a:cs typeface="Yu Gothic" pitchFamily="34" charset="-120"/>
              </a:rPr>
              <a:t>「どの事業のどの領域が、追加投資へのリターン期待が高いか」</a:t>
            </a:r>
            <a:pPr indent="0" marL="0">
              <a:lnSpc>
                <a:spcPct val="118000"/>
              </a:lnSpc>
              <a:spcAft>
                <a:spcPts val="300"/>
              </a:spcAft>
              <a:buNone/>
            </a:pPr>
            <a:r>
              <a:rPr lang="ja-JP" sz="880" dirty="0">
                <a:solidFill>
                  <a:srgbClr val="464C52"/>
                </a:solidFill>
                <a:latin typeface="Yu Gothic" pitchFamily="34" charset="0"/>
                <a:ea typeface="Yu Gothic" pitchFamily="34" charset="-122"/>
                <a:cs typeface="Yu Gothic" pitchFamily="34" charset="-120"/>
              </a:rPr>
              <a:t>を同一基準の物差しで比較した投資ポテンシャル・マップとして提示する。HDは起案を待たず、「なぜここに張らないのか」から議論を始められる。</a:t>
            </a:r>
            <a:endParaRPr lang="ja-JP" sz="880" dirty="0"/>
          </a:p>
        </p:txBody>
      </p:sp>
      <p:sp>
        <p:nvSpPr>
          <p:cNvPr id="11" name="Shape 9"/>
          <p:cNvSpPr/>
          <p:nvPr/>
        </p:nvSpPr>
        <p:spPr>
          <a:xfrm>
            <a:off x="548640" y="3474720"/>
            <a:ext cx="11091672" cy="384048"/>
          </a:xfrm>
          <a:prstGeom prst="rect">
            <a:avLst/>
          </a:prstGeom>
          <a:solidFill>
            <a:srgbClr val="F2F7E6"/>
          </a:solidFill>
          <a:ln w="9525">
            <a:solidFill>
              <a:srgbClr val="DCEAD2"/>
            </a:solidFill>
            <a:prstDash val="solid"/>
          </a:ln>
        </p:spPr>
      </p:sp>
      <p:sp>
        <p:nvSpPr>
          <p:cNvPr id="12" name="Text 10"/>
          <p:cNvSpPr txBox="1"/>
          <p:nvPr/>
        </p:nvSpPr>
        <p:spPr>
          <a:xfrm>
            <a:off x="685800" y="3474720"/>
            <a:ext cx="8074152" cy="384048"/>
          </a:xfrm>
          <a:prstGeom prst="rect">
            <a:avLst/>
          </a:prstGeom>
          <a:noFill/>
          <a:ln/>
        </p:spPr>
        <p:txBody>
          <a:bodyPr wrap="square" lIns="0" tIns="0" rIns="0" bIns="0" rtlCol="0" anchor="ctr"/>
          <a:lstStyle/>
          <a:p>
            <a:pPr indent="0" marL="0">
              <a:buNone/>
            </a:pPr>
            <a:r>
              <a:rPr lang="ja-JP" sz="850" b="1" dirty="0">
                <a:solidFill>
                  <a:srgbClr val="5F8C11"/>
                </a:solidFill>
                <a:latin typeface="Yu Gothic" pitchFamily="34" charset="0"/>
                <a:ea typeface="Yu Gothic" pitchFamily="34" charset="-122"/>
                <a:cs typeface="Yu Gothic" pitchFamily="34" charset="-120"/>
              </a:rPr>
              <a:t>AIの介在点   </a:t>
            </a:r>
            <a:pPr indent="0" marL="0">
              <a:buNone/>
            </a:pPr>
            <a:r>
              <a:rPr lang="ja-JP" sz="880" dirty="0">
                <a:solidFill>
                  <a:srgbClr val="464C52"/>
                </a:solidFill>
                <a:latin typeface="Yu Gothic" pitchFamily="34" charset="0"/>
                <a:ea typeface="Yu Gothic" pitchFamily="34" charset="-122"/>
                <a:cs typeface="Yu Gothic" pitchFamily="34" charset="-120"/>
              </a:rPr>
              <a:t>グループ全社の業績・投資実績・市場環境の常時読解　／　事業体ごとに異なる管理会計の正規化　／　ポテンシャルの高い領域の候補提示と根拠説明</a:t>
            </a:r>
            <a:endParaRPr lang="ja-JP" sz="850" dirty="0"/>
          </a:p>
        </p:txBody>
      </p:sp>
      <p:sp>
        <p:nvSpPr>
          <p:cNvPr id="13" name="Text 11"/>
          <p:cNvSpPr txBox="1"/>
          <p:nvPr/>
        </p:nvSpPr>
        <p:spPr>
          <a:xfrm>
            <a:off x="8805672" y="3474720"/>
            <a:ext cx="2697480" cy="384048"/>
          </a:xfrm>
          <a:prstGeom prst="rect">
            <a:avLst/>
          </a:prstGeom>
          <a:noFill/>
          <a:ln/>
        </p:spPr>
        <p:txBody>
          <a:bodyPr wrap="square" lIns="0" tIns="0" rIns="0" bIns="0" rtlCol="0" anchor="ctr"/>
          <a:lstStyle/>
          <a:p>
            <a:pPr algn="r" indent="0" marL="0">
              <a:buNone/>
            </a:pPr>
            <a:r>
              <a:rPr lang="ja-JP" sz="800" dirty="0">
                <a:solidFill>
                  <a:srgbClr val="7D838A"/>
                </a:solidFill>
                <a:latin typeface="Yu Gothic" pitchFamily="34" charset="0"/>
                <a:ea typeface="Yu Gothic" pitchFamily="34" charset="-122"/>
                <a:cs typeface="Yu Gothic" pitchFamily="34" charset="-120"/>
              </a:rPr>
              <a:t>張るか否かの決定は人——AIは候補と根拠まで</a:t>
            </a:r>
            <a:endParaRPr lang="ja-JP" sz="800" dirty="0"/>
          </a:p>
        </p:txBody>
      </p:sp>
      <p:sp>
        <p:nvSpPr>
          <p:cNvPr id="14" name="Shape 12"/>
          <p:cNvSpPr/>
          <p:nvPr/>
        </p:nvSpPr>
        <p:spPr>
          <a:xfrm>
            <a:off x="548640" y="3968496"/>
            <a:ext cx="11091672" cy="603504"/>
          </a:xfrm>
          <a:prstGeom prst="rect">
            <a:avLst/>
          </a:prstGeom>
          <a:solidFill>
            <a:srgbClr val="FFFFFF"/>
          </a:solidFill>
          <a:ln w="9525">
            <a:solidFill>
              <a:srgbClr val="E2E5E0"/>
            </a:solidFill>
            <a:prstDash val="solid"/>
          </a:ln>
        </p:spPr>
      </p:sp>
      <p:sp>
        <p:nvSpPr>
          <p:cNvPr id="15" name="Text 13"/>
          <p:cNvSpPr txBox="1"/>
          <p:nvPr/>
        </p:nvSpPr>
        <p:spPr>
          <a:xfrm>
            <a:off x="731520" y="4032504"/>
            <a:ext cx="5212080" cy="493776"/>
          </a:xfrm>
          <a:prstGeom prst="rect">
            <a:avLst/>
          </a:prstGeom>
          <a:noFill/>
          <a:ln/>
        </p:spPr>
        <p:txBody>
          <a:bodyPr wrap="square" lIns="0" tIns="0" rIns="0" bIns="0" rtlCol="0" anchor="t"/>
          <a:lstStyle/>
          <a:p>
            <a:pPr indent="0" marL="0">
              <a:lnSpc>
                <a:spcPct val="115000"/>
              </a:lnSpc>
              <a:buNone/>
            </a:pPr>
            <a:r>
              <a:rPr lang="ja-JP" sz="750" b="1" spc="150" kern="0" dirty="0">
                <a:solidFill>
                  <a:srgbClr val="7D838A"/>
                </a:solidFill>
                <a:latin typeface="Arial" pitchFamily="34" charset="0"/>
                <a:ea typeface="Arial" pitchFamily="34" charset="-122"/>
                <a:cs typeface="Arial" pitchFamily="34" charset="-120"/>
              </a:rPr>
              <a:t>IMPACT  </a:t>
            </a:r>
            <a:pPr indent="0" marL="0">
              <a:lnSpc>
                <a:spcPct val="115000"/>
              </a:lnSpc>
              <a:buNone/>
            </a:pPr>
            <a:r>
              <a:rPr lang="ja-JP" sz="800" dirty="0">
                <a:solidFill>
                  <a:srgbClr val="86BC25"/>
                </a:solidFill>
                <a:latin typeface="Yu Gothic" pitchFamily="34" charset="0"/>
                <a:ea typeface="Yu Gothic" pitchFamily="34" charset="-122"/>
                <a:cs typeface="Yu Gothic" pitchFamily="34" charset="-120"/>
              </a:rPr>
              <a:t>■■■■</a:t>
            </a:r>
            <a:pPr indent="0" marL="0">
              <a:lnSpc>
                <a:spcPct val="115000"/>
              </a:lnSpc>
              <a:buNone/>
            </a:pPr>
            <a:r>
              <a:rPr lang="ja-JP" sz="800" dirty="0">
                <a:solidFill>
                  <a:srgbClr val="E0E4DE"/>
                </a:solidFill>
                <a:latin typeface="Yu Gothic" pitchFamily="34" charset="0"/>
                <a:ea typeface="Yu Gothic" pitchFamily="34" charset="-122"/>
                <a:cs typeface="Yu Gothic" pitchFamily="34" charset="-120"/>
              </a:rPr>
              <a:t>■</a:t>
            </a:r>
            <a:pPr indent="0" marL="0">
              <a:lnSpc>
                <a:spcPct val="115000"/>
              </a:lnSpc>
              <a:buNone/>
            </a:pPr>
            <a:r>
              <a:rPr lang="ja-JP" sz="950" b="1" dirty="0">
                <a:solidFill>
                  <a:srgbClr val="1E2226"/>
                </a:solidFill>
                <a:latin typeface="Yu Gothic" pitchFamily="34" charset="0"/>
                <a:ea typeface="Yu Gothic" pitchFamily="34" charset="-122"/>
                <a:cs typeface="Yu Gothic" pitchFamily="34" charset="-120"/>
              </a:rPr>
              <a:t>  高</a:t>
            </a:r>
            <a:endParaRPr lang="ja-JP" sz="750" dirty="0"/>
          </a:p>
          <a:p>
            <a:pPr indent="0" marL="0">
              <a:lnSpc>
                <a:spcPct val="115000"/>
              </a:lnSpc>
              <a:buNone/>
            </a:pPr>
            <a:r>
              <a:rPr lang="ja-JP" sz="780" dirty="0">
                <a:solidFill>
                  <a:srgbClr val="7D838A"/>
                </a:solidFill>
                <a:latin typeface="Yu Gothic" pitchFamily="34" charset="0"/>
                <a:ea typeface="Yu Gothic" pitchFamily="34" charset="-122"/>
                <a:cs typeface="Yu Gothic" pitchFamily="34" charset="-120"/>
              </a:rPr>
              <a:t>起案待ちでは見えなかった機会の発見——7,500億円の配分議論に直接作用</a:t>
            </a:r>
            <a:endParaRPr lang="ja-JP" sz="750" dirty="0"/>
          </a:p>
        </p:txBody>
      </p:sp>
      <p:sp>
        <p:nvSpPr>
          <p:cNvPr id="16" name="Text 14"/>
          <p:cNvSpPr txBox="1"/>
          <p:nvPr/>
        </p:nvSpPr>
        <p:spPr>
          <a:xfrm>
            <a:off x="6355080" y="4032504"/>
            <a:ext cx="5120640" cy="493776"/>
          </a:xfrm>
          <a:prstGeom prst="rect">
            <a:avLst/>
          </a:prstGeom>
          <a:noFill/>
          <a:ln/>
        </p:spPr>
        <p:txBody>
          <a:bodyPr wrap="square" lIns="0" tIns="0" rIns="0" bIns="0" rtlCol="0" anchor="t"/>
          <a:lstStyle/>
          <a:p>
            <a:pPr indent="0" marL="0">
              <a:lnSpc>
                <a:spcPct val="115000"/>
              </a:lnSpc>
              <a:buNone/>
            </a:pPr>
            <a:r>
              <a:rPr lang="ja-JP" sz="750" b="1" spc="150" kern="0" dirty="0">
                <a:solidFill>
                  <a:srgbClr val="7D838A"/>
                </a:solidFill>
                <a:latin typeface="Arial" pitchFamily="34" charset="0"/>
                <a:ea typeface="Arial" pitchFamily="34" charset="-122"/>
                <a:cs typeface="Arial" pitchFamily="34" charset="-120"/>
              </a:rPr>
              <a:t>FEASIBILITY  </a:t>
            </a:r>
            <a:pPr indent="0" marL="0">
              <a:lnSpc>
                <a:spcPct val="115000"/>
              </a:lnSpc>
              <a:buNone/>
            </a:pPr>
            <a:r>
              <a:rPr lang="ja-JP" sz="800" dirty="0">
                <a:solidFill>
                  <a:srgbClr val="86BC25"/>
                </a:solidFill>
                <a:latin typeface="Yu Gothic" pitchFamily="34" charset="0"/>
                <a:ea typeface="Yu Gothic" pitchFamily="34" charset="-122"/>
                <a:cs typeface="Yu Gothic" pitchFamily="34" charset="-120"/>
              </a:rPr>
              <a:t>■■■</a:t>
            </a:r>
            <a:pPr indent="0" marL="0">
              <a:lnSpc>
                <a:spcPct val="115000"/>
              </a:lnSpc>
              <a:buNone/>
            </a:pPr>
            <a:r>
              <a:rPr lang="ja-JP" sz="800" dirty="0">
                <a:solidFill>
                  <a:srgbClr val="E0E4DE"/>
                </a:solidFill>
                <a:latin typeface="Yu Gothic" pitchFamily="34" charset="0"/>
                <a:ea typeface="Yu Gothic" pitchFamily="34" charset="-122"/>
                <a:cs typeface="Yu Gothic" pitchFamily="34" charset="-120"/>
              </a:rPr>
              <a:t>■■</a:t>
            </a:r>
            <a:pPr indent="0" marL="0">
              <a:lnSpc>
                <a:spcPct val="115000"/>
              </a:lnSpc>
              <a:buNone/>
            </a:pPr>
            <a:r>
              <a:rPr lang="ja-JP" sz="950" b="1" dirty="0">
                <a:solidFill>
                  <a:srgbClr val="1E2226"/>
                </a:solidFill>
                <a:latin typeface="Yu Gothic" pitchFamily="34" charset="0"/>
                <a:ea typeface="Yu Gothic" pitchFamily="34" charset="-122"/>
                <a:cs typeface="Yu Gothic" pitchFamily="34" charset="-120"/>
              </a:rPr>
              <a:t>  中</a:t>
            </a:r>
            <a:endParaRPr lang="ja-JP" sz="750" dirty="0"/>
          </a:p>
          <a:p>
            <a:pPr indent="0" marL="0">
              <a:lnSpc>
                <a:spcPct val="115000"/>
              </a:lnSpc>
              <a:buNone/>
            </a:pPr>
            <a:r>
              <a:rPr lang="ja-JP" sz="780" dirty="0">
                <a:solidFill>
                  <a:srgbClr val="7D838A"/>
                </a:solidFill>
                <a:latin typeface="Yu Gothic" pitchFamily="34" charset="0"/>
                <a:ea typeface="Yu Gothic" pitchFamily="34" charset="-122"/>
                <a:cs typeface="Yu Gothic" pitchFamily="34" charset="-120"/>
              </a:rPr>
              <a:t>データは実在。候補提示の精度は段階的——まず事業体単位の実務水準から着手して担保</a:t>
            </a:r>
            <a:endParaRPr lang="ja-JP" sz="750" dirty="0"/>
          </a:p>
        </p:txBody>
      </p:sp>
      <p:sp>
        <p:nvSpPr>
          <p:cNvPr id="17" name="Text 15"/>
          <p:cNvSpPr txBox="1"/>
          <p:nvPr/>
        </p:nvSpPr>
        <p:spPr>
          <a:xfrm>
            <a:off x="548640" y="4736592"/>
            <a:ext cx="3291840" cy="237744"/>
          </a:xfrm>
          <a:prstGeom prst="rect">
            <a:avLst/>
          </a:prstGeom>
          <a:noFill/>
          <a:ln/>
        </p:spPr>
        <p:txBody>
          <a:bodyPr wrap="square" lIns="0" tIns="0" rIns="0" bIns="0" rtlCol="0" anchor="ctr"/>
          <a:lstStyle/>
          <a:p>
            <a:pPr indent="0" marL="0">
              <a:buNone/>
            </a:pPr>
            <a:r>
              <a:rPr lang="ja-JP" sz="950" b="1" dirty="0">
                <a:solidFill>
                  <a:srgbClr val="1E2226"/>
                </a:solidFill>
                <a:latin typeface="Yu Gothic" pitchFamily="34" charset="0"/>
                <a:ea typeface="Yu Gothic" pitchFamily="34" charset="-122"/>
                <a:cs typeface="Yu Gothic" pitchFamily="34" charset="-120"/>
              </a:rPr>
              <a:t>なぜ自社開発か</a:t>
            </a:r>
            <a:endParaRPr lang="ja-JP" sz="950" dirty="0"/>
          </a:p>
        </p:txBody>
      </p:sp>
      <p:sp>
        <p:nvSpPr>
          <p:cNvPr id="18" name="Shape 16"/>
          <p:cNvSpPr/>
          <p:nvPr/>
        </p:nvSpPr>
        <p:spPr>
          <a:xfrm>
            <a:off x="548640" y="5010912"/>
            <a:ext cx="3291840" cy="0"/>
          </a:xfrm>
          <a:prstGeom prst="line">
            <a:avLst/>
          </a:prstGeom>
          <a:noFill/>
          <a:ln w="15875">
            <a:solidFill>
              <a:srgbClr val="1E2226"/>
            </a:solidFill>
            <a:prstDash val="solid"/>
          </a:ln>
        </p:spPr>
      </p:sp>
      <p:sp>
        <p:nvSpPr>
          <p:cNvPr id="19" name="Text 17"/>
          <p:cNvSpPr txBox="1"/>
          <p:nvPr/>
        </p:nvSpPr>
        <p:spPr>
          <a:xfrm>
            <a:off x="4114800" y="4736592"/>
            <a:ext cx="4160520" cy="237744"/>
          </a:xfrm>
          <a:prstGeom prst="rect">
            <a:avLst/>
          </a:prstGeom>
          <a:noFill/>
          <a:ln/>
        </p:spPr>
        <p:txBody>
          <a:bodyPr wrap="square" lIns="0" tIns="0" rIns="0" bIns="0" rtlCol="0" anchor="ctr"/>
          <a:lstStyle/>
          <a:p>
            <a:pPr indent="0" marL="0">
              <a:buNone/>
            </a:pPr>
            <a:r>
              <a:rPr lang="ja-JP" sz="950" b="1" dirty="0">
                <a:solidFill>
                  <a:srgbClr val="1E2226"/>
                </a:solidFill>
                <a:latin typeface="Yu Gothic" pitchFamily="34" charset="0"/>
                <a:ea typeface="Yu Gothic" pitchFamily="34" charset="-122"/>
                <a:cs typeface="Yu Gothic" pitchFamily="34" charset="-120"/>
              </a:rPr>
              <a:t>現実的な始め方</a:t>
            </a:r>
            <a:endParaRPr lang="ja-JP" sz="950" dirty="0"/>
          </a:p>
        </p:txBody>
      </p:sp>
      <p:sp>
        <p:nvSpPr>
          <p:cNvPr id="20" name="Shape 18"/>
          <p:cNvSpPr/>
          <p:nvPr/>
        </p:nvSpPr>
        <p:spPr>
          <a:xfrm>
            <a:off x="4114800" y="5010912"/>
            <a:ext cx="4160520" cy="0"/>
          </a:xfrm>
          <a:prstGeom prst="line">
            <a:avLst/>
          </a:prstGeom>
          <a:noFill/>
          <a:ln w="15875">
            <a:solidFill>
              <a:srgbClr val="1E2226"/>
            </a:solidFill>
            <a:prstDash val="solid"/>
          </a:ln>
        </p:spPr>
      </p:sp>
      <p:sp>
        <p:nvSpPr>
          <p:cNvPr id="21" name="Text 19"/>
          <p:cNvSpPr txBox="1"/>
          <p:nvPr/>
        </p:nvSpPr>
        <p:spPr>
          <a:xfrm>
            <a:off x="8549640" y="4736592"/>
            <a:ext cx="3090672" cy="237744"/>
          </a:xfrm>
          <a:prstGeom prst="rect">
            <a:avLst/>
          </a:prstGeom>
          <a:noFill/>
          <a:ln/>
        </p:spPr>
        <p:txBody>
          <a:bodyPr wrap="square" lIns="0" tIns="0" rIns="0" bIns="0" rtlCol="0" anchor="ctr"/>
          <a:lstStyle/>
          <a:p>
            <a:pPr indent="0" marL="0">
              <a:buNone/>
            </a:pPr>
            <a:r>
              <a:rPr lang="ja-JP" sz="950" b="1" dirty="0">
                <a:solidFill>
                  <a:srgbClr val="464C52"/>
                </a:solidFill>
                <a:latin typeface="Yu Gothic" pitchFamily="34" charset="0"/>
                <a:ea typeface="Yu Gothic" pitchFamily="34" charset="-122"/>
                <a:cs typeface="Yu Gothic" pitchFamily="34" charset="-120"/>
              </a:rPr>
              <a:t>留意点</a:t>
            </a:r>
            <a:endParaRPr lang="ja-JP" sz="950" dirty="0"/>
          </a:p>
        </p:txBody>
      </p:sp>
      <p:sp>
        <p:nvSpPr>
          <p:cNvPr id="22" name="Shape 20"/>
          <p:cNvSpPr/>
          <p:nvPr/>
        </p:nvSpPr>
        <p:spPr>
          <a:xfrm>
            <a:off x="8549640" y="5010912"/>
            <a:ext cx="3090672" cy="0"/>
          </a:xfrm>
          <a:prstGeom prst="line">
            <a:avLst/>
          </a:prstGeom>
          <a:noFill/>
          <a:ln w="15875">
            <a:solidFill>
              <a:srgbClr val="C9CED2"/>
            </a:solidFill>
            <a:prstDash val="solid"/>
          </a:ln>
        </p:spPr>
      </p:sp>
      <p:sp>
        <p:nvSpPr>
          <p:cNvPr id="23" name="Text 21"/>
          <p:cNvSpPr txBox="1"/>
          <p:nvPr/>
        </p:nvSpPr>
        <p:spPr>
          <a:xfrm>
            <a:off x="548640" y="5102352"/>
            <a:ext cx="3291840" cy="2286000"/>
          </a:xfrm>
          <a:prstGeom prst="rect">
            <a:avLst/>
          </a:prstGeom>
          <a:noFill/>
          <a:ln/>
        </p:spPr>
        <p:txBody>
          <a:bodyPr wrap="square" lIns="0" tIns="0" rIns="0" bIns="0" rtlCol="0" anchor="t"/>
          <a:lstStyle/>
          <a:p>
            <a:pPr indent="0" marL="0">
              <a:lnSpc>
                <a:spcPct val="120000"/>
              </a:lnSpc>
              <a:spcAft>
                <a:spcPts val="500"/>
              </a:spcAft>
              <a:buNone/>
            </a:pPr>
            <a:r>
              <a:rPr lang="ja-JP" sz="880" dirty="0">
                <a:solidFill>
                  <a:srgbClr val="464C52"/>
                </a:solidFill>
                <a:latin typeface="Yu Gothic" pitchFamily="34" charset="0"/>
                <a:ea typeface="Yu Gothic" pitchFamily="34" charset="-122"/>
                <a:cs typeface="Yu Gothic" pitchFamily="34" charset="-120"/>
              </a:rPr>
              <a:t>各社の管理会計体系・按分ルール・案件明細は</a:t>
            </a:r>
            <a:pPr indent="0" marL="0">
              <a:lnSpc>
                <a:spcPct val="120000"/>
              </a:lnSpc>
              <a:spcAft>
                <a:spcPts val="500"/>
              </a:spcAft>
              <a:buNone/>
            </a:pPr>
            <a:r>
              <a:rPr lang="ja-JP" sz="880" b="1" dirty="0">
                <a:solidFill>
                  <a:srgbClr val="1E2226"/>
                </a:solidFill>
                <a:latin typeface="Yu Gothic" pitchFamily="34" charset="0"/>
                <a:ea typeface="Yu Gothic" pitchFamily="34" charset="-122"/>
                <a:cs typeface="Yu Gothic" pitchFamily="34" charset="-120"/>
              </a:rPr>
              <a:t>社外に存在しない</a:t>
            </a:r>
            <a:pPr indent="0" marL="0">
              <a:lnSpc>
                <a:spcPct val="120000"/>
              </a:lnSpc>
              <a:spcAft>
                <a:spcPts val="500"/>
              </a:spcAft>
              <a:buNone/>
            </a:pPr>
            <a:r>
              <a:rPr lang="ja-JP" sz="880" dirty="0">
                <a:solidFill>
                  <a:srgbClr val="464C52"/>
                </a:solidFill>
                <a:latin typeface="Yu Gothic" pitchFamily="34" charset="0"/>
                <a:ea typeface="Yu Gothic" pitchFamily="34" charset="-122"/>
                <a:cs typeface="Yu Gothic" pitchFamily="34" charset="-120"/>
              </a:rPr>
              <a:t>。汎用AIには揃えるべき物差しの中身がない。</a:t>
            </a:r>
            <a:endParaRPr lang="ja-JP" sz="880" dirty="0"/>
          </a:p>
          <a:p>
            <a:pPr indent="0" marL="0">
              <a:lnSpc>
                <a:spcPct val="120000"/>
              </a:lnSpc>
              <a:spcAft>
                <a:spcPts val="500"/>
              </a:spcAft>
              <a:buNone/>
            </a:pPr>
            <a:r>
              <a:rPr lang="ja-JP" sz="880" dirty="0">
                <a:solidFill>
                  <a:srgbClr val="464C52"/>
                </a:solidFill>
                <a:latin typeface="Yu Gothic" pitchFamily="34" charset="0"/>
                <a:ea typeface="Yu Gothic" pitchFamily="34" charset="-122"/>
                <a:cs typeface="Yu Gothic" pitchFamily="34" charset="-120"/>
              </a:rPr>
              <a:t>正規化のロジックそのものが、使うほど精緻化する蓄積資産になる。</a:t>
            </a:r>
            <a:endParaRPr lang="ja-JP" sz="880" dirty="0"/>
          </a:p>
        </p:txBody>
      </p:sp>
      <p:sp>
        <p:nvSpPr>
          <p:cNvPr id="24" name="Text 22"/>
          <p:cNvSpPr txBox="1"/>
          <p:nvPr/>
        </p:nvSpPr>
        <p:spPr>
          <a:xfrm>
            <a:off x="4114800" y="5102352"/>
            <a:ext cx="4160520" cy="2286000"/>
          </a:xfrm>
          <a:prstGeom prst="rect">
            <a:avLst/>
          </a:prstGeom>
          <a:noFill/>
          <a:ln/>
        </p:spPr>
        <p:txBody>
          <a:bodyPr wrap="square" lIns="0" tIns="0" rIns="0" bIns="0" rtlCol="0" anchor="t"/>
          <a:lstStyle/>
          <a:p>
            <a:pPr indent="0" marL="0">
              <a:lnSpc>
                <a:spcPct val="120000"/>
              </a:lnSpc>
              <a:spcAft>
                <a:spcPts val="600"/>
              </a:spcAft>
              <a:buNone/>
            </a:pPr>
            <a:r>
              <a:rPr lang="ja-JP" sz="750" b="1" spc="100" kern="0" dirty="0">
                <a:solidFill>
                  <a:srgbClr val="5F8C11"/>
                </a:solidFill>
                <a:latin typeface="Arial" pitchFamily="34" charset="0"/>
                <a:ea typeface="Arial" pitchFamily="34" charset="-122"/>
                <a:cs typeface="Arial" pitchFamily="34" charset="-120"/>
              </a:rPr>
              <a:t>STEP 1  </a:t>
            </a:r>
            <a:pPr indent="0" marL="0">
              <a:lnSpc>
                <a:spcPct val="120000"/>
              </a:lnSpc>
              <a:spcAft>
                <a:spcPts val="600"/>
              </a:spcAft>
              <a:buNone/>
            </a:pPr>
            <a:r>
              <a:rPr lang="ja-JP" sz="880" b="1" dirty="0">
                <a:solidFill>
                  <a:srgbClr val="1E2226"/>
                </a:solidFill>
                <a:latin typeface="Yu Gothic" pitchFamily="34" charset="0"/>
                <a:ea typeface="Yu Gothic" pitchFamily="34" charset="-122"/>
                <a:cs typeface="Yu Gothic" pitchFamily="34" charset="-120"/>
              </a:rPr>
              <a:t>事業体単位</a:t>
            </a:r>
            <a:pPr indent="0" marL="0">
              <a:lnSpc>
                <a:spcPct val="120000"/>
              </a:lnSpc>
              <a:spcAft>
                <a:spcPts val="600"/>
              </a:spcAft>
              <a:buNone/>
            </a:pPr>
            <a:r>
              <a:rPr lang="ja-JP" sz="880" dirty="0">
                <a:solidFill>
                  <a:srgbClr val="464C52"/>
                </a:solidFill>
                <a:latin typeface="Yu Gothic" pitchFamily="34" charset="0"/>
                <a:ea typeface="Yu Gothic" pitchFamily="34" charset="-122"/>
                <a:cs typeface="Yu Gothic" pitchFamily="34" charset="-120"/>
              </a:rPr>
              <a:t>のポテンシャル・マップ（実績の横比較＋投資余地）から着手——案件単位への解像度向上は判断資産の蓄積とともに</a:t>
            </a:r>
            <a:endParaRPr lang="ja-JP" sz="880" dirty="0"/>
          </a:p>
          <a:p>
            <a:pPr indent="0" marL="0">
              <a:lnSpc>
                <a:spcPct val="120000"/>
              </a:lnSpc>
              <a:spcAft>
                <a:spcPts val="600"/>
              </a:spcAft>
              <a:buNone/>
            </a:pPr>
            <a:r>
              <a:rPr lang="ja-JP" sz="750" b="1" spc="100" kern="0" dirty="0">
                <a:solidFill>
                  <a:srgbClr val="5F8C11"/>
                </a:solidFill>
                <a:latin typeface="Arial" pitchFamily="34" charset="0"/>
                <a:ea typeface="Arial" pitchFamily="34" charset="-122"/>
                <a:cs typeface="Arial" pitchFamily="34" charset="-120"/>
              </a:rPr>
              <a:t>STEP 2  </a:t>
            </a:r>
            <a:pPr indent="0" marL="0">
              <a:lnSpc>
                <a:spcPct val="120000"/>
              </a:lnSpc>
              <a:spcAft>
                <a:spcPts val="600"/>
              </a:spcAft>
              <a:buNone/>
            </a:pPr>
            <a:r>
              <a:rPr lang="ja-JP" sz="880" dirty="0">
                <a:solidFill>
                  <a:srgbClr val="464C52"/>
                </a:solidFill>
                <a:latin typeface="Yu Gothic" pitchFamily="34" charset="0"/>
                <a:ea typeface="Yu Gothic" pitchFamily="34" charset="-122"/>
                <a:cs typeface="Yu Gothic" pitchFamily="34" charset="-120"/>
              </a:rPr>
              <a:t>投資区分（維持／成長）と事業特性に応じたハードルレート補正を</a:t>
            </a:r>
            <a:pPr indent="0" marL="0">
              <a:lnSpc>
                <a:spcPct val="120000"/>
              </a:lnSpc>
              <a:spcAft>
                <a:spcPts val="600"/>
              </a:spcAft>
              <a:buNone/>
            </a:pPr>
            <a:r>
              <a:rPr lang="ja-JP" sz="880" b="1" dirty="0">
                <a:solidFill>
                  <a:srgbClr val="1E2226"/>
                </a:solidFill>
                <a:latin typeface="Yu Gothic" pitchFamily="34" charset="0"/>
                <a:ea typeface="Yu Gothic" pitchFamily="34" charset="-122"/>
                <a:cs typeface="Yu Gothic" pitchFamily="34" charset="-120"/>
              </a:rPr>
              <a:t>財務と共同設計</a:t>
            </a:r>
            <a:endParaRPr lang="ja-JP" sz="880" dirty="0"/>
          </a:p>
          <a:p>
            <a:pPr indent="0" marL="0">
              <a:lnSpc>
                <a:spcPct val="120000"/>
              </a:lnSpc>
              <a:spcAft>
                <a:spcPts val="600"/>
              </a:spcAft>
              <a:buNone/>
            </a:pPr>
            <a:r>
              <a:rPr lang="ja-JP" sz="750" b="1" spc="100" kern="0" dirty="0">
                <a:solidFill>
                  <a:srgbClr val="5F8C11"/>
                </a:solidFill>
                <a:latin typeface="Arial" pitchFamily="34" charset="0"/>
                <a:ea typeface="Arial" pitchFamily="34" charset="-122"/>
                <a:cs typeface="Arial" pitchFamily="34" charset="-120"/>
              </a:rPr>
              <a:t>STEP 3  </a:t>
            </a:r>
            <a:pPr indent="0" marL="0">
              <a:lnSpc>
                <a:spcPct val="120000"/>
              </a:lnSpc>
              <a:spcAft>
                <a:spcPts val="600"/>
              </a:spcAft>
              <a:buNone/>
            </a:pPr>
            <a:r>
              <a:rPr lang="ja-JP" sz="880" dirty="0">
                <a:solidFill>
                  <a:srgbClr val="464C52"/>
                </a:solidFill>
                <a:latin typeface="Yu Gothic" pitchFamily="34" charset="0"/>
                <a:ea typeface="Yu Gothic" pitchFamily="34" charset="-122"/>
                <a:cs typeface="Yu Gothic" pitchFamily="34" charset="-120"/>
              </a:rPr>
              <a:t>次回の配分審議1回分を対象にパイロット提供</a:t>
            </a:r>
            <a:endParaRPr lang="ja-JP" sz="880" dirty="0"/>
          </a:p>
        </p:txBody>
      </p:sp>
      <p:sp>
        <p:nvSpPr>
          <p:cNvPr id="25" name="Text 23"/>
          <p:cNvSpPr txBox="1"/>
          <p:nvPr/>
        </p:nvSpPr>
        <p:spPr>
          <a:xfrm>
            <a:off x="8549640" y="5102352"/>
            <a:ext cx="3090672" cy="2286000"/>
          </a:xfrm>
          <a:prstGeom prst="rect">
            <a:avLst/>
          </a:prstGeom>
          <a:noFill/>
          <a:ln/>
        </p:spPr>
        <p:txBody>
          <a:bodyPr wrap="square" lIns="0" tIns="0" rIns="0" bIns="0" rtlCol="0" anchor="t"/>
          <a:lstStyle/>
          <a:p>
            <a:pPr indent="0" marL="0">
              <a:lnSpc>
                <a:spcPct val="120000"/>
              </a:lnSpc>
              <a:spcAft>
                <a:spcPts val="600"/>
              </a:spcAft>
              <a:buNone/>
            </a:pPr>
            <a:r>
              <a:rPr lang="ja-JP" sz="880" dirty="0">
                <a:solidFill>
                  <a:srgbClr val="464C52"/>
                </a:solidFill>
                <a:latin typeface="Yu Gothic" pitchFamily="34" charset="0"/>
                <a:ea typeface="Yu Gothic" pitchFamily="34" charset="-122"/>
                <a:cs typeface="Yu Gothic" pitchFamily="34" charset="-120"/>
              </a:rPr>
              <a:t>安全・維持投資が厚く規制下にある鉄道事業は、素朴なRoI比較では構造的に不利に見え、構想全体への反発を招き得る。</a:t>
            </a:r>
            <a:endParaRPr lang="ja-JP" sz="880" dirty="0"/>
          </a:p>
          <a:p>
            <a:pPr indent="0" marL="0">
              <a:lnSpc>
                <a:spcPct val="120000"/>
              </a:lnSpc>
              <a:spcAft>
                <a:spcPts val="600"/>
              </a:spcAft>
              <a:buNone/>
            </a:pPr>
            <a:r>
              <a:rPr lang="ja-JP" sz="750" b="1" dirty="0">
                <a:solidFill>
                  <a:srgbClr val="5F8C11"/>
                </a:solidFill>
                <a:latin typeface="Yu Gothic" pitchFamily="34" charset="0"/>
                <a:ea typeface="Yu Gothic" pitchFamily="34" charset="-122"/>
                <a:cs typeface="Yu Gothic" pitchFamily="34" charset="-120"/>
              </a:rPr>
              <a:t>対処  </a:t>
            </a:r>
            <a:pPr indent="0" marL="0">
              <a:lnSpc>
                <a:spcPct val="120000"/>
              </a:lnSpc>
              <a:spcAft>
                <a:spcPts val="600"/>
              </a:spcAft>
              <a:buNone/>
            </a:pPr>
            <a:r>
              <a:rPr lang="ja-JP" sz="880" dirty="0">
                <a:solidFill>
                  <a:srgbClr val="1E2226"/>
                </a:solidFill>
                <a:latin typeface="Yu Gothic" pitchFamily="34" charset="0"/>
                <a:ea typeface="Yu Gothic" pitchFamily="34" charset="-122"/>
                <a:cs typeface="Yu Gothic" pitchFamily="34" charset="-120"/>
              </a:rPr>
              <a:t>維持・成長の分離と事業特性補正を初期設計に組み込み、「序列化」ではなく「対話の共通言語」として位置付ける。</a:t>
            </a:r>
            <a:endParaRPr lang="ja-JP" sz="880" dirty="0"/>
          </a:p>
        </p:txBody>
      </p:sp>
      <p:sp>
        <p:nvSpPr>
          <p:cNvPr id="26" name="Text 24"/>
          <p:cNvSpPr txBox="1"/>
          <p:nvPr/>
        </p:nvSpPr>
        <p:spPr>
          <a:xfrm>
            <a:off x="11091672" y="6510528"/>
            <a:ext cx="822960" cy="228600"/>
          </a:xfrm>
          <a:prstGeom prst="rect">
            <a:avLst/>
          </a:prstGeom>
          <a:noFill/>
          <a:ln/>
        </p:spPr>
        <p:txBody>
          <a:bodyPr wrap="square" lIns="0" tIns="0" rIns="0" bIns="0" rtlCol="0" anchor="ctr"/>
          <a:lstStyle/>
          <a:p>
            <a:pPr algn="r" indent="0" marL="0">
              <a:buNone/>
            </a:pPr>
            <a:r>
              <a:rPr lang="ja-JP" sz="800" dirty="0">
                <a:solidFill>
                  <a:srgbClr val="7D838A"/>
                </a:solidFill>
                <a:latin typeface="Arial" pitchFamily="34" charset="0"/>
                <a:ea typeface="Arial" pitchFamily="34" charset="-122"/>
                <a:cs typeface="Arial" pitchFamily="34" charset="-120"/>
              </a:rPr>
              <a:t>02</a:t>
            </a:r>
            <a:endParaRPr lang="ja-JP"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ja-JP" sz="900" b="1" spc="200" kern="0" dirty="0">
                <a:solidFill>
                  <a:srgbClr val="5F8C11"/>
                </a:solidFill>
                <a:latin typeface="Arial" pitchFamily="34" charset="0"/>
                <a:ea typeface="Arial" pitchFamily="34" charset="-122"/>
                <a:cs typeface="Arial" pitchFamily="34" charset="-120"/>
              </a:rPr>
              <a:t>NEXT PHASE PROPOSAL — 03 / 審る｜精査</a:t>
            </a:r>
            <a:endParaRPr lang="ja-JP" sz="900" dirty="0"/>
          </a:p>
        </p:txBody>
      </p:sp>
      <p:sp>
        <p:nvSpPr>
          <p:cNvPr id="3" name="Text 1"/>
          <p:cNvSpPr txBox="1"/>
          <p:nvPr/>
        </p:nvSpPr>
        <p:spPr>
          <a:xfrm>
            <a:off x="548640" y="603504"/>
            <a:ext cx="11091672" cy="749808"/>
          </a:xfrm>
          <a:prstGeom prst="rect">
            <a:avLst/>
          </a:prstGeom>
          <a:noFill/>
          <a:ln/>
        </p:spPr>
        <p:txBody>
          <a:bodyPr wrap="square" lIns="0" tIns="0" rIns="0" bIns="0" rtlCol="0" anchor="ctr"/>
          <a:lstStyle/>
          <a:p>
            <a:pPr indent="0" marL="0">
              <a:lnSpc>
                <a:spcPct val="128000"/>
              </a:lnSpc>
              <a:buNone/>
            </a:pPr>
            <a:r>
              <a:rPr lang="ja-JP" sz="1550" b="1" dirty="0">
                <a:solidFill>
                  <a:srgbClr val="1E2226"/>
                </a:solidFill>
                <a:latin typeface="Yu Gothic" pitchFamily="34" charset="0"/>
                <a:ea typeface="Yu Gothic" pitchFamily="34" charset="-122"/>
                <a:cs typeface="Yu Gothic" pitchFamily="34" charset="-120"/>
              </a:rPr>
              <a:t>投資判断の記憶装置</a:t>
            </a:r>
            <a:endParaRPr lang="ja-JP" sz="1550" dirty="0"/>
          </a:p>
          <a:p>
            <a:pPr indent="0" marL="0">
              <a:lnSpc>
                <a:spcPct val="128000"/>
              </a:lnSpc>
              <a:buNone/>
            </a:pPr>
            <a:r>
              <a:rPr lang="ja-JP" sz="1550" b="1" dirty="0">
                <a:solidFill>
                  <a:srgbClr val="1E2226"/>
                </a:solidFill>
                <a:latin typeface="Yu Gothic" pitchFamily="34" charset="0"/>
                <a:ea typeface="Yu Gothic" pitchFamily="34" charset="-122"/>
                <a:cs typeface="Yu Gothic" pitchFamily="34" charset="-120"/>
              </a:rPr>
              <a:t>——委員会の2週間前、</a:t>
            </a:r>
            <a:pPr indent="0" marL="0">
              <a:lnSpc>
                <a:spcPct val="128000"/>
              </a:lnSpc>
              <a:buNone/>
            </a:pPr>
            <a:r>
              <a:rPr lang="ja-JP" sz="1550" b="1" dirty="0">
                <a:solidFill>
                  <a:srgbClr val="5F8C11"/>
                </a:solidFill>
                <a:latin typeface="Yu Gothic" pitchFamily="34" charset="0"/>
                <a:ea typeface="Yu Gothic" pitchFamily="34" charset="-122"/>
                <a:cs typeface="Yu Gothic" pitchFamily="34" charset="-120"/>
              </a:rPr>
              <a:t>過去のすべての審議</a:t>
            </a:r>
            <a:pPr indent="0" marL="0">
              <a:lnSpc>
                <a:spcPct val="128000"/>
              </a:lnSpc>
              <a:buNone/>
            </a:pPr>
            <a:r>
              <a:rPr lang="ja-JP" sz="1550" b="1" dirty="0">
                <a:solidFill>
                  <a:srgbClr val="1E2226"/>
                </a:solidFill>
                <a:latin typeface="Yu Gothic" pitchFamily="34" charset="0"/>
                <a:ea typeface="Yu Gothic" pitchFamily="34" charset="-122"/>
                <a:cs typeface="Yu Gothic" pitchFamily="34" charset="-120"/>
              </a:rPr>
              <a:t>が起案者の隣に着席する</a:t>
            </a:r>
            <a:endParaRPr lang="ja-JP" sz="1550" dirty="0"/>
          </a:p>
        </p:txBody>
      </p:sp>
      <p:sp>
        <p:nvSpPr>
          <p:cNvPr id="4" name="Shape 2"/>
          <p:cNvSpPr/>
          <p:nvPr/>
        </p:nvSpPr>
        <p:spPr>
          <a:xfrm>
            <a:off x="548640" y="1426464"/>
            <a:ext cx="11091672" cy="329184"/>
          </a:xfrm>
          <a:prstGeom prst="rect">
            <a:avLst/>
          </a:prstGeom>
          <a:solidFill>
            <a:srgbClr val="F6F7F5"/>
          </a:solidFill>
          <a:ln w="9525">
            <a:solidFill>
              <a:srgbClr val="E2E5E0"/>
            </a:solidFill>
            <a:prstDash val="solid"/>
          </a:ln>
        </p:spPr>
      </p:sp>
      <p:sp>
        <p:nvSpPr>
          <p:cNvPr id="5" name="Text 3"/>
          <p:cNvSpPr txBox="1"/>
          <p:nvPr/>
        </p:nvSpPr>
        <p:spPr>
          <a:xfrm>
            <a:off x="685800" y="1426464"/>
            <a:ext cx="10817352" cy="329184"/>
          </a:xfrm>
          <a:prstGeom prst="rect">
            <a:avLst/>
          </a:prstGeom>
          <a:noFill/>
          <a:ln/>
        </p:spPr>
        <p:txBody>
          <a:bodyPr wrap="square" lIns="0" tIns="0" rIns="0" bIns="0" rtlCol="0" anchor="ctr"/>
          <a:lstStyle/>
          <a:p>
            <a:pPr indent="0" marL="0">
              <a:buNone/>
            </a:pPr>
            <a:r>
              <a:rPr lang="ja-JP" sz="800" b="1" spc="100" kern="0" dirty="0">
                <a:solidFill>
                  <a:srgbClr val="7D838A"/>
                </a:solidFill>
                <a:latin typeface="Yu Gothic" pitchFamily="34" charset="0"/>
                <a:ea typeface="Yu Gothic" pitchFamily="34" charset="-122"/>
                <a:cs typeface="Yu Gothic" pitchFamily="34" charset="-120"/>
              </a:rPr>
              <a:t>差し込む場面   </a:t>
            </a:r>
            <a:pPr indent="0" marL="0">
              <a:buNone/>
            </a:pPr>
            <a:r>
              <a:rPr lang="ja-JP" sz="950" dirty="0">
                <a:solidFill>
                  <a:srgbClr val="1E2226"/>
                </a:solidFill>
                <a:latin typeface="Yu Gothic" pitchFamily="34" charset="0"/>
                <a:ea typeface="Yu Gothic" pitchFamily="34" charset="-122"/>
                <a:cs typeface="Yu Gothic" pitchFamily="34" charset="-120"/>
              </a:rPr>
              <a:t>投資委員会の2〜3週間前——起案書ドラフトと収支計画を投入すると、「案件精査メモ」が上程前に返る</a:t>
            </a:r>
            <a:endParaRPr lang="ja-JP" sz="800" dirty="0"/>
          </a:p>
        </p:txBody>
      </p:sp>
      <p:sp>
        <p:nvSpPr>
          <p:cNvPr id="6" name="Shape 4"/>
          <p:cNvSpPr/>
          <p:nvPr/>
        </p:nvSpPr>
        <p:spPr>
          <a:xfrm>
            <a:off x="548640" y="1883664"/>
            <a:ext cx="5330952" cy="1481328"/>
          </a:xfrm>
          <a:prstGeom prst="rect">
            <a:avLst/>
          </a:prstGeom>
          <a:solidFill>
            <a:srgbClr val="F6F7F5"/>
          </a:solidFill>
          <a:ln w="9525">
            <a:solidFill>
              <a:srgbClr val="E2E5E0"/>
            </a:solidFill>
            <a:prstDash val="solid"/>
          </a:ln>
        </p:spPr>
      </p:sp>
      <p:sp>
        <p:nvSpPr>
          <p:cNvPr id="7" name="Shape 5"/>
          <p:cNvSpPr/>
          <p:nvPr/>
        </p:nvSpPr>
        <p:spPr>
          <a:xfrm>
            <a:off x="6309360" y="1883664"/>
            <a:ext cx="5330952" cy="1481328"/>
          </a:xfrm>
          <a:prstGeom prst="rect">
            <a:avLst/>
          </a:prstGeom>
          <a:solidFill>
            <a:srgbClr val="FFFFFF"/>
          </a:solidFill>
          <a:ln w="9525">
            <a:solidFill>
              <a:srgbClr val="E2E5E0"/>
            </a:solidFill>
            <a:prstDash val="solid"/>
          </a:ln>
        </p:spPr>
      </p:sp>
      <p:sp>
        <p:nvSpPr>
          <p:cNvPr id="8" name="Text 6"/>
          <p:cNvSpPr txBox="1"/>
          <p:nvPr/>
        </p:nvSpPr>
        <p:spPr>
          <a:xfrm>
            <a:off x="5897880" y="1883664"/>
            <a:ext cx="393192" cy="1481328"/>
          </a:xfrm>
          <a:prstGeom prst="rect">
            <a:avLst/>
          </a:prstGeom>
          <a:noFill/>
          <a:ln/>
        </p:spPr>
        <p:txBody>
          <a:bodyPr wrap="square" lIns="0" tIns="0" rIns="0" bIns="0" rtlCol="0" anchor="ctr"/>
          <a:lstStyle/>
          <a:p>
            <a:pPr algn="ctr" indent="0" marL="0">
              <a:buNone/>
            </a:pPr>
            <a:r>
              <a:rPr lang="ja-JP" sz="1100" dirty="0">
                <a:solidFill>
                  <a:srgbClr val="B9BFB6"/>
                </a:solidFill>
                <a:latin typeface="Yu Gothic" pitchFamily="34" charset="0"/>
                <a:ea typeface="Yu Gothic" pitchFamily="34" charset="-122"/>
                <a:cs typeface="Yu Gothic" pitchFamily="34" charset="-120"/>
              </a:rPr>
              <a:t>▶</a:t>
            </a:r>
            <a:endParaRPr lang="ja-JP" sz="1100" dirty="0"/>
          </a:p>
        </p:txBody>
      </p:sp>
      <p:sp>
        <p:nvSpPr>
          <p:cNvPr id="9" name="Text 7"/>
          <p:cNvSpPr txBox="1"/>
          <p:nvPr/>
        </p:nvSpPr>
        <p:spPr>
          <a:xfrm>
            <a:off x="694944" y="1956816"/>
            <a:ext cx="5038344" cy="1335024"/>
          </a:xfrm>
          <a:prstGeom prst="rect">
            <a:avLst/>
          </a:prstGeom>
          <a:noFill/>
          <a:ln/>
        </p:spPr>
        <p:txBody>
          <a:bodyPr wrap="square" lIns="0" tIns="0" rIns="0" bIns="0" rtlCol="0" anchor="t"/>
          <a:lstStyle/>
          <a:p>
            <a:pPr indent="0" marL="0">
              <a:lnSpc>
                <a:spcPct val="118000"/>
              </a:lnSpc>
              <a:spcAft>
                <a:spcPts val="300"/>
              </a:spcAft>
              <a:buNone/>
            </a:pPr>
            <a:r>
              <a:rPr lang="ja-JP" sz="800" b="1" spc="200" kern="0" dirty="0">
                <a:solidFill>
                  <a:srgbClr val="7D838A"/>
                </a:solidFill>
                <a:latin typeface="Arial" pitchFamily="34" charset="0"/>
                <a:ea typeface="Arial" pitchFamily="34" charset="-122"/>
                <a:cs typeface="Arial" pitchFamily="34" charset="-120"/>
              </a:rPr>
              <a:t>BEFORE</a:t>
            </a:r>
            <a:endParaRPr lang="ja-JP" sz="880" dirty="0"/>
          </a:p>
          <a:p>
            <a:pPr indent="0" marL="0">
              <a:lnSpc>
                <a:spcPct val="118000"/>
              </a:lnSpc>
              <a:spcAft>
                <a:spcPts val="300"/>
              </a:spcAft>
              <a:buNone/>
            </a:pPr>
            <a:r>
              <a:rPr lang="ja-JP" sz="880" b="1" dirty="0">
                <a:solidFill>
                  <a:srgbClr val="1E2226"/>
                </a:solidFill>
                <a:latin typeface="Yu Gothic" pitchFamily="34" charset="0"/>
                <a:ea typeface="Yu Gothic" pitchFamily="34" charset="-122"/>
                <a:cs typeface="Yu Gothic" pitchFamily="34" charset="-120"/>
              </a:rPr>
              <a:t>テーブルに載った案件を「通すべきか」——その判断材料は、審議者個人の記憶しかない。</a:t>
            </a:r>
            <a:pPr indent="0" marL="0">
              <a:lnSpc>
                <a:spcPct val="118000"/>
              </a:lnSpc>
              <a:spcAft>
                <a:spcPts val="300"/>
              </a:spcAft>
              <a:buNone/>
            </a:pPr>
            <a:r>
              <a:rPr lang="ja-JP" sz="880" dirty="0">
                <a:solidFill>
                  <a:srgbClr val="464C52"/>
                </a:solidFill>
                <a:latin typeface="Yu Gothic" pitchFamily="34" charset="0"/>
                <a:ea typeface="Yu Gothic" pitchFamily="34" charset="-122"/>
                <a:cs typeface="Yu Gothic" pitchFamily="34" charset="-120"/>
              </a:rPr>
              <a:t>過去に似た案件をどう判断し、置いた前提が当たったか外れたかを組織として覚えていないため、審議は毎回ゼロから始まり、計画数字の楽観を見抜く根拠は経験と勘に頼っている。</a:t>
            </a:r>
            <a:endParaRPr lang="ja-JP" sz="880" dirty="0"/>
          </a:p>
        </p:txBody>
      </p:sp>
      <p:sp>
        <p:nvSpPr>
          <p:cNvPr id="10" name="Text 8"/>
          <p:cNvSpPr txBox="1"/>
          <p:nvPr/>
        </p:nvSpPr>
        <p:spPr>
          <a:xfrm>
            <a:off x="6455664" y="1956816"/>
            <a:ext cx="5038344" cy="1335024"/>
          </a:xfrm>
          <a:prstGeom prst="rect">
            <a:avLst/>
          </a:prstGeom>
          <a:noFill/>
          <a:ln/>
        </p:spPr>
        <p:txBody>
          <a:bodyPr wrap="square" lIns="0" tIns="0" rIns="0" bIns="0" rtlCol="0" anchor="t"/>
          <a:lstStyle/>
          <a:p>
            <a:pPr indent="0" marL="0">
              <a:lnSpc>
                <a:spcPct val="118000"/>
              </a:lnSpc>
              <a:spcAft>
                <a:spcPts val="300"/>
              </a:spcAft>
              <a:buNone/>
            </a:pPr>
            <a:r>
              <a:rPr lang="ja-JP" sz="800" b="1" spc="200" kern="0" dirty="0">
                <a:solidFill>
                  <a:srgbClr val="5F8C11"/>
                </a:solidFill>
                <a:latin typeface="Arial" pitchFamily="34" charset="0"/>
                <a:ea typeface="Arial" pitchFamily="34" charset="-122"/>
                <a:cs typeface="Arial" pitchFamily="34" charset="-120"/>
              </a:rPr>
              <a:t>AFTER</a:t>
            </a:r>
            <a:endParaRPr lang="ja-JP" sz="880" dirty="0"/>
          </a:p>
          <a:p>
            <a:pPr indent="0" marL="0">
              <a:lnSpc>
                <a:spcPct val="118000"/>
              </a:lnSpc>
              <a:spcAft>
                <a:spcPts val="300"/>
              </a:spcAft>
              <a:buNone/>
            </a:pPr>
            <a:r>
              <a:rPr lang="ja-JP" sz="880" dirty="0">
                <a:solidFill>
                  <a:srgbClr val="464C52"/>
                </a:solidFill>
                <a:latin typeface="Yu Gothic" pitchFamily="34" charset="0"/>
                <a:ea typeface="Yu Gothic" pitchFamily="34" charset="-122"/>
                <a:cs typeface="Yu Gothic" pitchFamily="34" charset="-120"/>
              </a:rPr>
              <a:t>案件を投入すると、AIが判断履歴と突合した「案件精査メモ」を返す——</a:t>
            </a:r>
            <a:pPr indent="0" marL="0">
              <a:lnSpc>
                <a:spcPct val="118000"/>
              </a:lnSpc>
              <a:spcAft>
                <a:spcPts val="300"/>
              </a:spcAft>
              <a:buNone/>
            </a:pPr>
            <a:r>
              <a:rPr lang="ja-JP" sz="880" b="1" dirty="0">
                <a:solidFill>
                  <a:srgbClr val="1E2226"/>
                </a:solidFill>
                <a:latin typeface="Yu Gothic" pitchFamily="34" charset="0"/>
                <a:ea typeface="Yu Gothic" pitchFamily="34" charset="-122"/>
                <a:cs typeface="Yu Gothic" pitchFamily="34" charset="-120"/>
              </a:rPr>
              <a:t>①この型の審議で問われてきた論点との差分、②前提の危うい箇所</a:t>
            </a:r>
            <a:pPr indent="0" marL="0">
              <a:lnSpc>
                <a:spcPct val="118000"/>
              </a:lnSpc>
              <a:spcAft>
                <a:spcPts val="300"/>
              </a:spcAft>
              <a:buNone/>
            </a:pPr>
            <a:r>
              <a:rPr lang="ja-JP" sz="880" dirty="0">
                <a:solidFill>
                  <a:srgbClr val="464C52"/>
                </a:solidFill>
                <a:latin typeface="Yu Gothic" pitchFamily="34" charset="0"/>
                <a:ea typeface="Yu Gothic" pitchFamily="34" charset="-122"/>
                <a:cs typeface="Yu Gothic" pitchFamily="34" charset="-120"/>
              </a:rPr>
              <a:t>（同種の前提が過去どれだけ外れたか×外部実データ）、</a:t>
            </a:r>
            <a:pPr indent="0" marL="0">
              <a:lnSpc>
                <a:spcPct val="118000"/>
              </a:lnSpc>
              <a:spcAft>
                <a:spcPts val="300"/>
              </a:spcAft>
              <a:buNone/>
            </a:pPr>
            <a:r>
              <a:rPr lang="ja-JP" sz="880" b="1" dirty="0">
                <a:solidFill>
                  <a:srgbClr val="1E2226"/>
                </a:solidFill>
                <a:latin typeface="Yu Gothic" pitchFamily="34" charset="0"/>
                <a:ea typeface="Yu Gothic" pitchFamily="34" charset="-122"/>
                <a:cs typeface="Yu Gothic" pitchFamily="34" charset="-120"/>
              </a:rPr>
              <a:t>③類似案件とその後の帰結</a:t>
            </a:r>
            <a:pPr indent="0" marL="0">
              <a:lnSpc>
                <a:spcPct val="118000"/>
              </a:lnSpc>
              <a:spcAft>
                <a:spcPts val="300"/>
              </a:spcAft>
              <a:buNone/>
            </a:pPr>
            <a:r>
              <a:rPr lang="ja-JP" sz="880" dirty="0">
                <a:solidFill>
                  <a:srgbClr val="464C52"/>
                </a:solidFill>
                <a:latin typeface="Yu Gothic" pitchFamily="34" charset="0"/>
                <a:ea typeface="Yu Gothic" pitchFamily="34" charset="-122"/>
                <a:cs typeface="Yu Gothic" pitchFamily="34" charset="-120"/>
              </a:rPr>
              <a:t>（該当がある場合）。通すか否かを、個人の勘ではなく組織の経験の上で判断できる。</a:t>
            </a:r>
            <a:endParaRPr lang="ja-JP" sz="880" dirty="0"/>
          </a:p>
        </p:txBody>
      </p:sp>
      <p:sp>
        <p:nvSpPr>
          <p:cNvPr id="11" name="Shape 9"/>
          <p:cNvSpPr/>
          <p:nvPr/>
        </p:nvSpPr>
        <p:spPr>
          <a:xfrm>
            <a:off x="548640" y="3474720"/>
            <a:ext cx="11091672" cy="384048"/>
          </a:xfrm>
          <a:prstGeom prst="rect">
            <a:avLst/>
          </a:prstGeom>
          <a:solidFill>
            <a:srgbClr val="F2F7E6"/>
          </a:solidFill>
          <a:ln w="9525">
            <a:solidFill>
              <a:srgbClr val="DCEAD2"/>
            </a:solidFill>
            <a:prstDash val="solid"/>
          </a:ln>
        </p:spPr>
      </p:sp>
      <p:sp>
        <p:nvSpPr>
          <p:cNvPr id="12" name="Text 10"/>
          <p:cNvSpPr txBox="1"/>
          <p:nvPr/>
        </p:nvSpPr>
        <p:spPr>
          <a:xfrm>
            <a:off x="685800" y="3474720"/>
            <a:ext cx="8074152" cy="384048"/>
          </a:xfrm>
          <a:prstGeom prst="rect">
            <a:avLst/>
          </a:prstGeom>
          <a:noFill/>
          <a:ln/>
        </p:spPr>
        <p:txBody>
          <a:bodyPr wrap="square" lIns="0" tIns="0" rIns="0" bIns="0" rtlCol="0" anchor="ctr"/>
          <a:lstStyle/>
          <a:p>
            <a:pPr indent="0" marL="0">
              <a:buNone/>
            </a:pPr>
            <a:r>
              <a:rPr lang="ja-JP" sz="850" b="1" dirty="0">
                <a:solidFill>
                  <a:srgbClr val="5F8C11"/>
                </a:solidFill>
                <a:latin typeface="Yu Gothic" pitchFamily="34" charset="0"/>
                <a:ea typeface="Yu Gothic" pitchFamily="34" charset="-122"/>
                <a:cs typeface="Yu Gothic" pitchFamily="34" charset="-120"/>
              </a:rPr>
              <a:t>AIの介在点   </a:t>
            </a:r>
            <a:pPr indent="0" marL="0">
              <a:buNone/>
            </a:pPr>
            <a:r>
              <a:rPr lang="ja-JP" sz="880" dirty="0">
                <a:solidFill>
                  <a:srgbClr val="464C52"/>
                </a:solidFill>
                <a:latin typeface="Yu Gothic" pitchFamily="34" charset="0"/>
                <a:ea typeface="Yu Gothic" pitchFamily="34" charset="-122"/>
                <a:cs typeface="Yu Gothic" pitchFamily="34" charset="-120"/>
              </a:rPr>
              <a:t>稟議・議事録からの論点・前提の構造化抽出　／　新規案件と過去類型の照合　／　前提×外部データ・過去乖離実績の突合</a:t>
            </a:r>
            <a:endParaRPr lang="ja-JP" sz="850" dirty="0"/>
          </a:p>
        </p:txBody>
      </p:sp>
      <p:sp>
        <p:nvSpPr>
          <p:cNvPr id="13" name="Text 11"/>
          <p:cNvSpPr txBox="1"/>
          <p:nvPr/>
        </p:nvSpPr>
        <p:spPr>
          <a:xfrm>
            <a:off x="8805672" y="3474720"/>
            <a:ext cx="2697480" cy="384048"/>
          </a:xfrm>
          <a:prstGeom prst="rect">
            <a:avLst/>
          </a:prstGeom>
          <a:noFill/>
          <a:ln/>
        </p:spPr>
        <p:txBody>
          <a:bodyPr wrap="square" lIns="0" tIns="0" rIns="0" bIns="0" rtlCol="0" anchor="ctr"/>
          <a:lstStyle/>
          <a:p>
            <a:pPr algn="r" indent="0" marL="0">
              <a:buNone/>
            </a:pPr>
            <a:r>
              <a:rPr lang="ja-JP" sz="800" dirty="0">
                <a:solidFill>
                  <a:srgbClr val="7D838A"/>
                </a:solidFill>
                <a:latin typeface="Yu Gothic" pitchFamily="34" charset="0"/>
                <a:ea typeface="Yu Gothic" pitchFamily="34" charset="-122"/>
                <a:cs typeface="Yu Gothic" pitchFamily="34" charset="-120"/>
              </a:rPr>
              <a:t>通すか否かの決定は人——AIは照合と指摘まで</a:t>
            </a:r>
            <a:endParaRPr lang="ja-JP" sz="800" dirty="0"/>
          </a:p>
        </p:txBody>
      </p:sp>
      <p:sp>
        <p:nvSpPr>
          <p:cNvPr id="14" name="Shape 12"/>
          <p:cNvSpPr/>
          <p:nvPr/>
        </p:nvSpPr>
        <p:spPr>
          <a:xfrm>
            <a:off x="548640" y="3968496"/>
            <a:ext cx="11091672" cy="603504"/>
          </a:xfrm>
          <a:prstGeom prst="rect">
            <a:avLst/>
          </a:prstGeom>
          <a:solidFill>
            <a:srgbClr val="FFFFFF"/>
          </a:solidFill>
          <a:ln w="9525">
            <a:solidFill>
              <a:srgbClr val="E2E5E0"/>
            </a:solidFill>
            <a:prstDash val="solid"/>
          </a:ln>
        </p:spPr>
      </p:sp>
      <p:sp>
        <p:nvSpPr>
          <p:cNvPr id="15" name="Text 13"/>
          <p:cNvSpPr txBox="1"/>
          <p:nvPr/>
        </p:nvSpPr>
        <p:spPr>
          <a:xfrm>
            <a:off x="731520" y="4032504"/>
            <a:ext cx="5212080" cy="493776"/>
          </a:xfrm>
          <a:prstGeom prst="rect">
            <a:avLst/>
          </a:prstGeom>
          <a:noFill/>
          <a:ln/>
        </p:spPr>
        <p:txBody>
          <a:bodyPr wrap="square" lIns="0" tIns="0" rIns="0" bIns="0" rtlCol="0" anchor="t"/>
          <a:lstStyle/>
          <a:p>
            <a:pPr indent="0" marL="0">
              <a:lnSpc>
                <a:spcPct val="115000"/>
              </a:lnSpc>
              <a:buNone/>
            </a:pPr>
            <a:r>
              <a:rPr lang="ja-JP" sz="750" b="1" spc="150" kern="0" dirty="0">
                <a:solidFill>
                  <a:srgbClr val="7D838A"/>
                </a:solidFill>
                <a:latin typeface="Arial" pitchFamily="34" charset="0"/>
                <a:ea typeface="Arial" pitchFamily="34" charset="-122"/>
                <a:cs typeface="Arial" pitchFamily="34" charset="-120"/>
              </a:rPr>
              <a:t>IMPACT  </a:t>
            </a:r>
            <a:pPr indent="0" marL="0">
              <a:lnSpc>
                <a:spcPct val="115000"/>
              </a:lnSpc>
              <a:buNone/>
            </a:pPr>
            <a:r>
              <a:rPr lang="ja-JP" sz="800" dirty="0">
                <a:solidFill>
                  <a:srgbClr val="86BC25"/>
                </a:solidFill>
                <a:latin typeface="Yu Gothic" pitchFamily="34" charset="0"/>
                <a:ea typeface="Yu Gothic" pitchFamily="34" charset="-122"/>
                <a:cs typeface="Yu Gothic" pitchFamily="34" charset="-120"/>
              </a:rPr>
              <a:t>■■■■■</a:t>
            </a:r>
            <a:pPr indent="0" marL="0">
              <a:lnSpc>
                <a:spcPct val="115000"/>
              </a:lnSpc>
              <a:buNone/>
            </a:pPr>
            <a:r>
              <a:rPr lang="ja-JP" sz="950" b="1" dirty="0">
                <a:solidFill>
                  <a:srgbClr val="1E2226"/>
                </a:solidFill>
                <a:latin typeface="Yu Gothic" pitchFamily="34" charset="0"/>
                <a:ea typeface="Yu Gothic" pitchFamily="34" charset="-122"/>
                <a:cs typeface="Yu Gothic" pitchFamily="34" charset="-120"/>
              </a:rPr>
              <a:t>  最高</a:t>
            </a:r>
            <a:endParaRPr lang="ja-JP" sz="750" dirty="0"/>
          </a:p>
          <a:p>
            <a:pPr indent="0" marL="0">
              <a:lnSpc>
                <a:spcPct val="115000"/>
              </a:lnSpc>
              <a:buNone/>
            </a:pPr>
            <a:r>
              <a:rPr lang="ja-JP" sz="780" dirty="0">
                <a:solidFill>
                  <a:srgbClr val="7D838A"/>
                </a:solidFill>
                <a:latin typeface="Yu Gothic" pitchFamily="34" charset="0"/>
                <a:ea typeface="Yu Gothic" pitchFamily="34" charset="-122"/>
                <a:cs typeface="Yu Gothic" pitchFamily="34" charset="-120"/>
              </a:rPr>
              <a:t>一件数十〜数百億円規模の判断精度と、減損リスクの早期低減に直結</a:t>
            </a:r>
            <a:endParaRPr lang="ja-JP" sz="750" dirty="0"/>
          </a:p>
        </p:txBody>
      </p:sp>
      <p:sp>
        <p:nvSpPr>
          <p:cNvPr id="16" name="Text 14"/>
          <p:cNvSpPr txBox="1"/>
          <p:nvPr/>
        </p:nvSpPr>
        <p:spPr>
          <a:xfrm>
            <a:off x="6355080" y="4032504"/>
            <a:ext cx="5120640" cy="493776"/>
          </a:xfrm>
          <a:prstGeom prst="rect">
            <a:avLst/>
          </a:prstGeom>
          <a:noFill/>
          <a:ln/>
        </p:spPr>
        <p:txBody>
          <a:bodyPr wrap="square" lIns="0" tIns="0" rIns="0" bIns="0" rtlCol="0" anchor="t"/>
          <a:lstStyle/>
          <a:p>
            <a:pPr indent="0" marL="0">
              <a:lnSpc>
                <a:spcPct val="115000"/>
              </a:lnSpc>
              <a:buNone/>
            </a:pPr>
            <a:r>
              <a:rPr lang="ja-JP" sz="750" b="1" spc="150" kern="0" dirty="0">
                <a:solidFill>
                  <a:srgbClr val="7D838A"/>
                </a:solidFill>
                <a:latin typeface="Arial" pitchFamily="34" charset="0"/>
                <a:ea typeface="Arial" pitchFamily="34" charset="-122"/>
                <a:cs typeface="Arial" pitchFamily="34" charset="-120"/>
              </a:rPr>
              <a:t>FEASIBILITY  </a:t>
            </a:r>
            <a:pPr indent="0" marL="0">
              <a:lnSpc>
                <a:spcPct val="115000"/>
              </a:lnSpc>
              <a:buNone/>
            </a:pPr>
            <a:r>
              <a:rPr lang="ja-JP" sz="800" dirty="0">
                <a:solidFill>
                  <a:srgbClr val="86BC25"/>
                </a:solidFill>
                <a:latin typeface="Yu Gothic" pitchFamily="34" charset="0"/>
                <a:ea typeface="Yu Gothic" pitchFamily="34" charset="-122"/>
                <a:cs typeface="Yu Gothic" pitchFamily="34" charset="-120"/>
              </a:rPr>
              <a:t>■■■■</a:t>
            </a:r>
            <a:pPr indent="0" marL="0">
              <a:lnSpc>
                <a:spcPct val="115000"/>
              </a:lnSpc>
              <a:buNone/>
            </a:pPr>
            <a:r>
              <a:rPr lang="ja-JP" sz="800" dirty="0">
                <a:solidFill>
                  <a:srgbClr val="E0E4DE"/>
                </a:solidFill>
                <a:latin typeface="Yu Gothic" pitchFamily="34" charset="0"/>
                <a:ea typeface="Yu Gothic" pitchFamily="34" charset="-122"/>
                <a:cs typeface="Yu Gothic" pitchFamily="34" charset="-120"/>
              </a:rPr>
              <a:t>■</a:t>
            </a:r>
            <a:pPr indent="0" marL="0">
              <a:lnSpc>
                <a:spcPct val="115000"/>
              </a:lnSpc>
              <a:buNone/>
            </a:pPr>
            <a:r>
              <a:rPr lang="ja-JP" sz="950" b="1" dirty="0">
                <a:solidFill>
                  <a:srgbClr val="1E2226"/>
                </a:solidFill>
                <a:latin typeface="Yu Gothic" pitchFamily="34" charset="0"/>
                <a:ea typeface="Yu Gothic" pitchFamily="34" charset="-122"/>
                <a:cs typeface="Yu Gothic" pitchFamily="34" charset="-120"/>
              </a:rPr>
              <a:t>  中〜高</a:t>
            </a:r>
            <a:endParaRPr lang="ja-JP" sz="750" dirty="0"/>
          </a:p>
          <a:p>
            <a:pPr indent="0" marL="0">
              <a:lnSpc>
                <a:spcPct val="115000"/>
              </a:lnSpc>
              <a:buNone/>
            </a:pPr>
            <a:r>
              <a:rPr lang="ja-JP" sz="780" dirty="0">
                <a:solidFill>
                  <a:srgbClr val="7D838A"/>
                </a:solidFill>
                <a:latin typeface="Yu Gothic" pitchFamily="34" charset="0"/>
                <a:ea typeface="Yu Gothic" pitchFamily="34" charset="-122"/>
                <a:cs typeface="Yu Gothic" pitchFamily="34" charset="-120"/>
              </a:rPr>
              <a:t>文書は実在見込み、抽出技術は成熟領域。前提×実績の突合可能性のみ文書アセスメント（STEP 0）で検証</a:t>
            </a:r>
            <a:endParaRPr lang="ja-JP" sz="750" dirty="0"/>
          </a:p>
        </p:txBody>
      </p:sp>
      <p:sp>
        <p:nvSpPr>
          <p:cNvPr id="17" name="Text 15"/>
          <p:cNvSpPr txBox="1"/>
          <p:nvPr/>
        </p:nvSpPr>
        <p:spPr>
          <a:xfrm>
            <a:off x="548640" y="4736592"/>
            <a:ext cx="3291840" cy="237744"/>
          </a:xfrm>
          <a:prstGeom prst="rect">
            <a:avLst/>
          </a:prstGeom>
          <a:noFill/>
          <a:ln/>
        </p:spPr>
        <p:txBody>
          <a:bodyPr wrap="square" lIns="0" tIns="0" rIns="0" bIns="0" rtlCol="0" anchor="ctr"/>
          <a:lstStyle/>
          <a:p>
            <a:pPr indent="0" marL="0">
              <a:buNone/>
            </a:pPr>
            <a:r>
              <a:rPr lang="ja-JP" sz="950" b="1" dirty="0">
                <a:solidFill>
                  <a:srgbClr val="1E2226"/>
                </a:solidFill>
                <a:latin typeface="Yu Gothic" pitchFamily="34" charset="0"/>
                <a:ea typeface="Yu Gothic" pitchFamily="34" charset="-122"/>
                <a:cs typeface="Yu Gothic" pitchFamily="34" charset="-120"/>
              </a:rPr>
              <a:t>なぜ自社開発か</a:t>
            </a:r>
            <a:endParaRPr lang="ja-JP" sz="950" dirty="0"/>
          </a:p>
        </p:txBody>
      </p:sp>
      <p:sp>
        <p:nvSpPr>
          <p:cNvPr id="18" name="Shape 16"/>
          <p:cNvSpPr/>
          <p:nvPr/>
        </p:nvSpPr>
        <p:spPr>
          <a:xfrm>
            <a:off x="548640" y="5010912"/>
            <a:ext cx="3291840" cy="0"/>
          </a:xfrm>
          <a:prstGeom prst="line">
            <a:avLst/>
          </a:prstGeom>
          <a:noFill/>
          <a:ln w="15875">
            <a:solidFill>
              <a:srgbClr val="1E2226"/>
            </a:solidFill>
            <a:prstDash val="solid"/>
          </a:ln>
        </p:spPr>
      </p:sp>
      <p:sp>
        <p:nvSpPr>
          <p:cNvPr id="19" name="Text 17"/>
          <p:cNvSpPr txBox="1"/>
          <p:nvPr/>
        </p:nvSpPr>
        <p:spPr>
          <a:xfrm>
            <a:off x="4114800" y="4736592"/>
            <a:ext cx="4160520" cy="237744"/>
          </a:xfrm>
          <a:prstGeom prst="rect">
            <a:avLst/>
          </a:prstGeom>
          <a:noFill/>
          <a:ln/>
        </p:spPr>
        <p:txBody>
          <a:bodyPr wrap="square" lIns="0" tIns="0" rIns="0" bIns="0" rtlCol="0" anchor="ctr"/>
          <a:lstStyle/>
          <a:p>
            <a:pPr indent="0" marL="0">
              <a:buNone/>
            </a:pPr>
            <a:r>
              <a:rPr lang="ja-JP" sz="950" b="1" dirty="0">
                <a:solidFill>
                  <a:srgbClr val="1E2226"/>
                </a:solidFill>
                <a:latin typeface="Yu Gothic" pitchFamily="34" charset="0"/>
                <a:ea typeface="Yu Gothic" pitchFamily="34" charset="-122"/>
                <a:cs typeface="Yu Gothic" pitchFamily="34" charset="-120"/>
              </a:rPr>
              <a:t>現実的な始め方</a:t>
            </a:r>
            <a:endParaRPr lang="ja-JP" sz="950" dirty="0"/>
          </a:p>
        </p:txBody>
      </p:sp>
      <p:sp>
        <p:nvSpPr>
          <p:cNvPr id="20" name="Shape 18"/>
          <p:cNvSpPr/>
          <p:nvPr/>
        </p:nvSpPr>
        <p:spPr>
          <a:xfrm>
            <a:off x="4114800" y="5010912"/>
            <a:ext cx="4160520" cy="0"/>
          </a:xfrm>
          <a:prstGeom prst="line">
            <a:avLst/>
          </a:prstGeom>
          <a:noFill/>
          <a:ln w="15875">
            <a:solidFill>
              <a:srgbClr val="1E2226"/>
            </a:solidFill>
            <a:prstDash val="solid"/>
          </a:ln>
        </p:spPr>
      </p:sp>
      <p:sp>
        <p:nvSpPr>
          <p:cNvPr id="21" name="Text 19"/>
          <p:cNvSpPr txBox="1"/>
          <p:nvPr/>
        </p:nvSpPr>
        <p:spPr>
          <a:xfrm>
            <a:off x="8549640" y="4736592"/>
            <a:ext cx="3090672" cy="237744"/>
          </a:xfrm>
          <a:prstGeom prst="rect">
            <a:avLst/>
          </a:prstGeom>
          <a:noFill/>
          <a:ln/>
        </p:spPr>
        <p:txBody>
          <a:bodyPr wrap="square" lIns="0" tIns="0" rIns="0" bIns="0" rtlCol="0" anchor="ctr"/>
          <a:lstStyle/>
          <a:p>
            <a:pPr indent="0" marL="0">
              <a:buNone/>
            </a:pPr>
            <a:r>
              <a:rPr lang="ja-JP" sz="950" b="1" dirty="0">
                <a:solidFill>
                  <a:srgbClr val="464C52"/>
                </a:solidFill>
                <a:latin typeface="Yu Gothic" pitchFamily="34" charset="0"/>
                <a:ea typeface="Yu Gothic" pitchFamily="34" charset="-122"/>
                <a:cs typeface="Yu Gothic" pitchFamily="34" charset="-120"/>
              </a:rPr>
              <a:t>留意点</a:t>
            </a:r>
            <a:endParaRPr lang="ja-JP" sz="950" dirty="0"/>
          </a:p>
        </p:txBody>
      </p:sp>
      <p:sp>
        <p:nvSpPr>
          <p:cNvPr id="22" name="Shape 20"/>
          <p:cNvSpPr/>
          <p:nvPr/>
        </p:nvSpPr>
        <p:spPr>
          <a:xfrm>
            <a:off x="8549640" y="5010912"/>
            <a:ext cx="3090672" cy="0"/>
          </a:xfrm>
          <a:prstGeom prst="line">
            <a:avLst/>
          </a:prstGeom>
          <a:noFill/>
          <a:ln w="15875">
            <a:solidFill>
              <a:srgbClr val="C9CED2"/>
            </a:solidFill>
            <a:prstDash val="solid"/>
          </a:ln>
        </p:spPr>
      </p:sp>
      <p:sp>
        <p:nvSpPr>
          <p:cNvPr id="23" name="Text 21"/>
          <p:cNvSpPr txBox="1"/>
          <p:nvPr/>
        </p:nvSpPr>
        <p:spPr>
          <a:xfrm>
            <a:off x="548640" y="5102352"/>
            <a:ext cx="3291840" cy="2286000"/>
          </a:xfrm>
          <a:prstGeom prst="rect">
            <a:avLst/>
          </a:prstGeom>
          <a:noFill/>
          <a:ln/>
        </p:spPr>
        <p:txBody>
          <a:bodyPr wrap="square" lIns="0" tIns="0" rIns="0" bIns="0" rtlCol="0" anchor="t"/>
          <a:lstStyle/>
          <a:p>
            <a:pPr indent="0" marL="0">
              <a:lnSpc>
                <a:spcPct val="120000"/>
              </a:lnSpc>
              <a:spcAft>
                <a:spcPts val="500"/>
              </a:spcAft>
              <a:buNone/>
            </a:pPr>
            <a:r>
              <a:rPr lang="ja-JP" sz="880" dirty="0">
                <a:solidFill>
                  <a:srgbClr val="464C52"/>
                </a:solidFill>
                <a:latin typeface="Yu Gothic" pitchFamily="34" charset="0"/>
                <a:ea typeface="Yu Gothic" pitchFamily="34" charset="-122"/>
                <a:cs typeface="Yu Gothic" pitchFamily="34" charset="-120"/>
              </a:rPr>
              <a:t>稟議・議事録という</a:t>
            </a:r>
            <a:pPr indent="0" marL="0">
              <a:lnSpc>
                <a:spcPct val="120000"/>
              </a:lnSpc>
              <a:spcAft>
                <a:spcPts val="500"/>
              </a:spcAft>
              <a:buNone/>
            </a:pPr>
            <a:r>
              <a:rPr lang="ja-JP" sz="880" b="1" dirty="0">
                <a:solidFill>
                  <a:srgbClr val="1E2226"/>
                </a:solidFill>
                <a:latin typeface="Yu Gothic" pitchFamily="34" charset="0"/>
                <a:ea typeface="Yu Gothic" pitchFamily="34" charset="-122"/>
                <a:cs typeface="Yu Gothic" pitchFamily="34" charset="-120"/>
              </a:rPr>
              <a:t>最高機密かつ自社にしか存在しない判断履歴</a:t>
            </a:r>
            <a:pPr indent="0" marL="0">
              <a:lnSpc>
                <a:spcPct val="120000"/>
              </a:lnSpc>
              <a:spcAft>
                <a:spcPts val="500"/>
              </a:spcAft>
              <a:buNone/>
            </a:pPr>
            <a:r>
              <a:rPr lang="ja-JP" sz="880" dirty="0">
                <a:solidFill>
                  <a:srgbClr val="464C52"/>
                </a:solidFill>
                <a:latin typeface="Yu Gothic" pitchFamily="34" charset="0"/>
                <a:ea typeface="Yu Gothic" pitchFamily="34" charset="-122"/>
                <a:cs typeface="Yu Gothic" pitchFamily="34" charset="-120"/>
              </a:rPr>
              <a:t>で動く。外部ツールへの投入は選択肢にならない。</a:t>
            </a:r>
            <a:endParaRPr lang="ja-JP" sz="880" dirty="0"/>
          </a:p>
          <a:p>
            <a:pPr indent="0" marL="0">
              <a:lnSpc>
                <a:spcPct val="120000"/>
              </a:lnSpc>
              <a:spcAft>
                <a:spcPts val="500"/>
              </a:spcAft>
              <a:buNone/>
            </a:pPr>
            <a:r>
              <a:rPr lang="ja-JP" sz="880" dirty="0">
                <a:solidFill>
                  <a:srgbClr val="464C52"/>
                </a:solidFill>
                <a:latin typeface="Yu Gothic" pitchFamily="34" charset="0"/>
                <a:ea typeface="Yu Gothic" pitchFamily="34" charset="-122"/>
                <a:cs typeface="Yu Gothic" pitchFamily="34" charset="-120"/>
              </a:rPr>
              <a:t>審議を重ねるほど論点ライブラリが充実する——時間とともに賢くなる仕組み。</a:t>
            </a:r>
            <a:endParaRPr lang="ja-JP" sz="880" dirty="0"/>
          </a:p>
        </p:txBody>
      </p:sp>
      <p:sp>
        <p:nvSpPr>
          <p:cNvPr id="24" name="Text 22"/>
          <p:cNvSpPr txBox="1"/>
          <p:nvPr/>
        </p:nvSpPr>
        <p:spPr>
          <a:xfrm>
            <a:off x="4114800" y="5102352"/>
            <a:ext cx="4160520" cy="2286000"/>
          </a:xfrm>
          <a:prstGeom prst="rect">
            <a:avLst/>
          </a:prstGeom>
          <a:noFill/>
          <a:ln/>
        </p:spPr>
        <p:txBody>
          <a:bodyPr wrap="square" lIns="0" tIns="0" rIns="0" bIns="0" rtlCol="0" anchor="t"/>
          <a:lstStyle/>
          <a:p>
            <a:pPr indent="0" marL="0">
              <a:lnSpc>
                <a:spcPct val="120000"/>
              </a:lnSpc>
              <a:spcAft>
                <a:spcPts val="600"/>
              </a:spcAft>
              <a:buNone/>
            </a:pPr>
            <a:r>
              <a:rPr lang="ja-JP" sz="750" b="1" spc="100" kern="0" dirty="0">
                <a:solidFill>
                  <a:srgbClr val="5F8C11"/>
                </a:solidFill>
                <a:latin typeface="Arial" pitchFamily="34" charset="0"/>
                <a:ea typeface="Arial" pitchFamily="34" charset="-122"/>
                <a:cs typeface="Arial" pitchFamily="34" charset="-120"/>
              </a:rPr>
              <a:t>STEP 0  </a:t>
            </a:r>
            <a:pPr indent="0" marL="0">
              <a:lnSpc>
                <a:spcPct val="120000"/>
              </a:lnSpc>
              <a:spcAft>
                <a:spcPts val="600"/>
              </a:spcAft>
              <a:buNone/>
            </a:pPr>
            <a:r>
              <a:rPr lang="ja-JP" sz="880" b="1" dirty="0">
                <a:solidFill>
                  <a:srgbClr val="1E2226"/>
                </a:solidFill>
                <a:latin typeface="Yu Gothic" pitchFamily="34" charset="0"/>
                <a:ea typeface="Yu Gothic" pitchFamily="34" charset="-122"/>
                <a:cs typeface="Yu Gothic" pitchFamily="34" charset="-120"/>
              </a:rPr>
              <a:t>文書アセスメント（2〜4週）</a:t>
            </a:r>
            <a:pPr indent="0" marL="0">
              <a:lnSpc>
                <a:spcPct val="120000"/>
              </a:lnSpc>
              <a:spcAft>
                <a:spcPts val="600"/>
              </a:spcAft>
              <a:buNone/>
            </a:pPr>
            <a:r>
              <a:rPr lang="ja-JP" sz="880" dirty="0">
                <a:solidFill>
                  <a:srgbClr val="464C52"/>
                </a:solidFill>
                <a:latin typeface="Yu Gothic" pitchFamily="34" charset="0"/>
                <a:ea typeface="Yu Gothic" pitchFamily="34" charset="-122"/>
                <a:cs typeface="Yu Gothic" pitchFamily="34" charset="-120"/>
              </a:rPr>
              <a:t>——サンプル稟議で論点・前提の抽出可能性と、前提×実績の突合可能性を検証してからスコープを確定</a:t>
            </a:r>
            <a:endParaRPr lang="ja-JP" sz="880" dirty="0"/>
          </a:p>
          <a:p>
            <a:pPr indent="0" marL="0">
              <a:lnSpc>
                <a:spcPct val="120000"/>
              </a:lnSpc>
              <a:spcAft>
                <a:spcPts val="600"/>
              </a:spcAft>
              <a:buNone/>
            </a:pPr>
            <a:r>
              <a:rPr lang="ja-JP" sz="750" b="1" spc="100" kern="0" dirty="0">
                <a:solidFill>
                  <a:srgbClr val="5F8C11"/>
                </a:solidFill>
                <a:latin typeface="Arial" pitchFamily="34" charset="0"/>
                <a:ea typeface="Arial" pitchFamily="34" charset="-122"/>
                <a:cs typeface="Arial" pitchFamily="34" charset="-120"/>
              </a:rPr>
              <a:t>STEP 1  </a:t>
            </a:r>
            <a:pPr indent="0" marL="0">
              <a:lnSpc>
                <a:spcPct val="120000"/>
              </a:lnSpc>
              <a:spcAft>
                <a:spcPts val="600"/>
              </a:spcAft>
              <a:buNone/>
            </a:pPr>
            <a:r>
              <a:rPr lang="ja-JP" sz="880" dirty="0">
                <a:solidFill>
                  <a:srgbClr val="464C52"/>
                </a:solidFill>
                <a:latin typeface="Yu Gothic" pitchFamily="34" charset="0"/>
                <a:ea typeface="Yu Gothic" pitchFamily="34" charset="-122"/>
                <a:cs typeface="Yu Gothic" pitchFamily="34" charset="-120"/>
              </a:rPr>
              <a:t>直近5〜10年の大型案件で論点ライブラリと前提レジストリを構築</a:t>
            </a:r>
            <a:endParaRPr lang="ja-JP" sz="880" dirty="0"/>
          </a:p>
          <a:p>
            <a:pPr indent="0" marL="0">
              <a:lnSpc>
                <a:spcPct val="120000"/>
              </a:lnSpc>
              <a:spcAft>
                <a:spcPts val="600"/>
              </a:spcAft>
              <a:buNone/>
            </a:pPr>
            <a:r>
              <a:rPr lang="ja-JP" sz="750" b="1" spc="100" kern="0" dirty="0">
                <a:solidFill>
                  <a:srgbClr val="5F8C11"/>
                </a:solidFill>
                <a:latin typeface="Arial" pitchFamily="34" charset="0"/>
                <a:ea typeface="Arial" pitchFamily="34" charset="-122"/>
                <a:cs typeface="Arial" pitchFamily="34" charset="-120"/>
              </a:rPr>
              <a:t>STEP 2  </a:t>
            </a:r>
            <a:pPr indent="0" marL="0">
              <a:lnSpc>
                <a:spcPct val="120000"/>
              </a:lnSpc>
              <a:spcAft>
                <a:spcPts val="600"/>
              </a:spcAft>
              <a:buNone/>
            </a:pPr>
            <a:r>
              <a:rPr lang="ja-JP" sz="880" dirty="0">
                <a:solidFill>
                  <a:srgbClr val="464C52"/>
                </a:solidFill>
                <a:latin typeface="Yu Gothic" pitchFamily="34" charset="0"/>
                <a:ea typeface="Yu Gothic" pitchFamily="34" charset="-122"/>
                <a:cs typeface="Yu Gothic" pitchFamily="34" charset="-120"/>
              </a:rPr>
              <a:t>実案件1件に並走するパイロットで精査メモの実効性を検証</a:t>
            </a:r>
            <a:endParaRPr lang="ja-JP" sz="880" dirty="0"/>
          </a:p>
        </p:txBody>
      </p:sp>
      <p:sp>
        <p:nvSpPr>
          <p:cNvPr id="25" name="Text 23"/>
          <p:cNvSpPr txBox="1"/>
          <p:nvPr/>
        </p:nvSpPr>
        <p:spPr>
          <a:xfrm>
            <a:off x="8549640" y="5102352"/>
            <a:ext cx="3090672" cy="2286000"/>
          </a:xfrm>
          <a:prstGeom prst="rect">
            <a:avLst/>
          </a:prstGeom>
          <a:noFill/>
          <a:ln/>
        </p:spPr>
        <p:txBody>
          <a:bodyPr wrap="square" lIns="0" tIns="0" rIns="0" bIns="0" rtlCol="0" anchor="t"/>
          <a:lstStyle/>
          <a:p>
            <a:pPr indent="0" marL="0">
              <a:lnSpc>
                <a:spcPct val="120000"/>
              </a:lnSpc>
              <a:spcAft>
                <a:spcPts val="600"/>
              </a:spcAft>
              <a:buNone/>
            </a:pPr>
            <a:r>
              <a:rPr lang="ja-JP" sz="880" dirty="0">
                <a:solidFill>
                  <a:srgbClr val="464C52"/>
                </a:solidFill>
                <a:latin typeface="Yu Gothic" pitchFamily="34" charset="0"/>
                <a:ea typeface="Yu Gothic" pitchFamily="34" charset="-122"/>
                <a:cs typeface="Yu Gothic" pitchFamily="34" charset="-120"/>
              </a:rPr>
              <a:t>前提が稟議本文ではなく添付の収支計画に埋没している場合や、投資実績が案件単位で追えない場合、機能の一部が成立しない。</a:t>
            </a:r>
            <a:endParaRPr lang="ja-JP" sz="880" dirty="0"/>
          </a:p>
          <a:p>
            <a:pPr indent="0" marL="0">
              <a:lnSpc>
                <a:spcPct val="120000"/>
              </a:lnSpc>
              <a:spcAft>
                <a:spcPts val="600"/>
              </a:spcAft>
              <a:buNone/>
            </a:pPr>
            <a:r>
              <a:rPr lang="ja-JP" sz="750" b="1" dirty="0">
                <a:solidFill>
                  <a:srgbClr val="5F8C11"/>
                </a:solidFill>
                <a:latin typeface="Yu Gothic" pitchFamily="34" charset="0"/>
                <a:ea typeface="Yu Gothic" pitchFamily="34" charset="-122"/>
                <a:cs typeface="Yu Gothic" pitchFamily="34" charset="-120"/>
              </a:rPr>
              <a:t>対処  </a:t>
            </a:r>
            <a:pPr indent="0" marL="0">
              <a:lnSpc>
                <a:spcPct val="120000"/>
              </a:lnSpc>
              <a:spcAft>
                <a:spcPts val="600"/>
              </a:spcAft>
              <a:buNone/>
            </a:pPr>
            <a:r>
              <a:rPr lang="ja-JP" sz="880" dirty="0">
                <a:solidFill>
                  <a:srgbClr val="1E2226"/>
                </a:solidFill>
                <a:latin typeface="Yu Gothic" pitchFamily="34" charset="0"/>
                <a:ea typeface="Yu Gothic" pitchFamily="34" charset="-122"/>
                <a:cs typeface="Yu Gothic" pitchFamily="34" charset="-120"/>
              </a:rPr>
              <a:t>約束の前に検証する——STEP 0で成立範囲を確定する設計自体を、提案の信頼性の根拠として提示する。</a:t>
            </a:r>
            <a:endParaRPr lang="ja-JP" sz="880" dirty="0"/>
          </a:p>
        </p:txBody>
      </p:sp>
      <p:sp>
        <p:nvSpPr>
          <p:cNvPr id="26" name="Text 24"/>
          <p:cNvSpPr txBox="1"/>
          <p:nvPr/>
        </p:nvSpPr>
        <p:spPr>
          <a:xfrm>
            <a:off x="11091672" y="6510528"/>
            <a:ext cx="822960" cy="228600"/>
          </a:xfrm>
          <a:prstGeom prst="rect">
            <a:avLst/>
          </a:prstGeom>
          <a:noFill/>
          <a:ln/>
        </p:spPr>
        <p:txBody>
          <a:bodyPr wrap="square" lIns="0" tIns="0" rIns="0" bIns="0" rtlCol="0" anchor="ctr"/>
          <a:lstStyle/>
          <a:p>
            <a:pPr algn="r" indent="0" marL="0">
              <a:buNone/>
            </a:pPr>
            <a:r>
              <a:rPr lang="ja-JP" sz="800" dirty="0">
                <a:solidFill>
                  <a:srgbClr val="7D838A"/>
                </a:solidFill>
                <a:latin typeface="Arial" pitchFamily="34" charset="0"/>
                <a:ea typeface="Arial" pitchFamily="34" charset="-122"/>
                <a:cs typeface="Arial" pitchFamily="34" charset="-120"/>
              </a:rPr>
              <a:t>03</a:t>
            </a:r>
            <a:endParaRPr lang="ja-JP"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11091672" cy="274320"/>
          </a:xfrm>
          <a:prstGeom prst="rect">
            <a:avLst/>
          </a:prstGeom>
          <a:noFill/>
          <a:ln/>
        </p:spPr>
        <p:txBody>
          <a:bodyPr wrap="square" lIns="0" tIns="0" rIns="0" bIns="0" rtlCol="0" anchor="ctr"/>
          <a:lstStyle/>
          <a:p>
            <a:pPr indent="0" marL="0">
              <a:buNone/>
            </a:pPr>
            <a:r>
              <a:rPr lang="ja-JP" sz="900" b="1" spc="200" kern="0" dirty="0">
                <a:solidFill>
                  <a:srgbClr val="5F8C11"/>
                </a:solidFill>
                <a:latin typeface="Arial" pitchFamily="34" charset="0"/>
                <a:ea typeface="Arial" pitchFamily="34" charset="-122"/>
                <a:cs typeface="Arial" pitchFamily="34" charset="-120"/>
              </a:rPr>
              <a:t>NEXT PHASE PROPOSAL — 04 / 掴む｜創出</a:t>
            </a:r>
            <a:endParaRPr lang="ja-JP" sz="900" dirty="0"/>
          </a:p>
        </p:txBody>
      </p:sp>
      <p:sp>
        <p:nvSpPr>
          <p:cNvPr id="3" name="Text 1"/>
          <p:cNvSpPr txBox="1"/>
          <p:nvPr/>
        </p:nvSpPr>
        <p:spPr>
          <a:xfrm>
            <a:off x="548640" y="603504"/>
            <a:ext cx="11091672" cy="749808"/>
          </a:xfrm>
          <a:prstGeom prst="rect">
            <a:avLst/>
          </a:prstGeom>
          <a:noFill/>
          <a:ln/>
        </p:spPr>
        <p:txBody>
          <a:bodyPr wrap="square" lIns="0" tIns="0" rIns="0" bIns="0" rtlCol="0" anchor="ctr"/>
          <a:lstStyle/>
          <a:p>
            <a:pPr indent="0" marL="0">
              <a:lnSpc>
                <a:spcPct val="128000"/>
              </a:lnSpc>
              <a:buNone/>
            </a:pPr>
            <a:r>
              <a:rPr lang="ja-JP" sz="1550" b="1" dirty="0">
                <a:solidFill>
                  <a:srgbClr val="1E2226"/>
                </a:solidFill>
                <a:latin typeface="Yu Gothic" pitchFamily="34" charset="0"/>
                <a:ea typeface="Yu Gothic" pitchFamily="34" charset="-122"/>
                <a:cs typeface="Yu Gothic" pitchFamily="34" charset="-120"/>
              </a:rPr>
              <a:t>M&amp;Aインテリジェンス</a:t>
            </a:r>
            <a:endParaRPr lang="ja-JP" sz="1550" dirty="0"/>
          </a:p>
          <a:p>
            <a:pPr indent="0" marL="0">
              <a:lnSpc>
                <a:spcPct val="128000"/>
              </a:lnSpc>
              <a:buNone/>
            </a:pPr>
            <a:r>
              <a:rPr lang="ja-JP" sz="1550" b="1" dirty="0">
                <a:solidFill>
                  <a:srgbClr val="1E2226"/>
                </a:solidFill>
                <a:latin typeface="Yu Gothic" pitchFamily="34" charset="0"/>
                <a:ea typeface="Yu Gothic" pitchFamily="34" charset="-122"/>
                <a:cs typeface="Yu Gothic" pitchFamily="34" charset="-120"/>
              </a:rPr>
              <a:t>——数週間の診断を数日に。そして</a:t>
            </a:r>
            <a:pPr indent="0" marL="0">
              <a:lnSpc>
                <a:spcPct val="128000"/>
              </a:lnSpc>
              <a:buNone/>
            </a:pPr>
            <a:r>
              <a:rPr lang="ja-JP" sz="1550" b="1" dirty="0">
                <a:solidFill>
                  <a:srgbClr val="5F8C11"/>
                </a:solidFill>
                <a:latin typeface="Yu Gothic" pitchFamily="34" charset="0"/>
                <a:ea typeface="Yu Gothic" pitchFamily="34" charset="-122"/>
                <a:cs typeface="Yu Gothic" pitchFamily="34" charset="-120"/>
              </a:rPr>
              <a:t>「今なら買える」</a:t>
            </a:r>
            <a:pPr indent="0" marL="0">
              <a:lnSpc>
                <a:spcPct val="128000"/>
              </a:lnSpc>
              <a:buNone/>
            </a:pPr>
            <a:r>
              <a:rPr lang="ja-JP" sz="1550" b="1" dirty="0">
                <a:solidFill>
                  <a:srgbClr val="1E2226"/>
                </a:solidFill>
                <a:latin typeface="Yu Gothic" pitchFamily="34" charset="0"/>
                <a:ea typeface="Yu Gothic" pitchFamily="34" charset="-122"/>
                <a:cs typeface="Yu Gothic" pitchFamily="34" charset="-120"/>
              </a:rPr>
              <a:t>を、偶然に任せない</a:t>
            </a:r>
            <a:endParaRPr lang="ja-JP" sz="1550" dirty="0"/>
          </a:p>
        </p:txBody>
      </p:sp>
      <p:sp>
        <p:nvSpPr>
          <p:cNvPr id="4" name="Shape 2"/>
          <p:cNvSpPr/>
          <p:nvPr/>
        </p:nvSpPr>
        <p:spPr>
          <a:xfrm>
            <a:off x="548640" y="1426464"/>
            <a:ext cx="11091672" cy="329184"/>
          </a:xfrm>
          <a:prstGeom prst="rect">
            <a:avLst/>
          </a:prstGeom>
          <a:solidFill>
            <a:srgbClr val="F6F7F5"/>
          </a:solidFill>
          <a:ln w="9525">
            <a:solidFill>
              <a:srgbClr val="E2E5E0"/>
            </a:solidFill>
            <a:prstDash val="solid"/>
          </a:ln>
        </p:spPr>
      </p:sp>
      <p:sp>
        <p:nvSpPr>
          <p:cNvPr id="5" name="Text 3"/>
          <p:cNvSpPr txBox="1"/>
          <p:nvPr/>
        </p:nvSpPr>
        <p:spPr>
          <a:xfrm>
            <a:off x="685800" y="1426464"/>
            <a:ext cx="10817352" cy="329184"/>
          </a:xfrm>
          <a:prstGeom prst="rect">
            <a:avLst/>
          </a:prstGeom>
          <a:noFill/>
          <a:ln/>
        </p:spPr>
        <p:txBody>
          <a:bodyPr wrap="square" lIns="0" tIns="0" rIns="0" bIns="0" rtlCol="0" anchor="ctr"/>
          <a:lstStyle/>
          <a:p>
            <a:pPr indent="0" marL="0">
              <a:buNone/>
            </a:pPr>
            <a:r>
              <a:rPr lang="ja-JP" sz="800" b="1" spc="100" kern="0" dirty="0">
                <a:solidFill>
                  <a:srgbClr val="7D838A"/>
                </a:solidFill>
                <a:latin typeface="Yu Gothic" pitchFamily="34" charset="0"/>
                <a:ea typeface="Yu Gothic" pitchFamily="34" charset="-122"/>
                <a:cs typeface="Yu Gothic" pitchFamily="34" charset="-120"/>
              </a:rPr>
              <a:t>差し込む場面   </a:t>
            </a:r>
            <a:pPr indent="0" marL="0">
              <a:buNone/>
            </a:pPr>
            <a:r>
              <a:rPr lang="ja-JP" sz="950" dirty="0">
                <a:solidFill>
                  <a:srgbClr val="1E2226"/>
                </a:solidFill>
                <a:latin typeface="Yu Gothic" pitchFamily="34" charset="0"/>
                <a:ea typeface="Yu Gothic" pitchFamily="34" charset="-122"/>
                <a:cs typeface="Yu Gothic" pitchFamily="34" charset="-120"/>
              </a:rPr>
              <a:t>案件の持ち込み・検討着手時に「初期診断メモ」を、四半期の投資検討の場に「再浮上候補」を提示——対象はM&amp;A・出資・アライアンス・大型開発</a:t>
            </a:r>
            <a:endParaRPr lang="ja-JP" sz="800" dirty="0"/>
          </a:p>
        </p:txBody>
      </p:sp>
      <p:sp>
        <p:nvSpPr>
          <p:cNvPr id="6" name="Shape 4"/>
          <p:cNvSpPr/>
          <p:nvPr/>
        </p:nvSpPr>
        <p:spPr>
          <a:xfrm>
            <a:off x="548640" y="1883664"/>
            <a:ext cx="5330952" cy="1481328"/>
          </a:xfrm>
          <a:prstGeom prst="rect">
            <a:avLst/>
          </a:prstGeom>
          <a:solidFill>
            <a:srgbClr val="F6F7F5"/>
          </a:solidFill>
          <a:ln w="9525">
            <a:solidFill>
              <a:srgbClr val="E2E5E0"/>
            </a:solidFill>
            <a:prstDash val="solid"/>
          </a:ln>
        </p:spPr>
      </p:sp>
      <p:sp>
        <p:nvSpPr>
          <p:cNvPr id="7" name="Shape 5"/>
          <p:cNvSpPr/>
          <p:nvPr/>
        </p:nvSpPr>
        <p:spPr>
          <a:xfrm>
            <a:off x="6309360" y="1883664"/>
            <a:ext cx="5330952" cy="1481328"/>
          </a:xfrm>
          <a:prstGeom prst="rect">
            <a:avLst/>
          </a:prstGeom>
          <a:solidFill>
            <a:srgbClr val="FFFFFF"/>
          </a:solidFill>
          <a:ln w="9525">
            <a:solidFill>
              <a:srgbClr val="E2E5E0"/>
            </a:solidFill>
            <a:prstDash val="solid"/>
          </a:ln>
        </p:spPr>
      </p:sp>
      <p:sp>
        <p:nvSpPr>
          <p:cNvPr id="8" name="Text 6"/>
          <p:cNvSpPr txBox="1"/>
          <p:nvPr/>
        </p:nvSpPr>
        <p:spPr>
          <a:xfrm>
            <a:off x="5897880" y="1883664"/>
            <a:ext cx="393192" cy="1481328"/>
          </a:xfrm>
          <a:prstGeom prst="rect">
            <a:avLst/>
          </a:prstGeom>
          <a:noFill/>
          <a:ln/>
        </p:spPr>
        <p:txBody>
          <a:bodyPr wrap="square" lIns="0" tIns="0" rIns="0" bIns="0" rtlCol="0" anchor="ctr"/>
          <a:lstStyle/>
          <a:p>
            <a:pPr algn="ctr" indent="0" marL="0">
              <a:buNone/>
            </a:pPr>
            <a:r>
              <a:rPr lang="ja-JP" sz="1100" dirty="0">
                <a:solidFill>
                  <a:srgbClr val="B9BFB6"/>
                </a:solidFill>
                <a:latin typeface="Yu Gothic" pitchFamily="34" charset="0"/>
                <a:ea typeface="Yu Gothic" pitchFamily="34" charset="-122"/>
                <a:cs typeface="Yu Gothic" pitchFamily="34" charset="-120"/>
              </a:rPr>
              <a:t>▶</a:t>
            </a:r>
            <a:endParaRPr lang="ja-JP" sz="1100" dirty="0"/>
          </a:p>
        </p:txBody>
      </p:sp>
      <p:sp>
        <p:nvSpPr>
          <p:cNvPr id="9" name="Text 7"/>
          <p:cNvSpPr txBox="1"/>
          <p:nvPr/>
        </p:nvSpPr>
        <p:spPr>
          <a:xfrm>
            <a:off x="694944" y="1956816"/>
            <a:ext cx="5038344" cy="1335024"/>
          </a:xfrm>
          <a:prstGeom prst="rect">
            <a:avLst/>
          </a:prstGeom>
          <a:noFill/>
          <a:ln/>
        </p:spPr>
        <p:txBody>
          <a:bodyPr wrap="square" lIns="0" tIns="0" rIns="0" bIns="0" rtlCol="0" anchor="t"/>
          <a:lstStyle/>
          <a:p>
            <a:pPr indent="0" marL="0">
              <a:lnSpc>
                <a:spcPct val="118000"/>
              </a:lnSpc>
              <a:spcAft>
                <a:spcPts val="300"/>
              </a:spcAft>
              <a:buNone/>
            </a:pPr>
            <a:r>
              <a:rPr lang="ja-JP" sz="800" b="1" spc="200" kern="0" dirty="0">
                <a:solidFill>
                  <a:srgbClr val="7D838A"/>
                </a:solidFill>
                <a:latin typeface="Arial" pitchFamily="34" charset="0"/>
                <a:ea typeface="Arial" pitchFamily="34" charset="-122"/>
                <a:cs typeface="Arial" pitchFamily="34" charset="-120"/>
              </a:rPr>
              <a:t>BEFORE</a:t>
            </a:r>
            <a:endParaRPr lang="ja-JP" sz="880" dirty="0"/>
          </a:p>
          <a:p>
            <a:pPr indent="0" marL="0">
              <a:lnSpc>
                <a:spcPct val="118000"/>
              </a:lnSpc>
              <a:spcAft>
                <a:spcPts val="300"/>
              </a:spcAft>
              <a:buNone/>
            </a:pPr>
            <a:r>
              <a:rPr lang="ja-JP" sz="880" b="1" dirty="0">
                <a:solidFill>
                  <a:srgbClr val="1E2226"/>
                </a:solidFill>
                <a:latin typeface="Yu Gothic" pitchFamily="34" charset="0"/>
                <a:ea typeface="Yu Gothic" pitchFamily="34" charset="-122"/>
                <a:cs typeface="Yu Gothic" pitchFamily="34" charset="-120"/>
              </a:rPr>
              <a:t>買収は「持ち込まれた時に、その時の状況だけで」判断している。</a:t>
            </a:r>
            <a:pPr indent="0" marL="0">
              <a:lnSpc>
                <a:spcPct val="118000"/>
              </a:lnSpc>
              <a:spcAft>
                <a:spcPts val="300"/>
              </a:spcAft>
              <a:buNone/>
            </a:pPr>
            <a:r>
              <a:rPr lang="ja-JP" sz="880" dirty="0">
                <a:solidFill>
                  <a:srgbClr val="464C52"/>
                </a:solidFill>
                <a:latin typeface="Yu Gothic" pitchFamily="34" charset="0"/>
                <a:ea typeface="Yu Gothic" pitchFamily="34" charset="-122"/>
                <a:cs typeface="Yu Gothic" pitchFamily="34" charset="-120"/>
              </a:rPr>
              <a:t>対象会社の初期診断は毎回数週間の人海戦術で、見送った案件は理由ごと忘却される。買収の成否はタイミングに大きく左右されるのに、それを捉える仕組みがなく、「あの会社、今なら」に気づく手段は個人の偶然だけ。</a:t>
            </a:r>
            <a:endParaRPr lang="ja-JP" sz="880" dirty="0"/>
          </a:p>
        </p:txBody>
      </p:sp>
      <p:sp>
        <p:nvSpPr>
          <p:cNvPr id="10" name="Text 8"/>
          <p:cNvSpPr txBox="1"/>
          <p:nvPr/>
        </p:nvSpPr>
        <p:spPr>
          <a:xfrm>
            <a:off x="6455664" y="1956816"/>
            <a:ext cx="5038344" cy="1335024"/>
          </a:xfrm>
          <a:prstGeom prst="rect">
            <a:avLst/>
          </a:prstGeom>
          <a:noFill/>
          <a:ln/>
        </p:spPr>
        <p:txBody>
          <a:bodyPr wrap="square" lIns="0" tIns="0" rIns="0" bIns="0" rtlCol="0" anchor="t"/>
          <a:lstStyle/>
          <a:p>
            <a:pPr indent="0" marL="0">
              <a:lnSpc>
                <a:spcPct val="118000"/>
              </a:lnSpc>
              <a:spcAft>
                <a:spcPts val="300"/>
              </a:spcAft>
              <a:buNone/>
            </a:pPr>
            <a:r>
              <a:rPr lang="ja-JP" sz="800" b="1" spc="200" kern="0" dirty="0">
                <a:solidFill>
                  <a:srgbClr val="5F8C11"/>
                </a:solidFill>
                <a:latin typeface="Arial" pitchFamily="34" charset="0"/>
                <a:ea typeface="Arial" pitchFamily="34" charset="-122"/>
                <a:cs typeface="Arial" pitchFamily="34" charset="-120"/>
              </a:rPr>
              <a:t>AFTER</a:t>
            </a:r>
            <a:endParaRPr lang="ja-JP" sz="880" dirty="0"/>
          </a:p>
          <a:p>
            <a:pPr indent="0" marL="0">
              <a:lnSpc>
                <a:spcPct val="118000"/>
              </a:lnSpc>
              <a:spcAft>
                <a:spcPts val="300"/>
              </a:spcAft>
              <a:buNone/>
            </a:pPr>
            <a:r>
              <a:rPr lang="ja-JP" sz="880" dirty="0">
                <a:solidFill>
                  <a:srgbClr val="464C52"/>
                </a:solidFill>
                <a:latin typeface="Yu Gothic" pitchFamily="34" charset="0"/>
                <a:ea typeface="Yu Gothic" pitchFamily="34" charset="-122"/>
                <a:cs typeface="Yu Gothic" pitchFamily="34" charset="-120"/>
              </a:rPr>
              <a:t>AIが二つの仕事を担う。</a:t>
            </a:r>
            <a:pPr indent="0" marL="0">
              <a:lnSpc>
                <a:spcPct val="118000"/>
              </a:lnSpc>
              <a:spcAft>
                <a:spcPts val="300"/>
              </a:spcAft>
              <a:buNone/>
            </a:pPr>
            <a:r>
              <a:rPr lang="ja-JP" sz="880" b="1" dirty="0">
                <a:solidFill>
                  <a:srgbClr val="1E2226"/>
                </a:solidFill>
                <a:latin typeface="Yu Gothic" pitchFamily="34" charset="0"/>
                <a:ea typeface="Yu Gothic" pitchFamily="34" charset="-122"/>
                <a:cs typeface="Yu Gothic" pitchFamily="34" charset="-120"/>
              </a:rPr>
              <a:t>①診断</a:t>
            </a:r>
            <a:pPr indent="0" marL="0">
              <a:lnSpc>
                <a:spcPct val="118000"/>
              </a:lnSpc>
              <a:spcAft>
                <a:spcPts val="300"/>
              </a:spcAft>
              <a:buNone/>
            </a:pPr>
            <a:r>
              <a:rPr lang="ja-JP" sz="880" dirty="0">
                <a:solidFill>
                  <a:srgbClr val="464C52"/>
                </a:solidFill>
                <a:latin typeface="Yu Gothic" pitchFamily="34" charset="0"/>
                <a:ea typeface="Yu Gothic" pitchFamily="34" charset="-122"/>
                <a:cs typeface="Yu Gothic" pitchFamily="34" charset="-120"/>
              </a:rPr>
              <a:t>——候補企業の公開情報と過去の自社検討履歴から、初期評価を数日で揃える。</a:t>
            </a:r>
            <a:pPr indent="0" marL="0">
              <a:lnSpc>
                <a:spcPct val="118000"/>
              </a:lnSpc>
              <a:spcAft>
                <a:spcPts val="300"/>
              </a:spcAft>
              <a:buNone/>
            </a:pPr>
            <a:r>
              <a:rPr lang="ja-JP" sz="880" b="1" dirty="0">
                <a:solidFill>
                  <a:srgbClr val="1E2226"/>
                </a:solidFill>
                <a:latin typeface="Yu Gothic" pitchFamily="34" charset="0"/>
                <a:ea typeface="Yu Gothic" pitchFamily="34" charset="-122"/>
                <a:cs typeface="Yu Gothic" pitchFamily="34" charset="-120"/>
              </a:rPr>
              <a:t>②タイミング提案</a:t>
            </a:r>
            <a:pPr indent="0" marL="0">
              <a:lnSpc>
                <a:spcPct val="118000"/>
              </a:lnSpc>
              <a:spcAft>
                <a:spcPts val="300"/>
              </a:spcAft>
              <a:buNone/>
            </a:pPr>
            <a:r>
              <a:rPr lang="ja-JP" sz="880" dirty="0">
                <a:solidFill>
                  <a:srgbClr val="464C52"/>
                </a:solidFill>
                <a:latin typeface="Yu Gothic" pitchFamily="34" charset="0"/>
                <a:ea typeface="Yu Gothic" pitchFamily="34" charset="-122"/>
                <a:cs typeface="Yu Gothic" pitchFamily="34" charset="-120"/>
              </a:rPr>
              <a:t>——見送り案件・注目候補を却下理由と「何が変われば再考か」の条件つきで蓄積し、市況・相手・自社の変化を常時監視。「条件が変わった今、この案件」を根拠付きで提案する。</a:t>
            </a:r>
            <a:endParaRPr lang="ja-JP" sz="880" dirty="0"/>
          </a:p>
        </p:txBody>
      </p:sp>
      <p:sp>
        <p:nvSpPr>
          <p:cNvPr id="11" name="Shape 9"/>
          <p:cNvSpPr/>
          <p:nvPr/>
        </p:nvSpPr>
        <p:spPr>
          <a:xfrm>
            <a:off x="548640" y="3474720"/>
            <a:ext cx="11091672" cy="384048"/>
          </a:xfrm>
          <a:prstGeom prst="rect">
            <a:avLst/>
          </a:prstGeom>
          <a:solidFill>
            <a:srgbClr val="F2F7E6"/>
          </a:solidFill>
          <a:ln w="9525">
            <a:solidFill>
              <a:srgbClr val="DCEAD2"/>
            </a:solidFill>
            <a:prstDash val="solid"/>
          </a:ln>
        </p:spPr>
      </p:sp>
      <p:sp>
        <p:nvSpPr>
          <p:cNvPr id="12" name="Text 10"/>
          <p:cNvSpPr txBox="1"/>
          <p:nvPr/>
        </p:nvSpPr>
        <p:spPr>
          <a:xfrm>
            <a:off x="685800" y="3474720"/>
            <a:ext cx="8074152" cy="384048"/>
          </a:xfrm>
          <a:prstGeom prst="rect">
            <a:avLst/>
          </a:prstGeom>
          <a:noFill/>
          <a:ln/>
        </p:spPr>
        <p:txBody>
          <a:bodyPr wrap="square" lIns="0" tIns="0" rIns="0" bIns="0" rtlCol="0" anchor="ctr"/>
          <a:lstStyle/>
          <a:p>
            <a:pPr indent="0" marL="0">
              <a:buNone/>
            </a:pPr>
            <a:r>
              <a:rPr lang="ja-JP" sz="850" b="1" dirty="0">
                <a:solidFill>
                  <a:srgbClr val="5F8C11"/>
                </a:solidFill>
                <a:latin typeface="Yu Gothic" pitchFamily="34" charset="0"/>
                <a:ea typeface="Yu Gothic" pitchFamily="34" charset="-122"/>
                <a:cs typeface="Yu Gothic" pitchFamily="34" charset="-120"/>
              </a:rPr>
              <a:t>AIの介在点   </a:t>
            </a:r>
            <a:pPr indent="0" marL="0">
              <a:buNone/>
            </a:pPr>
            <a:r>
              <a:rPr lang="ja-JP" sz="880" dirty="0">
                <a:solidFill>
                  <a:srgbClr val="464C52"/>
                </a:solidFill>
                <a:latin typeface="Yu Gothic" pitchFamily="34" charset="0"/>
                <a:ea typeface="Yu Gothic" pitchFamily="34" charset="-122"/>
                <a:cs typeface="Yu Gothic" pitchFamily="34" charset="-120"/>
              </a:rPr>
              <a:t>公開情報と自社検討履歴による初期診断の自動実行　／　却下理由の構造化と再考条件への変換　／　市況・対象・自社状況の常時監視と「買い時」の検知</a:t>
            </a:r>
            <a:endParaRPr lang="ja-JP" sz="850" dirty="0"/>
          </a:p>
        </p:txBody>
      </p:sp>
      <p:sp>
        <p:nvSpPr>
          <p:cNvPr id="13" name="Text 11"/>
          <p:cNvSpPr txBox="1"/>
          <p:nvPr/>
        </p:nvSpPr>
        <p:spPr>
          <a:xfrm>
            <a:off x="8805672" y="3474720"/>
            <a:ext cx="2697480" cy="384048"/>
          </a:xfrm>
          <a:prstGeom prst="rect">
            <a:avLst/>
          </a:prstGeom>
          <a:noFill/>
          <a:ln/>
        </p:spPr>
        <p:txBody>
          <a:bodyPr wrap="square" lIns="0" tIns="0" rIns="0" bIns="0" rtlCol="0" anchor="ctr"/>
          <a:lstStyle/>
          <a:p>
            <a:pPr algn="r" indent="0" marL="0">
              <a:buNone/>
            </a:pPr>
            <a:r>
              <a:rPr lang="ja-JP" sz="800" dirty="0">
                <a:solidFill>
                  <a:srgbClr val="7D838A"/>
                </a:solidFill>
                <a:latin typeface="Yu Gothic" pitchFamily="34" charset="0"/>
                <a:ea typeface="Yu Gothic" pitchFamily="34" charset="-122"/>
                <a:cs typeface="Yu Gothic" pitchFamily="34" charset="-120"/>
              </a:rPr>
              <a:t>買うか否かの決定とアプローチは人が担う</a:t>
            </a:r>
            <a:endParaRPr lang="ja-JP" sz="800" dirty="0"/>
          </a:p>
        </p:txBody>
      </p:sp>
      <p:sp>
        <p:nvSpPr>
          <p:cNvPr id="14" name="Shape 12"/>
          <p:cNvSpPr/>
          <p:nvPr/>
        </p:nvSpPr>
        <p:spPr>
          <a:xfrm>
            <a:off x="548640" y="3968496"/>
            <a:ext cx="11091672" cy="603504"/>
          </a:xfrm>
          <a:prstGeom prst="rect">
            <a:avLst/>
          </a:prstGeom>
          <a:solidFill>
            <a:srgbClr val="FFFFFF"/>
          </a:solidFill>
          <a:ln w="9525">
            <a:solidFill>
              <a:srgbClr val="E2E5E0"/>
            </a:solidFill>
            <a:prstDash val="solid"/>
          </a:ln>
        </p:spPr>
      </p:sp>
      <p:sp>
        <p:nvSpPr>
          <p:cNvPr id="15" name="Text 13"/>
          <p:cNvSpPr txBox="1"/>
          <p:nvPr/>
        </p:nvSpPr>
        <p:spPr>
          <a:xfrm>
            <a:off x="731520" y="4032504"/>
            <a:ext cx="5212080" cy="493776"/>
          </a:xfrm>
          <a:prstGeom prst="rect">
            <a:avLst/>
          </a:prstGeom>
          <a:noFill/>
          <a:ln/>
        </p:spPr>
        <p:txBody>
          <a:bodyPr wrap="square" lIns="0" tIns="0" rIns="0" bIns="0" rtlCol="0" anchor="t"/>
          <a:lstStyle/>
          <a:p>
            <a:pPr indent="0" marL="0">
              <a:lnSpc>
                <a:spcPct val="115000"/>
              </a:lnSpc>
              <a:buNone/>
            </a:pPr>
            <a:r>
              <a:rPr lang="ja-JP" sz="750" b="1" spc="150" kern="0" dirty="0">
                <a:solidFill>
                  <a:srgbClr val="7D838A"/>
                </a:solidFill>
                <a:latin typeface="Arial" pitchFamily="34" charset="0"/>
                <a:ea typeface="Arial" pitchFamily="34" charset="-122"/>
                <a:cs typeface="Arial" pitchFamily="34" charset="-120"/>
              </a:rPr>
              <a:t>IMPACT  </a:t>
            </a:r>
            <a:pPr indent="0" marL="0">
              <a:lnSpc>
                <a:spcPct val="115000"/>
              </a:lnSpc>
              <a:buNone/>
            </a:pPr>
            <a:r>
              <a:rPr lang="ja-JP" sz="800" dirty="0">
                <a:solidFill>
                  <a:srgbClr val="86BC25"/>
                </a:solidFill>
                <a:latin typeface="Yu Gothic" pitchFamily="34" charset="0"/>
                <a:ea typeface="Yu Gothic" pitchFamily="34" charset="-122"/>
                <a:cs typeface="Yu Gothic" pitchFamily="34" charset="-120"/>
              </a:rPr>
              <a:t>■■■■</a:t>
            </a:r>
            <a:pPr indent="0" marL="0">
              <a:lnSpc>
                <a:spcPct val="115000"/>
              </a:lnSpc>
              <a:buNone/>
            </a:pPr>
            <a:r>
              <a:rPr lang="ja-JP" sz="800" dirty="0">
                <a:solidFill>
                  <a:srgbClr val="E0E4DE"/>
                </a:solidFill>
                <a:latin typeface="Yu Gothic" pitchFamily="34" charset="0"/>
                <a:ea typeface="Yu Gothic" pitchFamily="34" charset="-122"/>
                <a:cs typeface="Yu Gothic" pitchFamily="34" charset="-120"/>
              </a:rPr>
              <a:t>■</a:t>
            </a:r>
            <a:pPr indent="0" marL="0">
              <a:lnSpc>
                <a:spcPct val="115000"/>
              </a:lnSpc>
              <a:buNone/>
            </a:pPr>
            <a:r>
              <a:rPr lang="ja-JP" sz="950" b="1" dirty="0">
                <a:solidFill>
                  <a:srgbClr val="1E2226"/>
                </a:solidFill>
                <a:latin typeface="Yu Gothic" pitchFamily="34" charset="0"/>
                <a:ea typeface="Yu Gothic" pitchFamily="34" charset="-122"/>
                <a:cs typeface="Yu Gothic" pitchFamily="34" charset="-120"/>
              </a:rPr>
              <a:t>  高</a:t>
            </a:r>
            <a:endParaRPr lang="ja-JP" sz="750" dirty="0"/>
          </a:p>
          <a:p>
            <a:pPr indent="0" marL="0">
              <a:lnSpc>
                <a:spcPct val="115000"/>
              </a:lnSpc>
              <a:buNone/>
            </a:pPr>
            <a:r>
              <a:rPr lang="ja-JP" sz="780" dirty="0">
                <a:solidFill>
                  <a:srgbClr val="7D838A"/>
                </a:solidFill>
                <a:latin typeface="Yu Gothic" pitchFamily="34" charset="0"/>
                <a:ea typeface="Yu Gothic" pitchFamily="34" charset="-122"/>
                <a:cs typeface="Yu Gothic" pitchFamily="34" charset="-120"/>
              </a:rPr>
              <a:t>機会の取りこぼし防止と検討リソースの本命集中。価値の顕在化は中期</a:t>
            </a:r>
            <a:endParaRPr lang="ja-JP" sz="750" dirty="0"/>
          </a:p>
        </p:txBody>
      </p:sp>
      <p:sp>
        <p:nvSpPr>
          <p:cNvPr id="16" name="Text 14"/>
          <p:cNvSpPr txBox="1"/>
          <p:nvPr/>
        </p:nvSpPr>
        <p:spPr>
          <a:xfrm>
            <a:off x="6355080" y="4032504"/>
            <a:ext cx="5120640" cy="493776"/>
          </a:xfrm>
          <a:prstGeom prst="rect">
            <a:avLst/>
          </a:prstGeom>
          <a:noFill/>
          <a:ln/>
        </p:spPr>
        <p:txBody>
          <a:bodyPr wrap="square" lIns="0" tIns="0" rIns="0" bIns="0" rtlCol="0" anchor="t"/>
          <a:lstStyle/>
          <a:p>
            <a:pPr indent="0" marL="0">
              <a:lnSpc>
                <a:spcPct val="115000"/>
              </a:lnSpc>
              <a:buNone/>
            </a:pPr>
            <a:r>
              <a:rPr lang="ja-JP" sz="750" b="1" spc="150" kern="0" dirty="0">
                <a:solidFill>
                  <a:srgbClr val="7D838A"/>
                </a:solidFill>
                <a:latin typeface="Arial" pitchFamily="34" charset="0"/>
                <a:ea typeface="Arial" pitchFamily="34" charset="-122"/>
                <a:cs typeface="Arial" pitchFamily="34" charset="-120"/>
              </a:rPr>
              <a:t>FEASIBILITY  </a:t>
            </a:r>
            <a:pPr indent="0" marL="0">
              <a:lnSpc>
                <a:spcPct val="115000"/>
              </a:lnSpc>
              <a:buNone/>
            </a:pPr>
            <a:r>
              <a:rPr lang="ja-JP" sz="800" dirty="0">
                <a:solidFill>
                  <a:srgbClr val="86BC25"/>
                </a:solidFill>
                <a:latin typeface="Yu Gothic" pitchFamily="34" charset="0"/>
                <a:ea typeface="Yu Gothic" pitchFamily="34" charset="-122"/>
                <a:cs typeface="Yu Gothic" pitchFamily="34" charset="-120"/>
              </a:rPr>
              <a:t>■■■</a:t>
            </a:r>
            <a:pPr indent="0" marL="0">
              <a:lnSpc>
                <a:spcPct val="115000"/>
              </a:lnSpc>
              <a:buNone/>
            </a:pPr>
            <a:r>
              <a:rPr lang="ja-JP" sz="800" dirty="0">
                <a:solidFill>
                  <a:srgbClr val="E0E4DE"/>
                </a:solidFill>
                <a:latin typeface="Yu Gothic" pitchFamily="34" charset="0"/>
                <a:ea typeface="Yu Gothic" pitchFamily="34" charset="-122"/>
                <a:cs typeface="Yu Gothic" pitchFamily="34" charset="-120"/>
              </a:rPr>
              <a:t>■■</a:t>
            </a:r>
            <a:pPr indent="0" marL="0">
              <a:lnSpc>
                <a:spcPct val="115000"/>
              </a:lnSpc>
              <a:buNone/>
            </a:pPr>
            <a:r>
              <a:rPr lang="ja-JP" sz="950" b="1" dirty="0">
                <a:solidFill>
                  <a:srgbClr val="1E2226"/>
                </a:solidFill>
                <a:latin typeface="Yu Gothic" pitchFamily="34" charset="0"/>
                <a:ea typeface="Yu Gothic" pitchFamily="34" charset="-122"/>
                <a:cs typeface="Yu Gothic" pitchFamily="34" charset="-120"/>
              </a:rPr>
              <a:t>  中</a:t>
            </a:r>
            <a:endParaRPr lang="ja-JP" sz="750" dirty="0"/>
          </a:p>
          <a:p>
            <a:pPr indent="0" marL="0">
              <a:lnSpc>
                <a:spcPct val="115000"/>
              </a:lnSpc>
              <a:buNone/>
            </a:pPr>
            <a:r>
              <a:rPr lang="ja-JP" sz="780" dirty="0">
                <a:solidFill>
                  <a:srgbClr val="7D838A"/>
                </a:solidFill>
                <a:latin typeface="Yu Gothic" pitchFamily="34" charset="0"/>
                <a:ea typeface="Yu Gothic" pitchFamily="34" charset="-122"/>
                <a:cs typeface="Yu Gothic" pitchFamily="34" charset="-120"/>
              </a:rPr>
              <a:t>技術は確立済み。初年度は却下記録の遡及整備が律速——2年目に本領</a:t>
            </a:r>
            <a:endParaRPr lang="ja-JP" sz="750" dirty="0"/>
          </a:p>
        </p:txBody>
      </p:sp>
      <p:sp>
        <p:nvSpPr>
          <p:cNvPr id="17" name="Text 15"/>
          <p:cNvSpPr txBox="1"/>
          <p:nvPr/>
        </p:nvSpPr>
        <p:spPr>
          <a:xfrm>
            <a:off x="548640" y="4736592"/>
            <a:ext cx="3291840" cy="237744"/>
          </a:xfrm>
          <a:prstGeom prst="rect">
            <a:avLst/>
          </a:prstGeom>
          <a:noFill/>
          <a:ln/>
        </p:spPr>
        <p:txBody>
          <a:bodyPr wrap="square" lIns="0" tIns="0" rIns="0" bIns="0" rtlCol="0" anchor="ctr"/>
          <a:lstStyle/>
          <a:p>
            <a:pPr indent="0" marL="0">
              <a:buNone/>
            </a:pPr>
            <a:r>
              <a:rPr lang="ja-JP" sz="950" b="1" dirty="0">
                <a:solidFill>
                  <a:srgbClr val="1E2226"/>
                </a:solidFill>
                <a:latin typeface="Yu Gothic" pitchFamily="34" charset="0"/>
                <a:ea typeface="Yu Gothic" pitchFamily="34" charset="-122"/>
                <a:cs typeface="Yu Gothic" pitchFamily="34" charset="-120"/>
              </a:rPr>
              <a:t>なぜ自社開発か</a:t>
            </a:r>
            <a:endParaRPr lang="ja-JP" sz="950" dirty="0"/>
          </a:p>
        </p:txBody>
      </p:sp>
      <p:sp>
        <p:nvSpPr>
          <p:cNvPr id="18" name="Shape 16"/>
          <p:cNvSpPr/>
          <p:nvPr/>
        </p:nvSpPr>
        <p:spPr>
          <a:xfrm>
            <a:off x="548640" y="5010912"/>
            <a:ext cx="3291840" cy="0"/>
          </a:xfrm>
          <a:prstGeom prst="line">
            <a:avLst/>
          </a:prstGeom>
          <a:noFill/>
          <a:ln w="15875">
            <a:solidFill>
              <a:srgbClr val="1E2226"/>
            </a:solidFill>
            <a:prstDash val="solid"/>
          </a:ln>
        </p:spPr>
      </p:sp>
      <p:sp>
        <p:nvSpPr>
          <p:cNvPr id="19" name="Text 17"/>
          <p:cNvSpPr txBox="1"/>
          <p:nvPr/>
        </p:nvSpPr>
        <p:spPr>
          <a:xfrm>
            <a:off x="4114800" y="4736592"/>
            <a:ext cx="4160520" cy="237744"/>
          </a:xfrm>
          <a:prstGeom prst="rect">
            <a:avLst/>
          </a:prstGeom>
          <a:noFill/>
          <a:ln/>
        </p:spPr>
        <p:txBody>
          <a:bodyPr wrap="square" lIns="0" tIns="0" rIns="0" bIns="0" rtlCol="0" anchor="ctr"/>
          <a:lstStyle/>
          <a:p>
            <a:pPr indent="0" marL="0">
              <a:buNone/>
            </a:pPr>
            <a:r>
              <a:rPr lang="ja-JP" sz="950" b="1" dirty="0">
                <a:solidFill>
                  <a:srgbClr val="1E2226"/>
                </a:solidFill>
                <a:latin typeface="Yu Gothic" pitchFamily="34" charset="0"/>
                <a:ea typeface="Yu Gothic" pitchFamily="34" charset="-122"/>
                <a:cs typeface="Yu Gothic" pitchFamily="34" charset="-120"/>
              </a:rPr>
              <a:t>現実的な始め方</a:t>
            </a:r>
            <a:endParaRPr lang="ja-JP" sz="950" dirty="0"/>
          </a:p>
        </p:txBody>
      </p:sp>
      <p:sp>
        <p:nvSpPr>
          <p:cNvPr id="20" name="Shape 18"/>
          <p:cNvSpPr/>
          <p:nvPr/>
        </p:nvSpPr>
        <p:spPr>
          <a:xfrm>
            <a:off x="4114800" y="5010912"/>
            <a:ext cx="4160520" cy="0"/>
          </a:xfrm>
          <a:prstGeom prst="line">
            <a:avLst/>
          </a:prstGeom>
          <a:noFill/>
          <a:ln w="15875">
            <a:solidFill>
              <a:srgbClr val="1E2226"/>
            </a:solidFill>
            <a:prstDash val="solid"/>
          </a:ln>
        </p:spPr>
      </p:sp>
      <p:sp>
        <p:nvSpPr>
          <p:cNvPr id="21" name="Text 19"/>
          <p:cNvSpPr txBox="1"/>
          <p:nvPr/>
        </p:nvSpPr>
        <p:spPr>
          <a:xfrm>
            <a:off x="8549640" y="4736592"/>
            <a:ext cx="3090672" cy="237744"/>
          </a:xfrm>
          <a:prstGeom prst="rect">
            <a:avLst/>
          </a:prstGeom>
          <a:noFill/>
          <a:ln/>
        </p:spPr>
        <p:txBody>
          <a:bodyPr wrap="square" lIns="0" tIns="0" rIns="0" bIns="0" rtlCol="0" anchor="ctr"/>
          <a:lstStyle/>
          <a:p>
            <a:pPr indent="0" marL="0">
              <a:buNone/>
            </a:pPr>
            <a:r>
              <a:rPr lang="ja-JP" sz="950" b="1" dirty="0">
                <a:solidFill>
                  <a:srgbClr val="464C52"/>
                </a:solidFill>
                <a:latin typeface="Yu Gothic" pitchFamily="34" charset="0"/>
                <a:ea typeface="Yu Gothic" pitchFamily="34" charset="-122"/>
                <a:cs typeface="Yu Gothic" pitchFamily="34" charset="-120"/>
              </a:rPr>
              <a:t>留意点</a:t>
            </a:r>
            <a:endParaRPr lang="ja-JP" sz="950" dirty="0"/>
          </a:p>
        </p:txBody>
      </p:sp>
      <p:sp>
        <p:nvSpPr>
          <p:cNvPr id="22" name="Shape 20"/>
          <p:cNvSpPr/>
          <p:nvPr/>
        </p:nvSpPr>
        <p:spPr>
          <a:xfrm>
            <a:off x="8549640" y="5010912"/>
            <a:ext cx="3090672" cy="0"/>
          </a:xfrm>
          <a:prstGeom prst="line">
            <a:avLst/>
          </a:prstGeom>
          <a:noFill/>
          <a:ln w="15875">
            <a:solidFill>
              <a:srgbClr val="C9CED2"/>
            </a:solidFill>
            <a:prstDash val="solid"/>
          </a:ln>
        </p:spPr>
      </p:sp>
      <p:sp>
        <p:nvSpPr>
          <p:cNvPr id="23" name="Text 21"/>
          <p:cNvSpPr txBox="1"/>
          <p:nvPr/>
        </p:nvSpPr>
        <p:spPr>
          <a:xfrm>
            <a:off x="548640" y="5102352"/>
            <a:ext cx="3291840" cy="2286000"/>
          </a:xfrm>
          <a:prstGeom prst="rect">
            <a:avLst/>
          </a:prstGeom>
          <a:noFill/>
          <a:ln/>
        </p:spPr>
        <p:txBody>
          <a:bodyPr wrap="square" lIns="0" tIns="0" rIns="0" bIns="0" rtlCol="0" anchor="t"/>
          <a:lstStyle/>
          <a:p>
            <a:pPr indent="0" marL="0">
              <a:lnSpc>
                <a:spcPct val="120000"/>
              </a:lnSpc>
              <a:spcAft>
                <a:spcPts val="500"/>
              </a:spcAft>
              <a:buNone/>
            </a:pPr>
            <a:r>
              <a:rPr lang="ja-JP" sz="880" dirty="0">
                <a:solidFill>
                  <a:srgbClr val="464C52"/>
                </a:solidFill>
                <a:latin typeface="Yu Gothic" pitchFamily="34" charset="0"/>
                <a:ea typeface="Yu Gothic" pitchFamily="34" charset="-122"/>
                <a:cs typeface="Yu Gothic" pitchFamily="34" charset="-120"/>
              </a:rPr>
              <a:t>却下履歴は</a:t>
            </a:r>
            <a:pPr indent="0" marL="0">
              <a:lnSpc>
                <a:spcPct val="120000"/>
              </a:lnSpc>
              <a:spcAft>
                <a:spcPts val="500"/>
              </a:spcAft>
              <a:buNone/>
            </a:pPr>
            <a:r>
              <a:rPr lang="ja-JP" sz="880" b="1" dirty="0">
                <a:solidFill>
                  <a:srgbClr val="1E2226"/>
                </a:solidFill>
                <a:latin typeface="Yu Gothic" pitchFamily="34" charset="0"/>
                <a:ea typeface="Yu Gothic" pitchFamily="34" charset="-122"/>
                <a:cs typeface="Yu Gothic" pitchFamily="34" charset="-120"/>
              </a:rPr>
              <a:t>自社にしか存在しない独自の案件パイプライン</a:t>
            </a:r>
            <a:pPr indent="0" marL="0">
              <a:lnSpc>
                <a:spcPct val="120000"/>
              </a:lnSpc>
              <a:spcAft>
                <a:spcPts val="500"/>
              </a:spcAft>
              <a:buNone/>
            </a:pPr>
            <a:r>
              <a:rPr lang="ja-JP" sz="880" dirty="0">
                <a:solidFill>
                  <a:srgbClr val="464C52"/>
                </a:solidFill>
                <a:latin typeface="Yu Gothic" pitchFamily="34" charset="0"/>
                <a:ea typeface="Yu Gothic" pitchFamily="34" charset="-122"/>
                <a:cs typeface="Yu Gothic" pitchFamily="34" charset="-120"/>
              </a:rPr>
              <a:t>——競合と共有する持ち込み案件とは価値が違う。</a:t>
            </a:r>
            <a:endParaRPr lang="ja-JP" sz="880" dirty="0"/>
          </a:p>
          <a:p>
            <a:pPr indent="0" marL="0">
              <a:lnSpc>
                <a:spcPct val="120000"/>
              </a:lnSpc>
              <a:spcAft>
                <a:spcPts val="500"/>
              </a:spcAft>
              <a:buNone/>
            </a:pPr>
            <a:r>
              <a:rPr lang="ja-JP" sz="880" dirty="0">
                <a:solidFill>
                  <a:srgbClr val="464C52"/>
                </a:solidFill>
                <a:latin typeface="Yu Gothic" pitchFamily="34" charset="0"/>
                <a:ea typeface="Yu Gothic" pitchFamily="34" charset="-122"/>
                <a:cs typeface="Yu Gothic" pitchFamily="34" charset="-120"/>
              </a:rPr>
              <a:t>案件情報は守秘性が極めて高く、外部ツールでの管理は選択肢にならない。</a:t>
            </a:r>
            <a:endParaRPr lang="ja-JP" sz="880" dirty="0"/>
          </a:p>
        </p:txBody>
      </p:sp>
      <p:sp>
        <p:nvSpPr>
          <p:cNvPr id="24" name="Text 22"/>
          <p:cNvSpPr txBox="1"/>
          <p:nvPr/>
        </p:nvSpPr>
        <p:spPr>
          <a:xfrm>
            <a:off x="4114800" y="5102352"/>
            <a:ext cx="4160520" cy="2286000"/>
          </a:xfrm>
          <a:prstGeom prst="rect">
            <a:avLst/>
          </a:prstGeom>
          <a:noFill/>
          <a:ln/>
        </p:spPr>
        <p:txBody>
          <a:bodyPr wrap="square" lIns="0" tIns="0" rIns="0" bIns="0" rtlCol="0" anchor="t"/>
          <a:lstStyle/>
          <a:p>
            <a:pPr indent="0" marL="0">
              <a:lnSpc>
                <a:spcPct val="120000"/>
              </a:lnSpc>
              <a:spcAft>
                <a:spcPts val="600"/>
              </a:spcAft>
              <a:buNone/>
            </a:pPr>
            <a:r>
              <a:rPr lang="ja-JP" sz="750" b="1" spc="100" kern="0" dirty="0">
                <a:solidFill>
                  <a:srgbClr val="5F8C11"/>
                </a:solidFill>
                <a:latin typeface="Arial" pitchFamily="34" charset="0"/>
                <a:ea typeface="Arial" pitchFamily="34" charset="-122"/>
                <a:cs typeface="Arial" pitchFamily="34" charset="-120"/>
              </a:rPr>
              <a:t>STEP 1  </a:t>
            </a:r>
            <a:pPr indent="0" marL="0">
              <a:lnSpc>
                <a:spcPct val="120000"/>
              </a:lnSpc>
              <a:spcAft>
                <a:spcPts val="600"/>
              </a:spcAft>
              <a:buNone/>
            </a:pPr>
            <a:r>
              <a:rPr lang="ja-JP" sz="880" b="1" dirty="0">
                <a:solidFill>
                  <a:srgbClr val="1E2226"/>
                </a:solidFill>
                <a:latin typeface="Yu Gothic" pitchFamily="34" charset="0"/>
                <a:ea typeface="Yu Gothic" pitchFamily="34" charset="-122"/>
                <a:cs typeface="Yu Gothic" pitchFamily="34" charset="-120"/>
              </a:rPr>
              <a:t>初期診断の自動化</a:t>
            </a:r>
            <a:pPr indent="0" marL="0">
              <a:lnSpc>
                <a:spcPct val="120000"/>
              </a:lnSpc>
              <a:spcAft>
                <a:spcPts val="600"/>
              </a:spcAft>
              <a:buNone/>
            </a:pPr>
            <a:r>
              <a:rPr lang="ja-JP" sz="880" dirty="0">
                <a:solidFill>
                  <a:srgbClr val="464C52"/>
                </a:solidFill>
                <a:latin typeface="Yu Gothic" pitchFamily="34" charset="0"/>
                <a:ea typeface="Yu Gothic" pitchFamily="34" charset="-122"/>
                <a:cs typeface="Yu Gothic" pitchFamily="34" charset="-120"/>
              </a:rPr>
              <a:t>から着手——公開情報のみで動くため即日価値を示せる（センシング機構を流用）</a:t>
            </a:r>
            <a:endParaRPr lang="ja-JP" sz="880" dirty="0"/>
          </a:p>
          <a:p>
            <a:pPr indent="0" marL="0">
              <a:lnSpc>
                <a:spcPct val="120000"/>
              </a:lnSpc>
              <a:spcAft>
                <a:spcPts val="600"/>
              </a:spcAft>
              <a:buNone/>
            </a:pPr>
            <a:r>
              <a:rPr lang="ja-JP" sz="750" b="1" spc="100" kern="0" dirty="0">
                <a:solidFill>
                  <a:srgbClr val="5F8C11"/>
                </a:solidFill>
                <a:latin typeface="Arial" pitchFamily="34" charset="0"/>
                <a:ea typeface="Arial" pitchFamily="34" charset="-122"/>
                <a:cs typeface="Arial" pitchFamily="34" charset="-120"/>
              </a:rPr>
              <a:t>STEP 2  </a:t>
            </a:r>
            <a:pPr indent="0" marL="0">
              <a:lnSpc>
                <a:spcPct val="120000"/>
              </a:lnSpc>
              <a:spcAft>
                <a:spcPts val="600"/>
              </a:spcAft>
              <a:buNone/>
            </a:pPr>
            <a:r>
              <a:rPr lang="ja-JP" sz="880" b="1" dirty="0">
                <a:solidFill>
                  <a:srgbClr val="1E2226"/>
                </a:solidFill>
                <a:latin typeface="Yu Gothic" pitchFamily="34" charset="0"/>
                <a:ea typeface="Yu Gothic" pitchFamily="34" charset="-122"/>
                <a:cs typeface="Yu Gothic" pitchFamily="34" charset="-120"/>
              </a:rPr>
              <a:t>過去案件の棚卸し</a:t>
            </a:r>
            <a:pPr indent="0" marL="0">
              <a:lnSpc>
                <a:spcPct val="120000"/>
              </a:lnSpc>
              <a:spcAft>
                <a:spcPts val="600"/>
              </a:spcAft>
              <a:buNone/>
            </a:pPr>
            <a:r>
              <a:rPr lang="ja-JP" sz="880" dirty="0">
                <a:solidFill>
                  <a:srgbClr val="464C52"/>
                </a:solidFill>
                <a:latin typeface="Yu Gothic" pitchFamily="34" charset="0"/>
                <a:ea typeface="Yu Gothic" pitchFamily="34" charset="-122"/>
                <a:cs typeface="Yu Gothic" pitchFamily="34" charset="-120"/>
              </a:rPr>
              <a:t>——担当者ヒアリングと資料発掘で却下理由を遡及構造化（コンサルの人的支援と一体で実施）</a:t>
            </a:r>
            <a:endParaRPr lang="ja-JP" sz="880" dirty="0"/>
          </a:p>
          <a:p>
            <a:pPr indent="0" marL="0">
              <a:lnSpc>
                <a:spcPct val="120000"/>
              </a:lnSpc>
              <a:spcAft>
                <a:spcPts val="600"/>
              </a:spcAft>
              <a:buNone/>
            </a:pPr>
            <a:r>
              <a:rPr lang="ja-JP" sz="750" b="1" spc="100" kern="0" dirty="0">
                <a:solidFill>
                  <a:srgbClr val="5F8C11"/>
                </a:solidFill>
                <a:latin typeface="Arial" pitchFamily="34" charset="0"/>
                <a:ea typeface="Arial" pitchFamily="34" charset="-122"/>
                <a:cs typeface="Arial" pitchFamily="34" charset="-120"/>
              </a:rPr>
              <a:t>STEP 3  </a:t>
            </a:r>
            <a:pPr indent="0" marL="0">
              <a:lnSpc>
                <a:spcPct val="120000"/>
              </a:lnSpc>
              <a:spcAft>
                <a:spcPts val="600"/>
              </a:spcAft>
              <a:buNone/>
            </a:pPr>
            <a:r>
              <a:rPr lang="ja-JP" sz="880" dirty="0">
                <a:solidFill>
                  <a:srgbClr val="464C52"/>
                </a:solidFill>
                <a:latin typeface="Yu Gothic" pitchFamily="34" charset="0"/>
                <a:ea typeface="Yu Gothic" pitchFamily="34" charset="-122"/>
                <a:cs typeface="Yu Gothic" pitchFamily="34" charset="-120"/>
              </a:rPr>
              <a:t>再考条件の「型」を定義して常時監視を開始——以後の案件は検討時点で自動蓄積</a:t>
            </a:r>
            <a:endParaRPr lang="ja-JP" sz="880" dirty="0"/>
          </a:p>
        </p:txBody>
      </p:sp>
      <p:sp>
        <p:nvSpPr>
          <p:cNvPr id="25" name="Text 23"/>
          <p:cNvSpPr txBox="1"/>
          <p:nvPr/>
        </p:nvSpPr>
        <p:spPr>
          <a:xfrm>
            <a:off x="8549640" y="5102352"/>
            <a:ext cx="3090672" cy="2286000"/>
          </a:xfrm>
          <a:prstGeom prst="rect">
            <a:avLst/>
          </a:prstGeom>
          <a:noFill/>
          <a:ln/>
        </p:spPr>
        <p:txBody>
          <a:bodyPr wrap="square" lIns="0" tIns="0" rIns="0" bIns="0" rtlCol="0" anchor="t"/>
          <a:lstStyle/>
          <a:p>
            <a:pPr indent="0" marL="0">
              <a:lnSpc>
                <a:spcPct val="120000"/>
              </a:lnSpc>
              <a:spcAft>
                <a:spcPts val="600"/>
              </a:spcAft>
              <a:buNone/>
            </a:pPr>
            <a:r>
              <a:rPr lang="ja-JP" sz="880" dirty="0">
                <a:solidFill>
                  <a:srgbClr val="464C52"/>
                </a:solidFill>
                <a:latin typeface="Yu Gothic" pitchFamily="34" charset="0"/>
                <a:ea typeface="Yu Gothic" pitchFamily="34" charset="-122"/>
                <a:cs typeface="Yu Gothic" pitchFamily="34" charset="-120"/>
              </a:rPr>
              <a:t>見送り案件の再検討は、</a:t>
            </a:r>
            <a:pPr indent="0" marL="0">
              <a:lnSpc>
                <a:spcPct val="120000"/>
              </a:lnSpc>
              <a:spcAft>
                <a:spcPts val="600"/>
              </a:spcAft>
              <a:buNone/>
            </a:pPr>
            <a:r>
              <a:rPr lang="ja-JP" sz="880" b="1" dirty="0">
                <a:solidFill>
                  <a:srgbClr val="1E2226"/>
                </a:solidFill>
                <a:latin typeface="Yu Gothic" pitchFamily="34" charset="0"/>
                <a:ea typeface="Yu Gothic" pitchFamily="34" charset="-122"/>
                <a:cs typeface="Yu Gothic" pitchFamily="34" charset="-120"/>
              </a:rPr>
              <a:t>当時の判断への再評価と受け取られ得る</a:t>
            </a:r>
            <a:pPr indent="0" marL="0">
              <a:lnSpc>
                <a:spcPct val="120000"/>
              </a:lnSpc>
              <a:spcAft>
                <a:spcPts val="600"/>
              </a:spcAft>
              <a:buNone/>
            </a:pPr>
            <a:r>
              <a:rPr lang="ja-JP" sz="880" dirty="0">
                <a:solidFill>
                  <a:srgbClr val="464C52"/>
                </a:solidFill>
                <a:latin typeface="Yu Gothic" pitchFamily="34" charset="0"/>
                <a:ea typeface="Yu Gothic" pitchFamily="34" charset="-122"/>
                <a:cs typeface="Yu Gothic" pitchFamily="34" charset="-120"/>
              </a:rPr>
              <a:t>。また、相手の売却意向は原理的にほぼ観測できず、上場企業の監視リストはインサイダー情報管理の統制対象になる。</a:t>
            </a:r>
            <a:endParaRPr lang="ja-JP" sz="880" dirty="0"/>
          </a:p>
          <a:p>
            <a:pPr indent="0" marL="0">
              <a:lnSpc>
                <a:spcPct val="120000"/>
              </a:lnSpc>
              <a:spcAft>
                <a:spcPts val="600"/>
              </a:spcAft>
              <a:buNone/>
            </a:pPr>
            <a:r>
              <a:rPr lang="ja-JP" sz="750" b="1" dirty="0">
                <a:solidFill>
                  <a:srgbClr val="5F8C11"/>
                </a:solidFill>
                <a:latin typeface="Yu Gothic" pitchFamily="34" charset="0"/>
                <a:ea typeface="Yu Gothic" pitchFamily="34" charset="-122"/>
                <a:cs typeface="Yu Gothic" pitchFamily="34" charset="-120"/>
              </a:rPr>
              <a:t>対処  </a:t>
            </a:r>
            <a:pPr indent="0" marL="0">
              <a:lnSpc>
                <a:spcPct val="120000"/>
              </a:lnSpc>
              <a:spcAft>
                <a:spcPts val="600"/>
              </a:spcAft>
              <a:buNone/>
            </a:pPr>
            <a:r>
              <a:rPr lang="ja-JP" sz="880" dirty="0">
                <a:solidFill>
                  <a:srgbClr val="1E2226"/>
                </a:solidFill>
                <a:latin typeface="Yu Gothic" pitchFamily="34" charset="0"/>
                <a:ea typeface="Yu Gothic" pitchFamily="34" charset="-122"/>
                <a:cs typeface="Yu Gothic" pitchFamily="34" charset="-120"/>
              </a:rPr>
              <a:t>「過去の正否を問う」のではなく「環境変化を捉える」仕組みとして位置付け、再考判定は自社側・市況側の条件変化を主軸に、アクセス統制を初期要件として設計する。</a:t>
            </a:r>
            <a:endParaRPr lang="ja-JP" sz="880" dirty="0"/>
          </a:p>
        </p:txBody>
      </p:sp>
      <p:sp>
        <p:nvSpPr>
          <p:cNvPr id="26" name="Text 24"/>
          <p:cNvSpPr txBox="1"/>
          <p:nvPr/>
        </p:nvSpPr>
        <p:spPr>
          <a:xfrm>
            <a:off x="11091672" y="6510528"/>
            <a:ext cx="822960" cy="228600"/>
          </a:xfrm>
          <a:prstGeom prst="rect">
            <a:avLst/>
          </a:prstGeom>
          <a:noFill/>
          <a:ln/>
        </p:spPr>
        <p:txBody>
          <a:bodyPr wrap="square" lIns="0" tIns="0" rIns="0" bIns="0" rtlCol="0" anchor="ctr"/>
          <a:lstStyle/>
          <a:p>
            <a:pPr algn="r" indent="0" marL="0">
              <a:buNone/>
            </a:pPr>
            <a:r>
              <a:rPr lang="ja-JP" sz="800" dirty="0">
                <a:solidFill>
                  <a:srgbClr val="7D838A"/>
                </a:solidFill>
                <a:latin typeface="Arial" pitchFamily="34" charset="0"/>
                <a:ea typeface="Arial" pitchFamily="34" charset="-122"/>
                <a:cs typeface="Arial" pitchFamily="34" charset="-120"/>
              </a:rPr>
              <a:t>04</a:t>
            </a:r>
            <a:endParaRPr lang="ja-JP"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2026-08-30T12:00:09Z</dcterms:created>
  <dcterms:modified xsi:type="dcterms:W3CDTF">2026-08-30T12:00:09Z</dcterms:modified>
</cp:coreProperties>
</file>