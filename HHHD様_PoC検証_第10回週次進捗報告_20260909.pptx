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76.xml" ContentType="application/vnd.openxmlformats-officedocument.presentationml.tags+xml"/>
  <Override PartName="/ppt/notesSlides/notesSlide1.xml" ContentType="application/vnd.openxmlformats-officedocument.presentationml.notesSlide+xml"/>
  <Override PartName="/ppt/tags/tag77.xml" ContentType="application/vnd.openxmlformats-officedocument.presentationml.tags+xml"/>
  <Override PartName="/ppt/notesSlides/notesSlide2.xml" ContentType="application/vnd.openxmlformats-officedocument.presentationml.notesSlide+xml"/>
  <Override PartName="/ppt/tags/tag78.xml" ContentType="application/vnd.openxmlformats-officedocument.presentationml.tags+xml"/>
  <Override PartName="/ppt/notesSlides/notesSlide3.xml" ContentType="application/vnd.openxmlformats-officedocument.presentationml.notesSlide+xml"/>
  <Override PartName="/ppt/tags/tag79.xml" ContentType="application/vnd.openxmlformats-officedocument.presentationml.tags+xml"/>
  <Override PartName="/ppt/notesSlides/notesSlide4.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5.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 id="2147483986" r:id="rId6"/>
    <p:sldMasterId id="2147484012" r:id="rId7"/>
  </p:sldMasterIdLst>
  <p:notesMasterIdLst>
    <p:notesMasterId r:id="rId22"/>
  </p:notesMasterIdLst>
  <p:handoutMasterIdLst>
    <p:handoutMasterId r:id="rId23"/>
  </p:handoutMasterIdLst>
  <p:sldIdLst>
    <p:sldId id="2147483641" r:id="rId8"/>
    <p:sldId id="2147483646" r:id="rId9"/>
    <p:sldId id="258" r:id="rId10"/>
    <p:sldId id="262" r:id="rId11"/>
    <p:sldId id="2146847607" r:id="rId12"/>
    <p:sldId id="261" r:id="rId32"/>
    <p:sldId id="259" r:id="rId31"/>
    <p:sldId id="263" r:id="rId14"/>
    <p:sldId id="273" r:id="rId17"/>
    <p:sldId id="264" r:id="rId18"/>
    <p:sldId id="260" r:id="rId19"/>
    <p:sldId id="2147483647" r:id="rId20"/>
    <p:sldId id="274" r:id="rId21"/>
  </p:sldIdLst>
  <p:sldSz cx="12192000" cy="6858000"/>
  <p:notesSz cx="6735763" cy="9866313"/>
  <p:custDataLst>
    <p:tags r:id="rId24"/>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3" orient="horz" pos="2137" userDrawn="1">
          <p15:clr>
            <a:srgbClr val="A4A3A4"/>
          </p15:clr>
        </p15:guide>
        <p15:guide id="4"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4F904-F128-8147-A709-5BA0B0EDD907}" name="Kato, Yoshiko 1" initials="K1" userId="S::yoshiko1.kato@tohmatsu.co.jp::0536b235-f5eb-4716-8d5f-c14ea1117cc8" providerId="AD"/>
  <p188:author id="{85B9C713-2719-418F-0DB1-FD33C6FBAE59}" name="Mori, Yukiko" initials="MY" userId="S::yukiko.mori@tohmatsu.co.jp::f6c28165-7909-45e9-8c53-3daca56a9b1c" providerId="AD"/>
  <p188:author id="{1E114F58-398E-C9D2-8536-99ABF1D54C77}" name="DLS" initials="u" userId="DLS" providerId="None"/>
  <p188:author id="{5FF94BAC-1D89-45C0-351C-0BB77D8448C6}" name="Fukushima, Rieko" initials="FR" userId="S::rieko.fukushima@tohmatsu.co.jp::42ea695b-0072-4304-903b-cd25183e2212" providerId="AD"/>
  <p188:author id="{668514CC-2331-AEE1-14A9-653540C09CE5}" name="Ochi, Hana" initials="OH" userId="S::haochi@tohmatsu.co.jp::9fa41629-42c7-428e-8d4f-8f774cfc78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16"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46A38"/>
    <a:srgbClr val="9B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44" y="-726"/>
      </p:cViewPr>
      <p:guideLst>
        <p:guide orient="horz" pos="2137"/>
        <p:guide pos="3863"/>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1.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commentAuthors" Target="commentAuthors.xml"/><Relationship Id="rId2" Type="http://schemas.openxmlformats.org/officeDocument/2006/relationships/customXml" Target="../customXml/item2.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gs" Target="tags/tag1.xml"/><Relationship Id="rId5" Type="http://schemas.openxmlformats.org/officeDocument/2006/relationships/slideMaster" Target="slideMasters/slideMaster2.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8/10/relationships/authors" Target="authors.xml"/>  <Relationship Id="rId31" Type="http://schemas.openxmlformats.org/officeDocument/2006/relationships/slide" Target="slides/slide15.xml"/>
  <Relationship Id="rId32" Type="http://schemas.openxmlformats.org/officeDocument/2006/relationships/slide" Target="slides/slide16.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B2EC3375-25C1-4132-8356-F0254E04DDEC}" type="datetimeFigureOut">
              <a:rPr kumimoji="1" lang="ja-JP" altLang="en-US" smtClean="0"/>
              <a:t>2026/9/7</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BC64172F-6366-47B3-B3D8-F99B8E17CF95}" type="slidenum">
              <a:rPr kumimoji="1" lang="ja-JP" altLang="en-US" smtClean="0"/>
              <a:t>‹#›</a:t>
            </a:fld>
            <a:endParaRPr kumimoji="1" lang="ja-JP" altLang="en-US"/>
          </a:p>
        </p:txBody>
      </p:sp>
    </p:spTree>
    <p:extLst>
      <p:ext uri="{BB962C8B-B14F-4D97-AF65-F5344CB8AC3E}">
        <p14:creationId xmlns:p14="http://schemas.microsoft.com/office/powerpoint/2010/main" val="182847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3" name="日付プレースホルダー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latin typeface="Aptos" panose="020B0004020202020204" pitchFamily="34" charset="0"/>
              </a:rPr>
              <a:pPr/>
              <a:t>2026/9/7</a:t>
            </a:fld>
            <a:endParaRPr kumimoji="1" lang="ja-JP" altLang="en-US">
              <a:latin typeface="Aptos" panose="020B0004020202020204" pitchFamily="34" charset="0"/>
            </a:endParaRPr>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latin typeface="Aptos" panose="020B0004020202020204" pitchFamily="34" charset="0"/>
            </a:endParaRPr>
          </a:p>
        </p:txBody>
      </p:sp>
      <p:sp>
        <p:nvSpPr>
          <p:cNvPr id="5" name="ノート プレースホルダー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7" name="スライド番号プレースホルダー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latin typeface="Aptos" panose="020B0004020202020204" pitchFamily="34" charset="0"/>
              </a:rPr>
              <a:pPr/>
              <a:t>‹#›</a:t>
            </a:fld>
            <a:endParaRPr kumimoji="1" lang="ja-JP" altLang="en-US">
              <a:latin typeface="Aptos" panose="020B0004020202020204" pitchFamily="34" charset="0"/>
            </a:endParaRPr>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88B299-FBEB-47AA-8879-672851374028}" type="slidenum">
              <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ja-JP"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
        <p:nvSpPr>
          <p:cNvPr id="3243010" name="Rectangle 2"/>
          <p:cNvSpPr>
            <a:spLocks noGrp="1" noRot="1" noChangeAspect="1" noChangeArrowheads="1" noTextEdit="1"/>
          </p:cNvSpPr>
          <p:nvPr>
            <p:ph type="sldImg"/>
          </p:nvPr>
        </p:nvSpPr>
        <p:spPr>
          <a:xfrm>
            <a:off x="106363" y="763588"/>
            <a:ext cx="6675437" cy="3754437"/>
          </a:xfrm>
          <a:ln/>
        </p:spPr>
      </p:sp>
      <p:sp>
        <p:nvSpPr>
          <p:cNvPr id="3243011" name="Rectangle 3"/>
          <p:cNvSpPr>
            <a:spLocks noGrp="1" noChangeArrowheads="1"/>
          </p:cNvSpPr>
          <p:nvPr>
            <p:ph type="body" idx="1"/>
          </p:nvPr>
        </p:nvSpPr>
        <p:spPr/>
        <p:txBody>
          <a:bodyPr/>
          <a:lstStyle/>
          <a:p>
            <a:pPr>
              <a:buFontTx/>
              <a:buChar char="•"/>
            </a:pPr>
            <a:endParaRPr lang="en-GB"/>
          </a:p>
        </p:txBody>
      </p:sp>
    </p:spTree>
    <p:extLst>
      <p:ext uri="{BB962C8B-B14F-4D97-AF65-F5344CB8AC3E}">
        <p14:creationId xmlns:p14="http://schemas.microsoft.com/office/powerpoint/2010/main" val="239422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ED8E-86F6-B61B-CC4C-78D39634B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478D34-A1BD-C672-9BC4-87CC1564B0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47265D-B101-2A30-79BD-33710DC4846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94A127-E733-011F-639B-1C3FDF8CD2DF}"/>
              </a:ext>
            </a:extLst>
          </p:cNvPr>
          <p:cNvSpPr>
            <a:spLocks noGrp="1"/>
          </p:cNvSpPr>
          <p:nvPr>
            <p:ph type="sldNum" sz="quarter" idx="5"/>
          </p:nvPr>
        </p:nvSpPr>
        <p:spPr/>
        <p:txBody>
          <a:bodyPr/>
          <a:lstStyle/>
          <a:p>
            <a:fld id="{24DE13BB-FCB6-4491-A87D-1E9BA7500F8E}" type="slidenum">
              <a:rPr kumimoji="1" lang="ja-JP" altLang="en-US" smtClean="0"/>
              <a:pPr/>
              <a:t>2</a:t>
            </a:fld>
            <a:endParaRPr kumimoji="1" lang="ja-JP" altLang="en-US"/>
          </a:p>
        </p:txBody>
      </p:sp>
    </p:spTree>
    <p:extLst>
      <p:ext uri="{BB962C8B-B14F-4D97-AF65-F5344CB8AC3E}">
        <p14:creationId xmlns:p14="http://schemas.microsoft.com/office/powerpoint/2010/main" val="2762883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9DAD8-C169-9248-4576-365CEBA8C3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833060-5CA7-EB4C-98AD-4B4055A2EA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4CE897-0BB0-C33C-C0AA-23320F7E760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5FEA58C-9E7E-B534-CD60-2C2402B9A77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4DE13BB-FCB6-4491-A87D-1E9BA7500F8E}"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935021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146D-4292-0396-563B-D6BA09360E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991959-410A-EDF3-8AAF-93D7EE2C68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B9B7A0-4428-BB34-767B-8AEA02D98A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CB7D425-C94E-D243-6848-3BDCB918E75D}"/>
              </a:ext>
            </a:extLst>
          </p:cNvPr>
          <p:cNvSpPr>
            <a:spLocks noGrp="1"/>
          </p:cNvSpPr>
          <p:nvPr>
            <p:ph type="sldNum" sz="quarter" idx="5"/>
          </p:nvPr>
        </p:nvSpPr>
        <p:spPr/>
        <p:txBody>
          <a:bodyPr/>
          <a:lstStyle/>
          <a:p>
            <a:fld id="{24DE13BB-FCB6-4491-A87D-1E9BA7500F8E}" type="slidenum">
              <a:rPr kumimoji="1" lang="ja-JP" altLang="en-US" smtClean="0"/>
              <a:pPr/>
              <a:t>4</a:t>
            </a:fld>
            <a:endParaRPr kumimoji="1" lang="ja-JP" altLang="en-US"/>
          </a:p>
        </p:txBody>
      </p:sp>
    </p:spTree>
    <p:extLst>
      <p:ext uri="{BB962C8B-B14F-4D97-AF65-F5344CB8AC3E}">
        <p14:creationId xmlns:p14="http://schemas.microsoft.com/office/powerpoint/2010/main" val="4150383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27F8E-FDB2-9820-9B87-7FB37AFCB4C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C1A3D3-283C-8443-1EB3-969307764D9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63B8A52-E8E6-C180-5AF8-B9BF809E595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F820477-ED60-7927-8A1F-69AC3722FF95}"/>
              </a:ext>
            </a:extLst>
          </p:cNvPr>
          <p:cNvSpPr>
            <a:spLocks noGrp="1"/>
          </p:cNvSpPr>
          <p:nvPr>
            <p:ph type="sldNum" sz="quarter" idx="5"/>
          </p:nvPr>
        </p:nvSpPr>
        <p:spPr/>
        <p:txBody>
          <a:bodyPr/>
          <a:lstStyle/>
          <a:p>
            <a:fld id="{24DE13BB-FCB6-4491-A87D-1E9BA7500F8E}" type="slidenum">
              <a:rPr kumimoji="1" lang="ja-JP" altLang="en-US" smtClean="0"/>
              <a:pPr/>
              <a:t>7</a:t>
            </a:fld>
            <a:endParaRPr kumimoji="1" lang="ja-JP" altLang="en-US"/>
          </a:p>
        </p:txBody>
      </p:sp>
    </p:spTree>
    <p:extLst>
      <p:ext uri="{BB962C8B-B14F-4D97-AF65-F5344CB8AC3E}">
        <p14:creationId xmlns:p14="http://schemas.microsoft.com/office/powerpoint/2010/main" val="746319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AC0CC-CF12-ED18-D8B6-2547404BEA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0150A9-886E-47FE-63DE-8C98CB77E5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DD05E0-FA87-B66B-DEE8-AEE89F97416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F0AFE84-D137-F245-0697-9DEEC16A68CE}"/>
              </a:ext>
            </a:extLst>
          </p:cNvPr>
          <p:cNvSpPr>
            <a:spLocks noGrp="1"/>
          </p:cNvSpPr>
          <p:nvPr>
            <p:ph type="sldNum" sz="quarter" idx="5"/>
          </p:nvPr>
        </p:nvSpPr>
        <p:spPr/>
        <p:txBody>
          <a:bodyPr/>
          <a:lstStyle/>
          <a:p>
            <a:fld id="{24DE13BB-FCB6-4491-A87D-1E9BA7500F8E}" type="slidenum">
              <a:rPr kumimoji="1" lang="ja-JP" altLang="en-US" smtClean="0"/>
              <a:pPr/>
              <a:t>11</a:t>
            </a:fld>
            <a:endParaRPr kumimoji="1" lang="ja-JP" altLang="en-US"/>
          </a:p>
        </p:txBody>
      </p:sp>
    </p:spTree>
    <p:extLst>
      <p:ext uri="{BB962C8B-B14F-4D97-AF65-F5344CB8AC3E}">
        <p14:creationId xmlns:p14="http://schemas.microsoft.com/office/powerpoint/2010/main" val="57523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4BD-B15D-0572-61E9-19C6EEE9E4F9}"/>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EC5B7F68-382E-3C62-BBCC-5FFD83DA06B7}"/>
              </a:ext>
            </a:extLst>
          </p:cNvPr>
          <p:cNvSpPr>
            <a:spLocks noGrp="1" noRot="1" noChangeAspect="1"/>
          </p:cNvSpPr>
          <p:nvPr>
            <p:ph type="sldImg"/>
          </p:nvPr>
        </p:nvSpPr>
        <p:spPr>
          <a:xfrm>
            <a:off x="468313" y="1270000"/>
            <a:ext cx="6092825" cy="3427413"/>
          </a:xfrm>
        </p:spPr>
        <p:txBody>
          <a:bodyPr/>
          <a:lstStyle/>
          <a:p>
            <a:endParaRPr lang="ja-JP" altLang="en-US"/>
          </a:p>
        </p:txBody>
      </p:sp>
      <p:sp>
        <p:nvSpPr>
          <p:cNvPr id="3" name="ノート プレースホルダ 2">
            <a:extLst>
              <a:ext uri="{FF2B5EF4-FFF2-40B4-BE49-F238E27FC236}">
                <a16:creationId xmlns:a16="http://schemas.microsoft.com/office/drawing/2014/main" id="{CB319246-651C-8051-478D-CD5ED55D4246}"/>
              </a:ext>
            </a:extLst>
          </p:cNvPr>
          <p:cNvSpPr>
            <a:spLocks noGrp="1"/>
          </p:cNvSpPr>
          <p:nvPr>
            <p:ph type="body" idx="1"/>
          </p:nvPr>
        </p:nvSpPr>
        <p:spPr/>
        <p:txBody>
          <a:bodyPr>
            <a:normAutofit/>
          </a:bodyPr>
          <a:lstStyle/>
          <a:p>
            <a:endParaRPr kumimoji="1" lang="ja-JP" altLang="en-US"/>
          </a:p>
        </p:txBody>
      </p:sp>
      <p:sp>
        <p:nvSpPr>
          <p:cNvPr id="4" name="スライド番号プレースホルダ 3">
            <a:extLst>
              <a:ext uri="{FF2B5EF4-FFF2-40B4-BE49-F238E27FC236}">
                <a16:creationId xmlns:a16="http://schemas.microsoft.com/office/drawing/2014/main" id="{41818E94-EA25-F321-EDFF-7FBCF691C79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A06DAD-44D3-4EA7-8DE4-9E33DC7017BE}" type="slidenum">
              <a:rPr kumimoji="0"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875295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20.bin"/><Relationship Id="rId7"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oleObject" Target="../embeddings/oleObject21.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22.bin"/><Relationship Id="rId7"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22.bin"/><Relationship Id="rId7"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3.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43.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3.xml"/><Relationship Id="rId1" Type="http://schemas.openxmlformats.org/officeDocument/2006/relationships/tags" Target="../tags/tag44.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5.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6.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7.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8.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49.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3.xml"/><Relationship Id="rId1" Type="http://schemas.openxmlformats.org/officeDocument/2006/relationships/tags" Target="../tags/tag50.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5.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10.png"/><Relationship Id="rId2" Type="http://schemas.openxmlformats.org/officeDocument/2006/relationships/slideMaster" Target="../slideMasters/slideMaster3.xml"/><Relationship Id="rId1" Type="http://schemas.openxmlformats.org/officeDocument/2006/relationships/tags" Target="../tags/tag54.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3.xml"/><Relationship Id="rId1" Type="http://schemas.openxmlformats.org/officeDocument/2006/relationships/tags" Target="../tags/tag55.xml"/><Relationship Id="rId4" Type="http://schemas.openxmlformats.org/officeDocument/2006/relationships/image" Target="../media/image14.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7.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8.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59.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60.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1.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2.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6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65.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66.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69.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0.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1.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72.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oleObject" Target="../embeddings/oleObject39.bin"/><Relationship Id="rId5" Type="http://schemas.openxmlformats.org/officeDocument/2006/relationships/image" Target="../media/image15.emf"/><Relationship Id="rId4" Type="http://schemas.openxmlformats.org/officeDocument/2006/relationships/oleObject" Target="../embeddings/oleObject38.bin"/></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75.xml"/><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noChangeAspect="1"/>
          </p:cNvGraphicFramePr>
          <p:nvPr userDrawn="1">
            <p:custDataLst>
              <p:tags r:id="rId1"/>
            </p:custDataLst>
            <p:extLst>
              <p:ext uri="{D42A27DB-BD31-4B8C-83A1-F6EECF244321}">
                <p14:modId xmlns:p14="http://schemas.microsoft.com/office/powerpoint/2010/main" val="2077041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0581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noChangeAspect="1"/>
          </p:cNvGraphicFramePr>
          <p:nvPr userDrawn="1">
            <p:custDataLst>
              <p:tags r:id="rId1"/>
            </p:custDataLst>
            <p:extLst>
              <p:ext uri="{D42A27DB-BD31-4B8C-83A1-F6EECF244321}">
                <p14:modId xmlns:p14="http://schemas.microsoft.com/office/powerpoint/2010/main" val="2978617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25437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noChangeAspect="1"/>
          </p:cNvGraphicFramePr>
          <p:nvPr userDrawn="1">
            <p:custDataLst>
              <p:tags r:id="rId1"/>
            </p:custDataLst>
            <p:extLst>
              <p:ext uri="{D42A27DB-BD31-4B8C-83A1-F6EECF244321}">
                <p14:modId xmlns:p14="http://schemas.microsoft.com/office/powerpoint/2010/main" val="52417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tx1"/>
                </a:solidFill>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147821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noChangeAspect="1"/>
          </p:cNvGraphicFramePr>
          <p:nvPr userDrawn="1">
            <p:custDataLst>
              <p:tags r:id="rId1"/>
            </p:custDataLst>
            <p:extLst>
              <p:ext uri="{D42A27DB-BD31-4B8C-83A1-F6EECF244321}">
                <p14:modId xmlns:p14="http://schemas.microsoft.com/office/powerpoint/2010/main" val="3840800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8169167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noChangeAspect="1"/>
          </p:cNvGraphicFramePr>
          <p:nvPr userDrawn="1">
            <p:custDataLst>
              <p:tags r:id="rId1"/>
            </p:custDataLst>
            <p:extLst>
              <p:ext uri="{D42A27DB-BD31-4B8C-83A1-F6EECF244321}">
                <p14:modId xmlns:p14="http://schemas.microsoft.com/office/powerpoint/2010/main" val="2801338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8290319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1797872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defRPr>
            </a:lvl1pPr>
          </a:lstStyle>
          <a:p>
            <a:r>
              <a:rPr lang="en-GB" altLang="en-GB"/>
              <a:t>DT Template 16:9</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n-lt"/>
                <a:ea typeface="+mn-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3160910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662600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451464051"/>
      </p:ext>
    </p:extLst>
  </p:cSld>
  <p:clrMapOvr>
    <a:overrideClrMapping bg1="dk1" tx1="lt1" bg2="dk2" tx2="lt2" accent1="accent1" accent2="accent2" accent3="accent3" accent4="accent4" accent5="accent5" accent6="accent6" hlink="hlink" folHlink="folHlink"/>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00870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827265758"/>
      </p:ext>
    </p:extLst>
  </p:cSld>
  <p:clrMapOvr>
    <a:overrideClrMapping bg1="dk1" tx1="lt1" bg2="dk2" tx2="lt2" accent1="accent1" accent2="accent2" accent3="accent3" accent4="accent4" accent5="accent5" accent6="accent6" hlink="hlink" folHlink="folHlink"/>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887264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056419782"/>
      </p:ext>
    </p:extLst>
  </p:cSld>
  <p:clrMapOvr>
    <a:overrideClrMapping bg1="dk1" tx1="lt1" bg2="dk2" tx2="lt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385180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385699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81626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9604718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352086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fontAlgn="auto">
              <a:lnSpc>
                <a:spcPct val="100000"/>
              </a:lnSpc>
              <a:spcBef>
                <a:spcPts val="0"/>
              </a:spcBef>
              <a:defRPr lang="ja-JP" altLang="en-US" sz="1800" b="1" baseline="0" dirty="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99092883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63418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10225051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17177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393595963"/>
      </p:ext>
    </p:extLst>
  </p:cSld>
  <p:clrMapOvr>
    <a:overrideClrMapping bg1="dk1" tx1="lt1" bg2="dk2" tx2="lt2" accent1="accent1" accent2="accent2" accent3="accent3" accent4="accent4" accent5="accent5" accent6="accent6" hlink="hlink" folHlink="folHlink"/>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3142341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79616805"/>
      </p:ext>
    </p:extLst>
  </p:cSld>
  <p:clrMapOvr>
    <a:overrideClrMapping bg1="dk1" tx1="lt1" bg2="dk2" tx2="lt2" accent1="accent1" accent2="accent2" accent3="accent3" accent4="accent4" accent5="accent5" accent6="accent6" hlink="hlink" folHlink="folHlink"/>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7918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a:lnSpc>
                <a:spcPct val="100000"/>
              </a:lnSpc>
              <a:spcBef>
                <a:spcPts val="0"/>
              </a:spcBef>
              <a:defRPr lang="ja-JP" altLang="en-US" sz="1800" b="1" baseline="0" dirty="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4117697671"/>
      </p:ext>
    </p:extLst>
  </p:cSld>
  <p:clrMapOvr>
    <a:overrideClrMapping bg1="dk1" tx1="lt1" bg2="dk2" tx2="lt2" accent1="accent1" accent2="accent2" accent3="accent3" accent4="accent4" accent5="accent5" accent6="accent6" hlink="hlink" folHlink="folHlink"/>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505953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152593637"/>
      </p:ext>
    </p:extLst>
  </p:cSld>
  <p:clrMapOvr>
    <a:overrideClrMapping bg1="dk1" tx1="lt1" bg2="dk2" tx2="lt2" accent1="accent1" accent2="accent2" accent3="accent3" accent4="accent4" accent5="accent5" accent6="accent6" hlink="hlink" folHlink="folHlink"/>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3868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32220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pic>
        <p:nvPicPr>
          <p:cNvPr id="5" name="Picture 3">
            <a:extLst>
              <a:ext uri="{FF2B5EF4-FFF2-40B4-BE49-F238E27FC236}">
                <a16:creationId xmlns:a16="http://schemas.microsoft.com/office/drawing/2014/main" id="{68101465-63EE-D2BF-35AA-692852B492F9}"/>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157824930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566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bwMode="gray">
          <a:xfrm>
            <a:off x="478800" y="431005"/>
            <a:ext cx="3721455" cy="632962"/>
          </a:xfrm>
          <a:prstGeom prst="rect">
            <a:avLst/>
          </a:prstGeom>
          <a:noFill/>
          <a:ln>
            <a:noFill/>
          </a:ln>
        </p:spPr>
      </p:pic>
      <p:pic>
        <p:nvPicPr>
          <p:cNvPr id="3" name="Picture 3">
            <a:extLst>
              <a:ext uri="{FF2B5EF4-FFF2-40B4-BE49-F238E27FC236}">
                <a16:creationId xmlns:a16="http://schemas.microsoft.com/office/drawing/2014/main" id="{7AA5F3BE-2C73-21B4-1792-CE7804C9094E}"/>
              </a:ext>
            </a:extLst>
          </p:cNvPr>
          <p:cNvPicPr>
            <a:picLocks noChangeAspect="1"/>
          </p:cNvPicPr>
          <p:nvPr userDrawn="1"/>
        </p:nvPicPr>
        <p:blipFill>
          <a:blip r:embed="rId6"/>
          <a:srcRect/>
          <a:stretch/>
        </p:blipFill>
        <p:spPr>
          <a:xfrm>
            <a:off x="10694852" y="5436000"/>
            <a:ext cx="1198880" cy="1198880"/>
          </a:xfrm>
          <a:prstGeom prst="rect">
            <a:avLst/>
          </a:prstGeom>
        </p:spPr>
      </p:pic>
      <p:grpSp>
        <p:nvGrpSpPr>
          <p:cNvPr id="5" name="グループ化 4">
            <a:extLst>
              <a:ext uri="{FF2B5EF4-FFF2-40B4-BE49-F238E27FC236}">
                <a16:creationId xmlns:a16="http://schemas.microsoft.com/office/drawing/2014/main" id="{E553D118-33B9-8047-F5CF-3B03F130350F}"/>
              </a:ext>
            </a:extLst>
          </p:cNvPr>
          <p:cNvGrpSpPr/>
          <p:nvPr userDrawn="1"/>
        </p:nvGrpSpPr>
        <p:grpSpPr>
          <a:xfrm>
            <a:off x="10270800" y="3222000"/>
            <a:ext cx="1440000" cy="1894801"/>
            <a:chOff x="8050246" y="4451478"/>
            <a:chExt cx="1440000" cy="1894801"/>
          </a:xfrm>
        </p:grpSpPr>
        <p:pic>
          <p:nvPicPr>
            <p:cNvPr id="6" name="図 5" descr="ロゴ, 会社名&#10;&#10;自動的に生成された説明">
              <a:extLst>
                <a:ext uri="{FF2B5EF4-FFF2-40B4-BE49-F238E27FC236}">
                  <a16:creationId xmlns:a16="http://schemas.microsoft.com/office/drawing/2014/main" id="{D2C433B9-83A5-C204-17F5-89F2B1D6A2A6}"/>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7" name="図 6" descr="ロゴ&#10;&#10;自動的に生成された説明">
              <a:extLst>
                <a:ext uri="{FF2B5EF4-FFF2-40B4-BE49-F238E27FC236}">
                  <a16:creationId xmlns:a16="http://schemas.microsoft.com/office/drawing/2014/main" id="{7E3E8DC4-DA86-93F3-32DB-DBD7E5E7F1C4}"/>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205924158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4244675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32220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3" name="Picture 3">
            <a:extLst>
              <a:ext uri="{FF2B5EF4-FFF2-40B4-BE49-F238E27FC236}">
                <a16:creationId xmlns:a16="http://schemas.microsoft.com/office/drawing/2014/main" id="{B58FE27E-7473-91AD-522F-C6EE7B389FF8}"/>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2146378117"/>
      </p:ext>
    </p:extLst>
  </p:cSld>
  <p:clrMapOvr>
    <a:overrideClrMapping bg1="dk1" tx1="lt1" bg2="dk2" tx2="lt2" accent1="accent1" accent2="accent2" accent3="accent3" accent4="accent4" accent5="accent5" accent6="accent6" hlink="hlink" folHlink="folHlink"/>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521990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a:ext>
            </a:extLst>
          </a:blip>
          <a:stretch/>
        </p:blipFill>
        <p:spPr bwMode="gray">
          <a:xfrm>
            <a:off x="478800" y="431997"/>
            <a:ext cx="3722400" cy="632360"/>
          </a:xfrm>
          <a:prstGeom prst="rect">
            <a:avLst/>
          </a:prstGeom>
        </p:spPr>
      </p:pic>
      <p:grpSp>
        <p:nvGrpSpPr>
          <p:cNvPr id="3" name="グループ化 2">
            <a:extLst>
              <a:ext uri="{FF2B5EF4-FFF2-40B4-BE49-F238E27FC236}">
                <a16:creationId xmlns:a16="http://schemas.microsoft.com/office/drawing/2014/main" id="{366F5FD9-1E58-CDA7-CACE-B242EB6B204F}"/>
              </a:ext>
            </a:extLst>
          </p:cNvPr>
          <p:cNvGrpSpPr/>
          <p:nvPr userDrawn="1"/>
        </p:nvGrpSpPr>
        <p:grpSpPr>
          <a:xfrm>
            <a:off x="10270800" y="3222000"/>
            <a:ext cx="1440000" cy="1861937"/>
            <a:chOff x="8050925" y="4451478"/>
            <a:chExt cx="1440000" cy="1861937"/>
          </a:xfrm>
        </p:grpSpPr>
        <p:pic>
          <p:nvPicPr>
            <p:cNvPr id="5" name="図 4" descr="ロゴ, 会社名&#10;&#10;自動的に生成された説明">
              <a:extLst>
                <a:ext uri="{FF2B5EF4-FFF2-40B4-BE49-F238E27FC236}">
                  <a16:creationId xmlns:a16="http://schemas.microsoft.com/office/drawing/2014/main" id="{D73EDECA-A512-7669-1691-62C5E111EAEA}"/>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6" name="図 5">
              <a:extLst>
                <a:ext uri="{FF2B5EF4-FFF2-40B4-BE49-F238E27FC236}">
                  <a16:creationId xmlns:a16="http://schemas.microsoft.com/office/drawing/2014/main" id="{17480D25-DAE4-135D-514C-ADF811A79B2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7" name="Picture 3">
            <a:extLst>
              <a:ext uri="{FF2B5EF4-FFF2-40B4-BE49-F238E27FC236}">
                <a16:creationId xmlns:a16="http://schemas.microsoft.com/office/drawing/2014/main" id="{7114BB36-8EE5-0472-5190-1AC8C392D5CC}"/>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553231123"/>
      </p:ext>
    </p:extLst>
  </p:cSld>
  <p:clrMapOvr>
    <a:overrideClrMapping bg1="dk1" tx1="lt1" bg2="dk2" tx2="lt2" accent1="accent1" accent2="accent2" accent3="accent3" accent4="accent4" accent5="accent5" accent6="accent6" hlink="hlink" folHlink="folHlink"/>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基本版②） タイトルのみ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599299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103636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基本版②）タイトルのみ_出所・脚注なし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04204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259488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基本版②）小見出しあり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2911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accent3"/>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144441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435457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baseline="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326908144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4152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45845036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基本版②）黒_小見出しあり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58825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tx1"/>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203817217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p:cNvGraphicFramePr>
          <p:nvPr userDrawn="1">
            <p:custDataLst>
              <p:tags r:id="rId1"/>
            </p:custDataLst>
            <p:extLst>
              <p:ext uri="{D42A27DB-BD31-4B8C-83A1-F6EECF244321}">
                <p14:modId xmlns:p14="http://schemas.microsoft.com/office/powerpoint/2010/main" val="2656476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351720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89402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p:cNvGraphicFramePr>
          <p:nvPr userDrawn="1">
            <p:custDataLst>
              <p:tags r:id="rId1"/>
            </p:custDataLst>
            <p:extLst>
              <p:ext uri="{D42A27DB-BD31-4B8C-83A1-F6EECF244321}">
                <p14:modId xmlns:p14="http://schemas.microsoft.com/office/powerpoint/2010/main" val="85020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722895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99049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4797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67638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3588154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531293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1101896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688277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9938070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3125053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244875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890620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062981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502583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473114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843335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39501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133324"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41148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191349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1216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78800" y="431005"/>
            <a:ext cx="3721455" cy="632962"/>
          </a:xfrm>
          <a:prstGeom prst="rect">
            <a:avLst/>
          </a:prstGeom>
          <a:noFill/>
          <a:ln>
            <a:noFill/>
          </a:ln>
        </p:spPr>
      </p:pic>
      <p:grpSp>
        <p:nvGrpSpPr>
          <p:cNvPr id="9" name="グループ化 8">
            <a:extLst>
              <a:ext uri="{FF2B5EF4-FFF2-40B4-BE49-F238E27FC236}">
                <a16:creationId xmlns:a16="http://schemas.microsoft.com/office/drawing/2014/main" id="{1ACB6E8B-BDC4-441B-80D9-3D4F1A7191BA}"/>
              </a:ext>
            </a:extLst>
          </p:cNvPr>
          <p:cNvGrpSpPr/>
          <p:nvPr userDrawn="1"/>
        </p:nvGrpSpPr>
        <p:grpSpPr>
          <a:xfrm>
            <a:off x="10270800" y="4114800"/>
            <a:ext cx="1440000" cy="1894801"/>
            <a:chOff x="8050246" y="4451478"/>
            <a:chExt cx="1440000" cy="1894801"/>
          </a:xfrm>
        </p:grpSpPr>
        <p:pic>
          <p:nvPicPr>
            <p:cNvPr id="10" name="図 9" descr="ロゴ, 会社名&#10;&#10;自動的に生成された説明">
              <a:extLst>
                <a:ext uri="{FF2B5EF4-FFF2-40B4-BE49-F238E27FC236}">
                  <a16:creationId xmlns:a16="http://schemas.microsoft.com/office/drawing/2014/main" id="{58297113-486E-410D-9152-DBAA7813B43E}"/>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1" name="図 10" descr="ロゴ&#10;&#10;自動的に生成された説明">
              <a:extLst>
                <a:ext uri="{FF2B5EF4-FFF2-40B4-BE49-F238E27FC236}">
                  <a16:creationId xmlns:a16="http://schemas.microsoft.com/office/drawing/2014/main" id="{DBB457B8-2E8C-4715-8CE0-9F6911CA7B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0824777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2735016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41148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1539732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1075208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78800" y="431997"/>
            <a:ext cx="3722400" cy="632360"/>
          </a:xfrm>
          <a:prstGeom prst="rect">
            <a:avLst/>
          </a:prstGeom>
        </p:spPr>
      </p:pic>
      <p:grpSp>
        <p:nvGrpSpPr>
          <p:cNvPr id="14" name="グループ化 13">
            <a:extLst>
              <a:ext uri="{FF2B5EF4-FFF2-40B4-BE49-F238E27FC236}">
                <a16:creationId xmlns:a16="http://schemas.microsoft.com/office/drawing/2014/main" id="{A32278A0-B6A6-4196-A48B-DD36F4F398E7}"/>
              </a:ext>
            </a:extLst>
          </p:cNvPr>
          <p:cNvGrpSpPr/>
          <p:nvPr userDrawn="1"/>
        </p:nvGrpSpPr>
        <p:grpSpPr>
          <a:xfrm>
            <a:off x="10270800" y="4114800"/>
            <a:ext cx="1440000" cy="1861937"/>
            <a:chOff x="8050925" y="4451478"/>
            <a:chExt cx="1440000" cy="1861937"/>
          </a:xfrm>
        </p:grpSpPr>
        <p:pic>
          <p:nvPicPr>
            <p:cNvPr id="15" name="図 14" descr="ロゴ, 会社名&#10;&#10;自動的に生成された説明">
              <a:extLst>
                <a:ext uri="{FF2B5EF4-FFF2-40B4-BE49-F238E27FC236}">
                  <a16:creationId xmlns:a16="http://schemas.microsoft.com/office/drawing/2014/main" id="{2395C2A1-39CD-425B-94BE-D67F2CCD8D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6" name="図 15">
              <a:extLst>
                <a:ext uri="{FF2B5EF4-FFF2-40B4-BE49-F238E27FC236}">
                  <a16:creationId xmlns:a16="http://schemas.microsoft.com/office/drawing/2014/main" id="{7CC8C78A-26CC-4239-9442-4410264A93E8}"/>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427568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p:txBody>
          <a:bodyPr/>
          <a:lstStyle/>
          <a:p>
            <a:pPr algn="ctr"/>
            <a:endParaRPr lang="en-US"/>
          </a:p>
        </p:txBody>
      </p:sp>
    </p:spTree>
    <p:extLst>
      <p:ext uri="{BB962C8B-B14F-4D97-AF65-F5344CB8AC3E}">
        <p14:creationId xmlns:p14="http://schemas.microsoft.com/office/powerpoint/2010/main" val="40078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40184007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0727535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108574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6281627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5046693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3514089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2497792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420106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6711330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711624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941185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546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428142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626133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9023089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0165543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130021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606451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a:xfrm>
            <a:off x="730800" y="6588000"/>
            <a:ext cx="5184000" cy="169200"/>
          </a:xfrm>
          <a:prstGeom prst="rect">
            <a:avLst/>
          </a:prstGeom>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a:xfrm>
            <a:off x="5651167" y="6444000"/>
            <a:ext cx="889666" cy="169277"/>
          </a:xfrm>
          <a:prstGeom prst="rect">
            <a:avLst/>
          </a:prstGeom>
        </p:spPr>
        <p:txBody>
          <a:bodyPr/>
          <a:lstStyle/>
          <a:p>
            <a:pPr algn="ctr"/>
            <a:endParaRPr lang="en-US"/>
          </a:p>
        </p:txBody>
      </p:sp>
    </p:spTree>
    <p:extLst>
      <p:ext uri="{BB962C8B-B14F-4D97-AF65-F5344CB8AC3E}">
        <p14:creationId xmlns:p14="http://schemas.microsoft.com/office/powerpoint/2010/main" val="1811814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a:xfrm>
            <a:off x="5651167" y="6444000"/>
            <a:ext cx="889666" cy="169277"/>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a:xfrm>
            <a:off x="730800" y="6588000"/>
            <a:ext cx="5184000" cy="169200"/>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885352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3914871738"/>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スライド" r:id="rId4" imgW="444" imgH="443" progId="TCLayout.ActiveDocument.1">
                  <p:embed/>
                </p:oleObj>
              </mc:Choice>
              <mc:Fallback>
                <p:oleObj name="think-cellスライド" r:id="rId4" imgW="444" imgH="443" progId="TCLayout.ActiveDocument.1">
                  <p:embed/>
                  <p:pic>
                    <p:nvPicPr>
                      <p:cNvPr id="2" name="オブジェクト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pPr>
              <a:defRPr/>
            </a:pPr>
            <a:endParaRPr lang="en-GB" altLang="en-GB">
              <a:solidFill>
                <a:prstClr val="black"/>
              </a:solidFill>
              <a:latin typeface="Arial"/>
              <a:ea typeface="ＭＳ Ｐゴシック"/>
              <a:cs typeface="Arial" pitchFamily="34" charset="0"/>
            </a:endParaRPr>
          </a:p>
        </p:txBody>
      </p:sp>
      <p:sp>
        <p:nvSpPr>
          <p:cNvPr id="4" name="スライド番号プレースホルダ 3"/>
          <p:cNvSpPr>
            <a:spLocks noGrp="1"/>
          </p:cNvSpPr>
          <p:nvPr>
            <p:ph type="sldNum" sz="quarter" idx="11"/>
          </p:nvPr>
        </p:nvSpPr>
        <p:spPr bwMode="gray">
          <a:xfrm>
            <a:off x="11458554" y="6588000"/>
            <a:ext cx="221538" cy="169200"/>
          </a:xfrm>
        </p:spPr>
        <p:txBody>
          <a:bodyPr/>
          <a:lstStyle>
            <a:lvl1pPr>
              <a:defRPr>
                <a:solidFill>
                  <a:schemeClr val="tx1"/>
                </a:solidFill>
              </a:defRPr>
            </a:lvl1pPr>
          </a:lstStyle>
          <a:p>
            <a:pPr>
              <a:defRPr/>
            </a:pPr>
            <a:fld id="{AA5FCFE5-FE56-4EF1-80A8-07776887C2A1}" type="slidenum">
              <a:rPr lang="ja-JP" altLang="en-US" sz="1200" smtClean="0">
                <a:solidFill>
                  <a:prstClr val="black"/>
                </a:solidFill>
                <a:latin typeface="Arial"/>
                <a:ea typeface="ＭＳ Ｐゴシック"/>
                <a:cs typeface="Arial" pitchFamily="34" charset="0"/>
              </a:rPr>
              <a:pPr>
                <a:defRPr/>
              </a:pPr>
              <a:t>‹#›</a:t>
            </a:fld>
            <a:endParaRPr lang="ja-JP" altLang="en-US" sz="1200">
              <a:solidFill>
                <a:prstClr val="black"/>
              </a:solidFill>
              <a:latin typeface="Arial"/>
              <a:ea typeface="ＭＳ Ｐゴシック"/>
              <a:cs typeface="Arial" pitchFamily="34" charset="0"/>
            </a:endParaRPr>
          </a:p>
        </p:txBody>
      </p:sp>
      <p:sp>
        <p:nvSpPr>
          <p:cNvPr id="9" name="テキスト プレースホルダー 2"/>
          <p:cNvSpPr>
            <a:spLocks noGrp="1"/>
          </p:cNvSpPr>
          <p:nvPr>
            <p:ph type="body" sz="quarter" idx="15" hasCustomPrompt="1"/>
          </p:nvPr>
        </p:nvSpPr>
        <p:spPr bwMode="gray">
          <a:xfrm>
            <a:off x="513230" y="136800"/>
            <a:ext cx="11166862" cy="432000"/>
          </a:xfrm>
          <a:prstGeom prst="rect">
            <a:avLst/>
          </a:prstGeom>
        </p:spPr>
        <p:txBody>
          <a:bodyPr wrap="none" lIns="0" tIns="0" anchor="ctr">
            <a:noAutofit/>
          </a:bodyPr>
          <a:lstStyle>
            <a:lvl1pPr>
              <a:lnSpc>
                <a:spcPct val="100000"/>
              </a:lnSpc>
              <a:spcBef>
                <a:spcPts val="0"/>
              </a:spcBef>
              <a:defRPr sz="2000" b="1">
                <a:solidFill>
                  <a:schemeClr val="tx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3231" y="678671"/>
            <a:ext cx="11165538" cy="360000"/>
          </a:xfrm>
        </p:spPr>
        <p:txBody>
          <a:bodyPr vert="horz" lIns="0" tIns="0" anchor="t"/>
          <a:lstStyle>
            <a:lvl1pPr>
              <a:defRPr sz="1800" b="0"/>
            </a:lvl1pPr>
          </a:lstStyle>
          <a:p>
            <a:r>
              <a:rPr lang="ja-JP" altLang="en-US"/>
              <a:t>キーメッセージを入力（本スライドで一番伝えたいこと＜名詞止め・体言止め不可＞）</a:t>
            </a:r>
            <a:endParaRPr kumimoji="1" lang="ja-JP" altLang="en-US"/>
          </a:p>
        </p:txBody>
      </p:sp>
      <p:cxnSp>
        <p:nvCxnSpPr>
          <p:cNvPr id="7" name="直線コネクタ 6"/>
          <p:cNvCxnSpPr/>
          <p:nvPr/>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オブジェクト 4" hidden="1">
            <a:extLst>
              <a:ext uri="{FF2B5EF4-FFF2-40B4-BE49-F238E27FC236}">
                <a16:creationId xmlns:a16="http://schemas.microsoft.com/office/drawing/2014/main" id="{D9526583-8C8E-82A1-8852-F993675C587E}"/>
              </a:ext>
            </a:extLst>
          </p:cNvPr>
          <p:cNvGraphicFramePr>
            <a:graphicFrameLocks noChangeAspect="1"/>
          </p:cNvGraphicFramePr>
          <p:nvPr userDrawn="1">
            <p:custDataLst>
              <p:tags r:id="rId2"/>
            </p:custDataLst>
            <p:extLst>
              <p:ext uri="{D42A27DB-BD31-4B8C-83A1-F6EECF244321}">
                <p14:modId xmlns:p14="http://schemas.microsoft.com/office/powerpoint/2010/main" val="2603898332"/>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6" imgW="444" imgH="443" progId="TCLayout.ActiveDocument.1">
                  <p:embed/>
                </p:oleObj>
              </mc:Choice>
              <mc:Fallback>
                <p:oleObj name="think-cell スライド" r:id="rId6" imgW="444" imgH="443" progId="TCLayout.ActiveDocument.1">
                  <p:embed/>
                  <p:pic>
                    <p:nvPicPr>
                      <p:cNvPr id="5" name="オブジェクト 4" hidden="1">
                        <a:extLst>
                          <a:ext uri="{FF2B5EF4-FFF2-40B4-BE49-F238E27FC236}">
                            <a16:creationId xmlns:a16="http://schemas.microsoft.com/office/drawing/2014/main" id="{D9526583-8C8E-82A1-8852-F993675C587E}"/>
                          </a:ext>
                        </a:extLst>
                      </p:cNvPr>
                      <p:cNvPicPr/>
                      <p:nvPr/>
                    </p:nvPicPr>
                    <p:blipFill>
                      <a:blip r:embed="rId5"/>
                      <a:stretch>
                        <a:fillRect/>
                      </a:stretch>
                    </p:blipFill>
                    <p:spPr>
                      <a:xfrm>
                        <a:off x="1955" y="1589"/>
                        <a:ext cx="1953" cy="1587"/>
                      </a:xfrm>
                      <a:prstGeom prst="rect">
                        <a:avLst/>
                      </a:prstGeom>
                    </p:spPr>
                  </p:pic>
                </p:oleObj>
              </mc:Fallback>
            </mc:AlternateContent>
          </a:graphicData>
        </a:graphic>
      </p:graphicFrame>
      <p:cxnSp>
        <p:nvCxnSpPr>
          <p:cNvPr id="8" name="直線コネクタ 7">
            <a:extLst>
              <a:ext uri="{FF2B5EF4-FFF2-40B4-BE49-F238E27FC236}">
                <a16:creationId xmlns:a16="http://schemas.microsoft.com/office/drawing/2014/main" id="{F5C7EB6A-BE1A-6B26-F25B-752C370BEDF4}"/>
              </a:ext>
            </a:extLst>
          </p:cNvPr>
          <p:cNvCxnSpPr/>
          <p:nvPr userDrawn="1"/>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22723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slideLayout" Target="../slideLayouts/slideLayout25.xml"/><Relationship Id="rId7"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image" Target="../media/image1.emf"/><Relationship Id="rId4" Type="http://schemas.openxmlformats.org/officeDocument/2006/relationships/slideLayout" Target="../slideLayouts/slideLayout26.xml"/><Relationship Id="rId9" Type="http://schemas.openxmlformats.org/officeDocument/2006/relationships/oleObject" Target="../embeddings/oleObject2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theme" Target="../theme/theme3.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image" Target="../media/image1.emf"/><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oleObject" Target="../embeddings/oleObject28.bin"/><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tags" Target="../tags/tag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3" Type="http://schemas.openxmlformats.org/officeDocument/2006/relationships/slideLayout" Target="../slideLayouts/slideLayout56.xml"/><Relationship Id="rId21" Type="http://schemas.openxmlformats.org/officeDocument/2006/relationships/theme" Target="../theme/theme4.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image" Target="../media/image1.emf"/><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oleObject" Target="../embeddings/oleObject28.bin"/><Relationship Id="rId10" Type="http://schemas.openxmlformats.org/officeDocument/2006/relationships/slideLayout" Target="../slideLayouts/slideLayout63.xml"/><Relationship Id="rId19" Type="http://schemas.openxmlformats.org/officeDocument/2006/relationships/slideLayout" Target="../slideLayouts/slideLayout72.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tags" Target="../tags/tag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4"/>
            </p:custDataLst>
            <p:extLst>
              <p:ext uri="{D42A27DB-BD31-4B8C-83A1-F6EECF244321}">
                <p14:modId xmlns:p14="http://schemas.microsoft.com/office/powerpoint/2010/main" val="3092656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5" imgW="444" imgH="443" progId="TCLayout.ActiveDocument.1">
                  <p:embed/>
                </p:oleObj>
              </mc:Choice>
              <mc:Fallback>
                <p:oleObj name="think-cellスライド" r:id="rId25"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US" altLang="ja-JP"/>
              <a:t>DT Template 16:9</a:t>
            </a: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15099" y="6444000"/>
            <a:ext cx="961802" cy="169277"/>
          </a:xfrm>
          <a:prstGeom prst="rect">
            <a:avLst/>
          </a:prstGeom>
        </p:spPr>
        <p:txBody>
          <a:bodyPr vert="horz" wrap="none" lIns="0" tIns="0" rIns="0" bIns="0" rtlCol="0" anchor="t" anchorCtr="0">
            <a:spAutoFit/>
          </a:bodyPr>
          <a:lstStyle>
            <a:lvl1pPr>
              <a:defRPr kumimoji="1" lang="en-US" altLang="ja-JP" sz="1100" smtClean="0">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46" r:id="rId3"/>
    <p:sldLayoutId id="2147483947" r:id="rId4"/>
    <p:sldLayoutId id="2147483911" r:id="rId5"/>
    <p:sldLayoutId id="2147483912" r:id="rId6"/>
    <p:sldLayoutId id="2147483934" r:id="rId7"/>
    <p:sldLayoutId id="2147483983" r:id="rId8"/>
    <p:sldLayoutId id="2147483984" r:id="rId9"/>
    <p:sldLayoutId id="2147483985" r:id="rId10"/>
    <p:sldLayoutId id="2147483959" r:id="rId11"/>
    <p:sldLayoutId id="2147483969" r:id="rId12"/>
    <p:sldLayoutId id="2147483960" r:id="rId13"/>
    <p:sldLayoutId id="2147483961" r:id="rId14"/>
    <p:sldLayoutId id="2147483976" r:id="rId15"/>
    <p:sldLayoutId id="2147483977" r:id="rId16"/>
    <p:sldLayoutId id="2147483978" r:id="rId17"/>
    <p:sldLayoutId id="2147483979" r:id="rId18"/>
    <p:sldLayoutId id="2147483952" r:id="rId19"/>
    <p:sldLayoutId id="2147483957" r:id="rId20"/>
    <p:sldLayoutId id="2147483956" r:id="rId21"/>
    <p:sldLayoutId id="2147483958" r:id="rId22"/>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A4A3A4"/>
          </p15:clr>
        </p15:guide>
        <p15:guide id="1" orient="horz" pos="96" userDrawn="1">
          <p15:clr>
            <a:srgbClr val="A4A3A4"/>
          </p15:clr>
        </p15:guide>
        <p15:guide id="2" pos="3727" userDrawn="1">
          <p15:clr>
            <a:srgbClr val="A4A3A4"/>
          </p15:clr>
        </p15:guide>
        <p15:guide id="3" pos="3953" userDrawn="1">
          <p15:clr>
            <a:srgbClr val="A4A3A4"/>
          </p15:clr>
        </p15:guide>
        <p15:guide id="4" pos="7378" userDrawn="1">
          <p15:clr>
            <a:srgbClr val="A4A3A4"/>
          </p15:clr>
        </p15:guide>
        <p15:guide id="5" pos="302" userDrawn="1">
          <p15:clr>
            <a:srgbClr val="A4A3A4"/>
          </p15:clr>
        </p15:guide>
        <p15:guide id="6" orient="horz" pos="527" userDrawn="1">
          <p15:clr>
            <a:srgbClr val="A4A3A4"/>
          </p15:clr>
        </p15:guide>
        <p15:guide id="8" orient="horz" pos="935" userDrawn="1">
          <p15:clr>
            <a:srgbClr val="A4A3A4"/>
          </p15:clr>
        </p15:guide>
        <p15:guide id="9" orient="horz" pos="3974" userDrawn="1">
          <p15:clr>
            <a:srgbClr val="A4A3A4"/>
          </p15:clr>
        </p15:guide>
        <p15:guide id="10" orient="horz" pos="4156" userDrawn="1">
          <p15:clr>
            <a:srgbClr val="A4A3A4"/>
          </p15:clr>
        </p15:guide>
        <p15:guide id="11" orient="horz" pos="4269" userDrawn="1">
          <p15:clr>
            <a:srgbClr val="A4A3A4"/>
          </p15:clr>
        </p15:guide>
        <p15:guide id="12" orient="horz" pos="64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710619-D609-4ABA-8EC3-1DBA3A476E15}"/>
              </a:ext>
            </a:extLst>
          </p:cNvPr>
          <p:cNvGraphicFramePr>
            <a:graphicFrameLocks noChangeAspect="1"/>
          </p:cNvGraphicFramePr>
          <p:nvPr userDrawn="1">
            <p:custDataLst>
              <p:tags r:id="rId8"/>
            </p:custDataLst>
            <p:extLst>
              <p:ext uri="{D42A27DB-BD31-4B8C-83A1-F6EECF244321}">
                <p14:modId xmlns:p14="http://schemas.microsoft.com/office/powerpoint/2010/main" val="169708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444" imgH="443" progId="TCLayout.ActiveDocument.1">
                  <p:embed/>
                </p:oleObj>
              </mc:Choice>
              <mc:Fallback>
                <p:oleObj name="think-cellスライド" r:id="rId9" imgW="444" imgH="443" progId="TCLayout.ActiveDocument.1">
                  <p:embed/>
                  <p:pic>
                    <p:nvPicPr>
                      <p:cNvPr id="4" name="オブジェクト 3" hidden="1">
                        <a:extLst>
                          <a:ext uri="{FF2B5EF4-FFF2-40B4-BE49-F238E27FC236}">
                            <a16:creationId xmlns:a16="http://schemas.microsoft.com/office/drawing/2014/main" id="{88710619-D609-4ABA-8EC3-1DBA3A476E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52400"/>
            <a:ext cx="11232000" cy="647700"/>
          </a:xfrm>
          <a:prstGeom prst="rect">
            <a:avLst/>
          </a:prstGeom>
        </p:spPr>
        <p:txBody>
          <a:bodyPr vert="horz" lIns="0" tIns="0" rIns="0" bIns="0" rtlCol="0" anchor="b" anchorCtr="0">
            <a:noAutofit/>
          </a:bodyPr>
          <a:lstStyle/>
          <a:p>
            <a:r>
              <a:rPr kumimoji="1" lang="ja-JP" altLang="en-US"/>
              <a:t>スライドタイトル</a:t>
            </a:r>
            <a:r>
              <a:rPr lang="ja-JP" altLang="en-US" noProof="0"/>
              <a:t>（入力が必要）</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GB" altLang="en-GB"/>
              <a:t>DT Template 16:9</a:t>
            </a:r>
          </a:p>
        </p:txBody>
      </p:sp>
      <p:sp>
        <p:nvSpPr>
          <p:cNvPr id="9" name="スライド番号プレースホルダ 9"/>
          <p:cNvSpPr>
            <a:spLocks noGrp="1"/>
          </p:cNvSpPr>
          <p:nvPr>
            <p:ph type="sldNum" sz="quarter" idx="4"/>
          </p:nvPr>
        </p:nvSpPr>
        <p:spPr bwMode="gray">
          <a:xfrm>
            <a:off x="4788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4725"/>
            <a:ext cx="11232000" cy="4824000"/>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50" r:id="rId1"/>
    <p:sldLayoutId id="2147483975" r:id="rId2"/>
    <p:sldLayoutId id="2147483970" r:id="rId3"/>
    <p:sldLayoutId id="2147483980" r:id="rId4"/>
    <p:sldLayoutId id="2147483981" r:id="rId5"/>
    <p:sldLayoutId id="2147483982" r:id="rId6"/>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indent="0" algn="l" defTabSz="990564" rtl="0" eaLnBrk="1" latinLnBrk="0" hangingPunct="1">
        <a:lnSpc>
          <a:spcPct val="100000"/>
        </a:lnSpc>
        <a:spcBef>
          <a:spcPts val="600"/>
        </a:spcBef>
        <a:spcAft>
          <a:spcPts val="0"/>
        </a:spcAft>
        <a:buSzPct val="100000"/>
        <a:buFont typeface="Arial" panose="020B0604020202020204" pitchFamily="34" charset="0"/>
        <a:buNone/>
        <a:defRPr kumimoji="1" sz="1600" b="0" kern="1200" baseline="0">
          <a:solidFill>
            <a:schemeClr val="tx1"/>
          </a:solidFill>
          <a:latin typeface="+mn-lt"/>
          <a:ea typeface="+mn-ea"/>
          <a:cs typeface="+mn-cs"/>
        </a:defRPr>
      </a:lvl1pPr>
      <a:lvl2pPr marL="252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n"/>
        <a:defRPr kumimoji="1" lang="en-US" sz="1600" b="0" kern="1200" baseline="0" dirty="0" smtClean="0">
          <a:solidFill>
            <a:schemeClr val="tx1"/>
          </a:solidFill>
          <a:latin typeface="+mn-lt"/>
          <a:ea typeface="+mn-ea"/>
          <a:cs typeface="+mn-cs"/>
        </a:defRPr>
      </a:lvl2pPr>
      <a:lvl3pPr marL="504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Ø"/>
        <a:defRPr kumimoji="1" lang="en-US" sz="1600" b="0" kern="1200" baseline="0" dirty="0" smtClean="0">
          <a:solidFill>
            <a:schemeClr val="tx1"/>
          </a:solidFill>
          <a:latin typeface="+mn-lt"/>
          <a:ea typeface="+mn-ea"/>
          <a:cs typeface="+mn-cs"/>
        </a:defRPr>
      </a:lvl3pPr>
      <a:lvl4pPr marL="684000" indent="-180000" algn="l" defTabSz="990564" rtl="0" eaLnBrk="1" latinLnBrk="0" hangingPunct="1">
        <a:lnSpc>
          <a:spcPct val="10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2" orient="horz" pos="96" userDrawn="1">
          <p15:clr>
            <a:srgbClr val="A4A3A4"/>
          </p15:clr>
        </p15:guide>
        <p15:guide id="3" pos="3727" userDrawn="1">
          <p15:clr>
            <a:srgbClr val="A4A3A4"/>
          </p15:clr>
        </p15:guide>
        <p15:guide id="4" pos="3953" userDrawn="1">
          <p15:clr>
            <a:srgbClr val="A4A3A4"/>
          </p15:clr>
        </p15:guide>
        <p15:guide id="5" pos="7378" userDrawn="1">
          <p15:clr>
            <a:srgbClr val="A4A3A4"/>
          </p15:clr>
        </p15:guide>
        <p15:guide id="6" pos="302" userDrawn="1">
          <p15:clr>
            <a:srgbClr val="A4A3A4"/>
          </p15:clr>
        </p15:guide>
        <p15:guide id="7" orient="horz" pos="504" userDrawn="1">
          <p15:clr>
            <a:srgbClr val="A4A3A4"/>
          </p15:clr>
        </p15:guide>
        <p15:guide id="8" orient="horz" pos="527" userDrawn="1">
          <p15:clr>
            <a:srgbClr val="A4A3A4"/>
          </p15:clr>
        </p15:guide>
        <p15:guide id="9" orient="horz" pos="935" userDrawn="1">
          <p15:clr>
            <a:srgbClr val="A4A3A4"/>
          </p15:clr>
        </p15:guide>
        <p15:guide id="10" orient="horz" pos="3974" userDrawn="1">
          <p15:clr>
            <a:srgbClr val="A4A3A4"/>
          </p15:clr>
        </p15:guide>
        <p15:guide id="11" orient="horz" pos="4156" userDrawn="1">
          <p15:clr>
            <a:srgbClr val="A4A3A4"/>
          </p15:clr>
        </p15:guide>
        <p15:guide id="12" orient="horz" pos="4269"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7"/>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8" imgW="444" imgH="443" progId="TCLayout.ActiveDocument.1">
                  <p:embed/>
                </p:oleObj>
              </mc:Choice>
              <mc:Fallback>
                <p:oleObj name="think-cellスライド" r:id="rId28"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endParaRPr lang="en-US"/>
          </a:p>
        </p:txBody>
      </p:sp>
    </p:spTree>
    <p:extLst>
      <p:ext uri="{BB962C8B-B14F-4D97-AF65-F5344CB8AC3E}">
        <p14:creationId xmlns:p14="http://schemas.microsoft.com/office/powerpoint/2010/main" val="2354391317"/>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 id="2147484005" r:id="rId19"/>
    <p:sldLayoutId id="2147484006" r:id="rId20"/>
    <p:sldLayoutId id="2147484007" r:id="rId21"/>
    <p:sldLayoutId id="2147484008" r:id="rId22"/>
    <p:sldLayoutId id="2147484009" r:id="rId23"/>
    <p:sldLayoutId id="2147484011" r:id="rId24"/>
    <p:sldLayoutId id="2147484033" r:id="rId25"/>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2"/>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3" imgW="444" imgH="443" progId="TCLayout.ActiveDocument.1">
                  <p:embed/>
                </p:oleObj>
              </mc:Choice>
              <mc:Fallback>
                <p:oleObj name="think-cellスライド" r:id="rId23"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6315736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4.xml"/><Relationship Id="rId1" Type="http://schemas.openxmlformats.org/officeDocument/2006/relationships/tags" Target="../tags/tag76.xml"/><Relationship Id="rId6" Type="http://schemas.openxmlformats.org/officeDocument/2006/relationships/image" Target="../media/image17.jpeg"/><Relationship Id="rId5" Type="http://schemas.openxmlformats.org/officeDocument/2006/relationships/image" Target="../media/image16.emf"/><Relationship Id="rId4" Type="http://schemas.openxmlformats.org/officeDocument/2006/relationships/oleObject" Target="../embeddings/oleObject40.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3.xml"/><Relationship Id="rId1" Type="http://schemas.openxmlformats.org/officeDocument/2006/relationships/tags" Target="../tags/tag77.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3.xml"/><Relationship Id="rId1" Type="http://schemas.openxmlformats.org/officeDocument/2006/relationships/tags" Target="../tags/tag78.xml"/><Relationship Id="rId5" Type="http://schemas.openxmlformats.org/officeDocument/2006/relationships/image" Target="../media/image20.emf"/><Relationship Id="rId4" Type="http://schemas.openxmlformats.org/officeDocument/2006/relationships/oleObject" Target="../embeddings/oleObject4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3.xml"/><Relationship Id="rId1" Type="http://schemas.openxmlformats.org/officeDocument/2006/relationships/tags" Target="../tags/tag79.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40.xml"/><Relationship Id="rId1" Type="http://schemas.openxmlformats.org/officeDocument/2006/relationships/tags" Target="../tags/tag80.x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3.xml"/><Relationship Id="rId1" Type="http://schemas.openxmlformats.org/officeDocument/2006/relationships/tags" Target="../tags/tag82.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40.xml"/><Relationship Id="rId1" Type="http://schemas.openxmlformats.org/officeDocument/2006/relationships/tags" Target="../tags/tag85.xml"/><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3.xml"/><Relationship Id="rId1" Type="http://schemas.openxmlformats.org/officeDocument/2006/relationships/tags" Target="../tags/tag86.xml"/><Relationship Id="rId6" Type="http://schemas.openxmlformats.org/officeDocument/2006/relationships/image" Target="../media/image19.jpeg"/><Relationship Id="rId5" Type="http://schemas.openxmlformats.org/officeDocument/2006/relationships/image" Target="../media/image18.emf"/><Relationship Id="rId4" Type="http://schemas.openxmlformats.org/officeDocument/2006/relationships/oleObject" Target="../embeddings/oleObject41.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40.xml"/><Relationship Id="rId1" Type="http://schemas.openxmlformats.org/officeDocument/2006/relationships/tags" Target="../tags/tag87.xml"/><Relationship Id="rId5" Type="http://schemas.openxmlformats.org/officeDocument/2006/relationships/image" Target="../media/image26.svg"/><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40.xml"/><Relationship Id="rId1" Type="http://schemas.openxmlformats.org/officeDocument/2006/relationships/tags" Target="../tags/tag88.xml"/><Relationship Id="rId5" Type="http://schemas.openxmlformats.org/officeDocument/2006/relationships/image" Target="../media/image26.svg"/><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hyperlink" Target="http://www.bsigroup.com/clientDirectory" TargetMode="External"/><Relationship Id="rId2" Type="http://schemas.openxmlformats.org/officeDocument/2006/relationships/notesSlide" Target="../notesSlides/notesSlide7.xml"/><Relationship Id="rId1" Type="http://schemas.openxmlformats.org/officeDocument/2006/relationships/slideLayout" Target="../slideLayouts/slideLayout47.xml"/><Relationship Id="rId6" Type="http://schemas.openxmlformats.org/officeDocument/2006/relationships/hyperlink" Target="http://www.deloitte.com/" TargetMode="External"/><Relationship Id="rId5" Type="http://schemas.openxmlformats.org/officeDocument/2006/relationships/hyperlink" Target="http://www.deloitte.com/jp/about" TargetMode="External"/><Relationship Id="rId4" Type="http://schemas.openxmlformats.org/officeDocument/2006/relationships/hyperlink" Target="http://www.deloitte.com/jp" TargetMode="External"/></Relationships>
</file>

<file path=ppt/slides/_rels/slide15.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EB6184-41DC-7C82-EBC9-6125A7A9A4E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06" imgH="306" progId="TCLayout.ActiveDocument.1">
                  <p:embed/>
                </p:oleObj>
              </mc:Choice>
              <mc:Fallback>
                <p:oleObj name="think-cellスライド" r:id="rId4" imgW="306" imgH="306" progId="TCLayout.ActiveDocument.1">
                  <p:embed/>
                  <p:pic>
                    <p:nvPicPr>
                      <p:cNvPr id="2" name="think-cell data - do not delete" hidden="1">
                        <a:extLst>
                          <a:ext uri="{FF2B5EF4-FFF2-40B4-BE49-F238E27FC236}">
                            <a16:creationId xmlns:a16="http://schemas.microsoft.com/office/drawing/2014/main" id="{5FEB6184-41DC-7C82-EBC9-6125A7A9A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図 18" descr="夜にライトアップされている&#10;&#10;AI によって生成されたコンテンツは間違っている可能性があります。">
            <a:extLst>
              <a:ext uri="{FF2B5EF4-FFF2-40B4-BE49-F238E27FC236}">
                <a16:creationId xmlns:a16="http://schemas.microsoft.com/office/drawing/2014/main" id="{25F0A911-5C19-2636-0451-C85C33F6464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0"/>
            <a:ext cx="3904090" cy="6876138"/>
          </a:xfrm>
          <a:prstGeom prst="rect">
            <a:avLst/>
          </a:prstGeom>
        </p:spPr>
      </p:pic>
      <p:sp>
        <p:nvSpPr>
          <p:cNvPr id="25" name="テキスト ボックス 24">
            <a:extLst>
              <a:ext uri="{FF2B5EF4-FFF2-40B4-BE49-F238E27FC236}">
                <a16:creationId xmlns:a16="http://schemas.microsoft.com/office/drawing/2014/main" id="{63CADF77-D81E-E8E2-9C28-F7386E272BD4}"/>
              </a:ext>
            </a:extLst>
          </p:cNvPr>
          <p:cNvSpPr txBox="1"/>
          <p:nvPr/>
        </p:nvSpPr>
        <p:spPr bwMode="gray">
          <a:xfrm>
            <a:off x="4661598" y="2266047"/>
            <a:ext cx="6352701" cy="492443"/>
          </a:xfrm>
          <a:prstGeom prst="rect">
            <a:avLst/>
          </a:prstGeom>
          <a:noFill/>
        </p:spPr>
        <p:txBody>
          <a:bodyPr wrap="non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a:pP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BX</a:t>
            </a: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取り組み｜</a:t>
            </a: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Quick-Win</a:t>
            </a: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施策の推進</a:t>
            </a:r>
          </a:p>
        </p:txBody>
      </p:sp>
      <p:sp>
        <p:nvSpPr>
          <p:cNvPr id="28" name="テキスト ボックス 27">
            <a:extLst>
              <a:ext uri="{FF2B5EF4-FFF2-40B4-BE49-F238E27FC236}">
                <a16:creationId xmlns:a16="http://schemas.microsoft.com/office/drawing/2014/main" id="{81AAFA19-1B8D-A828-A17B-E52449575833}"/>
              </a:ext>
            </a:extLst>
          </p:cNvPr>
          <p:cNvSpPr txBox="1"/>
          <p:nvPr/>
        </p:nvSpPr>
        <p:spPr bwMode="gray">
          <a:xfrm>
            <a:off x="4661598" y="3780005"/>
            <a:ext cx="4730462" cy="615553"/>
          </a:xfrm>
          <a:prstGeom prst="rect">
            <a:avLst/>
          </a:prstGeom>
          <a:noFill/>
        </p:spPr>
        <p:txBody>
          <a:bodyPr wrap="none" lIns="0" tIns="0" rIns="0" bIns="0" rtlCol="0" anchor="t">
            <a:spAutoFit/>
          </a:bodyPr>
          <a:lstStyle/>
          <a:p>
            <a:pPr lvl="0" defTabSz="990564" fontAlgn="auto">
              <a:spcBef>
                <a:spcPts val="0"/>
              </a:spcBef>
              <a:spcAft>
                <a:spcPts val="0"/>
              </a:spcAft>
              <a:buSzPct val="100000"/>
            </a:pPr>
            <a:r>
              <a:rPr kumimoji="0" lang="ja-JP" altLang="en-US" sz="2000" b="0" i="0" u="none" strike="noStrike" kern="1200" cap="none" spc="0" normalizeH="0" baseline="0" noProof="0" dirty="0">
                <a:ln>
                  <a:noFill/>
                </a:ln>
                <a:solidFill>
                  <a:prstClr val="black"/>
                </a:solidFill>
                <a:effectLst/>
                <a:uLnTx/>
                <a:uFillTx/>
                <a:latin typeface="Arial"/>
                <a:ea typeface="Yu Gothic UI"/>
                <a:cs typeface="Arial"/>
                <a:sym typeface="+mj-lt"/>
              </a:rPr>
              <a:t>第</a:t>
            </a:r>
            <a:r>
              <a:rPr lang="ja-JP" altLang="en-US" sz="2000" dirty="0">
                <a:solidFill>
                  <a:prstClr val="black"/>
                </a:solidFill>
                <a:latin typeface="Arial"/>
                <a:ea typeface="Yu Gothic UI"/>
                <a:cs typeface="Arial"/>
                <a:sym typeface="+mj-lt"/>
              </a:rPr>
              <a:t>10</a:t>
            </a:r>
            <a:r>
              <a:rPr kumimoji="0" lang="ja-JP" altLang="en-US" sz="2000" b="0" i="0" u="none" strike="noStrike" kern="1200" cap="none" spc="0" normalizeH="0" baseline="0" noProof="0" dirty="0">
                <a:ln>
                  <a:noFill/>
                </a:ln>
                <a:solidFill>
                  <a:prstClr val="black"/>
                </a:solidFill>
                <a:effectLst/>
                <a:uLnTx/>
                <a:uFillTx/>
                <a:latin typeface="Arial"/>
                <a:ea typeface="Yu Gothic UI"/>
                <a:cs typeface="Arial"/>
                <a:sym typeface="+mj-lt"/>
              </a:rPr>
              <a:t>回週次進捗報告資料 ｜</a:t>
            </a:r>
            <a:r>
              <a:rPr lang="ja-JP" altLang="en-US" sz="2000" dirty="0">
                <a:latin typeface="Arial"/>
                <a:cs typeface="Arial"/>
                <a:sym typeface="+mj-lt"/>
              </a:rPr>
              <a:t>Quick-Win</a:t>
            </a:r>
            <a:r>
              <a:rPr lang="ja-JP" altLang="en-US" sz="2000" dirty="0">
                <a:latin typeface="Arial"/>
                <a:cs typeface="Arial"/>
                <a:sym typeface="+mj-lt"/>
              </a:rPr>
              <a:t>構築</a:t>
            </a:r>
            <a:br>
              <a:rPr lang="ja-JP" altLang="en-US" sz="2000" dirty="0"/>
            </a:br>
            <a:endParaRPr kumimoji="1" lang="ja-JP" altLang="en-US" sz="2000" b="0" i="0" u="none" strike="noStrike" kern="1200" cap="none" spc="0" normalizeH="0" baseline="0" noProof="0" dirty="0">
              <a:ln>
                <a:noFill/>
              </a:ln>
              <a:solidFill>
                <a:prstClr val="black"/>
              </a:solidFill>
              <a:effectLst/>
              <a:uLnTx/>
              <a:uFillTx/>
              <a:latin typeface="Calibri"/>
              <a:ea typeface="Yu Gothic UI"/>
              <a:cs typeface="Arial" charset="0"/>
            </a:endParaRPr>
          </a:p>
        </p:txBody>
      </p:sp>
      <p:sp>
        <p:nvSpPr>
          <p:cNvPr id="33" name="テキスト ボックス 32">
            <a:extLst>
              <a:ext uri="{FF2B5EF4-FFF2-40B4-BE49-F238E27FC236}">
                <a16:creationId xmlns:a16="http://schemas.microsoft.com/office/drawing/2014/main" id="{844AB2EE-B4B8-DAE9-7E1E-1B71A5C58662}"/>
              </a:ext>
            </a:extLst>
          </p:cNvPr>
          <p:cNvSpPr txBox="1"/>
          <p:nvPr/>
        </p:nvSpPr>
        <p:spPr bwMode="gray">
          <a:xfrm>
            <a:off x="4661598" y="4283964"/>
            <a:ext cx="1548501" cy="307777"/>
          </a:xfrm>
          <a:prstGeom prst="rect">
            <a:avLst/>
          </a:prstGeom>
          <a:noFill/>
        </p:spPr>
        <p:txBody>
          <a:bodyPr wrap="none" lIns="0" tIns="0" rIns="0" bIns="0" rtlCol="0" anchor="t">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2000" b="0" i="0" u="none" strike="noStrike" kern="1200" cap="none" spc="0" normalizeH="0" baseline="0" noProof="0" dirty="0">
                <a:ln>
                  <a:noFill/>
                </a:ln>
                <a:solidFill>
                  <a:prstClr val="black"/>
                </a:solidFill>
                <a:effectLst/>
                <a:uLnTx/>
                <a:uFillTx/>
                <a:latin typeface="Calibri"/>
                <a:ea typeface="Yu Gothic UI"/>
                <a:cs typeface="Arial"/>
              </a:rPr>
              <a:t>2026</a:t>
            </a:r>
            <a:r>
              <a:rPr kumimoji="1" lang="ja-JP" altLang="en-US" sz="2000" b="0" i="0" u="none" strike="noStrike" kern="1200" cap="none" spc="0" normalizeH="0" baseline="0" noProof="0" dirty="0">
                <a:ln>
                  <a:noFill/>
                </a:ln>
                <a:solidFill>
                  <a:prstClr val="black"/>
                </a:solidFill>
                <a:effectLst/>
                <a:uLnTx/>
                <a:uFillTx/>
                <a:latin typeface="Calibri"/>
                <a:ea typeface="Yu Gothic UI"/>
                <a:cs typeface="Arial"/>
              </a:rPr>
              <a:t>年</a:t>
            </a:r>
            <a:r>
              <a:rPr kumimoji="1" lang="ja-JP" altLang="en-US" sz="2000" dirty="0">
                <a:solidFill>
                  <a:prstClr val="black"/>
                </a:solidFill>
                <a:latin typeface="Calibri"/>
                <a:ea typeface="Yu Gothic UI"/>
                <a:cs typeface="Arial"/>
              </a:rPr>
              <a:t>9</a:t>
            </a:r>
            <a:r>
              <a:rPr kumimoji="1" lang="ja-JP" altLang="en-US" sz="2000" b="0" i="0" u="none" strike="noStrike" kern="1200" cap="none" spc="0" normalizeH="0" baseline="0" noProof="0" dirty="0">
                <a:ln>
                  <a:noFill/>
                </a:ln>
                <a:solidFill>
                  <a:prstClr val="black"/>
                </a:solidFill>
                <a:effectLst/>
                <a:uLnTx/>
                <a:uFillTx/>
                <a:latin typeface="Calibri"/>
                <a:ea typeface="Yu Gothic UI"/>
                <a:cs typeface="Arial"/>
              </a:rPr>
              <a:t>月</a:t>
            </a:r>
            <a:r>
              <a:rPr kumimoji="1" lang="ja-JP" altLang="en-US" sz="2000" dirty="0">
                <a:solidFill>
                  <a:prstClr val="black"/>
                </a:solidFill>
                <a:latin typeface="Calibri"/>
                <a:ea typeface="Yu Gothic UI"/>
                <a:cs typeface="Arial"/>
              </a:rPr>
              <a:t>9</a:t>
            </a:r>
            <a:r>
              <a:rPr kumimoji="1" lang="ja-JP" altLang="en-US" sz="2000" b="0" i="0" u="none" strike="noStrike" kern="1200" cap="none" spc="0" normalizeH="0" baseline="0" noProof="0" dirty="0">
                <a:ln>
                  <a:noFill/>
                </a:ln>
                <a:solidFill>
                  <a:prstClr val="black"/>
                </a:solidFill>
                <a:effectLst/>
                <a:uLnTx/>
                <a:uFillTx/>
                <a:latin typeface="Calibri"/>
                <a:ea typeface="Yu Gothic UI"/>
                <a:cs typeface="Arial"/>
              </a:rPr>
              <a:t>日</a:t>
            </a:r>
          </a:p>
        </p:txBody>
      </p:sp>
    </p:spTree>
    <p:extLst>
      <p:ext uri="{BB962C8B-B14F-4D97-AF65-F5344CB8AC3E}">
        <p14:creationId xmlns:p14="http://schemas.microsoft.com/office/powerpoint/2010/main" val="80165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7C1C0C3A-F166-F315-FCA1-71224CFDB38D}"/>
              </a:ext>
            </a:extLst>
          </p:cNvPr>
          <p:cNvSpPr/>
          <p:nvPr/>
        </p:nvSpPr>
        <p:spPr bwMode="gray">
          <a:xfrm>
            <a:off x="398151" y="1610967"/>
            <a:ext cx="5877237" cy="339365"/>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CF7891DD-C84F-A88D-23C9-77A78E2E35EE}"/>
              </a:ext>
            </a:extLst>
          </p:cNvPr>
          <p:cNvSpPr txBox="1"/>
          <p:nvPr/>
        </p:nvSpPr>
        <p:spPr bwMode="gray">
          <a:xfrm>
            <a:off x="479425" y="1280248"/>
            <a:ext cx="5615999" cy="2662267"/>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dirty="0">
              <a:solidFill>
                <a:srgbClr val="000000"/>
              </a:solidFill>
              <a:latin typeface="+mn-ea"/>
              <a:cs typeface="Arial"/>
            </a:endParaRPr>
          </a:p>
          <a:p>
            <a:pPr marL="269875" marR="0" indent="-269875" defTabSz="990564">
              <a:lnSpc>
                <a:spcPct val="100000"/>
              </a:lnSpc>
              <a:spcBef>
                <a:spcPts val="0"/>
              </a:spcBef>
              <a:spcAft>
                <a:spcPts val="600"/>
              </a:spcAft>
              <a:buClrTx/>
              <a:buSzPct val="100000"/>
              <a:buAutoNum type="arabicPeriod"/>
              <a:tabLst/>
            </a:pPr>
            <a:r>
              <a:rPr lang="ja-JP" altLang="en-US" sz="1800" dirty="0">
                <a:solidFill>
                  <a:schemeClr val="bg1"/>
                </a:solidFill>
                <a:latin typeface="+mn-ea"/>
                <a:cs typeface="Arial"/>
                <a:sym typeface="+mn-lt"/>
              </a:rPr>
              <a:t>Quick-Win</a:t>
            </a:r>
            <a:r>
              <a:rPr lang="ja-JP" altLang="en-US" sz="1800" dirty="0">
                <a:solidFill>
                  <a:schemeClr val="bg1"/>
                </a:solidFill>
                <a:latin typeface="+mn-ea"/>
                <a:cs typeface="Arial"/>
                <a:sym typeface="+mn-lt"/>
              </a:rPr>
              <a:t>構築の全体進捗　</a:t>
            </a:r>
            <a:r>
              <a:rPr lang="ja-JP" altLang="en-US" sz="1800" dirty="0">
                <a:solidFill>
                  <a:schemeClr val="bg1"/>
                </a:solidFill>
                <a:latin typeface="+mn-ea"/>
                <a:cs typeface="Arial"/>
                <a:sym typeface="+mn-lt"/>
              </a:rPr>
              <a:t>‐</a:t>
            </a:r>
            <a:r>
              <a:rPr lang="ja-JP" altLang="en-US" sz="1800" dirty="0">
                <a:solidFill>
                  <a:schemeClr val="bg1"/>
                </a:solidFill>
                <a:latin typeface="+mn-ea"/>
                <a:cs typeface="Arial"/>
                <a:sym typeface="+mn-lt"/>
              </a:rPr>
              <a:t>　</a:t>
            </a:r>
            <a:r>
              <a:rPr lang="ja-JP" altLang="en-US" sz="1800" dirty="0">
                <a:solidFill>
                  <a:schemeClr val="bg1"/>
                </a:solidFill>
                <a:latin typeface="+mn-ea"/>
                <a:cs typeface="Arial"/>
                <a:sym typeface="+mn-lt"/>
              </a:rPr>
              <a:t>5</a:t>
            </a:r>
            <a:r>
              <a:rPr lang="ja-JP" altLang="en-US" sz="1800" dirty="0">
                <a:solidFill>
                  <a:schemeClr val="bg1"/>
                </a:solidFill>
                <a:latin typeface="+mn-ea"/>
                <a:cs typeface="Arial"/>
                <a:sym typeface="+mn-lt"/>
              </a:rPr>
              <a:t>分</a:t>
            </a:r>
            <a:endParaRPr lang="ja-JP" altLang="en-US" sz="1800" dirty="0">
              <a:solidFill>
                <a:schemeClr val="bg1"/>
              </a:solidFill>
              <a:latin typeface="+mn-ea"/>
              <a:cs typeface="Arial"/>
            </a:endParaRPr>
          </a:p>
          <a:p>
            <a:pPr marL="269875" marR="0" indent="-269875"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dirty="0">
                <a:latin typeface="+mn-ea"/>
                <a:cs typeface="Arial"/>
                <a:sym typeface="+mn-lt"/>
              </a:rPr>
              <a:t>前週振り返りおよび現状報告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sym typeface="+mn-lt"/>
              </a:rPr>
              <a:t>ご相談事項（2件）</a:t>
            </a:r>
            <a:endParaRPr lang="ja-JP" altLang="en-US" sz="1600" dirty="0">
              <a:highlight>
                <a:srgbClr val="FFFF00"/>
              </a:highlight>
              <a:latin typeface="+mn-ea"/>
            </a:endParaRPr>
          </a:p>
          <a:p>
            <a:pPr marL="269875" indent="-269875" defTabSz="990564" fontAlgn="auto">
              <a:spcBef>
                <a:spcPts val="0"/>
              </a:spcBef>
              <a:spcAft>
                <a:spcPts val="600"/>
              </a:spcAft>
              <a:buSzPct val="100000"/>
              <a:buFont typeface="+mj-lt"/>
              <a:buAutoNum type="arabicPeriod"/>
            </a:pPr>
            <a:r>
              <a:rPr lang="ja-JP" altLang="en-US" sz="1800" dirty="0">
                <a:latin typeface="Arial"/>
                <a:cs typeface="Arial"/>
              </a:rPr>
              <a:t>アプリのアップデート</a:t>
            </a:r>
            <a:r>
              <a:rPr lang="ja-JP" altLang="en-US" sz="1800" dirty="0">
                <a:latin typeface="+mn-ea"/>
                <a:cs typeface="Arial"/>
                <a:sym typeface="+mn-lt"/>
              </a:rPr>
              <a:t>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30</a:t>
            </a:r>
            <a:r>
              <a:rPr lang="ja-JP" altLang="en-US" sz="1800" dirty="0">
                <a:latin typeface="+mn-ea"/>
                <a:cs typeface="Arial"/>
                <a:sym typeface="+mn-lt"/>
              </a:rPr>
              <a:t>分</a:t>
            </a:r>
            <a:endParaRPr lang="ja-JP" altLang="en-US" sz="1800" dirty="0"/>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経営診断</a:t>
            </a:r>
            <a:endParaRPr lang="ja-JP" altLang="en-US" sz="16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株主総会</a:t>
            </a:r>
            <a:r>
              <a:rPr lang="ja-JP" altLang="en-US" sz="1600" dirty="0">
                <a:latin typeface="+mn-ea"/>
              </a:rPr>
              <a:t>QA</a:t>
            </a:r>
          </a:p>
          <a:p>
            <a:pPr marL="269875" indent="-269875" defTabSz="990564">
              <a:spcBef>
                <a:spcPts val="0"/>
              </a:spcBef>
              <a:spcAft>
                <a:spcPts val="600"/>
              </a:spcAft>
              <a:buSzPct val="100000"/>
              <a:buAutoNum type="arabicPeriod"/>
            </a:pPr>
            <a:r>
              <a:rPr lang="ja-JP" altLang="en-US" sz="1800" dirty="0">
                <a:latin typeface="Arial"/>
                <a:cs typeface="Arial"/>
              </a:rPr>
              <a:t>10</a:t>
            </a:r>
            <a:r>
              <a:rPr lang="ja-JP" altLang="en-US" sz="1800" dirty="0">
                <a:latin typeface="Arial"/>
                <a:cs typeface="Arial"/>
              </a:rPr>
              <a:t>月のセキュア公開に向けて　</a:t>
            </a:r>
            <a:r>
              <a:rPr lang="ja-JP" altLang="en-US" sz="1800" dirty="0">
                <a:latin typeface="Arial"/>
                <a:cs typeface="Arial"/>
              </a:rPr>
              <a:t>‐</a:t>
            </a:r>
            <a:r>
              <a:rPr lang="ja-JP" altLang="en-US" sz="1800" dirty="0">
                <a:latin typeface="Arial"/>
                <a:cs typeface="Arial"/>
              </a:rPr>
              <a:t>　</a:t>
            </a:r>
            <a:r>
              <a:rPr lang="ja-JP" altLang="en-US" sz="1800" dirty="0">
                <a:latin typeface="Arial"/>
                <a:cs typeface="Arial"/>
              </a:rPr>
              <a:t>10</a:t>
            </a:r>
            <a:r>
              <a:rPr lang="ja-JP" altLang="en-US" sz="1800" dirty="0">
                <a:latin typeface="Arial"/>
                <a:cs typeface="Arial"/>
              </a:rPr>
              <a:t>分</a:t>
            </a:r>
            <a:endParaRPr lang="ja-JP" altLang="en-US" sz="1800" dirty="0">
              <a:latin typeface="Arial"/>
              <a:cs typeface="Arial"/>
            </a:endParaRPr>
          </a:p>
        </p:txBody>
      </p:sp>
    </p:spTree>
    <p:extLst>
      <p:ext uri="{BB962C8B-B14F-4D97-AF65-F5344CB8AC3E}">
        <p14:creationId xmlns:p14="http://schemas.microsoft.com/office/powerpoint/2010/main" val="264210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1C5DF-8DA5-8829-4E69-DE9CAD569695}"/>
            </a:ext>
          </a:extLst>
        </p:cNvPr>
        <p:cNvGrpSpPr/>
        <p:nvPr/>
      </p:nvGrpSpPr>
      <p:grpSpPr>
        <a:xfrm>
          <a:off x="0" y="0"/>
          <a:ext cx="0" cy="0"/>
          <a:chOff x="0" y="0"/>
          <a:chExt cx="0" cy="0"/>
        </a:xfrm>
      </p:grpSpPr>
      <p:graphicFrame>
        <p:nvGraphicFramePr>
          <p:cNvPr id="28" name="think-cell data - do not delete" hidden="1">
            <a:extLst>
              <a:ext uri="{FF2B5EF4-FFF2-40B4-BE49-F238E27FC236}">
                <a16:creationId xmlns:a16="http://schemas.microsoft.com/office/drawing/2014/main" id="{B6735C63-2C37-863B-A416-87289FC73E6C}"/>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581" imgH="598" progId="TCLayout.ActiveDocument.1">
                  <p:embed/>
                </p:oleObj>
              </mc:Choice>
              <mc:Fallback>
                <p:oleObj name="think-cellスライド" r:id="rId4" imgW="581" imgH="598" progId="TCLayout.ActiveDocument.1">
                  <p:embed/>
                  <p:pic>
                    <p:nvPicPr>
                      <p:cNvPr id="28" name="think-cell data - do not delete" hidden="1">
                        <a:extLst>
                          <a:ext uri="{FF2B5EF4-FFF2-40B4-BE49-F238E27FC236}">
                            <a16:creationId xmlns:a16="http://schemas.microsoft.com/office/drawing/2014/main" id="{B6735C63-2C37-863B-A416-87289FC73E6C}"/>
                          </a:ext>
                        </a:extLst>
                      </p:cNvPr>
                      <p:cNvPicPr/>
                      <p:nvPr/>
                    </p:nvPicPr>
                    <p:blipFill>
                      <a:blip r:embed="rId5"/>
                      <a:stretch>
                        <a:fillRect/>
                      </a:stretch>
                    </p:blipFill>
                    <p:spPr>
                      <a:xfrm>
                        <a:off x="1144588" y="1588"/>
                        <a:ext cx="1588" cy="1588"/>
                      </a:xfrm>
                      <a:prstGeom prst="rect">
                        <a:avLst/>
                      </a:prstGeom>
                    </p:spPr>
                  </p:pic>
                </p:oleObj>
              </mc:Fallback>
            </mc:AlternateContent>
          </a:graphicData>
        </a:graphic>
      </p:graphicFrame>
      <p:cxnSp>
        <p:nvCxnSpPr>
          <p:cNvPr id="74" name="直線矢印コネクタ 73">
            <a:extLst>
              <a:ext uri="{FF2B5EF4-FFF2-40B4-BE49-F238E27FC236}">
                <a16:creationId xmlns:a16="http://schemas.microsoft.com/office/drawing/2014/main" id="{9CD73339-7D8D-6D4C-B9EA-18D846709865}"/>
              </a:ext>
            </a:extLst>
          </p:cNvPr>
          <p:cNvCxnSpPr>
            <a:cxnSpLocks/>
          </p:cNvCxnSpPr>
          <p:nvPr/>
        </p:nvCxnSpPr>
        <p:spPr bwMode="gray">
          <a:xfrm>
            <a:off x="7118504" y="2965692"/>
            <a:ext cx="0" cy="2719776"/>
          </a:xfrm>
          <a:prstGeom prst="straightConnector1">
            <a:avLst/>
          </a:prstGeom>
          <a:ln w="15875">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 name="テキスト プレースホルダー 2">
            <a:extLst>
              <a:ext uri="{FF2B5EF4-FFF2-40B4-BE49-F238E27FC236}">
                <a16:creationId xmlns:a16="http://schemas.microsoft.com/office/drawing/2014/main" id="{96283BDD-3239-E932-B8ED-4101DA8E3E0E}"/>
              </a:ext>
            </a:extLst>
          </p:cNvPr>
          <p:cNvSpPr>
            <a:spLocks noGrp="1"/>
          </p:cNvSpPr>
          <p:nvPr>
            <p:ph type="body" sz="quarter" idx="15"/>
          </p:nvPr>
        </p:nvSpPr>
        <p:spPr/>
        <p:txBody>
          <a:bodyPr/>
          <a:lstStyle/>
          <a:p>
            <a:r>
              <a:rPr kumimoji="1" lang="ja-JP" altLang="en-US"/>
              <a:t>プロジェクト状況とトピック</a:t>
            </a:r>
          </a:p>
        </p:txBody>
      </p:sp>
      <p:graphicFrame>
        <p:nvGraphicFramePr>
          <p:cNvPr id="5" name="表 4">
            <a:extLst>
              <a:ext uri="{FF2B5EF4-FFF2-40B4-BE49-F238E27FC236}">
                <a16:creationId xmlns:a16="http://schemas.microsoft.com/office/drawing/2014/main" id="{8B4887E1-5056-B873-C248-6909B58B21A5}"/>
              </a:ext>
            </a:extLst>
          </p:cNvPr>
          <p:cNvGraphicFramePr>
            <a:graphicFrameLocks noGrp="1"/>
          </p:cNvGraphicFramePr>
          <p:nvPr/>
        </p:nvGraphicFramePr>
        <p:xfrm>
          <a:off x="860994" y="2267140"/>
          <a:ext cx="10788885" cy="4334065"/>
        </p:xfrm>
        <a:graphic>
          <a:graphicData uri="http://schemas.openxmlformats.org/drawingml/2006/table">
            <a:tbl>
              <a:tblPr firstRow="1" bandRow="1">
                <a:tableStyleId>{5940675A-B579-460E-94D1-54222C63F5DA}</a:tableStyleId>
              </a:tblPr>
              <a:tblGrid>
                <a:gridCol w="1044000">
                  <a:extLst>
                    <a:ext uri="{9D8B030D-6E8A-4147-A177-3AD203B41FA5}">
                      <a16:colId xmlns:a16="http://schemas.microsoft.com/office/drawing/2014/main" val="4223043338"/>
                    </a:ext>
                  </a:extLst>
                </a:gridCol>
                <a:gridCol w="649659">
                  <a:extLst>
                    <a:ext uri="{9D8B030D-6E8A-4147-A177-3AD203B41FA5}">
                      <a16:colId xmlns:a16="http://schemas.microsoft.com/office/drawing/2014/main" val="761331293"/>
                    </a:ext>
                  </a:extLst>
                </a:gridCol>
                <a:gridCol w="649659">
                  <a:extLst>
                    <a:ext uri="{9D8B030D-6E8A-4147-A177-3AD203B41FA5}">
                      <a16:colId xmlns:a16="http://schemas.microsoft.com/office/drawing/2014/main" val="553652801"/>
                    </a:ext>
                  </a:extLst>
                </a:gridCol>
                <a:gridCol w="649659">
                  <a:extLst>
                    <a:ext uri="{9D8B030D-6E8A-4147-A177-3AD203B41FA5}">
                      <a16:colId xmlns:a16="http://schemas.microsoft.com/office/drawing/2014/main" val="3428643721"/>
                    </a:ext>
                  </a:extLst>
                </a:gridCol>
                <a:gridCol w="649659">
                  <a:extLst>
                    <a:ext uri="{9D8B030D-6E8A-4147-A177-3AD203B41FA5}">
                      <a16:colId xmlns:a16="http://schemas.microsoft.com/office/drawing/2014/main" val="2778873898"/>
                    </a:ext>
                  </a:extLst>
                </a:gridCol>
                <a:gridCol w="649659">
                  <a:extLst>
                    <a:ext uri="{9D8B030D-6E8A-4147-A177-3AD203B41FA5}">
                      <a16:colId xmlns:a16="http://schemas.microsoft.com/office/drawing/2014/main" val="1617164020"/>
                    </a:ext>
                  </a:extLst>
                </a:gridCol>
                <a:gridCol w="649659">
                  <a:extLst>
                    <a:ext uri="{9D8B030D-6E8A-4147-A177-3AD203B41FA5}">
                      <a16:colId xmlns:a16="http://schemas.microsoft.com/office/drawing/2014/main" val="1277638159"/>
                    </a:ext>
                  </a:extLst>
                </a:gridCol>
                <a:gridCol w="649659">
                  <a:extLst>
                    <a:ext uri="{9D8B030D-6E8A-4147-A177-3AD203B41FA5}">
                      <a16:colId xmlns:a16="http://schemas.microsoft.com/office/drawing/2014/main" val="4246207140"/>
                    </a:ext>
                  </a:extLst>
                </a:gridCol>
                <a:gridCol w="662568">
                  <a:extLst>
                    <a:ext uri="{9D8B030D-6E8A-4147-A177-3AD203B41FA5}">
                      <a16:colId xmlns:a16="http://schemas.microsoft.com/office/drawing/2014/main" val="4187405381"/>
                    </a:ext>
                  </a:extLst>
                </a:gridCol>
                <a:gridCol w="636750">
                  <a:extLst>
                    <a:ext uri="{9D8B030D-6E8A-4147-A177-3AD203B41FA5}">
                      <a16:colId xmlns:a16="http://schemas.microsoft.com/office/drawing/2014/main" val="2148332631"/>
                    </a:ext>
                  </a:extLst>
                </a:gridCol>
                <a:gridCol w="649659">
                  <a:extLst>
                    <a:ext uri="{9D8B030D-6E8A-4147-A177-3AD203B41FA5}">
                      <a16:colId xmlns:a16="http://schemas.microsoft.com/office/drawing/2014/main" val="3922632335"/>
                    </a:ext>
                  </a:extLst>
                </a:gridCol>
                <a:gridCol w="649659">
                  <a:extLst>
                    <a:ext uri="{9D8B030D-6E8A-4147-A177-3AD203B41FA5}">
                      <a16:colId xmlns:a16="http://schemas.microsoft.com/office/drawing/2014/main" val="275346949"/>
                    </a:ext>
                  </a:extLst>
                </a:gridCol>
                <a:gridCol w="649659">
                  <a:extLst>
                    <a:ext uri="{9D8B030D-6E8A-4147-A177-3AD203B41FA5}">
                      <a16:colId xmlns:a16="http://schemas.microsoft.com/office/drawing/2014/main" val="3387292652"/>
                    </a:ext>
                  </a:extLst>
                </a:gridCol>
                <a:gridCol w="649659">
                  <a:extLst>
                    <a:ext uri="{9D8B030D-6E8A-4147-A177-3AD203B41FA5}">
                      <a16:colId xmlns:a16="http://schemas.microsoft.com/office/drawing/2014/main" val="4115829582"/>
                    </a:ext>
                  </a:extLst>
                </a:gridCol>
                <a:gridCol w="649659">
                  <a:extLst>
                    <a:ext uri="{9D8B030D-6E8A-4147-A177-3AD203B41FA5}">
                      <a16:colId xmlns:a16="http://schemas.microsoft.com/office/drawing/2014/main" val="4257367690"/>
                    </a:ext>
                  </a:extLst>
                </a:gridCol>
                <a:gridCol w="649659">
                  <a:extLst>
                    <a:ext uri="{9D8B030D-6E8A-4147-A177-3AD203B41FA5}">
                      <a16:colId xmlns:a16="http://schemas.microsoft.com/office/drawing/2014/main" val="417413986"/>
                    </a:ext>
                  </a:extLst>
                </a:gridCol>
              </a:tblGrid>
              <a:tr h="243659">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29959050"/>
                  </a:ext>
                </a:extLst>
              </a:tr>
              <a:tr h="1060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30659941"/>
                  </a:ext>
                </a:extLst>
              </a:tr>
              <a:tr h="1514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42201493"/>
                  </a:ext>
                </a:extLst>
              </a:tr>
              <a:tr h="1514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5899482"/>
                  </a:ext>
                </a:extLst>
              </a:tr>
            </a:tbl>
          </a:graphicData>
        </a:graphic>
      </p:graphicFrame>
      <p:grpSp>
        <p:nvGrpSpPr>
          <p:cNvPr id="7" name="グループ化 6">
            <a:extLst>
              <a:ext uri="{FF2B5EF4-FFF2-40B4-BE49-F238E27FC236}">
                <a16:creationId xmlns:a16="http://schemas.microsoft.com/office/drawing/2014/main" id="{C29BE951-82F7-B98D-F05A-84D11B95D4F5}"/>
              </a:ext>
            </a:extLst>
          </p:cNvPr>
          <p:cNvGrpSpPr/>
          <p:nvPr/>
        </p:nvGrpSpPr>
        <p:grpSpPr>
          <a:xfrm>
            <a:off x="1904546" y="1485972"/>
            <a:ext cx="9737462" cy="734487"/>
            <a:chOff x="1400805" y="1494681"/>
            <a:chExt cx="8116637" cy="817505"/>
          </a:xfrm>
        </p:grpSpPr>
        <p:sp>
          <p:nvSpPr>
            <p:cNvPr id="8" name="矢印: 五方向 7">
              <a:extLst>
                <a:ext uri="{FF2B5EF4-FFF2-40B4-BE49-F238E27FC236}">
                  <a16:creationId xmlns:a16="http://schemas.microsoft.com/office/drawing/2014/main" id="{20D7DDCB-EC5F-D8FB-F6D7-9A282D82BD51}"/>
                </a:ext>
              </a:extLst>
            </p:cNvPr>
            <p:cNvSpPr/>
            <p:nvPr/>
          </p:nvSpPr>
          <p:spPr bwMode="gray">
            <a:xfrm>
              <a:off x="1400805"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9" name="矢印: 五方向 8">
              <a:extLst>
                <a:ext uri="{FF2B5EF4-FFF2-40B4-BE49-F238E27FC236}">
                  <a16:creationId xmlns:a16="http://schemas.microsoft.com/office/drawing/2014/main" id="{E2D1C92B-0028-0794-2CC2-A4C783D40363}"/>
                </a:ext>
              </a:extLst>
            </p:cNvPr>
            <p:cNvSpPr/>
            <p:nvPr/>
          </p:nvSpPr>
          <p:spPr bwMode="gray">
            <a:xfrm>
              <a:off x="1942996"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2</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0" name="矢印: 五方向 9">
              <a:extLst>
                <a:ext uri="{FF2B5EF4-FFF2-40B4-BE49-F238E27FC236}">
                  <a16:creationId xmlns:a16="http://schemas.microsoft.com/office/drawing/2014/main" id="{D76ADDAB-0BA6-169D-82A3-9F5EE0AF757F}"/>
                </a:ext>
              </a:extLst>
            </p:cNvPr>
            <p:cNvSpPr/>
            <p:nvPr/>
          </p:nvSpPr>
          <p:spPr bwMode="gray">
            <a:xfrm>
              <a:off x="2485186"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3</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1" name="矢印: 五方向 10">
              <a:extLst>
                <a:ext uri="{FF2B5EF4-FFF2-40B4-BE49-F238E27FC236}">
                  <a16:creationId xmlns:a16="http://schemas.microsoft.com/office/drawing/2014/main" id="{2DB7B73D-76DA-46BF-2A8A-DCCA4500DF0B}"/>
                </a:ext>
              </a:extLst>
            </p:cNvPr>
            <p:cNvSpPr/>
            <p:nvPr/>
          </p:nvSpPr>
          <p:spPr bwMode="gray">
            <a:xfrm>
              <a:off x="3027377"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4</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2" name="矢印: 五方向 11">
              <a:extLst>
                <a:ext uri="{FF2B5EF4-FFF2-40B4-BE49-F238E27FC236}">
                  <a16:creationId xmlns:a16="http://schemas.microsoft.com/office/drawing/2014/main" id="{51C4635F-87DA-E28E-260B-9BB40DB3A25E}"/>
                </a:ext>
              </a:extLst>
            </p:cNvPr>
            <p:cNvSpPr/>
            <p:nvPr/>
          </p:nvSpPr>
          <p:spPr bwMode="gray">
            <a:xfrm>
              <a:off x="3569568"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5</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3" name="矢印: 五方向 12">
              <a:extLst>
                <a:ext uri="{FF2B5EF4-FFF2-40B4-BE49-F238E27FC236}">
                  <a16:creationId xmlns:a16="http://schemas.microsoft.com/office/drawing/2014/main" id="{E28D0492-DFFC-F789-76C7-750313FC6224}"/>
                </a:ext>
              </a:extLst>
            </p:cNvPr>
            <p:cNvSpPr/>
            <p:nvPr/>
          </p:nvSpPr>
          <p:spPr bwMode="gray">
            <a:xfrm>
              <a:off x="4111759"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6</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4" name="矢印: 五方向 13">
              <a:extLst>
                <a:ext uri="{FF2B5EF4-FFF2-40B4-BE49-F238E27FC236}">
                  <a16:creationId xmlns:a16="http://schemas.microsoft.com/office/drawing/2014/main" id="{823B6ADA-4A4F-EC66-33CE-B450CD462CB1}"/>
                </a:ext>
              </a:extLst>
            </p:cNvPr>
            <p:cNvSpPr/>
            <p:nvPr/>
          </p:nvSpPr>
          <p:spPr bwMode="gray">
            <a:xfrm>
              <a:off x="4653949"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7</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5" name="矢印: 五方向 14">
              <a:extLst>
                <a:ext uri="{FF2B5EF4-FFF2-40B4-BE49-F238E27FC236}">
                  <a16:creationId xmlns:a16="http://schemas.microsoft.com/office/drawing/2014/main" id="{33CF8306-6FE1-5373-5359-26BC3ABBA77C}"/>
                </a:ext>
              </a:extLst>
            </p:cNvPr>
            <p:cNvSpPr/>
            <p:nvPr/>
          </p:nvSpPr>
          <p:spPr bwMode="gray">
            <a:xfrm>
              <a:off x="5196140"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8</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6" name="矢印: 五方向 15">
              <a:extLst>
                <a:ext uri="{FF2B5EF4-FFF2-40B4-BE49-F238E27FC236}">
                  <a16:creationId xmlns:a16="http://schemas.microsoft.com/office/drawing/2014/main" id="{D7922332-90BF-F3B8-93AD-3D6CF25233FE}"/>
                </a:ext>
              </a:extLst>
            </p:cNvPr>
            <p:cNvSpPr/>
            <p:nvPr/>
          </p:nvSpPr>
          <p:spPr bwMode="gray">
            <a:xfrm>
              <a:off x="5738331"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9</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7" name="矢印: 五方向 16">
              <a:extLst>
                <a:ext uri="{FF2B5EF4-FFF2-40B4-BE49-F238E27FC236}">
                  <a16:creationId xmlns:a16="http://schemas.microsoft.com/office/drawing/2014/main" id="{4301A2C7-1944-7038-2AA8-120FE458CCDC}"/>
                </a:ext>
              </a:extLst>
            </p:cNvPr>
            <p:cNvSpPr/>
            <p:nvPr/>
          </p:nvSpPr>
          <p:spPr bwMode="gray">
            <a:xfrm>
              <a:off x="6280522"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10</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8" name="矢印: 五方向 17">
              <a:extLst>
                <a:ext uri="{FF2B5EF4-FFF2-40B4-BE49-F238E27FC236}">
                  <a16:creationId xmlns:a16="http://schemas.microsoft.com/office/drawing/2014/main" id="{351F8B79-CE9D-3EB4-271C-4248BBB5D62D}"/>
                </a:ext>
              </a:extLst>
            </p:cNvPr>
            <p:cNvSpPr/>
            <p:nvPr/>
          </p:nvSpPr>
          <p:spPr bwMode="gray">
            <a:xfrm>
              <a:off x="6822712"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11</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19" name="矢印: 五方向 18">
              <a:extLst>
                <a:ext uri="{FF2B5EF4-FFF2-40B4-BE49-F238E27FC236}">
                  <a16:creationId xmlns:a16="http://schemas.microsoft.com/office/drawing/2014/main" id="{2738E33F-2A13-EE85-7A4C-D4F20C03F056}"/>
                </a:ext>
              </a:extLst>
            </p:cNvPr>
            <p:cNvSpPr/>
            <p:nvPr/>
          </p:nvSpPr>
          <p:spPr bwMode="gray">
            <a:xfrm>
              <a:off x="7364903"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12</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20" name="矢印: 五方向 19">
              <a:extLst>
                <a:ext uri="{FF2B5EF4-FFF2-40B4-BE49-F238E27FC236}">
                  <a16:creationId xmlns:a16="http://schemas.microsoft.com/office/drawing/2014/main" id="{C5555079-F12B-A05C-EECF-EB6ABB04B467}"/>
                </a:ext>
              </a:extLst>
            </p:cNvPr>
            <p:cNvSpPr/>
            <p:nvPr/>
          </p:nvSpPr>
          <p:spPr bwMode="gray">
            <a:xfrm>
              <a:off x="7907094"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13</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21" name="矢印: 五方向 20">
              <a:extLst>
                <a:ext uri="{FF2B5EF4-FFF2-40B4-BE49-F238E27FC236}">
                  <a16:creationId xmlns:a16="http://schemas.microsoft.com/office/drawing/2014/main" id="{8FEA6634-CEC2-7153-2DB3-76F337A4AFA8}"/>
                </a:ext>
              </a:extLst>
            </p:cNvPr>
            <p:cNvSpPr/>
            <p:nvPr/>
          </p:nvSpPr>
          <p:spPr bwMode="gray">
            <a:xfrm>
              <a:off x="8449284"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14</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22" name="矢印: 五方向 21">
              <a:extLst>
                <a:ext uri="{FF2B5EF4-FFF2-40B4-BE49-F238E27FC236}">
                  <a16:creationId xmlns:a16="http://schemas.microsoft.com/office/drawing/2014/main" id="{4F54635B-8253-271A-D285-44694A49358E}"/>
                </a:ext>
              </a:extLst>
            </p:cNvPr>
            <p:cNvSpPr/>
            <p:nvPr/>
          </p:nvSpPr>
          <p:spPr bwMode="gray">
            <a:xfrm>
              <a:off x="8991475"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15</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週</a:t>
              </a:r>
            </a:p>
          </p:txBody>
        </p:sp>
        <p:sp>
          <p:nvSpPr>
            <p:cNvPr id="23" name="矢印: 五方向 22">
              <a:extLst>
                <a:ext uri="{FF2B5EF4-FFF2-40B4-BE49-F238E27FC236}">
                  <a16:creationId xmlns:a16="http://schemas.microsoft.com/office/drawing/2014/main" id="{7A4459E6-A2F9-05EB-58C4-E4DD0F5B2676}"/>
                </a:ext>
              </a:extLst>
            </p:cNvPr>
            <p:cNvSpPr/>
            <p:nvPr/>
          </p:nvSpPr>
          <p:spPr bwMode="gray">
            <a:xfrm>
              <a:off x="1400805" y="1494681"/>
              <a:ext cx="835479"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6</a:t>
              </a: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月</a:t>
              </a:r>
            </a:p>
          </p:txBody>
        </p:sp>
        <p:sp>
          <p:nvSpPr>
            <p:cNvPr id="24" name="矢印: 五方向 23">
              <a:extLst>
                <a:ext uri="{FF2B5EF4-FFF2-40B4-BE49-F238E27FC236}">
                  <a16:creationId xmlns:a16="http://schemas.microsoft.com/office/drawing/2014/main" id="{2CC2D8CA-9AFF-3AD9-FED2-0830C9D9C759}"/>
                </a:ext>
              </a:extLst>
            </p:cNvPr>
            <p:cNvSpPr/>
            <p:nvPr/>
          </p:nvSpPr>
          <p:spPr bwMode="gray">
            <a:xfrm>
              <a:off x="2244396" y="1494681"/>
              <a:ext cx="2401442"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7</a:t>
              </a: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月</a:t>
              </a:r>
            </a:p>
          </p:txBody>
        </p:sp>
        <p:sp>
          <p:nvSpPr>
            <p:cNvPr id="25" name="矢印: 五方向 24">
              <a:extLst>
                <a:ext uri="{FF2B5EF4-FFF2-40B4-BE49-F238E27FC236}">
                  <a16:creationId xmlns:a16="http://schemas.microsoft.com/office/drawing/2014/main" id="{1132C78E-823B-A6A0-173F-850DB90C66AC}"/>
                </a:ext>
              </a:extLst>
            </p:cNvPr>
            <p:cNvSpPr/>
            <p:nvPr/>
          </p:nvSpPr>
          <p:spPr bwMode="gray">
            <a:xfrm>
              <a:off x="4653949" y="1494681"/>
              <a:ext cx="2152540"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8</a:t>
              </a: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月</a:t>
              </a:r>
            </a:p>
          </p:txBody>
        </p:sp>
        <p:sp>
          <p:nvSpPr>
            <p:cNvPr id="26" name="矢印: 五方向 25">
              <a:extLst>
                <a:ext uri="{FF2B5EF4-FFF2-40B4-BE49-F238E27FC236}">
                  <a16:creationId xmlns:a16="http://schemas.microsoft.com/office/drawing/2014/main" id="{41125D52-F8B0-65B5-AEAD-62DEC49A2E4D}"/>
                </a:ext>
              </a:extLst>
            </p:cNvPr>
            <p:cNvSpPr/>
            <p:nvPr/>
          </p:nvSpPr>
          <p:spPr bwMode="gray">
            <a:xfrm>
              <a:off x="6814599" y="1494681"/>
              <a:ext cx="2702841"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9</a:t>
              </a: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月</a:t>
              </a:r>
            </a:p>
          </p:txBody>
        </p:sp>
      </p:grpSp>
      <p:sp>
        <p:nvSpPr>
          <p:cNvPr id="29" name="テキスト ボックス 28">
            <a:extLst>
              <a:ext uri="{FF2B5EF4-FFF2-40B4-BE49-F238E27FC236}">
                <a16:creationId xmlns:a16="http://schemas.microsoft.com/office/drawing/2014/main" id="{8715C8E5-555D-D834-EAD1-B44ED6A7FA45}"/>
              </a:ext>
            </a:extLst>
          </p:cNvPr>
          <p:cNvSpPr txBox="1"/>
          <p:nvPr/>
        </p:nvSpPr>
        <p:spPr bwMode="gray">
          <a:xfrm>
            <a:off x="887122" y="2296476"/>
            <a:ext cx="945772" cy="215444"/>
          </a:xfrm>
          <a:prstGeom prst="rect">
            <a:avLst/>
          </a:prstGeom>
          <a:noFill/>
        </p:spPr>
        <p:txBody>
          <a:bodyPr wrap="squar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black"/>
                </a:solidFill>
                <a:effectLst/>
                <a:uLnTx/>
                <a:uFillTx/>
                <a:latin typeface="Calibri"/>
                <a:ea typeface="Yu Gothic UI"/>
                <a:cs typeface="Arial" charset="0"/>
              </a:rPr>
              <a:t>マイルストーン</a:t>
            </a:r>
          </a:p>
        </p:txBody>
      </p:sp>
      <p:sp>
        <p:nvSpPr>
          <p:cNvPr id="31" name="正方形/長方形 30">
            <a:extLst>
              <a:ext uri="{FF2B5EF4-FFF2-40B4-BE49-F238E27FC236}">
                <a16:creationId xmlns:a16="http://schemas.microsoft.com/office/drawing/2014/main" id="{84AB9C7D-4B8A-065F-23D9-B1F3C12DC419}"/>
              </a:ext>
            </a:extLst>
          </p:cNvPr>
          <p:cNvSpPr/>
          <p:nvPr/>
        </p:nvSpPr>
        <p:spPr bwMode="gray">
          <a:xfrm>
            <a:off x="11028422" y="2706815"/>
            <a:ext cx="576000" cy="3881185"/>
          </a:xfrm>
          <a:prstGeom prst="rect">
            <a:avLst/>
          </a:prstGeom>
          <a:solidFill>
            <a:schemeClr val="bg1">
              <a:lumMod val="95000"/>
            </a:schemeClr>
          </a:solidFill>
          <a:ln w="2857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100" b="1" i="0" u="none" strike="noStrike" kern="1200" cap="none" spc="0" normalizeH="0" baseline="0" noProof="0">
                <a:ln>
                  <a:noFill/>
                </a:ln>
                <a:solidFill>
                  <a:prstClr val="black"/>
                </a:solidFill>
                <a:effectLst/>
                <a:uLnTx/>
                <a:uFillTx/>
                <a:latin typeface="Yu Gothic UI"/>
                <a:ea typeface="Yu Gothic UI"/>
                <a:cs typeface="Arial" charset="0"/>
              </a:rPr>
              <a:t>経営会議の</a:t>
            </a:r>
            <a:r>
              <a:rPr kumimoji="0" lang="ja-JP" altLang="en-US" sz="1100" b="1" i="0" u="none" strike="noStrike" kern="1200" cap="none" spc="0" normalizeH="0" baseline="0" noProof="0">
                <a:ln>
                  <a:noFill/>
                </a:ln>
                <a:solidFill>
                  <a:prstClr val="black"/>
                </a:solidFill>
                <a:effectLst/>
                <a:uLnTx/>
                <a:uFillTx/>
                <a:latin typeface="Yu Gothic UI"/>
                <a:ea typeface="Yu Gothic UI"/>
                <a:cs typeface="Arial" charset="0"/>
              </a:rPr>
              <a:t>FB</a:t>
            </a:r>
            <a:r>
              <a:rPr kumimoji="0" lang="ja-JP" altLang="en-US" sz="1100" b="1" i="0" u="none" strike="noStrike" kern="1200" cap="none" spc="0" normalizeH="0" baseline="0" noProof="0">
                <a:ln>
                  <a:noFill/>
                </a:ln>
                <a:solidFill>
                  <a:prstClr val="black"/>
                </a:solidFill>
                <a:effectLst/>
                <a:uLnTx/>
                <a:uFillTx/>
                <a:latin typeface="Yu Gothic UI"/>
                <a:ea typeface="Yu Gothic UI"/>
                <a:cs typeface="Arial" charset="0"/>
              </a:rPr>
              <a:t>対応</a:t>
            </a:r>
          </a:p>
        </p:txBody>
      </p:sp>
      <p:sp>
        <p:nvSpPr>
          <p:cNvPr id="42" name="正方形/長方形 41">
            <a:extLst>
              <a:ext uri="{FF2B5EF4-FFF2-40B4-BE49-F238E27FC236}">
                <a16:creationId xmlns:a16="http://schemas.microsoft.com/office/drawing/2014/main" id="{A4F32C70-3584-E1B3-8504-CEFAC8EF8AD2}"/>
              </a:ext>
            </a:extLst>
          </p:cNvPr>
          <p:cNvSpPr/>
          <p:nvPr/>
        </p:nvSpPr>
        <p:spPr bwMode="gray">
          <a:xfrm>
            <a:off x="576078" y="2722834"/>
            <a:ext cx="263849" cy="3865166"/>
          </a:xfrm>
          <a:prstGeom prst="rect">
            <a:avLst/>
          </a:prstGeom>
          <a:solidFill>
            <a:schemeClr val="tx1">
              <a:lumMod val="50000"/>
              <a:lumOff val="50000"/>
            </a:schemeClr>
          </a:solidFill>
          <a:ln w="12700" algn="ctr">
            <a:noFill/>
            <a:miter lim="800000"/>
            <a:headEnd/>
            <a:tailEnd/>
          </a:ln>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Quick-Win</a:t>
            </a:r>
            <a:r>
              <a:rPr kumimoji="1" lang="ja-JP" altLang="en-US" sz="1400" b="1" i="0" u="none" strike="noStrike" kern="1200" cap="none" spc="0" normalizeH="0" baseline="0" noProof="0">
                <a:ln>
                  <a:noFill/>
                </a:ln>
                <a:solidFill>
                  <a:prstClr val="white"/>
                </a:solidFill>
                <a:effectLst/>
                <a:uLnTx/>
                <a:uFillTx/>
                <a:latin typeface="Calibri"/>
                <a:ea typeface="Yu Gothic UI"/>
                <a:cs typeface="Arial" charset="0"/>
              </a:rPr>
              <a:t>施策の推進</a:t>
            </a:r>
          </a:p>
        </p:txBody>
      </p:sp>
      <p:sp>
        <p:nvSpPr>
          <p:cNvPr id="43" name="楕円 42">
            <a:extLst>
              <a:ext uri="{FF2B5EF4-FFF2-40B4-BE49-F238E27FC236}">
                <a16:creationId xmlns:a16="http://schemas.microsoft.com/office/drawing/2014/main" id="{DAE2EC4F-25E2-87CF-5F3F-48CE354AD3BC}"/>
              </a:ext>
            </a:extLst>
          </p:cNvPr>
          <p:cNvSpPr/>
          <p:nvPr/>
        </p:nvSpPr>
        <p:spPr bwMode="gray">
          <a:xfrm>
            <a:off x="599537" y="3519493"/>
            <a:ext cx="216000" cy="216000"/>
          </a:xfrm>
          <a:prstGeom prst="ellipse">
            <a:avLst/>
          </a:prstGeom>
          <a:solidFill>
            <a:schemeClr val="accent6">
              <a:lumMod val="40000"/>
              <a:lumOff val="60000"/>
            </a:schemeClr>
          </a:solidFill>
          <a:ln w="12700" algn="ctr">
            <a:solidFill>
              <a:schemeClr val="bg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400" b="1" i="0" u="none" strike="noStrike" kern="1200" cap="none" spc="0" normalizeH="0" baseline="0" noProof="0">
                <a:ln>
                  <a:noFill/>
                </a:ln>
                <a:solidFill>
                  <a:prstClr val="black"/>
                </a:solidFill>
                <a:effectLst/>
                <a:uLnTx/>
                <a:uFillTx/>
                <a:latin typeface="Calibri"/>
                <a:ea typeface="Yu Gothic UI"/>
                <a:cs typeface="Arial" charset="0"/>
              </a:rPr>
              <a:t>1</a:t>
            </a:r>
            <a:endParaRPr kumimoji="1" lang="ja-JP" altLang="en-US" sz="16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44" name="テキスト ボックス 43">
            <a:extLst>
              <a:ext uri="{FF2B5EF4-FFF2-40B4-BE49-F238E27FC236}">
                <a16:creationId xmlns:a16="http://schemas.microsoft.com/office/drawing/2014/main" id="{76852AED-EFF7-DB66-A917-E6D87875078C}"/>
              </a:ext>
            </a:extLst>
          </p:cNvPr>
          <p:cNvSpPr txBox="1"/>
          <p:nvPr/>
        </p:nvSpPr>
        <p:spPr bwMode="gray">
          <a:xfrm>
            <a:off x="877597" y="2818395"/>
            <a:ext cx="998671" cy="553998"/>
          </a:xfrm>
          <a:prstGeom prst="rect">
            <a:avLst/>
          </a:prstGeom>
          <a:noFill/>
        </p:spPr>
        <p:txBody>
          <a:bodyPr wrap="squar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①</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特定ユースケース</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の価値検証</a:t>
            </a:r>
          </a:p>
        </p:txBody>
      </p:sp>
      <p:sp>
        <p:nvSpPr>
          <p:cNvPr id="45" name="テキスト ボックス 44">
            <a:extLst>
              <a:ext uri="{FF2B5EF4-FFF2-40B4-BE49-F238E27FC236}">
                <a16:creationId xmlns:a16="http://schemas.microsoft.com/office/drawing/2014/main" id="{EA2AB4EF-EC3A-6934-B34C-63C25B1EBDB0}"/>
              </a:ext>
            </a:extLst>
          </p:cNvPr>
          <p:cNvSpPr txBox="1"/>
          <p:nvPr/>
        </p:nvSpPr>
        <p:spPr bwMode="gray">
          <a:xfrm>
            <a:off x="877597" y="3944491"/>
            <a:ext cx="1051570" cy="923330"/>
          </a:xfrm>
          <a:prstGeom prst="rect">
            <a:avLst/>
          </a:prstGeom>
          <a:noFill/>
        </p:spPr>
        <p:txBody>
          <a:bodyPr wrap="squar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①</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-2</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AI</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活用推進に</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必要なガバナンス</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・セキュリティの</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見極め</a:t>
            </a:r>
          </a:p>
        </p:txBody>
      </p:sp>
      <p:sp>
        <p:nvSpPr>
          <p:cNvPr id="46" name="矢印: 五方向 45">
            <a:extLst>
              <a:ext uri="{FF2B5EF4-FFF2-40B4-BE49-F238E27FC236}">
                <a16:creationId xmlns:a16="http://schemas.microsoft.com/office/drawing/2014/main" id="{29006A09-7ED6-9C2E-2346-6B650FD0384D}"/>
              </a:ext>
            </a:extLst>
          </p:cNvPr>
          <p:cNvSpPr/>
          <p:nvPr/>
        </p:nvSpPr>
        <p:spPr bwMode="gray">
          <a:xfrm>
            <a:off x="1960262" y="2590837"/>
            <a:ext cx="8974435" cy="387196"/>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AI</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経営診断の構築</a:t>
            </a: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47" name="矢印: 五方向 46">
            <a:extLst>
              <a:ext uri="{FF2B5EF4-FFF2-40B4-BE49-F238E27FC236}">
                <a16:creationId xmlns:a16="http://schemas.microsoft.com/office/drawing/2014/main" id="{4BE4C013-AF86-AFB9-20B4-18C65B34E649}"/>
              </a:ext>
            </a:extLst>
          </p:cNvPr>
          <p:cNvSpPr/>
          <p:nvPr/>
        </p:nvSpPr>
        <p:spPr bwMode="gray">
          <a:xfrm>
            <a:off x="1992887" y="2802311"/>
            <a:ext cx="1212582"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　</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Step.0</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：準備</a:t>
            </a:r>
            <a:endPar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48" name="矢印: 五方向 47">
            <a:extLst>
              <a:ext uri="{FF2B5EF4-FFF2-40B4-BE49-F238E27FC236}">
                <a16:creationId xmlns:a16="http://schemas.microsoft.com/office/drawing/2014/main" id="{8D3A53AB-AD4F-F973-88A8-C3436F6BFD85}"/>
              </a:ext>
            </a:extLst>
          </p:cNvPr>
          <p:cNvSpPr/>
          <p:nvPr/>
        </p:nvSpPr>
        <p:spPr bwMode="gray">
          <a:xfrm>
            <a:off x="5458723" y="2802311"/>
            <a:ext cx="4205908"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　</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Step.2</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：改善・全機能実装</a:t>
            </a:r>
            <a:endPar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49" name="矢印: 五方向 48">
            <a:extLst>
              <a:ext uri="{FF2B5EF4-FFF2-40B4-BE49-F238E27FC236}">
                <a16:creationId xmlns:a16="http://schemas.microsoft.com/office/drawing/2014/main" id="{5E3AA9E2-DCEE-1A2C-BBF0-C47A56CD58A7}"/>
              </a:ext>
            </a:extLst>
          </p:cNvPr>
          <p:cNvSpPr/>
          <p:nvPr/>
        </p:nvSpPr>
        <p:spPr bwMode="gray">
          <a:xfrm>
            <a:off x="9710087" y="2802311"/>
            <a:ext cx="1153076"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　</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Step.3</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：移管</a:t>
            </a:r>
            <a:endPar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50" name="矢印: 五方向 49">
            <a:extLst>
              <a:ext uri="{FF2B5EF4-FFF2-40B4-BE49-F238E27FC236}">
                <a16:creationId xmlns:a16="http://schemas.microsoft.com/office/drawing/2014/main" id="{0E81ADE6-ADBE-A4B7-BFF6-AA5C87A62CE0}"/>
              </a:ext>
            </a:extLst>
          </p:cNvPr>
          <p:cNvSpPr/>
          <p:nvPr/>
        </p:nvSpPr>
        <p:spPr bwMode="gray">
          <a:xfrm>
            <a:off x="3238093" y="2802311"/>
            <a:ext cx="2173376"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　</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Step.1</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MVP</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構築</a:t>
            </a:r>
            <a:endPar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51" name="矢印: 五方向 50">
            <a:extLst>
              <a:ext uri="{FF2B5EF4-FFF2-40B4-BE49-F238E27FC236}">
                <a16:creationId xmlns:a16="http://schemas.microsoft.com/office/drawing/2014/main" id="{65BB97DE-0C4E-A43E-EC81-856C8C9C8CFC}"/>
              </a:ext>
            </a:extLst>
          </p:cNvPr>
          <p:cNvSpPr/>
          <p:nvPr/>
        </p:nvSpPr>
        <p:spPr bwMode="gray">
          <a:xfrm>
            <a:off x="4935735" y="3062284"/>
            <a:ext cx="6000095" cy="280969"/>
          </a:xfrm>
          <a:prstGeom prst="homePlate">
            <a:avLst>
              <a:gd name="adj" fmla="val 26992"/>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株主総会</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Q&amp;A</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アプリの検証</a:t>
            </a:r>
          </a:p>
        </p:txBody>
      </p:sp>
      <p:sp>
        <p:nvSpPr>
          <p:cNvPr id="54" name="矢印: 五方向 53">
            <a:extLst>
              <a:ext uri="{FF2B5EF4-FFF2-40B4-BE49-F238E27FC236}">
                <a16:creationId xmlns:a16="http://schemas.microsoft.com/office/drawing/2014/main" id="{DAF31E06-AEC0-6AC8-2AA1-36C535E0F90A}"/>
              </a:ext>
            </a:extLst>
          </p:cNvPr>
          <p:cNvSpPr/>
          <p:nvPr/>
        </p:nvSpPr>
        <p:spPr bwMode="gray">
          <a:xfrm>
            <a:off x="1960262" y="3598797"/>
            <a:ext cx="1876205" cy="282797"/>
          </a:xfrm>
          <a:prstGeom prst="homePlate">
            <a:avLst>
              <a:gd name="adj" fmla="val 26957"/>
            </a:avLst>
          </a:prstGeom>
          <a:solidFill>
            <a:schemeClr val="accent1"/>
          </a:solidFill>
          <a:ln w="1905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貴社ガイドラインを基にした</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必要な</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AI</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ガバナンス取組整理</a:t>
            </a:r>
          </a:p>
        </p:txBody>
      </p:sp>
      <p:sp>
        <p:nvSpPr>
          <p:cNvPr id="64" name="テキスト ボックス 63">
            <a:extLst>
              <a:ext uri="{FF2B5EF4-FFF2-40B4-BE49-F238E27FC236}">
                <a16:creationId xmlns:a16="http://schemas.microsoft.com/office/drawing/2014/main" id="{DAF34769-21FD-8F82-0A30-B11C4D62B9EE}"/>
              </a:ext>
            </a:extLst>
          </p:cNvPr>
          <p:cNvSpPr txBox="1"/>
          <p:nvPr/>
        </p:nvSpPr>
        <p:spPr bwMode="gray">
          <a:xfrm>
            <a:off x="877597" y="5388335"/>
            <a:ext cx="1051570" cy="1107996"/>
          </a:xfrm>
          <a:prstGeom prst="rect">
            <a:avLst/>
          </a:prstGeom>
          <a:noFill/>
        </p:spPr>
        <p:txBody>
          <a:bodyPr wrap="squar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①</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-3</a:t>
            </a:r>
            <a:b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b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簡易検証環境</a:t>
            </a:r>
            <a:b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b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の構築</a:t>
            </a:r>
            <a:b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b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及び</a:t>
            </a:r>
            <a:b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b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HD</a:t>
            </a: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に必要な</a:t>
            </a:r>
            <a:b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br>
            <a:r>
              <a:rPr kumimoji="0" lang="ja-JP" altLang="en-US" sz="1200" b="1" i="0" u="none" strike="noStrike" kern="1200" cap="none" spc="0" normalizeH="0" baseline="0" noProof="0">
                <a:ln>
                  <a:noFill/>
                </a:ln>
                <a:solidFill>
                  <a:prstClr val="black"/>
                </a:solidFill>
                <a:effectLst/>
                <a:uLnTx/>
                <a:uFillTx/>
                <a:latin typeface="Arial" charset="0"/>
                <a:ea typeface="Yu Gothic UI"/>
                <a:cs typeface="Arial" charset="0"/>
              </a:rPr>
              <a:t>基盤の初期討議</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65" name="矢印: 五方向 64">
            <a:extLst>
              <a:ext uri="{FF2B5EF4-FFF2-40B4-BE49-F238E27FC236}">
                <a16:creationId xmlns:a16="http://schemas.microsoft.com/office/drawing/2014/main" id="{09245616-DE43-F5DF-76EC-AA8D3B23871B}"/>
              </a:ext>
            </a:extLst>
          </p:cNvPr>
          <p:cNvSpPr/>
          <p:nvPr/>
        </p:nvSpPr>
        <p:spPr bwMode="gray">
          <a:xfrm>
            <a:off x="8170980" y="1074036"/>
            <a:ext cx="657599"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66" name="矢印: 五方向 65">
            <a:extLst>
              <a:ext uri="{FF2B5EF4-FFF2-40B4-BE49-F238E27FC236}">
                <a16:creationId xmlns:a16="http://schemas.microsoft.com/office/drawing/2014/main" id="{128F5C93-F08F-6279-8585-FF02E33B00B3}"/>
              </a:ext>
            </a:extLst>
          </p:cNvPr>
          <p:cNvSpPr/>
          <p:nvPr/>
        </p:nvSpPr>
        <p:spPr bwMode="gray">
          <a:xfrm>
            <a:off x="8869108" y="1074036"/>
            <a:ext cx="657599" cy="323703"/>
          </a:xfrm>
          <a:prstGeom prst="homePlate">
            <a:avLst>
              <a:gd name="adj" fmla="val 26957"/>
            </a:avLst>
          </a:prstGeom>
          <a:no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Deloitte</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主体</a:t>
            </a:r>
          </a:p>
        </p:txBody>
      </p:sp>
      <p:sp>
        <p:nvSpPr>
          <p:cNvPr id="67" name="矢印: 五方向 66">
            <a:extLst>
              <a:ext uri="{FF2B5EF4-FFF2-40B4-BE49-F238E27FC236}">
                <a16:creationId xmlns:a16="http://schemas.microsoft.com/office/drawing/2014/main" id="{F08EBB4A-D2B8-7B45-BB23-208F7DB67A89}"/>
              </a:ext>
            </a:extLst>
          </p:cNvPr>
          <p:cNvSpPr/>
          <p:nvPr/>
        </p:nvSpPr>
        <p:spPr bwMode="gray">
          <a:xfrm>
            <a:off x="9836235" y="1074036"/>
            <a:ext cx="657599" cy="323703"/>
          </a:xfrm>
          <a:prstGeom prst="homePlate">
            <a:avLst>
              <a:gd name="adj" fmla="val 26957"/>
            </a:avLst>
          </a:prstGeom>
          <a:solidFill>
            <a:schemeClr val="bg1">
              <a:lumMod val="65000"/>
            </a:schemeClr>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68" name="矢印: 五方向 67">
            <a:extLst>
              <a:ext uri="{FF2B5EF4-FFF2-40B4-BE49-F238E27FC236}">
                <a16:creationId xmlns:a16="http://schemas.microsoft.com/office/drawing/2014/main" id="{2F732EEB-E46D-D3EF-3AD6-A7988C9E64FB}"/>
              </a:ext>
            </a:extLst>
          </p:cNvPr>
          <p:cNvSpPr/>
          <p:nvPr/>
        </p:nvSpPr>
        <p:spPr bwMode="gray">
          <a:xfrm>
            <a:off x="10534363" y="1074036"/>
            <a:ext cx="657599" cy="323703"/>
          </a:xfrm>
          <a:prstGeom prst="homePlate">
            <a:avLst>
              <a:gd name="adj" fmla="val 26957"/>
            </a:avLst>
          </a:prstGeom>
          <a:no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貴グループ主体</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(ITEC</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含</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a:t>
            </a: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69" name="矢印: 五方向 68">
            <a:extLst>
              <a:ext uri="{FF2B5EF4-FFF2-40B4-BE49-F238E27FC236}">
                <a16:creationId xmlns:a16="http://schemas.microsoft.com/office/drawing/2014/main" id="{752EC81F-5077-55DD-BC36-2D2C4C5C0244}"/>
              </a:ext>
            </a:extLst>
          </p:cNvPr>
          <p:cNvSpPr/>
          <p:nvPr/>
        </p:nvSpPr>
        <p:spPr bwMode="gray">
          <a:xfrm>
            <a:off x="1960262" y="5189809"/>
            <a:ext cx="2191554" cy="426801"/>
          </a:xfrm>
          <a:prstGeom prst="homePlate">
            <a:avLst>
              <a:gd name="adj" fmla="val 26957"/>
            </a:avLst>
          </a:prstGeom>
          <a:solidFill>
            <a:schemeClr val="bg1">
              <a:lumMod val="65000"/>
            </a:schemeClr>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簡易環境の構築</a:t>
            </a:r>
          </a:p>
        </p:txBody>
      </p:sp>
      <p:sp>
        <p:nvSpPr>
          <p:cNvPr id="70" name="矢印: 五方向 69">
            <a:extLst>
              <a:ext uri="{FF2B5EF4-FFF2-40B4-BE49-F238E27FC236}">
                <a16:creationId xmlns:a16="http://schemas.microsoft.com/office/drawing/2014/main" id="{646F2F9C-D34C-F314-7D9A-F39234D367EB}"/>
              </a:ext>
            </a:extLst>
          </p:cNvPr>
          <p:cNvSpPr/>
          <p:nvPr/>
        </p:nvSpPr>
        <p:spPr bwMode="gray">
          <a:xfrm>
            <a:off x="5807316" y="5720586"/>
            <a:ext cx="5127376" cy="578659"/>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簡易環境での</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PoC</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を踏まえた、貴社</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AI</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活用</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本番環境</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a:t>
            </a: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 に向けた課題抽出と</a:t>
            </a: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rPr>
              <a:t>必要なアクションの洗い出し</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（本番環境の青写真作成：</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ITEC</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様向けに</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RFP</a:t>
            </a:r>
            <a:r>
              <a:rPr kumimoji="0" lang="ja-JP" altLang="en-US" sz="1050" b="1" i="0" u="none" strike="noStrike" kern="1200" cap="none" spc="0" normalizeH="0" baseline="0" noProof="0">
                <a:ln>
                  <a:noFill/>
                </a:ln>
                <a:solidFill>
                  <a:prstClr val="black"/>
                </a:solidFill>
                <a:effectLst/>
                <a:uLnTx/>
                <a:uFillTx/>
                <a:latin typeface="Yu Gothic UI"/>
                <a:ea typeface="Yu Gothic UI"/>
                <a:cs typeface="Arial" charset="0"/>
              </a:rPr>
              <a:t>を出せるレベル感を想定）</a:t>
            </a:r>
            <a:endParaRPr kumimoji="0" lang="ja-JP" altLang="en-US" sz="1200" b="1" i="0" u="none" strike="noStrike" kern="1200" cap="none" spc="0" normalizeH="0" baseline="0" noProof="0">
              <a:ln>
                <a:noFill/>
              </a:ln>
              <a:solidFill>
                <a:prstClr val="black"/>
              </a:solidFill>
              <a:effectLst/>
              <a:uLnTx/>
              <a:uFillTx/>
              <a:latin typeface="Yu Gothic UI"/>
              <a:ea typeface="Yu Gothic UI"/>
              <a:cs typeface="Arial" charset="0"/>
            </a:endParaRPr>
          </a:p>
        </p:txBody>
      </p:sp>
      <p:cxnSp>
        <p:nvCxnSpPr>
          <p:cNvPr id="71" name="直線矢印コネクタ 70">
            <a:extLst>
              <a:ext uri="{FF2B5EF4-FFF2-40B4-BE49-F238E27FC236}">
                <a16:creationId xmlns:a16="http://schemas.microsoft.com/office/drawing/2014/main" id="{C6FD6531-F35B-2A25-17B3-D653E94F00DD}"/>
              </a:ext>
            </a:extLst>
          </p:cNvPr>
          <p:cNvCxnSpPr>
            <a:cxnSpLocks/>
          </p:cNvCxnSpPr>
          <p:nvPr/>
        </p:nvCxnSpPr>
        <p:spPr bwMode="gray">
          <a:xfrm>
            <a:off x="7942450" y="5106809"/>
            <a:ext cx="0" cy="578659"/>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直線矢印コネクタ 113">
            <a:extLst>
              <a:ext uri="{FF2B5EF4-FFF2-40B4-BE49-F238E27FC236}">
                <a16:creationId xmlns:a16="http://schemas.microsoft.com/office/drawing/2014/main" id="{0923EE77-353F-9E0D-2DBC-A959269F8A64}"/>
              </a:ext>
            </a:extLst>
          </p:cNvPr>
          <p:cNvCxnSpPr>
            <a:cxnSpLocks/>
          </p:cNvCxnSpPr>
          <p:nvPr/>
        </p:nvCxnSpPr>
        <p:spPr bwMode="gray">
          <a:xfrm>
            <a:off x="7231626" y="3343253"/>
            <a:ext cx="0" cy="2342215"/>
          </a:xfrm>
          <a:prstGeom prst="straightConnector1">
            <a:avLst/>
          </a:prstGeom>
          <a:ln w="15875">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3" name="正方形/長方形 62">
            <a:extLst>
              <a:ext uri="{FF2B5EF4-FFF2-40B4-BE49-F238E27FC236}">
                <a16:creationId xmlns:a16="http://schemas.microsoft.com/office/drawing/2014/main" id="{FAE67F52-4D3D-1BD6-0485-918E452E5280}"/>
              </a:ext>
            </a:extLst>
          </p:cNvPr>
          <p:cNvSpPr/>
          <p:nvPr/>
        </p:nvSpPr>
        <p:spPr bwMode="gray">
          <a:xfrm>
            <a:off x="876300" y="3560270"/>
            <a:ext cx="10743699" cy="3033035"/>
          </a:xfrm>
          <a:prstGeom prst="rect">
            <a:avLst/>
          </a:prstGeom>
          <a:solidFill>
            <a:srgbClr val="BBBCBC">
              <a:alpha val="5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1" lang="ja-JP" altLang="en-US" sz="16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27" name="スライド番号プレースホルダー 8">
            <a:extLst>
              <a:ext uri="{FF2B5EF4-FFF2-40B4-BE49-F238E27FC236}">
                <a16:creationId xmlns:a16="http://schemas.microsoft.com/office/drawing/2014/main" id="{BF2EB892-5FF3-D512-E7E2-5295B1FECCDC}"/>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5FCFE5-FE56-4EF1-80A8-07776887C2A1}" type="slidenum">
              <a:rPr kumimoji="0" lang="ja-JP" altLang="en-US" sz="900" b="0" i="0" u="none" strike="noStrike" kern="1200" cap="none" spc="0" normalizeH="0" baseline="0" noProof="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56" name="矢印: 五方向 55">
            <a:extLst>
              <a:ext uri="{FF2B5EF4-FFF2-40B4-BE49-F238E27FC236}">
                <a16:creationId xmlns:a16="http://schemas.microsoft.com/office/drawing/2014/main" id="{B530B60D-8727-AE5E-3500-01E50F8E1597}"/>
              </a:ext>
            </a:extLst>
          </p:cNvPr>
          <p:cNvSpPr/>
          <p:nvPr/>
        </p:nvSpPr>
        <p:spPr bwMode="gray">
          <a:xfrm>
            <a:off x="3879507" y="3882395"/>
            <a:ext cx="1249112"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機密性</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リスク対策整理</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0" name="矢印: 五方向 29">
            <a:extLst>
              <a:ext uri="{FF2B5EF4-FFF2-40B4-BE49-F238E27FC236}">
                <a16:creationId xmlns:a16="http://schemas.microsoft.com/office/drawing/2014/main" id="{39808954-6378-853B-5EA9-5838A9B008D4}"/>
              </a:ext>
            </a:extLst>
          </p:cNvPr>
          <p:cNvSpPr/>
          <p:nvPr/>
        </p:nvSpPr>
        <p:spPr bwMode="gray">
          <a:xfrm>
            <a:off x="4532253" y="4323704"/>
            <a:ext cx="1244200"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AI</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経営診断</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リスク対策整理</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4" name="矢印: 五方向 33">
            <a:extLst>
              <a:ext uri="{FF2B5EF4-FFF2-40B4-BE49-F238E27FC236}">
                <a16:creationId xmlns:a16="http://schemas.microsoft.com/office/drawing/2014/main" id="{AEE82B0C-A9DF-5D18-768D-ACAEC5AA6A07}"/>
              </a:ext>
            </a:extLst>
          </p:cNvPr>
          <p:cNvSpPr/>
          <p:nvPr/>
        </p:nvSpPr>
        <p:spPr bwMode="gray">
          <a:xfrm>
            <a:off x="5857369" y="4319215"/>
            <a:ext cx="1180219"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Quick-Win</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アプリ間</a:t>
            </a:r>
            <a:b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b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の差分整理</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6" name="矢印: 五方向 35">
            <a:extLst>
              <a:ext uri="{FF2B5EF4-FFF2-40B4-BE49-F238E27FC236}">
                <a16:creationId xmlns:a16="http://schemas.microsoft.com/office/drawing/2014/main" id="{BA203C96-2B6D-C8BF-EFE4-6516BCD34483}"/>
              </a:ext>
            </a:extLst>
          </p:cNvPr>
          <p:cNvSpPr/>
          <p:nvPr/>
        </p:nvSpPr>
        <p:spPr bwMode="gray">
          <a:xfrm>
            <a:off x="7096486" y="4308593"/>
            <a:ext cx="752452"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株主</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Q</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リスク対策</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8" name="矢印: 五方向 37">
            <a:extLst>
              <a:ext uri="{FF2B5EF4-FFF2-40B4-BE49-F238E27FC236}">
                <a16:creationId xmlns:a16="http://schemas.microsoft.com/office/drawing/2014/main" id="{136AFD3F-54C7-FDCE-2AF4-1E6CFFF59F50}"/>
              </a:ext>
            </a:extLst>
          </p:cNvPr>
          <p:cNvSpPr/>
          <p:nvPr/>
        </p:nvSpPr>
        <p:spPr bwMode="gray">
          <a:xfrm>
            <a:off x="5164875" y="4742890"/>
            <a:ext cx="1281459" cy="307714"/>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全社のガバナンス</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体制案・プロセス検討</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57" name="矢印: 五方向 56">
            <a:extLst>
              <a:ext uri="{FF2B5EF4-FFF2-40B4-BE49-F238E27FC236}">
                <a16:creationId xmlns:a16="http://schemas.microsoft.com/office/drawing/2014/main" id="{5130B92A-B748-F93D-2E86-7781A1112968}"/>
              </a:ext>
            </a:extLst>
          </p:cNvPr>
          <p:cNvSpPr/>
          <p:nvPr/>
        </p:nvSpPr>
        <p:spPr bwMode="gray">
          <a:xfrm>
            <a:off x="6467118" y="4730555"/>
            <a:ext cx="1888417"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開発・提供に必要な素案の作成</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80" name="矢印: 五方向 79">
            <a:extLst>
              <a:ext uri="{FF2B5EF4-FFF2-40B4-BE49-F238E27FC236}">
                <a16:creationId xmlns:a16="http://schemas.microsoft.com/office/drawing/2014/main" id="{7FBAE00F-9EE6-CFF2-3732-0F2EA9D3C167}"/>
              </a:ext>
            </a:extLst>
          </p:cNvPr>
          <p:cNvSpPr/>
          <p:nvPr/>
        </p:nvSpPr>
        <p:spPr bwMode="gray">
          <a:xfrm>
            <a:off x="8429174" y="4730555"/>
            <a:ext cx="1888417" cy="339746"/>
          </a:xfrm>
          <a:prstGeom prst="homePlate">
            <a:avLst>
              <a:gd name="adj" fmla="val 11588"/>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HD</a:t>
            </a: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運用環境・貴社状況を踏まえた</a:t>
            </a:r>
            <a:b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br>
            <a:r>
              <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rPr>
              <a:t>アクションプラン作成</a:t>
            </a:r>
            <a:endParaRPr kumimoji="0" lang="ja-JP" altLang="en-US" sz="1000" b="1"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6" name="正方形/長方形 5">
            <a:extLst>
              <a:ext uri="{FF2B5EF4-FFF2-40B4-BE49-F238E27FC236}">
                <a16:creationId xmlns:a16="http://schemas.microsoft.com/office/drawing/2014/main" id="{221D1815-2765-4F3A-50B3-A32B714E6073}"/>
              </a:ext>
            </a:extLst>
          </p:cNvPr>
          <p:cNvSpPr/>
          <p:nvPr/>
        </p:nvSpPr>
        <p:spPr bwMode="gray">
          <a:xfrm>
            <a:off x="4876887"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役員報告</a:t>
            </a:r>
            <a:endParaRPr kumimoji="1" lang="ja-JP" altLang="en-US" sz="18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2" name="正方形/長方形 31">
            <a:extLst>
              <a:ext uri="{FF2B5EF4-FFF2-40B4-BE49-F238E27FC236}">
                <a16:creationId xmlns:a16="http://schemas.microsoft.com/office/drawing/2014/main" id="{AC034770-BAAE-9BF5-760E-D5916C1507F1}"/>
              </a:ext>
            </a:extLst>
          </p:cNvPr>
          <p:cNvSpPr/>
          <p:nvPr/>
        </p:nvSpPr>
        <p:spPr bwMode="gray">
          <a:xfrm>
            <a:off x="5554170"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社長報告</a:t>
            </a:r>
            <a:endParaRPr kumimoji="1" lang="ja-JP" altLang="en-US" sz="16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3" name="正方形/長方形 32">
            <a:extLst>
              <a:ext uri="{FF2B5EF4-FFF2-40B4-BE49-F238E27FC236}">
                <a16:creationId xmlns:a16="http://schemas.microsoft.com/office/drawing/2014/main" id="{81B25E79-2696-77AB-4FC8-2D4902959223}"/>
              </a:ext>
            </a:extLst>
          </p:cNvPr>
          <p:cNvSpPr/>
          <p:nvPr/>
        </p:nvSpPr>
        <p:spPr bwMode="gray">
          <a:xfrm>
            <a:off x="7587224"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役員報告</a:t>
            </a:r>
            <a:endParaRPr kumimoji="1" lang="ja-JP" altLang="en-US" sz="18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5" name="正方形/長方形 34">
            <a:extLst>
              <a:ext uri="{FF2B5EF4-FFF2-40B4-BE49-F238E27FC236}">
                <a16:creationId xmlns:a16="http://schemas.microsoft.com/office/drawing/2014/main" id="{DE2949DA-8506-1ADA-8E12-62231C15C203}"/>
              </a:ext>
            </a:extLst>
          </p:cNvPr>
          <p:cNvSpPr/>
          <p:nvPr/>
        </p:nvSpPr>
        <p:spPr bwMode="gray">
          <a:xfrm>
            <a:off x="10106186"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役員報告</a:t>
            </a:r>
            <a:endParaRPr kumimoji="1" lang="ja-JP" altLang="en-US" sz="18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7" name="正方形/長方形 36">
            <a:extLst>
              <a:ext uri="{FF2B5EF4-FFF2-40B4-BE49-F238E27FC236}">
                <a16:creationId xmlns:a16="http://schemas.microsoft.com/office/drawing/2014/main" id="{BE6231F4-0A27-4A57-CB86-EBC492EFE3A1}"/>
              </a:ext>
            </a:extLst>
          </p:cNvPr>
          <p:cNvSpPr/>
          <p:nvPr/>
        </p:nvSpPr>
        <p:spPr bwMode="gray">
          <a:xfrm>
            <a:off x="11257574" y="2391744"/>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グループ経営会議</a:t>
            </a:r>
            <a:endParaRPr kumimoji="1" lang="ja-JP" altLang="en-US" sz="16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9" name="正方形/長方形 38">
            <a:extLst>
              <a:ext uri="{FF2B5EF4-FFF2-40B4-BE49-F238E27FC236}">
                <a16:creationId xmlns:a16="http://schemas.microsoft.com/office/drawing/2014/main" id="{AFC13987-9745-D283-D099-117633204FCA}"/>
              </a:ext>
            </a:extLst>
          </p:cNvPr>
          <p:cNvSpPr/>
          <p:nvPr/>
        </p:nvSpPr>
        <p:spPr bwMode="gray">
          <a:xfrm>
            <a:off x="10982964" y="2260946"/>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社長報告</a:t>
            </a:r>
            <a:endParaRPr kumimoji="1" lang="ja-JP" altLang="en-US" sz="16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40" name="正方形/長方形 39">
            <a:extLst>
              <a:ext uri="{FF2B5EF4-FFF2-40B4-BE49-F238E27FC236}">
                <a16:creationId xmlns:a16="http://schemas.microsoft.com/office/drawing/2014/main" id="{B0E10269-86E4-9B78-777A-EB1CE8C49150}"/>
              </a:ext>
            </a:extLst>
          </p:cNvPr>
          <p:cNvSpPr/>
          <p:nvPr/>
        </p:nvSpPr>
        <p:spPr bwMode="gray">
          <a:xfrm>
            <a:off x="3854940" y="3841489"/>
            <a:ext cx="1282451" cy="400913"/>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55" name="正方形/長方形 54">
            <a:extLst>
              <a:ext uri="{FF2B5EF4-FFF2-40B4-BE49-F238E27FC236}">
                <a16:creationId xmlns:a16="http://schemas.microsoft.com/office/drawing/2014/main" id="{4234FBBC-96CE-CBD0-7271-AA146157DA5D}"/>
              </a:ext>
            </a:extLst>
          </p:cNvPr>
          <p:cNvSpPr/>
          <p:nvPr/>
        </p:nvSpPr>
        <p:spPr bwMode="gray">
          <a:xfrm>
            <a:off x="4506003" y="4280610"/>
            <a:ext cx="3342936" cy="391974"/>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60" name="正方形/長方形 59">
            <a:extLst>
              <a:ext uri="{FF2B5EF4-FFF2-40B4-BE49-F238E27FC236}">
                <a16:creationId xmlns:a16="http://schemas.microsoft.com/office/drawing/2014/main" id="{9D71C386-F2C4-117D-BD98-80E7E72D515E}"/>
              </a:ext>
            </a:extLst>
          </p:cNvPr>
          <p:cNvSpPr/>
          <p:nvPr/>
        </p:nvSpPr>
        <p:spPr bwMode="gray">
          <a:xfrm>
            <a:off x="6155343" y="4035530"/>
            <a:ext cx="1752938" cy="223933"/>
          </a:xfrm>
          <a:prstGeom prst="rect">
            <a:avLst/>
          </a:prstGeom>
          <a:solidFill>
            <a:schemeClr val="bg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スコープ</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2(Quick-Win</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全体</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72" name="正方形/長方形 71">
            <a:extLst>
              <a:ext uri="{FF2B5EF4-FFF2-40B4-BE49-F238E27FC236}">
                <a16:creationId xmlns:a16="http://schemas.microsoft.com/office/drawing/2014/main" id="{096D556F-8962-975A-BADB-2AEAE512A87E}"/>
              </a:ext>
            </a:extLst>
          </p:cNvPr>
          <p:cNvSpPr/>
          <p:nvPr/>
        </p:nvSpPr>
        <p:spPr bwMode="gray">
          <a:xfrm>
            <a:off x="4453711" y="3593045"/>
            <a:ext cx="1197280" cy="223933"/>
          </a:xfrm>
          <a:prstGeom prst="rect">
            <a:avLst/>
          </a:prstGeom>
          <a:solidFill>
            <a:schemeClr val="bg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スコープ</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1(</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機密性</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A)</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73" name="正方形/長方形 72">
            <a:extLst>
              <a:ext uri="{FF2B5EF4-FFF2-40B4-BE49-F238E27FC236}">
                <a16:creationId xmlns:a16="http://schemas.microsoft.com/office/drawing/2014/main" id="{E6FAADC4-9637-8FA4-FC58-3CE7503CB8A8}"/>
              </a:ext>
            </a:extLst>
          </p:cNvPr>
          <p:cNvSpPr/>
          <p:nvPr/>
        </p:nvSpPr>
        <p:spPr bwMode="gray">
          <a:xfrm>
            <a:off x="5154352" y="4705992"/>
            <a:ext cx="5186729" cy="381773"/>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75" name="正方形/長方形 74">
            <a:extLst>
              <a:ext uri="{FF2B5EF4-FFF2-40B4-BE49-F238E27FC236}">
                <a16:creationId xmlns:a16="http://schemas.microsoft.com/office/drawing/2014/main" id="{FD81E03C-3C74-486A-5CED-BCCDFCBCDE08}"/>
              </a:ext>
            </a:extLst>
          </p:cNvPr>
          <p:cNvSpPr/>
          <p:nvPr/>
        </p:nvSpPr>
        <p:spPr bwMode="gray">
          <a:xfrm>
            <a:off x="8598830" y="4454328"/>
            <a:ext cx="1752938" cy="223933"/>
          </a:xfrm>
          <a:prstGeom prst="rect">
            <a:avLst/>
          </a:prstGeom>
          <a:solidFill>
            <a:schemeClr val="bg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スコープ</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3(HD</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のガバナンス</a:t>
            </a:r>
            <a:r>
              <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rPr>
              <a:t>)</a:t>
            </a: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62" name="タイトル 3">
            <a:extLst>
              <a:ext uri="{FF2B5EF4-FFF2-40B4-BE49-F238E27FC236}">
                <a16:creationId xmlns:a16="http://schemas.microsoft.com/office/drawing/2014/main" id="{30C12792-D87F-377E-2110-73BE8FA5494E}"/>
              </a:ext>
            </a:extLst>
          </p:cNvPr>
          <p:cNvSpPr>
            <a:spLocks noGrp="1"/>
          </p:cNvSpPr>
          <p:nvPr>
            <p:ph type="title"/>
          </p:nvPr>
        </p:nvSpPr>
        <p:spPr>
          <a:xfrm>
            <a:off x="480000" y="108000"/>
            <a:ext cx="11232000" cy="738000"/>
          </a:xfrm>
        </p:spPr>
        <p:txBody>
          <a:bodyPr vert="horz" lIns="0" tIns="0" rIns="0" bIns="0" rtlCol="0" anchor="b" anchorCtr="0">
            <a:noAutofit/>
          </a:bodyPr>
          <a:lstStyle/>
          <a:p>
            <a:r>
              <a:rPr lang="ja-JP" altLang="en-US"/>
              <a:t>経営診断および株主総会Q&amp;Aアプリの初期構築が完了し、本格改善段階に移行</a:t>
            </a:r>
            <a:r>
              <a:rPr lang="ja-JP" altLang="en-US"/>
              <a:t>します</a:t>
            </a:r>
            <a:endParaRPr kumimoji="1" lang="ja-JP" altLang="en-US"/>
          </a:p>
        </p:txBody>
      </p:sp>
      <p:sp>
        <p:nvSpPr>
          <p:cNvPr id="76" name="正方形/長方形 75">
            <a:extLst>
              <a:ext uri="{FF2B5EF4-FFF2-40B4-BE49-F238E27FC236}">
                <a16:creationId xmlns:a16="http://schemas.microsoft.com/office/drawing/2014/main" id="{4B6D59F6-5EA3-C282-5DE9-E2F96E6C3FC7}"/>
              </a:ext>
            </a:extLst>
          </p:cNvPr>
          <p:cNvSpPr/>
          <p:nvPr/>
        </p:nvSpPr>
        <p:spPr bwMode="gray">
          <a:xfrm>
            <a:off x="876300" y="2498474"/>
            <a:ext cx="10375178" cy="977545"/>
          </a:xfrm>
          <a:prstGeom prst="rect">
            <a:avLst/>
          </a:prstGeom>
          <a:noFill/>
          <a:ln w="28575" algn="ctr">
            <a:solidFill>
              <a:srgbClr val="C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grpSp>
        <p:nvGrpSpPr>
          <p:cNvPr id="77" name="グループ化 76">
            <a:extLst>
              <a:ext uri="{FF2B5EF4-FFF2-40B4-BE49-F238E27FC236}">
                <a16:creationId xmlns:a16="http://schemas.microsoft.com/office/drawing/2014/main" id="{F1D8B2C2-160A-E0C6-F82B-1CA87FC7DBB7}"/>
              </a:ext>
            </a:extLst>
          </p:cNvPr>
          <p:cNvGrpSpPr/>
          <p:nvPr/>
        </p:nvGrpSpPr>
        <p:grpSpPr>
          <a:xfrm>
            <a:off x="8499789" y="1470289"/>
            <a:ext cx="233581" cy="5117711"/>
            <a:chOff x="2754426" y="1557321"/>
            <a:chExt cx="233581" cy="5117711"/>
          </a:xfrm>
        </p:grpSpPr>
        <p:cxnSp>
          <p:nvCxnSpPr>
            <p:cNvPr id="78" name="直線コネクタ 77">
              <a:extLst>
                <a:ext uri="{FF2B5EF4-FFF2-40B4-BE49-F238E27FC236}">
                  <a16:creationId xmlns:a16="http://schemas.microsoft.com/office/drawing/2014/main" id="{C07F9FCD-76F9-9CA2-6634-960AACD6BF80}"/>
                </a:ext>
              </a:extLst>
            </p:cNvPr>
            <p:cNvCxnSpPr>
              <a:cxnSpLocks/>
            </p:cNvCxnSpPr>
            <p:nvPr/>
          </p:nvCxnSpPr>
          <p:spPr bwMode="gray">
            <a:xfrm>
              <a:off x="2871216" y="1680757"/>
              <a:ext cx="0" cy="4994275"/>
            </a:xfrm>
            <a:prstGeom prst="line">
              <a:avLst/>
            </a:prstGeom>
            <a:ln w="38100">
              <a:solidFill>
                <a:srgbClr val="DA291C"/>
              </a:solidFill>
            </a:ln>
          </p:spPr>
          <p:style>
            <a:lnRef idx="1">
              <a:schemeClr val="accent1"/>
            </a:lnRef>
            <a:fillRef idx="0">
              <a:schemeClr val="accent1"/>
            </a:fillRef>
            <a:effectRef idx="0">
              <a:schemeClr val="accent1"/>
            </a:effectRef>
            <a:fontRef idx="minor">
              <a:schemeClr val="tx1"/>
            </a:fontRef>
          </p:style>
        </p:cxnSp>
        <p:sp>
          <p:nvSpPr>
            <p:cNvPr id="79" name="二等辺三角形 78">
              <a:extLst>
                <a:ext uri="{FF2B5EF4-FFF2-40B4-BE49-F238E27FC236}">
                  <a16:creationId xmlns:a16="http://schemas.microsoft.com/office/drawing/2014/main" id="{9DB023F8-D2F0-7B96-E09D-2AFB6C35E024}"/>
                </a:ext>
              </a:extLst>
            </p:cNvPr>
            <p:cNvSpPr/>
            <p:nvPr/>
          </p:nvSpPr>
          <p:spPr bwMode="gray">
            <a:xfrm flipV="1">
              <a:off x="2754426" y="1557321"/>
              <a:ext cx="233581" cy="164880"/>
            </a:xfrm>
            <a:prstGeom prst="triangle">
              <a:avLst/>
            </a:prstGeom>
            <a:solidFill>
              <a:srgbClr val="C00000"/>
            </a:solidFill>
            <a:ln w="12700" algn="ctr">
              <a:solidFill>
                <a:schemeClr val="bg1"/>
              </a:solid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ja-JP" alt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grpSp>
    </p:spTree>
    <p:extLst>
      <p:ext uri="{BB962C8B-B14F-4D97-AF65-F5344CB8AC3E}">
        <p14:creationId xmlns:p14="http://schemas.microsoft.com/office/powerpoint/2010/main" val="1865613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85ED-E034-2969-78CE-F8E47FEBFFF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3F1D123-B607-CDAC-5903-0A4BBD17DC3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3F1D123-B607-CDAC-5903-0A4BBD17DC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E6D89E59-D994-56DD-EEC4-A75A05E79AFA}"/>
              </a:ext>
            </a:extLst>
          </p:cNvPr>
          <p:cNvSpPr/>
          <p:nvPr/>
        </p:nvSpPr>
        <p:spPr bwMode="gray">
          <a:xfrm>
            <a:off x="398151" y="1973028"/>
            <a:ext cx="5877237" cy="60120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EB3D88FD-C480-61D8-BA1F-AB11DE978C44}"/>
              </a:ext>
            </a:extLst>
          </p:cNvPr>
          <p:cNvSpPr>
            <a:spLocks noGrp="1"/>
          </p:cNvSpPr>
          <p:nvPr>
            <p:ph type="sldNum" sz="quarter" idx="11"/>
          </p:nvPr>
        </p:nvSpPr>
        <p:spPr/>
        <p:txBody>
          <a:bodyPr/>
          <a:lstStyle/>
          <a:p>
            <a:fld id="{AA5FCFE5-FE56-4EF1-80A8-07776887C2A1}" type="slidenum">
              <a:rPr lang="ja-JP" altLang="en-US" smtClean="0"/>
              <a:pPr/>
              <a:t>4</a:t>
            </a:fld>
            <a:endParaRPr lang="ja-JP" altLang="en-US"/>
          </a:p>
        </p:txBody>
      </p:sp>
      <p:sp>
        <p:nvSpPr>
          <p:cNvPr id="4" name="タイトル 3">
            <a:extLst>
              <a:ext uri="{FF2B5EF4-FFF2-40B4-BE49-F238E27FC236}">
                <a16:creationId xmlns:a16="http://schemas.microsoft.com/office/drawing/2014/main" id="{2342F9E5-9B6F-C20A-D001-7331B57BFBC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6D1E3CD4-C317-C6D2-9946-308A49B342CC}"/>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F614FDCD-C7E6-01C4-B92E-882A78427C71}"/>
              </a:ext>
            </a:extLst>
          </p:cNvPr>
          <p:cNvSpPr txBox="1"/>
          <p:nvPr/>
        </p:nvSpPr>
        <p:spPr bwMode="gray">
          <a:xfrm>
            <a:off x="479425" y="1280248"/>
            <a:ext cx="5615999" cy="2662267"/>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dirty="0">
              <a:latin typeface="+mn-ea"/>
              <a:cs typeface="Arial"/>
            </a:endParaRPr>
          </a:p>
          <a:p>
            <a:pPr marL="269875" marR="0" indent="-269875" defTabSz="990564">
              <a:lnSpc>
                <a:spcPct val="100000"/>
              </a:lnSpc>
              <a:spcBef>
                <a:spcPts val="0"/>
              </a:spcBef>
              <a:spcAft>
                <a:spcPts val="600"/>
              </a:spcAft>
              <a:buClrTx/>
              <a:buSzPct val="100000"/>
              <a:buAutoNum type="arabicPeriod"/>
              <a:tabLst/>
            </a:pPr>
            <a:r>
              <a:rPr lang="ja-JP" altLang="en-US" sz="1800" dirty="0">
                <a:latin typeface="+mn-ea"/>
                <a:cs typeface="Arial"/>
                <a:sym typeface="+mn-lt"/>
              </a:rPr>
              <a:t>Quick-Win</a:t>
            </a:r>
            <a:r>
              <a:rPr lang="ja-JP" altLang="en-US" sz="1800" dirty="0">
                <a:latin typeface="+mn-ea"/>
                <a:cs typeface="Arial"/>
                <a:sym typeface="+mn-lt"/>
              </a:rPr>
              <a:t>構築の全体進捗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cs typeface="Arial"/>
            </a:endParaRPr>
          </a:p>
          <a:p>
            <a:pPr marL="269875" marR="0" indent="-269875"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dirty="0">
                <a:solidFill>
                  <a:schemeClr val="bg1"/>
                </a:solidFill>
                <a:latin typeface="+mn-ea"/>
                <a:cs typeface="Arial"/>
                <a:sym typeface="+mn-lt"/>
              </a:rPr>
              <a:t>前週振り返りおよび現状報告　</a:t>
            </a:r>
            <a:r>
              <a:rPr lang="ja-JP" altLang="en-US" sz="1800" dirty="0">
                <a:solidFill>
                  <a:schemeClr val="bg1"/>
                </a:solidFill>
                <a:latin typeface="+mn-ea"/>
                <a:cs typeface="Arial"/>
                <a:sym typeface="+mn-lt"/>
              </a:rPr>
              <a:t>‐</a:t>
            </a:r>
            <a:r>
              <a:rPr lang="ja-JP" altLang="en-US" sz="1800" dirty="0">
                <a:solidFill>
                  <a:schemeClr val="bg1"/>
                </a:solidFill>
                <a:latin typeface="+mn-ea"/>
                <a:cs typeface="Arial"/>
                <a:sym typeface="+mn-lt"/>
              </a:rPr>
              <a:t>　</a:t>
            </a:r>
            <a:r>
              <a:rPr lang="ja-JP" altLang="en-US" sz="1800" dirty="0">
                <a:solidFill>
                  <a:schemeClr val="bg1"/>
                </a:solidFill>
                <a:latin typeface="+mn-ea"/>
                <a:cs typeface="Arial"/>
                <a:sym typeface="+mn-lt"/>
              </a:rPr>
              <a:t>5</a:t>
            </a:r>
            <a:r>
              <a:rPr lang="ja-JP" altLang="en-US" sz="1800" dirty="0">
                <a:solidFill>
                  <a:schemeClr val="bg1"/>
                </a:solidFill>
                <a:latin typeface="+mn-ea"/>
                <a:cs typeface="Arial"/>
                <a:sym typeface="+mn-lt"/>
              </a:rPr>
              <a:t>分</a:t>
            </a:r>
            <a:endParaRPr lang="ja-JP" altLang="en-US" sz="1800" dirty="0">
              <a:solidFill>
                <a:schemeClr val="bg1"/>
              </a:solidFill>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solidFill>
                  <a:schemeClr val="bg1"/>
                </a:solidFill>
                <a:latin typeface="+mn-ea"/>
                <a:sym typeface="+mn-lt"/>
              </a:rPr>
              <a:t>ご相談事項（2件）</a:t>
            </a:r>
            <a:endParaRPr lang="ja-JP" altLang="en-US" sz="1600" dirty="0">
              <a:solidFill>
                <a:schemeClr val="bg1"/>
              </a:solidFill>
              <a:highlight>
                <a:srgbClr val="FFFF00"/>
              </a:highlight>
              <a:latin typeface="+mn-ea"/>
            </a:endParaRPr>
          </a:p>
          <a:p>
            <a:pPr marL="269875" indent="-269875" defTabSz="990564" fontAlgn="auto">
              <a:spcBef>
                <a:spcPts val="0"/>
              </a:spcBef>
              <a:spcAft>
                <a:spcPts val="600"/>
              </a:spcAft>
              <a:buSzPct val="100000"/>
              <a:buFont typeface="+mj-lt"/>
              <a:buAutoNum type="arabicPeriod"/>
            </a:pPr>
            <a:r>
              <a:rPr lang="ja-JP" altLang="en-US" sz="1800" dirty="0">
                <a:latin typeface="Arial"/>
                <a:cs typeface="Arial"/>
              </a:rPr>
              <a:t>アプリのアップデート</a:t>
            </a:r>
            <a:r>
              <a:rPr lang="ja-JP" altLang="en-US" sz="1800" dirty="0">
                <a:latin typeface="+mn-ea"/>
                <a:cs typeface="Arial"/>
                <a:sym typeface="+mn-lt"/>
              </a:rPr>
              <a:t>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30</a:t>
            </a:r>
            <a:r>
              <a:rPr lang="ja-JP" altLang="en-US" sz="1800" dirty="0">
                <a:latin typeface="+mn-ea"/>
                <a:cs typeface="Arial"/>
                <a:sym typeface="+mn-lt"/>
              </a:rPr>
              <a:t>分</a:t>
            </a:r>
            <a:endParaRPr lang="ja-JP" altLang="en-US" sz="1800" dirty="0"/>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経営診断</a:t>
            </a:r>
            <a:endParaRPr lang="ja-JP" altLang="en-US" sz="16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株主総会</a:t>
            </a:r>
            <a:r>
              <a:rPr lang="ja-JP" altLang="en-US" sz="1600" dirty="0">
                <a:latin typeface="+mn-ea"/>
              </a:rPr>
              <a:t>QA</a:t>
            </a:r>
          </a:p>
          <a:p>
            <a:pPr marL="269875" indent="-269875" defTabSz="990564">
              <a:spcBef>
                <a:spcPts val="0"/>
              </a:spcBef>
              <a:spcAft>
                <a:spcPts val="600"/>
              </a:spcAft>
              <a:buSzPct val="100000"/>
              <a:buAutoNum type="arabicPeriod"/>
            </a:pPr>
            <a:r>
              <a:rPr lang="ja-JP" altLang="en-US" sz="1800" dirty="0">
                <a:latin typeface="Arial"/>
                <a:cs typeface="Arial"/>
              </a:rPr>
              <a:t>10</a:t>
            </a:r>
            <a:r>
              <a:rPr lang="ja-JP" altLang="en-US" sz="1800" dirty="0">
                <a:latin typeface="Arial"/>
                <a:cs typeface="Arial"/>
              </a:rPr>
              <a:t>月のセキュア公開に向けて　</a:t>
            </a:r>
            <a:r>
              <a:rPr lang="ja-JP" altLang="en-US" sz="1800" dirty="0">
                <a:latin typeface="Arial"/>
                <a:cs typeface="Arial"/>
              </a:rPr>
              <a:t>‐</a:t>
            </a:r>
            <a:r>
              <a:rPr lang="ja-JP" altLang="en-US" sz="1800" dirty="0">
                <a:latin typeface="Arial"/>
                <a:cs typeface="Arial"/>
              </a:rPr>
              <a:t>　</a:t>
            </a:r>
            <a:r>
              <a:rPr lang="ja-JP" altLang="en-US" sz="1800" dirty="0">
                <a:latin typeface="Arial"/>
                <a:cs typeface="Arial"/>
              </a:rPr>
              <a:t>10</a:t>
            </a:r>
            <a:r>
              <a:rPr lang="ja-JP" altLang="en-US" sz="1800" dirty="0">
                <a:latin typeface="Arial"/>
                <a:cs typeface="Arial"/>
              </a:rPr>
              <a:t>分</a:t>
            </a:r>
            <a:endParaRPr lang="ja-JP" altLang="en-US" sz="1800" dirty="0">
              <a:latin typeface="Arial"/>
              <a:cs typeface="Arial"/>
            </a:endParaRPr>
          </a:p>
        </p:txBody>
      </p:sp>
    </p:spTree>
    <p:extLst>
      <p:ext uri="{BB962C8B-B14F-4D97-AF65-F5344CB8AC3E}">
        <p14:creationId xmlns:p14="http://schemas.microsoft.com/office/powerpoint/2010/main" val="306595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CA1045E1-02D5-4419-A896-60601E3D46A7}"/>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CA1045E1-02D5-4419-A896-60601E3D46A7}"/>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 name="テキスト プレースホルダー 3">
            <a:extLst>
              <a:ext uri="{FF2B5EF4-FFF2-40B4-BE49-F238E27FC236}">
                <a16:creationId xmlns:a16="http://schemas.microsoft.com/office/drawing/2014/main" id="{8CA31FE1-1128-4A19-B707-D354CF727FF0}"/>
              </a:ext>
            </a:extLst>
          </p:cNvPr>
          <p:cNvSpPr>
            <a:spLocks noGrp="1"/>
          </p:cNvSpPr>
          <p:nvPr>
            <p:ph type="body" sz="quarter" idx="15"/>
          </p:nvPr>
        </p:nvSpPr>
        <p:spPr/>
        <p:txBody>
          <a:bodyPr/>
          <a:lstStyle/>
          <a:p>
            <a:r>
              <a:rPr lang="ja-JP" altLang="en-US"/>
              <a:t>プロジェクトステータス概要</a:t>
            </a:r>
          </a:p>
        </p:txBody>
      </p:sp>
      <p:sp>
        <p:nvSpPr>
          <p:cNvPr id="7" name="タイトル 6">
            <a:extLst>
              <a:ext uri="{FF2B5EF4-FFF2-40B4-BE49-F238E27FC236}">
                <a16:creationId xmlns:a16="http://schemas.microsoft.com/office/drawing/2014/main" id="{3B8A63B1-B5A6-47C8-8BD0-28DE6AFBFEDC}"/>
              </a:ext>
            </a:extLst>
          </p:cNvPr>
          <p:cNvSpPr>
            <a:spLocks noGrp="1"/>
          </p:cNvSpPr>
          <p:nvPr>
            <p:ph type="title"/>
          </p:nvPr>
        </p:nvSpPr>
        <p:spPr/>
        <p:txBody>
          <a:bodyPr vert="horz" rIns="0"/>
          <a:lstStyle/>
          <a:p>
            <a:r>
              <a:rPr lang="ja-JP" altLang="en-US"/>
              <a:t>本取り組みはスケジュール通り推進されています</a:t>
            </a:r>
          </a:p>
        </p:txBody>
      </p:sp>
      <p:graphicFrame>
        <p:nvGraphicFramePr>
          <p:cNvPr id="18" name="Group 764">
            <a:extLst>
              <a:ext uri="{FF2B5EF4-FFF2-40B4-BE49-F238E27FC236}">
                <a16:creationId xmlns:a16="http://schemas.microsoft.com/office/drawing/2014/main" id="{8A8342F3-11CA-450C-BAF8-A73AB2577181}"/>
              </a:ext>
            </a:extLst>
          </p:cNvPr>
          <p:cNvGraphicFramePr>
            <a:graphicFrameLocks noGrp="1"/>
          </p:cNvGraphicFramePr>
          <p:nvPr/>
        </p:nvGraphicFramePr>
        <p:xfrm>
          <a:off x="480636" y="4887671"/>
          <a:ext cx="11233150" cy="1421054"/>
        </p:xfrm>
        <a:graphic>
          <a:graphicData uri="http://schemas.openxmlformats.org/drawingml/2006/table">
            <a:tbl>
              <a:tblPr/>
              <a:tblGrid>
                <a:gridCol w="802370">
                  <a:extLst>
                    <a:ext uri="{9D8B030D-6E8A-4147-A177-3AD203B41FA5}">
                      <a16:colId xmlns:a16="http://schemas.microsoft.com/office/drawing/2014/main" val="20000"/>
                    </a:ext>
                  </a:extLst>
                </a:gridCol>
                <a:gridCol w="623518">
                  <a:extLst>
                    <a:ext uri="{9D8B030D-6E8A-4147-A177-3AD203B41FA5}">
                      <a16:colId xmlns:a16="http://schemas.microsoft.com/office/drawing/2014/main" val="4178895852"/>
                    </a:ext>
                  </a:extLst>
                </a:gridCol>
                <a:gridCol w="2226846">
                  <a:extLst>
                    <a:ext uri="{9D8B030D-6E8A-4147-A177-3AD203B41FA5}">
                      <a16:colId xmlns:a16="http://schemas.microsoft.com/office/drawing/2014/main" val="20001"/>
                    </a:ext>
                  </a:extLst>
                </a:gridCol>
                <a:gridCol w="6146096">
                  <a:extLst>
                    <a:ext uri="{9D8B030D-6E8A-4147-A177-3AD203B41FA5}">
                      <a16:colId xmlns:a16="http://schemas.microsoft.com/office/drawing/2014/main" val="566296910"/>
                    </a:ext>
                  </a:extLst>
                </a:gridCol>
                <a:gridCol w="1434320">
                  <a:extLst>
                    <a:ext uri="{9D8B030D-6E8A-4147-A177-3AD203B41FA5}">
                      <a16:colId xmlns:a16="http://schemas.microsoft.com/office/drawing/2014/main" val="20002"/>
                    </a:ext>
                  </a:extLst>
                </a:gridCol>
              </a:tblGrid>
              <a:tr h="360000">
                <a:tc gridSpan="5">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defRPr/>
                      </a:pPr>
                      <a:r>
                        <a:rPr kumimoji="1" lang="ja-JP" altLang="en-US" sz="1200" b="1">
                          <a:solidFill>
                            <a:schemeClr val="bg1"/>
                          </a:solidFill>
                          <a:latin typeface="+mn-ea"/>
                        </a:rPr>
                        <a:t>主なリスクと課題</a:t>
                      </a:r>
                      <a:r>
                        <a:rPr kumimoji="1" lang="ja-JP" altLang="en-US" sz="1200" b="1" baseline="30000">
                          <a:solidFill>
                            <a:schemeClr val="bg1"/>
                          </a:solidFill>
                          <a:latin typeface="+mn-ea"/>
                        </a:rPr>
                        <a:t>*</a:t>
                      </a:r>
                      <a:r>
                        <a:rPr kumimoji="1" lang="ja-JP" altLang="en-US" sz="1200" b="1" baseline="30000">
                          <a:solidFill>
                            <a:schemeClr val="bg1"/>
                          </a:solidFill>
                          <a:latin typeface="+mn-ea"/>
                        </a:rPr>
                        <a:t>1</a:t>
                      </a:r>
                    </a:p>
                  </a:txBody>
                  <a:tcPr marL="87120" marR="87120" marT="36000" marB="36000" anchor="ctr" horzOverflow="overflow">
                    <a:lnL w="12700" cap="flat" cmpd="sng" algn="ctr">
                      <a:solidFill>
                        <a:srgbClr val="75787B"/>
                      </a:solidFill>
                      <a:prstDash val="solid"/>
                      <a:round/>
                      <a:headEnd type="none" w="med" len="med"/>
                      <a:tailEnd type="none" w="med" len="med"/>
                    </a:lnL>
                    <a:lnR w="12700" cap="flat" cmpd="sng" algn="ctr">
                      <a:solidFill>
                        <a:srgbClr val="75787B"/>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53565A"/>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631319659"/>
                  </a:ext>
                </a:extLst>
              </a:tr>
              <a:tr h="288032">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区分</a:t>
                      </a: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No</a:t>
                      </a: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リスク</a:t>
                      </a:r>
                      <a:r>
                        <a:rPr kumimoji="0" lang="ja-JP" altLang="en-US" sz="1200" b="1" i="0" u="none" strike="noStrike" cap="none" normalizeH="0" baseline="0">
                          <a:ln>
                            <a:noFill/>
                          </a:ln>
                          <a:solidFill>
                            <a:schemeClr val="tx1"/>
                          </a:solidFill>
                          <a:effectLst/>
                          <a:latin typeface="+mn-lt"/>
                          <a:ea typeface="+mn-ea"/>
                          <a:cs typeface="+mn-cs"/>
                          <a:sym typeface="+mn-lt"/>
                        </a:rPr>
                        <a:t>/</a:t>
                      </a:r>
                      <a:r>
                        <a:rPr kumimoji="0" lang="ja-JP" altLang="en-US" sz="1200" b="1" i="0" u="none" strike="noStrike" cap="none" normalizeH="0" baseline="0">
                          <a:ln>
                            <a:noFill/>
                          </a:ln>
                          <a:solidFill>
                            <a:schemeClr val="tx1"/>
                          </a:solidFill>
                          <a:effectLst/>
                          <a:latin typeface="+mn-lt"/>
                          <a:ea typeface="+mn-ea"/>
                          <a:cs typeface="+mn-cs"/>
                          <a:sym typeface="+mn-lt"/>
                        </a:rPr>
                        <a:t>課題</a:t>
                      </a: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概要</a:t>
                      </a: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対応期限</a:t>
                      </a: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33979">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l" defTabSz="914400" rtl="0" eaLnBrk="1" fontAlgn="base" latinLnBrk="0" hangingPunct="1">
                        <a:lnSpc>
                          <a:spcPct val="106000"/>
                        </a:lnSpc>
                        <a:spcBef>
                          <a:spcPct val="20000"/>
                        </a:spcBef>
                        <a:spcAft>
                          <a:spcPct val="0"/>
                        </a:spcAft>
                        <a:buClrTx/>
                        <a:buSzPct val="100000"/>
                        <a:buFont typeface="Wingdings" panose="05000000000000000000"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6000"/>
                        </a:lnSpc>
                        <a:spcBef>
                          <a:spcPct val="20000"/>
                        </a:spcBef>
                        <a:spcAft>
                          <a:spcPct val="0"/>
                        </a:spcAft>
                        <a:buClrTx/>
                        <a:buSzPct val="100000"/>
                        <a:buFont typeface="Wingdings" panose="05000000000000000000" pitchFamily="2" charset="2"/>
                        <a:buChar char="n"/>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lvl1pPr marL="0" algn="l" defTabSz="990564" rtl="0" eaLnBrk="1" latinLnBrk="0" hangingPunct="1">
                        <a:defRPr kumimoji="1" sz="1950" kern="1200">
                          <a:solidFill>
                            <a:schemeClr val="tx1"/>
                          </a:solidFill>
                          <a:latin typeface="Arial"/>
                          <a:ea typeface="ＭＳ Ｐゴシック"/>
                        </a:defRPr>
                      </a:lvl1pPr>
                      <a:lvl2pPr marL="495283" algn="l" defTabSz="990564" rtl="0" eaLnBrk="1" latinLnBrk="0" hangingPunct="1">
                        <a:defRPr kumimoji="1" sz="1950" kern="1200">
                          <a:solidFill>
                            <a:schemeClr val="tx1"/>
                          </a:solidFill>
                          <a:latin typeface="Arial"/>
                          <a:ea typeface="ＭＳ Ｐゴシック"/>
                        </a:defRPr>
                      </a:lvl2pPr>
                      <a:lvl3pPr marL="990564" algn="l" defTabSz="990564" rtl="0" eaLnBrk="1" latinLnBrk="0" hangingPunct="1">
                        <a:defRPr kumimoji="1" sz="1950" kern="1200">
                          <a:solidFill>
                            <a:schemeClr val="tx1"/>
                          </a:solidFill>
                          <a:latin typeface="Arial"/>
                          <a:ea typeface="ＭＳ Ｐゴシック"/>
                        </a:defRPr>
                      </a:lvl3pPr>
                      <a:lvl4pPr marL="1485846" algn="l" defTabSz="990564" rtl="0" eaLnBrk="1" latinLnBrk="0" hangingPunct="1">
                        <a:defRPr kumimoji="1" sz="1950" kern="1200">
                          <a:solidFill>
                            <a:schemeClr val="tx1"/>
                          </a:solidFill>
                          <a:latin typeface="Arial"/>
                          <a:ea typeface="ＭＳ Ｐゴシック"/>
                        </a:defRPr>
                      </a:lvl4pPr>
                      <a:lvl5pPr marL="1981127" algn="l" defTabSz="990564" rtl="0" eaLnBrk="1" latinLnBrk="0" hangingPunct="1">
                        <a:defRPr kumimoji="1" sz="1950" kern="1200">
                          <a:solidFill>
                            <a:schemeClr val="tx1"/>
                          </a:solidFill>
                          <a:latin typeface="Arial"/>
                          <a:ea typeface="ＭＳ Ｐゴシック"/>
                        </a:defRPr>
                      </a:lvl5pPr>
                      <a:lvl6pPr marL="2476410" algn="l" defTabSz="990564" rtl="0" eaLnBrk="1" latinLnBrk="0" hangingPunct="1">
                        <a:defRPr kumimoji="1" sz="1950" kern="1200">
                          <a:solidFill>
                            <a:schemeClr val="tx1"/>
                          </a:solidFill>
                          <a:latin typeface="Arial"/>
                          <a:ea typeface="ＭＳ Ｐゴシック"/>
                        </a:defRPr>
                      </a:lvl6pPr>
                      <a:lvl7pPr marL="2971692" algn="l" defTabSz="990564" rtl="0" eaLnBrk="1" latinLnBrk="0" hangingPunct="1">
                        <a:defRPr kumimoji="1" sz="1950" kern="1200">
                          <a:solidFill>
                            <a:schemeClr val="tx1"/>
                          </a:solidFill>
                          <a:latin typeface="Arial"/>
                          <a:ea typeface="ＭＳ Ｐゴシック"/>
                        </a:defRPr>
                      </a:lvl7pPr>
                      <a:lvl8pPr marL="3466973" algn="l" defTabSz="990564" rtl="0" eaLnBrk="1" latinLnBrk="0" hangingPunct="1">
                        <a:defRPr kumimoji="1" sz="1950" kern="1200">
                          <a:solidFill>
                            <a:schemeClr val="tx1"/>
                          </a:solidFill>
                          <a:latin typeface="Arial"/>
                          <a:ea typeface="ＭＳ Ｐゴシック"/>
                        </a:defRPr>
                      </a:lvl8pPr>
                      <a:lvl9pPr marL="3962255" algn="l" defTabSz="990564" rtl="0" eaLnBrk="1" latinLnBrk="0" hangingPunct="1">
                        <a:defRPr kumimoji="1" sz="1950" kern="1200">
                          <a:solidFill>
                            <a:schemeClr val="tx1"/>
                          </a:solidFill>
                          <a:latin typeface="Arial"/>
                          <a:ea typeface="ＭＳ Ｐゴシック"/>
                        </a:defRPr>
                      </a:lvl9p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3979">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buClrTx/>
                        <a:buSzPct val="100000"/>
                        <a:buFont typeface="Wingdings" panose="05000000000000000000"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6000"/>
                        </a:lnSpc>
                        <a:spcBef>
                          <a:spcPct val="20000"/>
                        </a:spcBef>
                        <a:spcAft>
                          <a:spcPct val="0"/>
                        </a:spcAft>
                        <a:buClrTx/>
                        <a:buSzPct val="100000"/>
                        <a:buFont typeface="Wingdings" panose="05000000000000000000" pitchFamily="2" charset="2"/>
                        <a:buChar char="n"/>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9578761"/>
                  </a:ext>
                </a:extLst>
              </a:tr>
              <a:tr h="233979">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buClrTx/>
                        <a:buSzPct val="100000"/>
                        <a:buFont typeface="Wingdings" panose="05000000000000000000"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6000"/>
                        </a:lnSpc>
                        <a:spcBef>
                          <a:spcPct val="20000"/>
                        </a:spcBef>
                        <a:spcAft>
                          <a:spcPct val="0"/>
                        </a:spcAft>
                        <a:buClrTx/>
                        <a:buSzPct val="100000"/>
                        <a:buFont typeface="Wingdings" panose="05000000000000000000" pitchFamily="2" charset="2"/>
                        <a:buChar char="n"/>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buClr>
                          <a:srgbClr val="006699"/>
                        </a:buClr>
                        <a:buSzPct val="80000"/>
                        <a:buFont typeface="Wingdings" pitchFamily="2" charset="2"/>
                        <a:buNone/>
                        <a:tabLst/>
                      </a:pP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4648678"/>
                  </a:ext>
                </a:extLst>
              </a:tr>
            </a:tbl>
          </a:graphicData>
        </a:graphic>
      </p:graphicFrame>
      <p:sp>
        <p:nvSpPr>
          <p:cNvPr id="2" name="正方形/長方形 1">
            <a:extLst>
              <a:ext uri="{FF2B5EF4-FFF2-40B4-BE49-F238E27FC236}">
                <a16:creationId xmlns:a16="http://schemas.microsoft.com/office/drawing/2014/main" id="{A68A8C6D-52BD-4CA7-97B6-CD3C773BB83B}"/>
              </a:ext>
            </a:extLst>
          </p:cNvPr>
          <p:cNvSpPr/>
          <p:nvPr/>
        </p:nvSpPr>
        <p:spPr bwMode="gray">
          <a:xfrm>
            <a:off x="486569" y="1481701"/>
            <a:ext cx="5430043" cy="386940"/>
          </a:xfrm>
          <a:prstGeom prst="rect">
            <a:avLst/>
          </a:prstGeom>
          <a:solidFill>
            <a:schemeClr val="tx2"/>
          </a:solidFill>
          <a:ln w="12700" algn="ctr">
            <a:solidFill>
              <a:schemeClr val="tx2"/>
            </a:solidFill>
            <a:miter lim="800000"/>
            <a:headEnd/>
            <a:tailEnd/>
          </a:ln>
        </p:spPr>
        <p:txBody>
          <a:bodyPr wrap="square" lIns="36000" tIns="36000" rIns="36000" bIns="36000" rtlCol="0" anchor="ctr"/>
          <a:lstStyle/>
          <a:p>
            <a:pPr algn="ctr">
              <a:buFont typeface="Wingdings 2" pitchFamily="18" charset="2"/>
              <a:buNone/>
            </a:pPr>
            <a:r>
              <a:rPr kumimoji="1" lang="ja-JP" altLang="en-US" sz="1400" b="1">
                <a:solidFill>
                  <a:schemeClr val="bg1"/>
                </a:solidFill>
                <a:latin typeface="+mn-ea"/>
              </a:rPr>
              <a:t>今週までの実施事項 </a:t>
            </a:r>
            <a:r>
              <a:rPr kumimoji="1" lang="ja-JP" altLang="en-US" sz="1400" b="1">
                <a:solidFill>
                  <a:schemeClr val="bg1"/>
                </a:solidFill>
                <a:latin typeface="+mn-ea"/>
              </a:rPr>
              <a:t>(</a:t>
            </a:r>
            <a:r>
              <a:rPr kumimoji="1" lang="ja-JP" altLang="en-US" sz="1400" b="1">
                <a:solidFill>
                  <a:schemeClr val="bg1"/>
                </a:solidFill>
                <a:latin typeface="+mn-ea"/>
              </a:rPr>
              <a:t>実績</a:t>
            </a:r>
            <a:r>
              <a:rPr kumimoji="1" lang="ja-JP" altLang="en-US" sz="1400" b="1">
                <a:solidFill>
                  <a:schemeClr val="bg1"/>
                </a:solidFill>
                <a:latin typeface="+mn-ea"/>
              </a:rPr>
              <a:t>)</a:t>
            </a:r>
            <a:endParaRPr kumimoji="1" lang="ja-JP" altLang="en-US" sz="1400" b="1">
              <a:solidFill>
                <a:schemeClr val="bg1"/>
              </a:solidFill>
              <a:latin typeface="+mn-ea"/>
            </a:endParaRPr>
          </a:p>
        </p:txBody>
      </p:sp>
      <p:sp>
        <p:nvSpPr>
          <p:cNvPr id="40" name="正方形/長方形 39">
            <a:extLst>
              <a:ext uri="{FF2B5EF4-FFF2-40B4-BE49-F238E27FC236}">
                <a16:creationId xmlns:a16="http://schemas.microsoft.com/office/drawing/2014/main" id="{2EC65511-81A3-44C0-8767-201B0F95BD61}"/>
              </a:ext>
            </a:extLst>
          </p:cNvPr>
          <p:cNvSpPr/>
          <p:nvPr/>
        </p:nvSpPr>
        <p:spPr bwMode="gray">
          <a:xfrm>
            <a:off x="486569" y="1837945"/>
            <a:ext cx="5430043" cy="2779775"/>
          </a:xfrm>
          <a:prstGeom prst="rect">
            <a:avLst/>
          </a:prstGeom>
          <a:noFill/>
          <a:ln w="12700" algn="ctr">
            <a:solidFill>
              <a:schemeClr val="tx2"/>
            </a:solidFill>
            <a:miter lim="800000"/>
            <a:headEnd/>
            <a:tailEnd/>
          </a:ln>
        </p:spPr>
        <p:txBody>
          <a:bodyPr wrap="square" lIns="72000" tIns="72000" rIns="72000" bIns="72000" rtlCol="0" anchor="ctr"/>
          <a:lstStyle/>
          <a:p>
            <a:pPr marL="171450" indent="-171450">
              <a:spcBef>
                <a:spcPts val="600"/>
              </a:spcBef>
              <a:buFont typeface="Arial" panose="020B0604020202020204" pitchFamily="34" charset="0"/>
              <a:buChar char="•"/>
              <a:tabLst>
                <a:tab pos="265113" algn="l"/>
              </a:tabLst>
            </a:pPr>
            <a:r>
              <a:rPr kumimoji="1" lang="ja-JP" altLang="en-US" sz="1200" b="1" dirty="0">
                <a:latin typeface="+mn-ea"/>
              </a:rPr>
              <a:t>経営ナビ</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UI</a:t>
            </a:r>
            <a:r>
              <a:rPr kumimoji="1" lang="ja-JP" altLang="en-US" sz="1100" dirty="0">
                <a:latin typeface="+mn-ea"/>
              </a:rPr>
              <a:t>の精緻化</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SNS</a:t>
            </a:r>
            <a:r>
              <a:rPr kumimoji="1" lang="ja-JP" altLang="en-US" sz="1100" dirty="0">
                <a:latin typeface="+mn-ea"/>
              </a:rPr>
              <a:t>分析機能の増強</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管理者機能の精緻化（データ管理・権限管理・</a:t>
            </a:r>
            <a:r>
              <a:rPr kumimoji="1" lang="ja-JP" altLang="en-US" sz="1100" dirty="0">
                <a:latin typeface="+mn-ea"/>
              </a:rPr>
              <a:t>I/O</a:t>
            </a:r>
            <a:r>
              <a:rPr kumimoji="1" lang="ja-JP" altLang="en-US" sz="1100" dirty="0">
                <a:latin typeface="+mn-ea"/>
              </a:rPr>
              <a:t>ログ管理・エラー管理）</a:t>
            </a:r>
          </a:p>
          <a:p>
            <a:pPr marL="171450" indent="-171450">
              <a:spcBef>
                <a:spcPts val="600"/>
              </a:spcBef>
              <a:buFont typeface="Arial" panose="020B0604020202020204" pitchFamily="34" charset="0"/>
              <a:buChar char="•"/>
              <a:tabLst>
                <a:tab pos="265113" algn="l"/>
              </a:tabLst>
            </a:pPr>
            <a:r>
              <a:rPr kumimoji="1" lang="ja-JP" altLang="en-US" sz="1200" b="1" dirty="0">
                <a:latin typeface="+mn-ea"/>
              </a:rPr>
              <a:t>株主総会</a:t>
            </a:r>
            <a:r>
              <a:rPr kumimoji="1" lang="ja-JP" altLang="en-US" sz="1200" b="1" dirty="0">
                <a:latin typeface="+mn-ea"/>
              </a:rPr>
              <a:t>QA</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UI</a:t>
            </a:r>
            <a:r>
              <a:rPr kumimoji="1" lang="ja-JP" altLang="en-US" sz="1100" dirty="0">
                <a:latin typeface="+mn-ea"/>
              </a:rPr>
              <a:t>の精緻化</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ユーザー業務フローに沿った機能修正（進行中）</a:t>
            </a:r>
          </a:p>
          <a:p>
            <a:pPr marL="601218" lvl="1" indent="-171450">
              <a:spcBef>
                <a:spcPts val="600"/>
              </a:spcBef>
              <a:buFont typeface="Wingdings" panose="05000000000000000000" pitchFamily="2" charset="2"/>
              <a:buChar char="n"/>
              <a:tabLst>
                <a:tab pos="265113" algn="l"/>
              </a:tabLst>
            </a:pPr>
            <a:r>
              <a:rPr kumimoji="1" lang="ja-JP" altLang="en-US" sz="1100" dirty="0">
                <a:latin typeface="+mn-ea"/>
              </a:rPr>
              <a:t>管理者機能の精緻化（経営ナビと同様）</a:t>
            </a:r>
          </a:p>
        </p:txBody>
      </p:sp>
      <p:sp>
        <p:nvSpPr>
          <p:cNvPr id="41" name="正方形/長方形 40">
            <a:extLst>
              <a:ext uri="{FF2B5EF4-FFF2-40B4-BE49-F238E27FC236}">
                <a16:creationId xmlns:a16="http://schemas.microsoft.com/office/drawing/2014/main" id="{D02B4CF4-2C2A-4EB0-94AA-F2864BD87FC7}"/>
              </a:ext>
            </a:extLst>
          </p:cNvPr>
          <p:cNvSpPr/>
          <p:nvPr/>
        </p:nvSpPr>
        <p:spPr bwMode="gray">
          <a:xfrm>
            <a:off x="6282532" y="1481701"/>
            <a:ext cx="5430043" cy="386940"/>
          </a:xfrm>
          <a:prstGeom prst="rect">
            <a:avLst/>
          </a:prstGeom>
          <a:solidFill>
            <a:schemeClr val="tx2"/>
          </a:solidFill>
          <a:ln w="12700" algn="ctr">
            <a:solidFill>
              <a:schemeClr val="tx2"/>
            </a:solidFill>
            <a:miter lim="800000"/>
            <a:headEnd/>
            <a:tailEnd/>
          </a:ln>
        </p:spPr>
        <p:txBody>
          <a:bodyPr wrap="square" lIns="36000" tIns="36000" rIns="36000" bIns="36000" rtlCol="0" anchor="ctr"/>
          <a:lstStyle/>
          <a:p>
            <a:pPr algn="ctr">
              <a:buFont typeface="Wingdings 2" pitchFamily="18" charset="2"/>
              <a:buNone/>
            </a:pPr>
            <a:r>
              <a:rPr kumimoji="1" lang="ja-JP" altLang="en-US" sz="1400" b="1">
                <a:solidFill>
                  <a:schemeClr val="bg1"/>
                </a:solidFill>
                <a:latin typeface="+mn-ea"/>
              </a:rPr>
              <a:t>次回週次ミーティングまでの実施事項 </a:t>
            </a:r>
            <a:r>
              <a:rPr kumimoji="1" lang="ja-JP" altLang="en-US" sz="1400" b="1">
                <a:solidFill>
                  <a:schemeClr val="bg1"/>
                </a:solidFill>
                <a:latin typeface="+mn-ea"/>
              </a:rPr>
              <a:t>(</a:t>
            </a:r>
            <a:r>
              <a:rPr kumimoji="1" lang="ja-JP" altLang="en-US" sz="1400" b="1">
                <a:solidFill>
                  <a:schemeClr val="bg1"/>
                </a:solidFill>
                <a:latin typeface="+mn-ea"/>
              </a:rPr>
              <a:t>予定</a:t>
            </a:r>
            <a:r>
              <a:rPr kumimoji="1" lang="ja-JP" altLang="en-US" sz="1400" b="1">
                <a:solidFill>
                  <a:schemeClr val="bg1"/>
                </a:solidFill>
                <a:latin typeface="+mn-ea"/>
              </a:rPr>
              <a:t>)</a:t>
            </a:r>
            <a:endParaRPr kumimoji="1" lang="ja-JP" altLang="en-US" sz="1400" b="1">
              <a:solidFill>
                <a:schemeClr val="bg1"/>
              </a:solidFill>
              <a:latin typeface="+mn-ea"/>
            </a:endParaRPr>
          </a:p>
        </p:txBody>
      </p:sp>
      <p:sp>
        <p:nvSpPr>
          <p:cNvPr id="43" name="正方形/長方形 42">
            <a:extLst>
              <a:ext uri="{FF2B5EF4-FFF2-40B4-BE49-F238E27FC236}">
                <a16:creationId xmlns:a16="http://schemas.microsoft.com/office/drawing/2014/main" id="{C0BE5DC5-C0DF-4950-B840-4AE0FAAA150E}"/>
              </a:ext>
            </a:extLst>
          </p:cNvPr>
          <p:cNvSpPr/>
          <p:nvPr/>
        </p:nvSpPr>
        <p:spPr bwMode="gray">
          <a:xfrm>
            <a:off x="6282532" y="1837945"/>
            <a:ext cx="5430043" cy="2779775"/>
          </a:xfrm>
          <a:prstGeom prst="rect">
            <a:avLst/>
          </a:prstGeom>
          <a:noFill/>
          <a:ln w="12700" algn="ctr">
            <a:solidFill>
              <a:schemeClr val="tx2"/>
            </a:solidFill>
            <a:miter lim="800000"/>
            <a:headEnd/>
            <a:tailEnd/>
          </a:ln>
        </p:spPr>
        <p:txBody>
          <a:bodyPr wrap="square" lIns="72000" tIns="72000" rIns="72000" bIns="72000" rtlCol="0" anchor="t"/>
          <a:lstStyle/>
          <a:p>
            <a:pPr marL="171450" indent="-171450">
              <a:spcBef>
                <a:spcPts val="600"/>
              </a:spcBef>
              <a:buFont typeface="Arial" panose="020B0604020202020204" pitchFamily="34" charset="0"/>
              <a:buChar char="•"/>
              <a:tabLst>
                <a:tab pos="265113" algn="l"/>
              </a:tabLst>
            </a:pPr>
            <a:r>
              <a:rPr kumimoji="1" lang="ja-JP" altLang="en-US" sz="1200" b="1" dirty="0">
                <a:latin typeface="+mn-ea"/>
              </a:rPr>
              <a:t>機能・ソースコードを</a:t>
            </a:r>
            <a:r>
              <a:rPr kumimoji="1" lang="ja-JP" altLang="en-US" sz="1200" b="1" dirty="0">
                <a:latin typeface="+mn-ea"/>
              </a:rPr>
              <a:t>FIX</a:t>
            </a:r>
            <a:r>
              <a:rPr kumimoji="1" lang="ja-JP" altLang="en-US" sz="1200" b="1" dirty="0">
                <a:latin typeface="+mn-ea"/>
              </a:rPr>
              <a:t>し、</a:t>
            </a:r>
            <a:r>
              <a:rPr kumimoji="1" lang="ja-JP" altLang="en-US" sz="1200" b="1" dirty="0">
                <a:latin typeface="+mn-ea"/>
              </a:rPr>
              <a:t>ITEC</a:t>
            </a:r>
            <a:r>
              <a:rPr kumimoji="1" lang="ja-JP" altLang="en-US" sz="1200" b="1" dirty="0">
                <a:latin typeface="+mn-ea"/>
              </a:rPr>
              <a:t>様へ引き継ぎ</a:t>
            </a:r>
          </a:p>
          <a:p>
            <a:pPr marL="171450" indent="-171450">
              <a:spcBef>
                <a:spcPts val="600"/>
              </a:spcBef>
              <a:buFont typeface="Arial" panose="020B0604020202020204" pitchFamily="34" charset="0"/>
              <a:buChar char="•"/>
              <a:tabLst>
                <a:tab pos="265113" algn="l"/>
              </a:tabLst>
            </a:pPr>
            <a:r>
              <a:rPr kumimoji="1" lang="ja-JP" altLang="en-US" sz="1200" b="1" dirty="0">
                <a:latin typeface="+mn-ea"/>
              </a:rPr>
              <a:t>FIX</a:t>
            </a:r>
            <a:r>
              <a:rPr kumimoji="1" lang="ja-JP" altLang="en-US" sz="1200" b="1" dirty="0">
                <a:latin typeface="+mn-ea"/>
              </a:rPr>
              <a:t>版のアプリ説明資料の更新と共有</a:t>
            </a:r>
          </a:p>
          <a:p>
            <a:pPr marL="171450" indent="-171450">
              <a:spcBef>
                <a:spcPts val="600"/>
              </a:spcBef>
              <a:buFont typeface="Arial" panose="020B0604020202020204" pitchFamily="34" charset="0"/>
              <a:buChar char="•"/>
              <a:tabLst>
                <a:tab pos="265113" algn="l"/>
              </a:tabLst>
            </a:pPr>
            <a:r>
              <a:rPr kumimoji="1" lang="ja-JP" altLang="en-US" sz="1200" b="1" dirty="0">
                <a:latin typeface="+mn-ea"/>
              </a:rPr>
              <a:t>ITEC</a:t>
            </a:r>
            <a:r>
              <a:rPr kumimoji="1" lang="ja-JP" altLang="en-US" sz="1200" b="1" dirty="0">
                <a:latin typeface="+mn-ea"/>
              </a:rPr>
              <a:t>様の統合テストに伴う情報提供、および判明したアプリのバグ修正</a:t>
            </a:r>
          </a:p>
        </p:txBody>
      </p:sp>
      <p:sp>
        <p:nvSpPr>
          <p:cNvPr id="3" name="正方形/長方形 2">
            <a:extLst>
              <a:ext uri="{FF2B5EF4-FFF2-40B4-BE49-F238E27FC236}">
                <a16:creationId xmlns:a16="http://schemas.microsoft.com/office/drawing/2014/main" id="{EE5DA5A7-6AA3-46EA-A353-4527ECDED2B0}"/>
              </a:ext>
            </a:extLst>
          </p:cNvPr>
          <p:cNvSpPr/>
          <p:nvPr/>
        </p:nvSpPr>
        <p:spPr bwMode="gray">
          <a:xfrm>
            <a:off x="9089371" y="1016000"/>
            <a:ext cx="2591784" cy="393411"/>
          </a:xfrm>
          <a:prstGeom prst="rect">
            <a:avLst/>
          </a:prstGeom>
          <a:solidFill>
            <a:schemeClr val="bg1">
              <a:lumMod val="95000"/>
            </a:schemeClr>
          </a:solidFill>
          <a:ln w="12700" algn="ctr">
            <a:no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49" name="楕円 48">
            <a:extLst>
              <a:ext uri="{FF2B5EF4-FFF2-40B4-BE49-F238E27FC236}">
                <a16:creationId xmlns:a16="http://schemas.microsoft.com/office/drawing/2014/main" id="{206FE4C4-BB71-47DC-9F85-815A3BFD68F7}"/>
              </a:ext>
            </a:extLst>
          </p:cNvPr>
          <p:cNvSpPr/>
          <p:nvPr/>
        </p:nvSpPr>
        <p:spPr bwMode="gray">
          <a:xfrm>
            <a:off x="9393315" y="1063093"/>
            <a:ext cx="330151" cy="127287"/>
          </a:xfrm>
          <a:prstGeom prst="ellipse">
            <a:avLst/>
          </a:prstGeom>
          <a:solidFill>
            <a:srgbClr val="62B5E5"/>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2" name="テキスト プレースホルダー 1030">
            <a:extLst>
              <a:ext uri="{FF2B5EF4-FFF2-40B4-BE49-F238E27FC236}">
                <a16:creationId xmlns:a16="http://schemas.microsoft.com/office/drawing/2014/main" id="{DD0A8BAE-F714-47C4-9236-350EF85EC412}"/>
              </a:ext>
            </a:extLst>
          </p:cNvPr>
          <p:cNvSpPr txBox="1">
            <a:spLocks/>
          </p:cNvSpPr>
          <p:nvPr/>
        </p:nvSpPr>
        <p:spPr bwMode="gray">
          <a:xfrm>
            <a:off x="9329733" y="1225114"/>
            <a:ext cx="424796" cy="127016"/>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a:solidFill>
                  <a:schemeClr val="tx1"/>
                </a:solidFill>
                <a:latin typeface="Arial" pitchFamily="34" charset="0"/>
                <a:ea typeface="+mn-ea"/>
                <a:cs typeface="Arial" pitchFamily="34" charset="0"/>
              </a:defRPr>
            </a:lvl4pPr>
          </a:lstStyle>
          <a:p>
            <a:pPr fontAlgn="auto">
              <a:spcAft>
                <a:spcPts val="0"/>
              </a:spcAft>
            </a:pPr>
            <a:r>
              <a:rPr lang="ja-JP" altLang="en-US" sz="900" b="0" kern="0">
                <a:solidFill>
                  <a:prstClr val="black"/>
                </a:solidFill>
                <a:latin typeface="+mn-lt"/>
                <a:sym typeface="+mn-lt"/>
              </a:rPr>
              <a:t>予定通り</a:t>
            </a:r>
          </a:p>
        </p:txBody>
      </p:sp>
      <p:sp>
        <p:nvSpPr>
          <p:cNvPr id="50" name="楕円 49">
            <a:extLst>
              <a:ext uri="{FF2B5EF4-FFF2-40B4-BE49-F238E27FC236}">
                <a16:creationId xmlns:a16="http://schemas.microsoft.com/office/drawing/2014/main" id="{BD51DA62-E0CA-4FE9-B7D3-E7B4B4AD430F}"/>
              </a:ext>
            </a:extLst>
          </p:cNvPr>
          <p:cNvSpPr/>
          <p:nvPr/>
        </p:nvSpPr>
        <p:spPr bwMode="gray">
          <a:xfrm>
            <a:off x="10192812" y="1063093"/>
            <a:ext cx="330151" cy="127287"/>
          </a:xfrm>
          <a:prstGeom prst="ellipse">
            <a:avLst/>
          </a:prstGeom>
          <a:solidFill>
            <a:srgbClr val="FFFF00"/>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3" name="テキスト プレースホルダー 1030">
            <a:extLst>
              <a:ext uri="{FF2B5EF4-FFF2-40B4-BE49-F238E27FC236}">
                <a16:creationId xmlns:a16="http://schemas.microsoft.com/office/drawing/2014/main" id="{B61AFA03-ED75-4121-BC87-8585241BCBD1}"/>
              </a:ext>
            </a:extLst>
          </p:cNvPr>
          <p:cNvSpPr txBox="1">
            <a:spLocks/>
          </p:cNvSpPr>
          <p:nvPr/>
        </p:nvSpPr>
        <p:spPr bwMode="gray">
          <a:xfrm>
            <a:off x="10026244" y="1225114"/>
            <a:ext cx="647613" cy="127016"/>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a:solidFill>
                  <a:schemeClr val="tx1"/>
                </a:solidFill>
                <a:latin typeface="Arial" pitchFamily="34" charset="0"/>
                <a:ea typeface="+mn-ea"/>
                <a:cs typeface="Arial" pitchFamily="34" charset="0"/>
              </a:defRPr>
            </a:lvl4pPr>
          </a:lstStyle>
          <a:p>
            <a:pPr fontAlgn="auto">
              <a:spcAft>
                <a:spcPts val="0"/>
              </a:spcAft>
            </a:pPr>
            <a:r>
              <a:rPr lang="ja-JP" altLang="en-US" sz="900" b="0" kern="0">
                <a:solidFill>
                  <a:prstClr val="black"/>
                </a:solidFill>
                <a:latin typeface="+mn-lt"/>
                <a:sym typeface="+mn-lt"/>
              </a:rPr>
              <a:t>遅延</a:t>
            </a:r>
            <a:r>
              <a:rPr lang="ja-JP" altLang="en-US" sz="900" b="0" kern="0">
                <a:solidFill>
                  <a:prstClr val="black"/>
                </a:solidFill>
                <a:latin typeface="+mn-lt"/>
                <a:sym typeface="+mn-lt"/>
              </a:rPr>
              <a:t>(</a:t>
            </a:r>
            <a:r>
              <a:rPr lang="ja-JP" altLang="en-US" sz="900" b="0" kern="0">
                <a:solidFill>
                  <a:prstClr val="black"/>
                </a:solidFill>
                <a:latin typeface="+mn-lt"/>
                <a:sym typeface="+mn-lt"/>
              </a:rPr>
              <a:t>挽回可</a:t>
            </a:r>
            <a:r>
              <a:rPr lang="ja-JP" altLang="en-US" sz="900" b="0" kern="0">
                <a:solidFill>
                  <a:prstClr val="black"/>
                </a:solidFill>
                <a:latin typeface="+mn-lt"/>
                <a:sym typeface="+mn-lt"/>
              </a:rPr>
              <a:t>)</a:t>
            </a:r>
            <a:endParaRPr lang="ja-JP" altLang="en-US" sz="900" b="0" kern="0">
              <a:solidFill>
                <a:prstClr val="black"/>
              </a:solidFill>
              <a:latin typeface="+mn-lt"/>
              <a:sym typeface="+mn-lt"/>
            </a:endParaRPr>
          </a:p>
        </p:txBody>
      </p:sp>
      <p:sp>
        <p:nvSpPr>
          <p:cNvPr id="51" name="楕円 50">
            <a:extLst>
              <a:ext uri="{FF2B5EF4-FFF2-40B4-BE49-F238E27FC236}">
                <a16:creationId xmlns:a16="http://schemas.microsoft.com/office/drawing/2014/main" id="{9D5C40E1-62EA-4100-B3BA-405B98038F2C}"/>
              </a:ext>
            </a:extLst>
          </p:cNvPr>
          <p:cNvSpPr/>
          <p:nvPr/>
        </p:nvSpPr>
        <p:spPr bwMode="gray">
          <a:xfrm>
            <a:off x="10992308" y="1063093"/>
            <a:ext cx="330151" cy="127287"/>
          </a:xfrm>
          <a:prstGeom prst="ellipse">
            <a:avLst/>
          </a:prstGeom>
          <a:solidFill>
            <a:srgbClr val="DA291C"/>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4" name="テキスト プレースホルダー 1030">
            <a:extLst>
              <a:ext uri="{FF2B5EF4-FFF2-40B4-BE49-F238E27FC236}">
                <a16:creationId xmlns:a16="http://schemas.microsoft.com/office/drawing/2014/main" id="{9364F945-9FA2-465D-B4FE-B2B928C3EAAC}"/>
              </a:ext>
            </a:extLst>
          </p:cNvPr>
          <p:cNvSpPr txBox="1">
            <a:spLocks/>
          </p:cNvSpPr>
          <p:nvPr/>
        </p:nvSpPr>
        <p:spPr bwMode="gray">
          <a:xfrm>
            <a:off x="10792294" y="1225114"/>
            <a:ext cx="679673" cy="232290"/>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a:solidFill>
                  <a:schemeClr val="tx1"/>
                </a:solidFill>
                <a:latin typeface="Arial" pitchFamily="34" charset="0"/>
                <a:ea typeface="+mn-ea"/>
                <a:cs typeface="Arial" pitchFamily="34" charset="0"/>
              </a:defRPr>
            </a:lvl4pPr>
          </a:lstStyle>
          <a:p>
            <a:pPr algn="ctr" fontAlgn="auto">
              <a:spcAft>
                <a:spcPts val="0"/>
              </a:spcAft>
            </a:pPr>
            <a:r>
              <a:rPr lang="ja-JP" altLang="en-US" sz="900" b="0" kern="0">
                <a:solidFill>
                  <a:prstClr val="black"/>
                </a:solidFill>
                <a:latin typeface="+mn-lt"/>
                <a:sym typeface="+mn-lt"/>
              </a:rPr>
              <a:t>遅延</a:t>
            </a:r>
            <a:br>
              <a:rPr lang="ja-JP" altLang="en-US" sz="900" b="0" kern="0">
                <a:solidFill>
                  <a:prstClr val="black"/>
                </a:solidFill>
                <a:latin typeface="+mn-lt"/>
                <a:sym typeface="+mn-lt"/>
              </a:rPr>
            </a:br>
            <a:r>
              <a:rPr lang="ja-JP" altLang="en-US" sz="700" b="0" kern="0">
                <a:solidFill>
                  <a:prstClr val="black"/>
                </a:solidFill>
                <a:latin typeface="+mn-lt"/>
                <a:sym typeface="+mn-lt"/>
              </a:rPr>
              <a:t>(</a:t>
            </a:r>
            <a:r>
              <a:rPr lang="ja-JP" altLang="en-US" sz="700" b="0" kern="0">
                <a:solidFill>
                  <a:prstClr val="black"/>
                </a:solidFill>
                <a:latin typeface="+mn-lt"/>
                <a:sym typeface="+mn-lt"/>
              </a:rPr>
              <a:t>タスク等見直し要</a:t>
            </a:r>
            <a:r>
              <a:rPr lang="ja-JP" altLang="en-US" sz="700" b="0" kern="0">
                <a:solidFill>
                  <a:prstClr val="black"/>
                </a:solidFill>
                <a:latin typeface="+mn-lt"/>
                <a:sym typeface="+mn-lt"/>
              </a:rPr>
              <a:t>)</a:t>
            </a:r>
            <a:endParaRPr lang="ja-JP" altLang="en-US" sz="700" b="0" kern="0">
              <a:solidFill>
                <a:prstClr val="black"/>
              </a:solidFill>
              <a:latin typeface="+mn-lt"/>
              <a:sym typeface="+mn-lt"/>
            </a:endParaRPr>
          </a:p>
        </p:txBody>
      </p:sp>
      <p:sp>
        <p:nvSpPr>
          <p:cNvPr id="5" name="楕円 4">
            <a:extLst>
              <a:ext uri="{FF2B5EF4-FFF2-40B4-BE49-F238E27FC236}">
                <a16:creationId xmlns:a16="http://schemas.microsoft.com/office/drawing/2014/main" id="{3BF8AFC1-047A-4914-B839-9C3919CD3505}"/>
              </a:ext>
            </a:extLst>
          </p:cNvPr>
          <p:cNvSpPr/>
          <p:nvPr/>
        </p:nvSpPr>
        <p:spPr bwMode="gray">
          <a:xfrm>
            <a:off x="9231718" y="1001655"/>
            <a:ext cx="666406" cy="426294"/>
          </a:xfrm>
          <a:prstGeom prst="ellipse">
            <a:avLst/>
          </a:prstGeom>
          <a:noFill/>
          <a:ln w="19050" algn="ctr">
            <a:solidFill>
              <a:schemeClr val="tx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Tree>
    <p:extLst>
      <p:ext uri="{BB962C8B-B14F-4D97-AF65-F5344CB8AC3E}">
        <p14:creationId xmlns:p14="http://schemas.microsoft.com/office/powerpoint/2010/main" val="123403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10DEA-2555-B10F-69FA-33D0B3B94C9B}"/>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7BC753E-912A-3A44-D2E0-33C78496D92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47BC753E-912A-3A44-D2E0-33C78496D9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13B9A182-D79B-B736-BD89-2D9632AD3A9E}"/>
              </a:ext>
            </a:extLst>
          </p:cNvPr>
          <p:cNvSpPr/>
          <p:nvPr/>
        </p:nvSpPr>
        <p:spPr bwMode="gray">
          <a:xfrm>
            <a:off x="398151" y="2624394"/>
            <a:ext cx="5877237" cy="968251"/>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353AA0B4-6F4F-0FBF-7264-A61713B9D1DA}"/>
              </a:ext>
            </a:extLst>
          </p:cNvPr>
          <p:cNvSpPr>
            <a:spLocks noGrp="1"/>
          </p:cNvSpPr>
          <p:nvPr>
            <p:ph type="sldNum" sz="quarter" idx="11"/>
          </p:nvPr>
        </p:nvSpPr>
        <p:spPr/>
        <p:txBody>
          <a:bodyPr/>
          <a:lstStyle/>
          <a:p>
            <a:fld id="{AA5FCFE5-FE56-4EF1-80A8-07776887C2A1}" type="slidenum">
              <a:rPr lang="ja-JP" altLang="en-US" smtClean="0"/>
              <a:pPr/>
              <a:t>8</a:t>
            </a:fld>
            <a:endParaRPr lang="ja-JP" altLang="en-US"/>
          </a:p>
        </p:txBody>
      </p:sp>
      <p:sp>
        <p:nvSpPr>
          <p:cNvPr id="4" name="タイトル 3">
            <a:extLst>
              <a:ext uri="{FF2B5EF4-FFF2-40B4-BE49-F238E27FC236}">
                <a16:creationId xmlns:a16="http://schemas.microsoft.com/office/drawing/2014/main" id="{3A600476-AF3E-314C-D882-B227353D4189}"/>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996AB45F-CD1B-9686-5DF6-84616F1FF990}"/>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6CCDFD52-D0A9-F47F-8665-F759B131CE9B}"/>
              </a:ext>
            </a:extLst>
          </p:cNvPr>
          <p:cNvSpPr txBox="1"/>
          <p:nvPr/>
        </p:nvSpPr>
        <p:spPr bwMode="gray">
          <a:xfrm>
            <a:off x="479425" y="1280248"/>
            <a:ext cx="5615999" cy="2662267"/>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dirty="0">
              <a:latin typeface="+mn-ea"/>
              <a:cs typeface="Arial"/>
            </a:endParaRPr>
          </a:p>
          <a:p>
            <a:pPr marL="269875" marR="0" indent="-269875" defTabSz="990564">
              <a:lnSpc>
                <a:spcPct val="100000"/>
              </a:lnSpc>
              <a:spcBef>
                <a:spcPts val="0"/>
              </a:spcBef>
              <a:spcAft>
                <a:spcPts val="600"/>
              </a:spcAft>
              <a:buClrTx/>
              <a:buSzPct val="100000"/>
              <a:buAutoNum type="arabicPeriod"/>
              <a:tabLst/>
            </a:pPr>
            <a:r>
              <a:rPr lang="ja-JP" altLang="en-US" sz="1800" dirty="0">
                <a:latin typeface="+mn-ea"/>
                <a:cs typeface="Arial"/>
                <a:sym typeface="+mn-lt"/>
              </a:rPr>
              <a:t>Quick-Win</a:t>
            </a:r>
            <a:r>
              <a:rPr lang="ja-JP" altLang="en-US" sz="1800" dirty="0">
                <a:latin typeface="+mn-ea"/>
                <a:cs typeface="Arial"/>
                <a:sym typeface="+mn-lt"/>
              </a:rPr>
              <a:t>構築の全体進捗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cs typeface="Arial"/>
            </a:endParaRPr>
          </a:p>
          <a:p>
            <a:pPr marL="269875" marR="0" indent="-269875"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dirty="0">
                <a:latin typeface="+mn-ea"/>
                <a:cs typeface="Arial"/>
                <a:sym typeface="+mn-lt"/>
              </a:rPr>
              <a:t>前週振り返りおよび現状報告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sym typeface="+mn-lt"/>
              </a:rPr>
              <a:t>ご相談事項（2件）</a:t>
            </a:r>
            <a:endParaRPr lang="ja-JP" altLang="en-US" sz="1600" dirty="0">
              <a:highlight>
                <a:srgbClr val="FFFF00"/>
              </a:highlight>
              <a:latin typeface="+mn-ea"/>
            </a:endParaRPr>
          </a:p>
          <a:p>
            <a:pPr marL="269875" indent="-269875" defTabSz="990564" fontAlgn="auto">
              <a:spcBef>
                <a:spcPts val="0"/>
              </a:spcBef>
              <a:spcAft>
                <a:spcPts val="600"/>
              </a:spcAft>
              <a:buSzPct val="100000"/>
              <a:buFont typeface="+mj-lt"/>
              <a:buAutoNum type="arabicPeriod"/>
            </a:pPr>
            <a:r>
              <a:rPr lang="ja-JP" altLang="en-US" sz="1800" dirty="0">
                <a:solidFill>
                  <a:schemeClr val="bg1"/>
                </a:solidFill>
                <a:latin typeface="Arial"/>
                <a:cs typeface="Arial"/>
              </a:rPr>
              <a:t>アプリのアップデート</a:t>
            </a:r>
            <a:r>
              <a:rPr lang="ja-JP" altLang="en-US" sz="1800" dirty="0">
                <a:solidFill>
                  <a:schemeClr val="bg1"/>
                </a:solidFill>
                <a:latin typeface="+mn-ea"/>
                <a:cs typeface="Arial"/>
                <a:sym typeface="+mn-lt"/>
              </a:rPr>
              <a:t>　</a:t>
            </a:r>
            <a:r>
              <a:rPr lang="ja-JP" altLang="en-US" sz="1800" dirty="0">
                <a:solidFill>
                  <a:schemeClr val="bg1"/>
                </a:solidFill>
                <a:latin typeface="+mn-ea"/>
                <a:cs typeface="Arial"/>
                <a:sym typeface="+mn-lt"/>
              </a:rPr>
              <a:t>‐</a:t>
            </a:r>
            <a:r>
              <a:rPr lang="ja-JP" altLang="en-US" sz="1800" dirty="0">
                <a:solidFill>
                  <a:schemeClr val="bg1"/>
                </a:solidFill>
                <a:latin typeface="+mn-ea"/>
                <a:cs typeface="Arial"/>
                <a:sym typeface="+mn-lt"/>
              </a:rPr>
              <a:t>　</a:t>
            </a:r>
            <a:r>
              <a:rPr lang="ja-JP" altLang="en-US" sz="1800" dirty="0">
                <a:solidFill>
                  <a:schemeClr val="bg1"/>
                </a:solidFill>
                <a:latin typeface="+mn-ea"/>
                <a:cs typeface="Arial"/>
                <a:sym typeface="+mn-lt"/>
              </a:rPr>
              <a:t>30</a:t>
            </a:r>
            <a:r>
              <a:rPr lang="ja-JP" altLang="en-US" sz="1800" dirty="0">
                <a:solidFill>
                  <a:schemeClr val="bg1"/>
                </a:solidFill>
                <a:latin typeface="+mn-ea"/>
                <a:cs typeface="Arial"/>
                <a:sym typeface="+mn-lt"/>
              </a:rPr>
              <a:t>分</a:t>
            </a:r>
            <a:endParaRPr lang="ja-JP" altLang="en-US" sz="1800" dirty="0">
              <a:solidFill>
                <a:schemeClr val="bg1"/>
              </a:solidFill>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solidFill>
                  <a:schemeClr val="bg1"/>
                </a:solidFill>
                <a:latin typeface="+mn-ea"/>
              </a:rPr>
              <a:t>経営診断</a:t>
            </a:r>
            <a:endParaRPr lang="ja-JP" altLang="en-US" sz="1600" dirty="0">
              <a:solidFill>
                <a:schemeClr val="bg1"/>
              </a:solidFill>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solidFill>
                  <a:schemeClr val="bg1"/>
                </a:solidFill>
                <a:latin typeface="+mn-ea"/>
              </a:rPr>
              <a:t>株主総会</a:t>
            </a:r>
            <a:r>
              <a:rPr lang="ja-JP" altLang="en-US" sz="1600" dirty="0">
                <a:solidFill>
                  <a:schemeClr val="bg1"/>
                </a:solidFill>
                <a:latin typeface="+mn-ea"/>
              </a:rPr>
              <a:t>QA</a:t>
            </a:r>
          </a:p>
          <a:p>
            <a:pPr marL="269875" indent="-269875" defTabSz="990564">
              <a:spcBef>
                <a:spcPts val="0"/>
              </a:spcBef>
              <a:spcAft>
                <a:spcPts val="600"/>
              </a:spcAft>
              <a:buSzPct val="100000"/>
              <a:buAutoNum type="arabicPeriod"/>
            </a:pPr>
            <a:r>
              <a:rPr lang="ja-JP" altLang="en-US" sz="1800" dirty="0">
                <a:latin typeface="Arial"/>
                <a:cs typeface="Arial"/>
              </a:rPr>
              <a:t>10</a:t>
            </a:r>
            <a:r>
              <a:rPr lang="ja-JP" altLang="en-US" sz="1800" dirty="0">
                <a:latin typeface="Arial"/>
                <a:cs typeface="Arial"/>
              </a:rPr>
              <a:t>月のセキュア公開に向けて　</a:t>
            </a:r>
            <a:r>
              <a:rPr lang="ja-JP" altLang="en-US" sz="1800" dirty="0">
                <a:latin typeface="Arial"/>
                <a:cs typeface="Arial"/>
              </a:rPr>
              <a:t>‐</a:t>
            </a:r>
            <a:r>
              <a:rPr lang="ja-JP" altLang="en-US" sz="1800" dirty="0">
                <a:latin typeface="Arial"/>
                <a:cs typeface="Arial"/>
              </a:rPr>
              <a:t>　</a:t>
            </a:r>
            <a:r>
              <a:rPr lang="ja-JP" altLang="en-US" sz="1800" dirty="0">
                <a:latin typeface="Arial"/>
                <a:cs typeface="Arial"/>
              </a:rPr>
              <a:t>10</a:t>
            </a:r>
            <a:r>
              <a:rPr lang="ja-JP" altLang="en-US" sz="1800" dirty="0">
                <a:latin typeface="Arial"/>
                <a:cs typeface="Arial"/>
              </a:rPr>
              <a:t>分</a:t>
            </a:r>
            <a:endParaRPr lang="ja-JP" altLang="en-US" sz="1800" dirty="0">
              <a:latin typeface="Arial"/>
              <a:cs typeface="Arial"/>
            </a:endParaRPr>
          </a:p>
        </p:txBody>
      </p:sp>
    </p:spTree>
    <p:extLst>
      <p:ext uri="{BB962C8B-B14F-4D97-AF65-F5344CB8AC3E}">
        <p14:creationId xmlns:p14="http://schemas.microsoft.com/office/powerpoint/2010/main" val="393050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9A7D-1460-F220-8BA1-64C38D70262C}"/>
            </a:ext>
          </a:extLst>
        </p:cNvPr>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067BAB04-3E1B-E09C-FBDE-83739DDC6E4D}"/>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067BAB04-3E1B-E09C-FBDE-83739DDC6E4D}"/>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2" name="タイトル 6">
            <a:extLst>
              <a:ext uri="{FF2B5EF4-FFF2-40B4-BE49-F238E27FC236}">
                <a16:creationId xmlns:a16="http://schemas.microsoft.com/office/drawing/2014/main" id="{C6109E1F-0350-382F-B722-0A5ECBF06E12}"/>
              </a:ext>
            </a:extLst>
          </p:cNvPr>
          <p:cNvSpPr>
            <a:spLocks noGrp="1"/>
          </p:cNvSpPr>
          <p:nvPr>
            <p:ph type="title"/>
          </p:nvPr>
        </p:nvSpPr>
        <p:spPr>
          <a:xfrm>
            <a:off x="0" y="2620612"/>
            <a:ext cx="12192000" cy="738000"/>
          </a:xfrm>
          <a:solidFill>
            <a:schemeClr val="accent4"/>
          </a:solidFill>
          <a:ln>
            <a:noFill/>
          </a:ln>
        </p:spPr>
        <p:txBody>
          <a:bodyPr vert="horz" rIns="0" anchor="ctr"/>
          <a:lstStyle/>
          <a:p>
            <a:pPr algn="ctr"/>
            <a:r>
              <a:rPr lang="ja-JP" altLang="en-US">
                <a:solidFill>
                  <a:schemeClr val="bg1"/>
                </a:solidFill>
              </a:rPr>
              <a:t>アプリ画面にてご説明いたします</a:t>
            </a:r>
          </a:p>
        </p:txBody>
      </p:sp>
      <p:sp>
        <p:nvSpPr>
          <p:cNvPr id="2" name="スライド番号プレースホルダー 2">
            <a:extLst>
              <a:ext uri="{FF2B5EF4-FFF2-40B4-BE49-F238E27FC236}">
                <a16:creationId xmlns:a16="http://schemas.microsoft.com/office/drawing/2014/main" id="{7883DD2C-009A-E0C0-0386-74CDAA23DB6A}"/>
              </a:ext>
            </a:extLst>
          </p:cNvPr>
          <p:cNvSpPr>
            <a:spLocks noGrp="1"/>
          </p:cNvSpPr>
          <p:nvPr>
            <p:ph type="sldNum" sz="quarter" idx="11"/>
          </p:nvPr>
        </p:nvSpPr>
        <p:spPr>
          <a:xfrm>
            <a:off x="480000" y="6588000"/>
            <a:ext cx="180000" cy="169200"/>
          </a:xfrm>
        </p:spPr>
        <p:txBody>
          <a:bodyPr/>
          <a:lstStyle/>
          <a:p>
            <a:fld id="{AA5FCFE5-FE56-4EF1-80A8-07776887C2A1}" type="slidenum">
              <a:rPr lang="ja-JP" altLang="en-US" smtClean="0"/>
              <a:pPr/>
              <a:t>9</a:t>
            </a:fld>
            <a:endParaRPr lang="ja-JP" altLang="en-US"/>
          </a:p>
        </p:txBody>
      </p:sp>
    </p:spTree>
    <p:extLst>
      <p:ext uri="{BB962C8B-B14F-4D97-AF65-F5344CB8AC3E}">
        <p14:creationId xmlns:p14="http://schemas.microsoft.com/office/powerpoint/2010/main" val="3403155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CFD5-37ED-D7F2-EB09-803815A19AD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539C309-9D99-9849-C83A-9E5CC4EEEA1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D539C309-9D99-9849-C83A-9E5CC4EEEA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C90A83B2-C261-4785-1DCD-16AAF9906322}"/>
              </a:ext>
            </a:extLst>
          </p:cNvPr>
          <p:cNvSpPr/>
          <p:nvPr/>
        </p:nvSpPr>
        <p:spPr bwMode="gray">
          <a:xfrm>
            <a:off x="398151" y="3594968"/>
            <a:ext cx="5877237" cy="410632"/>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12A92C4F-BF53-9421-83EB-036D53D806F7}"/>
              </a:ext>
            </a:extLst>
          </p:cNvPr>
          <p:cNvSpPr>
            <a:spLocks noGrp="1"/>
          </p:cNvSpPr>
          <p:nvPr>
            <p:ph type="sldNum" sz="quarter" idx="11"/>
          </p:nvPr>
        </p:nvSpPr>
        <p:spPr/>
        <p:txBody>
          <a:bodyPr/>
          <a:lstStyle/>
          <a:p>
            <a:fld id="{AA5FCFE5-FE56-4EF1-80A8-07776887C2A1}" type="slidenum">
              <a:rPr lang="ja-JP" altLang="en-US" smtClean="0"/>
              <a:pPr/>
              <a:t>10</a:t>
            </a:fld>
            <a:endParaRPr lang="ja-JP" altLang="en-US"/>
          </a:p>
        </p:txBody>
      </p:sp>
      <p:sp>
        <p:nvSpPr>
          <p:cNvPr id="4" name="タイトル 3">
            <a:extLst>
              <a:ext uri="{FF2B5EF4-FFF2-40B4-BE49-F238E27FC236}">
                <a16:creationId xmlns:a16="http://schemas.microsoft.com/office/drawing/2014/main" id="{5E1D3D57-3839-DC87-2FFA-A8F3437D92A3}"/>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978BCF69-6827-4B08-3139-735AB2F2706F}"/>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A5D66C67-8D25-B2A6-8184-43EE3EA27244}"/>
              </a:ext>
            </a:extLst>
          </p:cNvPr>
          <p:cNvSpPr txBox="1"/>
          <p:nvPr/>
        </p:nvSpPr>
        <p:spPr bwMode="gray">
          <a:xfrm>
            <a:off x="479425" y="1280248"/>
            <a:ext cx="5615999" cy="2662267"/>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dirty="0">
              <a:latin typeface="+mn-ea"/>
              <a:cs typeface="Arial"/>
            </a:endParaRPr>
          </a:p>
          <a:p>
            <a:pPr marL="269875" marR="0" indent="-269875" defTabSz="990564">
              <a:lnSpc>
                <a:spcPct val="100000"/>
              </a:lnSpc>
              <a:spcBef>
                <a:spcPts val="0"/>
              </a:spcBef>
              <a:spcAft>
                <a:spcPts val="600"/>
              </a:spcAft>
              <a:buClrTx/>
              <a:buSzPct val="100000"/>
              <a:buAutoNum type="arabicPeriod"/>
              <a:tabLst/>
            </a:pPr>
            <a:r>
              <a:rPr lang="ja-JP" altLang="en-US" sz="1800" dirty="0">
                <a:latin typeface="+mn-ea"/>
                <a:cs typeface="Arial"/>
                <a:sym typeface="+mn-lt"/>
              </a:rPr>
              <a:t>Quick-Win</a:t>
            </a:r>
            <a:r>
              <a:rPr lang="ja-JP" altLang="en-US" sz="1800" dirty="0">
                <a:latin typeface="+mn-ea"/>
                <a:cs typeface="Arial"/>
                <a:sym typeface="+mn-lt"/>
              </a:rPr>
              <a:t>構築の全体進捗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cs typeface="Arial"/>
            </a:endParaRPr>
          </a:p>
          <a:p>
            <a:pPr marL="269875" marR="0" indent="-269875"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dirty="0">
                <a:latin typeface="+mn-ea"/>
                <a:cs typeface="Arial"/>
                <a:sym typeface="+mn-lt"/>
              </a:rPr>
              <a:t>前週振り返りおよび現状報告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5</a:t>
            </a:r>
            <a:r>
              <a:rPr lang="ja-JP" altLang="en-US" sz="1800" dirty="0">
                <a:latin typeface="+mn-ea"/>
                <a:cs typeface="Arial"/>
                <a:sym typeface="+mn-lt"/>
              </a:rPr>
              <a:t>分</a:t>
            </a:r>
            <a:endParaRPr lang="ja-JP" altLang="en-US" sz="18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sym typeface="+mn-lt"/>
              </a:rPr>
              <a:t>ご相談事項（2件）</a:t>
            </a:r>
            <a:endParaRPr lang="ja-JP" altLang="en-US" sz="1600" dirty="0">
              <a:highlight>
                <a:srgbClr val="FFFF00"/>
              </a:highlight>
              <a:latin typeface="+mn-ea"/>
            </a:endParaRPr>
          </a:p>
          <a:p>
            <a:pPr marL="269875" indent="-269875" defTabSz="990564" fontAlgn="auto">
              <a:spcBef>
                <a:spcPts val="0"/>
              </a:spcBef>
              <a:spcAft>
                <a:spcPts val="600"/>
              </a:spcAft>
              <a:buSzPct val="100000"/>
              <a:buFont typeface="+mj-lt"/>
              <a:buAutoNum type="arabicPeriod"/>
            </a:pPr>
            <a:r>
              <a:rPr lang="ja-JP" altLang="en-US" sz="1800" dirty="0">
                <a:latin typeface="Arial"/>
                <a:cs typeface="Arial"/>
              </a:rPr>
              <a:t>アプリのアップデート</a:t>
            </a:r>
            <a:r>
              <a:rPr lang="ja-JP" altLang="en-US" sz="1800" dirty="0">
                <a:latin typeface="+mn-ea"/>
                <a:cs typeface="Arial"/>
                <a:sym typeface="+mn-lt"/>
              </a:rPr>
              <a:t>　</a:t>
            </a:r>
            <a:r>
              <a:rPr lang="ja-JP" altLang="en-US" sz="1800" dirty="0">
                <a:latin typeface="+mn-ea"/>
                <a:cs typeface="Arial"/>
                <a:sym typeface="+mn-lt"/>
              </a:rPr>
              <a:t>‐</a:t>
            </a:r>
            <a:r>
              <a:rPr lang="ja-JP" altLang="en-US" sz="1800" dirty="0">
                <a:latin typeface="+mn-ea"/>
                <a:cs typeface="Arial"/>
                <a:sym typeface="+mn-lt"/>
              </a:rPr>
              <a:t>　</a:t>
            </a:r>
            <a:r>
              <a:rPr lang="ja-JP" altLang="en-US" sz="1800" dirty="0">
                <a:latin typeface="+mn-ea"/>
                <a:cs typeface="Arial"/>
                <a:sym typeface="+mn-lt"/>
              </a:rPr>
              <a:t>30</a:t>
            </a:r>
            <a:r>
              <a:rPr lang="ja-JP" altLang="en-US" sz="1800" dirty="0">
                <a:latin typeface="+mn-ea"/>
                <a:cs typeface="Arial"/>
                <a:sym typeface="+mn-lt"/>
              </a:rPr>
              <a:t>分</a:t>
            </a:r>
            <a:endParaRPr lang="ja-JP" altLang="en-US" sz="1800" dirty="0"/>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経営診断</a:t>
            </a:r>
            <a:endParaRPr lang="ja-JP" altLang="en-US" sz="1600" dirty="0">
              <a:latin typeface="+mn-ea"/>
            </a:endParaRP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dirty="0">
                <a:latin typeface="+mn-ea"/>
              </a:rPr>
              <a:t>株主総会</a:t>
            </a:r>
            <a:r>
              <a:rPr lang="ja-JP" altLang="en-US" sz="1600" dirty="0">
                <a:latin typeface="+mn-ea"/>
              </a:rPr>
              <a:t>QA</a:t>
            </a:r>
          </a:p>
          <a:p>
            <a:pPr marL="269875" indent="-269875" defTabSz="990564">
              <a:spcBef>
                <a:spcPts val="0"/>
              </a:spcBef>
              <a:spcAft>
                <a:spcPts val="600"/>
              </a:spcAft>
              <a:buSzPct val="100000"/>
              <a:buAutoNum type="arabicPeriod"/>
            </a:pPr>
            <a:r>
              <a:rPr lang="ja-JP" altLang="en-US" sz="1800" dirty="0">
                <a:solidFill>
                  <a:schemeClr val="bg1"/>
                </a:solidFill>
                <a:latin typeface="Arial"/>
                <a:cs typeface="Arial"/>
              </a:rPr>
              <a:t>10</a:t>
            </a:r>
            <a:r>
              <a:rPr lang="ja-JP" altLang="en-US" sz="1800" dirty="0">
                <a:solidFill>
                  <a:schemeClr val="bg1"/>
                </a:solidFill>
                <a:latin typeface="Arial"/>
                <a:cs typeface="Arial"/>
              </a:rPr>
              <a:t>月のセキュア公開に向けて　</a:t>
            </a:r>
            <a:r>
              <a:rPr lang="ja-JP" altLang="en-US" sz="1800" dirty="0">
                <a:solidFill>
                  <a:schemeClr val="bg1"/>
                </a:solidFill>
                <a:latin typeface="Arial"/>
                <a:cs typeface="Arial"/>
              </a:rPr>
              <a:t>‐</a:t>
            </a:r>
            <a:r>
              <a:rPr lang="ja-JP" altLang="en-US" sz="1800" dirty="0">
                <a:solidFill>
                  <a:schemeClr val="bg1"/>
                </a:solidFill>
                <a:latin typeface="Arial"/>
                <a:cs typeface="Arial"/>
              </a:rPr>
              <a:t>　</a:t>
            </a:r>
            <a:r>
              <a:rPr lang="ja-JP" altLang="en-US" sz="1800" dirty="0">
                <a:solidFill>
                  <a:schemeClr val="bg1"/>
                </a:solidFill>
                <a:latin typeface="Arial"/>
                <a:cs typeface="Arial"/>
              </a:rPr>
              <a:t>10</a:t>
            </a:r>
            <a:r>
              <a:rPr lang="ja-JP" altLang="en-US" sz="1800" dirty="0">
                <a:solidFill>
                  <a:schemeClr val="bg1"/>
                </a:solidFill>
                <a:latin typeface="Arial"/>
                <a:cs typeface="Arial"/>
              </a:rPr>
              <a:t>分</a:t>
            </a:r>
            <a:endParaRPr lang="ja-JP" altLang="en-US" sz="1800" dirty="0">
              <a:solidFill>
                <a:schemeClr val="bg1"/>
              </a:solidFill>
              <a:latin typeface="Arial"/>
              <a:cs typeface="Arial"/>
            </a:endParaRPr>
          </a:p>
        </p:txBody>
      </p:sp>
    </p:spTree>
    <p:extLst>
      <p:ext uri="{BB962C8B-B14F-4D97-AF65-F5344CB8AC3E}">
        <p14:creationId xmlns:p14="http://schemas.microsoft.com/office/powerpoint/2010/main" val="424856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D5B45-5780-9A37-3530-4727648EB8A4}"/>
            </a:ext>
          </a:extLst>
        </p:cNvPr>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8F1965DB-B4A6-875F-841C-79964EB696E8}"/>
              </a:ext>
            </a:extLst>
          </p:cNvPr>
          <p:cNvGraphicFramePr>
            <a:graphicFrameLocks/>
          </p:cNvGraphicFramePr>
          <p:nvPr>
            <p:custDataLst>
              <p:tags r:id="rId1"/>
            </p:custDataLst>
            <p:extLst>
              <p:ext uri="{D42A27DB-BD31-4B8C-83A1-F6EECF244321}">
                <p14:modId xmlns:p14="http://schemas.microsoft.com/office/powerpoint/2010/main" val="4293306856"/>
              </p:ext>
            </p:ext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8F1965DB-B4A6-875F-841C-79964EB696E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7" name="テキスト プレースホルダー 3">
            <a:extLst>
              <a:ext uri="{FF2B5EF4-FFF2-40B4-BE49-F238E27FC236}">
                <a16:creationId xmlns:a16="http://schemas.microsoft.com/office/drawing/2014/main" id="{CE797C79-8B4F-81A3-42B5-490153D98512}"/>
              </a:ext>
            </a:extLst>
          </p:cNvPr>
          <p:cNvSpPr txBox="1">
            <a:spLocks/>
          </p:cNvSpPr>
          <p:nvPr/>
        </p:nvSpPr>
        <p:spPr bwMode="gray">
          <a:xfrm>
            <a:off x="478799" y="1008000"/>
            <a:ext cx="11232000" cy="468000"/>
          </a:xfrm>
          <a:prstGeom prst="rect">
            <a:avLst/>
          </a:prstGeom>
        </p:spPr>
        <p:txBody>
          <a:bodyPr vert="horz" wrap="none" lIns="0" tIns="0" rIns="0" bIns="0" rtlCol="0" anchor="ctr">
            <a:noAutofit/>
          </a:bodyPr>
          <a:lstStyle>
            <a:lvl1pPr marL="0" marR="0" indent="0" algn="l" defTabSz="990564" rtl="0" eaLnBrk="1" fontAlgn="ctr" latinLnBrk="0" hangingPunct="1">
              <a:lnSpc>
                <a:spcPct val="100000"/>
              </a:lnSpc>
              <a:spcBef>
                <a:spcPts val="0"/>
              </a:spcBef>
              <a:spcAft>
                <a:spcPts val="0"/>
              </a:spcAft>
              <a:buClrTx/>
              <a:buSzPct val="100000"/>
              <a:buFont typeface="Arial" panose="020B0604020202020204" pitchFamily="34" charset="0"/>
              <a:buNone/>
              <a:tabLst/>
              <a:defRPr kumimoji="1" sz="1800" b="1" kern="1200">
                <a:solidFill>
                  <a:schemeClr val="accent3"/>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a:lstStyle>
          <a:p>
            <a:r>
              <a:rPr lang="ja-JP" altLang="en-US"/>
              <a:t>本番実装に向けてのロードマップ</a:t>
            </a:r>
          </a:p>
        </p:txBody>
      </p:sp>
      <p:sp>
        <p:nvSpPr>
          <p:cNvPr id="42" name="タイトル 6">
            <a:extLst>
              <a:ext uri="{FF2B5EF4-FFF2-40B4-BE49-F238E27FC236}">
                <a16:creationId xmlns:a16="http://schemas.microsoft.com/office/drawing/2014/main" id="{7CBED580-5C36-5AA6-DCB4-8988FFD3DC66}"/>
              </a:ext>
            </a:extLst>
          </p:cNvPr>
          <p:cNvSpPr>
            <a:spLocks noGrp="1"/>
          </p:cNvSpPr>
          <p:nvPr>
            <p:ph type="title"/>
          </p:nvPr>
        </p:nvSpPr>
        <p:spPr>
          <a:xfrm>
            <a:off x="480000" y="108000"/>
            <a:ext cx="11232000" cy="738000"/>
          </a:xfrm>
        </p:spPr>
        <p:txBody>
          <a:bodyPr vert="horz" rIns="0"/>
          <a:lstStyle/>
          <a:p>
            <a:r>
              <a:rPr lang="ja-JP" altLang="en-US" dirty="0"/>
              <a:t>PoCで得た成果を活かし、セキュア公開から全社基盤化まで段階的に本番実装を進めます</a:t>
            </a:r>
            <a:endParaRPr lang="ja-JP" altLang="en-US" b="0" dirty="0"/>
          </a:p>
        </p:txBody>
      </p:sp>
      <p:sp>
        <p:nvSpPr>
          <p:cNvPr id="2" name="スライド番号プレースホルダー 2">
            <a:extLst>
              <a:ext uri="{FF2B5EF4-FFF2-40B4-BE49-F238E27FC236}">
                <a16:creationId xmlns:a16="http://schemas.microsoft.com/office/drawing/2014/main" id="{70BCED53-D778-49E0-2983-5A4E69B3ACE4}"/>
              </a:ext>
            </a:extLst>
          </p:cNvPr>
          <p:cNvSpPr>
            <a:spLocks noGrp="1"/>
          </p:cNvSpPr>
          <p:nvPr>
            <p:ph type="sldNum" sz="quarter" idx="11"/>
          </p:nvPr>
        </p:nvSpPr>
        <p:spPr>
          <a:xfrm>
            <a:off x="480000" y="6597525"/>
            <a:ext cx="180000" cy="169200"/>
          </a:xfrm>
        </p:spPr>
        <p:txBody>
          <a:bodyPr/>
          <a:lstStyle/>
          <a:p>
            <a:fld id="{AA5FCFE5-FE56-4EF1-80A8-07776887C2A1}" type="slidenum">
              <a:rPr lang="ja-JP" altLang="en-US" smtClean="0"/>
              <a:pPr/>
              <a:t>11</a:t>
            </a:fld>
            <a:endParaRPr lang="ja-JP" altLang="en-US"/>
          </a:p>
        </p:txBody>
      </p:sp>
      <p:sp>
        <p:nvSpPr>
          <p:cNvPr id="5" name="TextBox 8">
            <a:extLst>
              <a:ext uri="{FF2B5EF4-FFF2-40B4-BE49-F238E27FC236}">
                <a16:creationId xmlns:a16="http://schemas.microsoft.com/office/drawing/2014/main" id="{004311DC-1B26-4ED8-2CDC-23D01D80EFEF}"/>
              </a:ext>
            </a:extLst>
          </p:cNvPr>
          <p:cNvSpPr txBox="1"/>
          <p:nvPr/>
        </p:nvSpPr>
        <p:spPr>
          <a:xfrm>
            <a:off x="4250267" y="4787154"/>
            <a:ext cx="3678766" cy="330200"/>
          </a:xfrm>
          <a:prstGeom prst="rect">
            <a:avLst/>
          </a:prstGeom>
          <a:noFill/>
        </p:spPr>
        <p:txBody>
          <a:bodyPr wrap="square" lIns="0" tIns="0" rIns="0" bIns="0" anchor="t">
            <a:noAutofit/>
          </a:bodyPr>
          <a:lstStyle/>
          <a:p>
            <a:pPr algn="l">
              <a:lnSpc>
                <a:spcPct val="150000"/>
              </a:lnSpc>
            </a:pPr>
            <a:r>
              <a:rPr lang="ja-JP" altLang="en-US" sz="1000" b="0" dirty="0">
                <a:solidFill>
                  <a:srgbClr val="C00000"/>
                </a:solidFill>
                <a:latin typeface="+mj-ea"/>
                <a:ea typeface="+mj-ea"/>
                <a:cs typeface="Yu Gothic"/>
              </a:rPr>
              <a:t>現在はPoCの最終段階で</a:t>
            </a:r>
            <a:r>
              <a:rPr lang="ja-JP" altLang="en-US" sz="1000" b="0" dirty="0">
                <a:solidFill>
                  <a:srgbClr val="C00000"/>
                </a:solidFill>
                <a:latin typeface="+mj-ea"/>
                <a:ea typeface="+mj-ea"/>
                <a:cs typeface="Yu Gothic"/>
              </a:rPr>
              <a:t>あり、</a:t>
            </a:r>
            <a:r>
              <a:rPr lang="ja-JP" altLang="en-US" sz="1000" b="0" dirty="0">
                <a:solidFill>
                  <a:srgbClr val="C00000"/>
                </a:solidFill>
                <a:latin typeface="+mj-ea"/>
                <a:ea typeface="+mj-ea"/>
                <a:cs typeface="Yu Gothic"/>
              </a:rPr>
              <a:t>10月からのセキュア公開に向けて、デロイト・ITEC双方の作業を洗い出し、引き継ぎ資料の整備</a:t>
            </a:r>
            <a:r>
              <a:rPr lang="ja-JP" altLang="en-US" sz="1000" dirty="0">
                <a:solidFill>
                  <a:srgbClr val="C00000"/>
                </a:solidFill>
                <a:latin typeface="+mj-ea"/>
                <a:ea typeface="+mj-ea"/>
                <a:cs typeface="Yu Gothic"/>
              </a:rPr>
              <a:t>をしています。</a:t>
            </a:r>
            <a:endParaRPr lang="ja-JP" altLang="en-US" sz="1000" b="0" dirty="0">
              <a:solidFill>
                <a:srgbClr val="C00000"/>
              </a:solidFill>
              <a:latin typeface="+mj-ea"/>
              <a:ea typeface="+mj-ea"/>
              <a:cs typeface="Yu Gothic"/>
            </a:endParaRPr>
          </a:p>
        </p:txBody>
      </p:sp>
      <p:sp>
        <p:nvSpPr>
          <p:cNvPr id="7" name="Rectangle 9">
            <a:extLst>
              <a:ext uri="{FF2B5EF4-FFF2-40B4-BE49-F238E27FC236}">
                <a16:creationId xmlns:a16="http://schemas.microsoft.com/office/drawing/2014/main" id="{DC91431A-7ED4-CF87-9C7C-FE96564E0612}"/>
              </a:ext>
            </a:extLst>
          </p:cNvPr>
          <p:cNvSpPr/>
          <p:nvPr/>
        </p:nvSpPr>
        <p:spPr>
          <a:xfrm>
            <a:off x="381000" y="1578501"/>
            <a:ext cx="3691466" cy="3052934"/>
          </a:xfrm>
          <a:prstGeom prst="rect">
            <a:avLst/>
          </a:prstGeom>
          <a:solidFill>
            <a:srgbClr val="FFFFFF"/>
          </a:solidFill>
          <a:ln w="9525">
            <a:solidFill>
              <a:srgbClr val="E2E7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11" name="TextBox 11">
            <a:extLst>
              <a:ext uri="{FF2B5EF4-FFF2-40B4-BE49-F238E27FC236}">
                <a16:creationId xmlns:a16="http://schemas.microsoft.com/office/drawing/2014/main" id="{BB5D9CEF-1685-415D-4D24-6D7D6BEA0F7E}"/>
              </a:ext>
            </a:extLst>
          </p:cNvPr>
          <p:cNvSpPr txBox="1"/>
          <p:nvPr/>
        </p:nvSpPr>
        <p:spPr>
          <a:xfrm>
            <a:off x="558800" y="1695389"/>
            <a:ext cx="1143000" cy="139700"/>
          </a:xfrm>
          <a:prstGeom prst="rect">
            <a:avLst/>
          </a:prstGeom>
          <a:noFill/>
        </p:spPr>
        <p:txBody>
          <a:bodyPr wrap="square" lIns="0" tIns="0" rIns="0" bIns="0" anchor="t">
            <a:noAutofit/>
          </a:bodyPr>
          <a:lstStyle/>
          <a:p>
            <a:pPr algn="l">
              <a:lnSpc>
                <a:spcPct val="100000"/>
              </a:lnSpc>
            </a:pPr>
            <a:r>
              <a:rPr lang="ja-JP" altLang="en-US" sz="900" b="1" spc="140">
                <a:solidFill>
                  <a:srgbClr val="6B7684"/>
                </a:solidFill>
                <a:latin typeface="+mj-ea"/>
                <a:ea typeface="+mj-ea"/>
                <a:cs typeface="Yu Gothic"/>
              </a:rPr>
              <a:t>STAGE 0</a:t>
            </a:r>
          </a:p>
        </p:txBody>
      </p:sp>
      <p:sp>
        <p:nvSpPr>
          <p:cNvPr id="16" name="TextBox 13">
            <a:extLst>
              <a:ext uri="{FF2B5EF4-FFF2-40B4-BE49-F238E27FC236}">
                <a16:creationId xmlns:a16="http://schemas.microsoft.com/office/drawing/2014/main" id="{7C57FC53-2415-9B3A-D41A-37A6EF7F655B}"/>
              </a:ext>
            </a:extLst>
          </p:cNvPr>
          <p:cNvSpPr txBox="1"/>
          <p:nvPr/>
        </p:nvSpPr>
        <p:spPr>
          <a:xfrm>
            <a:off x="558800" y="1908701"/>
            <a:ext cx="3335866" cy="228600"/>
          </a:xfrm>
          <a:prstGeom prst="rect">
            <a:avLst/>
          </a:prstGeom>
          <a:noFill/>
        </p:spPr>
        <p:txBody>
          <a:bodyPr wrap="square" lIns="0" tIns="0" rIns="0" bIns="0" anchor="t">
            <a:noAutofit/>
          </a:bodyPr>
          <a:lstStyle/>
          <a:p>
            <a:pPr algn="l">
              <a:lnSpc>
                <a:spcPct val="100000"/>
              </a:lnSpc>
            </a:pPr>
            <a:r>
              <a:rPr lang="ja-JP" altLang="en-US" sz="1350" b="1">
                <a:solidFill>
                  <a:srgbClr val="0F1720"/>
                </a:solidFill>
                <a:latin typeface="+mj-ea"/>
                <a:ea typeface="+mj-ea"/>
                <a:cs typeface="Yu Mincho"/>
              </a:rPr>
              <a:t>PoC（現状）</a:t>
            </a:r>
          </a:p>
        </p:txBody>
      </p:sp>
      <p:sp>
        <p:nvSpPr>
          <p:cNvPr id="18" name="TextBox 14">
            <a:extLst>
              <a:ext uri="{FF2B5EF4-FFF2-40B4-BE49-F238E27FC236}">
                <a16:creationId xmlns:a16="http://schemas.microsoft.com/office/drawing/2014/main" id="{C08C09BB-DF39-D402-6F1A-0988C090E6E1}"/>
              </a:ext>
            </a:extLst>
          </p:cNvPr>
          <p:cNvSpPr txBox="1"/>
          <p:nvPr/>
        </p:nvSpPr>
        <p:spPr>
          <a:xfrm>
            <a:off x="558800" y="2150001"/>
            <a:ext cx="3335866" cy="139700"/>
          </a:xfrm>
          <a:prstGeom prst="rect">
            <a:avLst/>
          </a:prstGeom>
          <a:noFill/>
        </p:spPr>
        <p:txBody>
          <a:bodyPr wrap="square" lIns="0" tIns="0" rIns="0" bIns="0" anchor="t">
            <a:noAutofit/>
          </a:bodyPr>
          <a:lstStyle/>
          <a:p>
            <a:pPr algn="l">
              <a:lnSpc>
                <a:spcPct val="100000"/>
              </a:lnSpc>
            </a:pPr>
            <a:r>
              <a:rPr lang="ja-JP" altLang="en-US" sz="700" b="0">
                <a:solidFill>
                  <a:srgbClr val="7C8894"/>
                </a:solidFill>
                <a:latin typeface="+mj-ea"/>
                <a:ea typeface="+mj-ea"/>
                <a:cs typeface="Yu Gothic"/>
              </a:rPr>
              <a:t>〜 2026年9月</a:t>
            </a:r>
          </a:p>
        </p:txBody>
      </p:sp>
      <p:sp>
        <p:nvSpPr>
          <p:cNvPr id="20" name="Rectangle 15">
            <a:extLst>
              <a:ext uri="{FF2B5EF4-FFF2-40B4-BE49-F238E27FC236}">
                <a16:creationId xmlns:a16="http://schemas.microsoft.com/office/drawing/2014/main" id="{C66E6590-226D-7FF3-8FC1-1F88837D70A2}"/>
              </a:ext>
            </a:extLst>
          </p:cNvPr>
          <p:cNvSpPr/>
          <p:nvPr/>
        </p:nvSpPr>
        <p:spPr>
          <a:xfrm>
            <a:off x="393700" y="2394996"/>
            <a:ext cx="3666066" cy="558801"/>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22" name="TextBox 16">
            <a:extLst>
              <a:ext uri="{FF2B5EF4-FFF2-40B4-BE49-F238E27FC236}">
                <a16:creationId xmlns:a16="http://schemas.microsoft.com/office/drawing/2014/main" id="{85663553-2DFA-AD89-BF80-9EF53172C74E}"/>
              </a:ext>
            </a:extLst>
          </p:cNvPr>
          <p:cNvSpPr txBox="1"/>
          <p:nvPr/>
        </p:nvSpPr>
        <p:spPr>
          <a:xfrm>
            <a:off x="558800" y="2448387"/>
            <a:ext cx="3335866" cy="127000"/>
          </a:xfrm>
          <a:prstGeom prst="rect">
            <a:avLst/>
          </a:prstGeom>
          <a:noFill/>
        </p:spPr>
        <p:txBody>
          <a:bodyPr wrap="square" lIns="0" tIns="0" rIns="0" bIns="0" anchor="t">
            <a:noAutofit/>
          </a:bodyPr>
          <a:lstStyle/>
          <a:p>
            <a:pPr algn="l">
              <a:lnSpc>
                <a:spcPct val="100000"/>
              </a:lnSpc>
            </a:pPr>
            <a:r>
              <a:rPr lang="ja-JP" altLang="en-US" sz="800" b="1" spc="140">
                <a:latin typeface="+mj-ea"/>
                <a:ea typeface="+mj-ea"/>
                <a:cs typeface="Yu Gothic"/>
              </a:rPr>
              <a:t>ゴール</a:t>
            </a:r>
          </a:p>
        </p:txBody>
      </p:sp>
      <p:sp>
        <p:nvSpPr>
          <p:cNvPr id="24" name="TextBox 17">
            <a:extLst>
              <a:ext uri="{FF2B5EF4-FFF2-40B4-BE49-F238E27FC236}">
                <a16:creationId xmlns:a16="http://schemas.microsoft.com/office/drawing/2014/main" id="{A7D9B093-4835-FCA4-EA1D-7B2C762AB166}"/>
              </a:ext>
            </a:extLst>
          </p:cNvPr>
          <p:cNvSpPr txBox="1"/>
          <p:nvPr/>
        </p:nvSpPr>
        <p:spPr>
          <a:xfrm>
            <a:off x="558800" y="2619777"/>
            <a:ext cx="3335866" cy="304800"/>
          </a:xfrm>
          <a:prstGeom prst="rect">
            <a:avLst/>
          </a:prstGeom>
          <a:noFill/>
        </p:spPr>
        <p:txBody>
          <a:bodyPr wrap="square" lIns="0" tIns="0" rIns="0" bIns="0" anchor="t">
            <a:noAutofit/>
          </a:bodyPr>
          <a:lstStyle/>
          <a:p>
            <a:pPr>
              <a:lnSpc>
                <a:spcPct val="140000"/>
              </a:lnSpc>
            </a:pPr>
            <a:r>
              <a:rPr lang="ja-JP" altLang="en-US" sz="1100" b="1">
                <a:latin typeface="+mj-ea"/>
                <a:ea typeface="+mj-ea"/>
                <a:cs typeface="Yu Gothic"/>
              </a:rPr>
              <a:t>機能価値の検証。経営層に「使える」実感をつくる</a:t>
            </a:r>
          </a:p>
        </p:txBody>
      </p:sp>
      <p:sp>
        <p:nvSpPr>
          <p:cNvPr id="28" name="TextBox 19">
            <a:extLst>
              <a:ext uri="{FF2B5EF4-FFF2-40B4-BE49-F238E27FC236}">
                <a16:creationId xmlns:a16="http://schemas.microsoft.com/office/drawing/2014/main" id="{A2D0E93D-193E-C4E0-3C0F-3C99C1039560}"/>
              </a:ext>
            </a:extLst>
          </p:cNvPr>
          <p:cNvSpPr txBox="1"/>
          <p:nvPr/>
        </p:nvSpPr>
        <p:spPr>
          <a:xfrm>
            <a:off x="393699" y="3069334"/>
            <a:ext cx="3666066" cy="1562100"/>
          </a:xfrm>
          <a:prstGeom prst="rect">
            <a:avLst/>
          </a:prstGeom>
          <a:noFill/>
        </p:spPr>
        <p:txBody>
          <a:bodyPr wrap="square" lIns="0" tIns="0" rIns="0" bIns="0" anchor="t">
            <a:noAutofit/>
          </a:bodyPr>
          <a:lstStyle/>
          <a:p>
            <a:pPr marL="171450" indent="-171450" algn="l">
              <a:lnSpc>
                <a:spcPct val="145000"/>
              </a:lnSpc>
              <a:buFont typeface="Arial" panose="020B0604020202020204" pitchFamily="34" charset="0"/>
              <a:buChar char="•"/>
            </a:pPr>
            <a:r>
              <a:rPr lang="ja-JP" altLang="en-US" sz="1100" b="0">
                <a:latin typeface="+mj-ea"/>
                <a:ea typeface="+mj-ea"/>
                <a:cs typeface="Yu Gothic"/>
              </a:rPr>
              <a:t>単一EC2上のGradioアプリ。</a:t>
            </a:r>
            <a:r>
              <a:rPr lang="ja-JP" altLang="en-US" sz="1100" b="1">
                <a:latin typeface="+mj-ea"/>
                <a:ea typeface="+mj-ea"/>
                <a:cs typeface="Yu Gothic"/>
              </a:rPr>
              <a:t>全機能が実装済み</a:t>
            </a:r>
            <a:r>
              <a:rPr lang="ja-JP" altLang="en-US" sz="1100" b="0">
                <a:latin typeface="+mj-ea"/>
                <a:ea typeface="+mj-ea"/>
                <a:cs typeface="Yu Gothic"/>
              </a:rPr>
              <a:t>（計画支援・乖離検証・動向／SNS・株主総会Q&amp;A）</a:t>
            </a:r>
            <a:endParaRPr lang="ja-JP" altLang="en-US" sz="1100" b="0">
              <a:latin typeface="+mj-ea"/>
              <a:ea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公開12ソース＋IR・有報・内部資料をRAGで横断検索</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少数の関係者がBasic認証で</a:t>
            </a:r>
            <a:r>
              <a:rPr lang="ja-JP" altLang="en-US" sz="1100">
                <a:latin typeface="+mj-ea"/>
                <a:cs typeface="Yu Gothic"/>
              </a:rPr>
              <a:t>検証</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b="1">
                <a:latin typeface="+mj-ea"/>
                <a:cs typeface="Yu Gothic"/>
              </a:rPr>
              <a:t>引き継ぎ資料は整備</a:t>
            </a:r>
            <a:r>
              <a:rPr lang="ja-JP" altLang="en-US" sz="1100" b="1">
                <a:latin typeface="+mj-ea"/>
                <a:cs typeface="Yu Gothic"/>
              </a:rPr>
              <a:t>中</a:t>
            </a:r>
            <a:r>
              <a:rPr lang="ja-JP" altLang="en-US" sz="1100">
                <a:latin typeface="+mj-ea"/>
                <a:cs typeface="Yu Gothic"/>
              </a:rPr>
              <a:t>（仕様・アーキテクチャ／開発者</a:t>
            </a:r>
            <a:r>
              <a:rPr lang="ja-JP" altLang="en-US" sz="1100">
                <a:latin typeface="+mj-ea"/>
                <a:cs typeface="Yu Gothic"/>
              </a:rPr>
              <a:t>マニュアル</a:t>
            </a:r>
            <a:r>
              <a:rPr lang="ja-JP" altLang="en-US" sz="1100">
                <a:latin typeface="+mj-ea"/>
                <a:cs typeface="Yu Gothic"/>
              </a:rPr>
              <a:t>／利用者マニュアル）</a:t>
            </a: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gn="l">
              <a:lnSpc>
                <a:spcPct val="145000"/>
              </a:lnSpc>
              <a:buFont typeface="Arial" panose="020B0604020202020204" pitchFamily="34" charset="0"/>
              <a:buChar char="•"/>
            </a:pPr>
            <a:endParaRPr lang="ja-JP" altLang="en-US" sz="1100" b="0">
              <a:latin typeface="+mj-ea"/>
              <a:ea typeface="+mj-ea"/>
              <a:cs typeface="Yu Gothic"/>
            </a:endParaRPr>
          </a:p>
        </p:txBody>
      </p:sp>
      <p:sp>
        <p:nvSpPr>
          <p:cNvPr id="45" name="Rectangle 26">
            <a:extLst>
              <a:ext uri="{FF2B5EF4-FFF2-40B4-BE49-F238E27FC236}">
                <a16:creationId xmlns:a16="http://schemas.microsoft.com/office/drawing/2014/main" id="{951B6EE2-78D5-B13F-A3E8-63342015D7E3}"/>
              </a:ext>
            </a:extLst>
          </p:cNvPr>
          <p:cNvSpPr/>
          <p:nvPr/>
        </p:nvSpPr>
        <p:spPr>
          <a:xfrm>
            <a:off x="4250266" y="1578501"/>
            <a:ext cx="3691466" cy="3052934"/>
          </a:xfrm>
          <a:prstGeom prst="rect">
            <a:avLst/>
          </a:prstGeom>
          <a:solidFill>
            <a:srgbClr val="FFFFFF"/>
          </a:solidFill>
          <a:ln w="9525">
            <a:solidFill>
              <a:srgbClr val="E2E7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49" name="TextBox 28">
            <a:extLst>
              <a:ext uri="{FF2B5EF4-FFF2-40B4-BE49-F238E27FC236}">
                <a16:creationId xmlns:a16="http://schemas.microsoft.com/office/drawing/2014/main" id="{093BD7BF-5B10-4653-F4B2-A1D6068F520B}"/>
              </a:ext>
            </a:extLst>
          </p:cNvPr>
          <p:cNvSpPr txBox="1"/>
          <p:nvPr/>
        </p:nvSpPr>
        <p:spPr>
          <a:xfrm>
            <a:off x="4428066" y="1695389"/>
            <a:ext cx="1143000" cy="139700"/>
          </a:xfrm>
          <a:prstGeom prst="rect">
            <a:avLst/>
          </a:prstGeom>
          <a:noFill/>
        </p:spPr>
        <p:txBody>
          <a:bodyPr wrap="square" lIns="0" tIns="0" rIns="0" bIns="0" anchor="t">
            <a:noAutofit/>
          </a:bodyPr>
          <a:lstStyle/>
          <a:p>
            <a:pPr algn="l">
              <a:lnSpc>
                <a:spcPct val="100000"/>
              </a:lnSpc>
            </a:pPr>
            <a:r>
              <a:rPr lang="ja-JP" altLang="en-US" sz="900" b="1" spc="140">
                <a:solidFill>
                  <a:srgbClr val="07467E"/>
                </a:solidFill>
                <a:latin typeface="+mj-ea"/>
                <a:ea typeface="+mj-ea"/>
                <a:cs typeface="Yu Gothic"/>
              </a:rPr>
              <a:t>STAGE 1</a:t>
            </a:r>
          </a:p>
        </p:txBody>
      </p:sp>
      <p:sp>
        <p:nvSpPr>
          <p:cNvPr id="53" name="TextBox 30">
            <a:extLst>
              <a:ext uri="{FF2B5EF4-FFF2-40B4-BE49-F238E27FC236}">
                <a16:creationId xmlns:a16="http://schemas.microsoft.com/office/drawing/2014/main" id="{1DA4DD0A-1AE7-69B9-AE29-0DF943DA8257}"/>
              </a:ext>
            </a:extLst>
          </p:cNvPr>
          <p:cNvSpPr txBox="1"/>
          <p:nvPr/>
        </p:nvSpPr>
        <p:spPr>
          <a:xfrm>
            <a:off x="4428066" y="1908701"/>
            <a:ext cx="3335866" cy="228600"/>
          </a:xfrm>
          <a:prstGeom prst="rect">
            <a:avLst/>
          </a:prstGeom>
          <a:noFill/>
        </p:spPr>
        <p:txBody>
          <a:bodyPr wrap="square" lIns="0" tIns="0" rIns="0" bIns="0" anchor="t">
            <a:noAutofit/>
          </a:bodyPr>
          <a:lstStyle/>
          <a:p>
            <a:pPr algn="l">
              <a:lnSpc>
                <a:spcPct val="100000"/>
              </a:lnSpc>
            </a:pPr>
            <a:r>
              <a:rPr lang="ja-JP" altLang="en-US" sz="1350" b="1">
                <a:solidFill>
                  <a:srgbClr val="0F1720"/>
                </a:solidFill>
                <a:latin typeface="+mj-ea"/>
                <a:ea typeface="+mj-ea"/>
                <a:cs typeface="Yu Mincho"/>
              </a:rPr>
              <a:t>セキュア公開リリース</a:t>
            </a:r>
          </a:p>
        </p:txBody>
      </p:sp>
      <p:sp>
        <p:nvSpPr>
          <p:cNvPr id="55" name="TextBox 31">
            <a:extLst>
              <a:ext uri="{FF2B5EF4-FFF2-40B4-BE49-F238E27FC236}">
                <a16:creationId xmlns:a16="http://schemas.microsoft.com/office/drawing/2014/main" id="{9850AE84-239C-96CA-14D8-0C9FB3FB85EF}"/>
              </a:ext>
            </a:extLst>
          </p:cNvPr>
          <p:cNvSpPr txBox="1"/>
          <p:nvPr/>
        </p:nvSpPr>
        <p:spPr>
          <a:xfrm>
            <a:off x="4428066" y="2150001"/>
            <a:ext cx="3335866" cy="139700"/>
          </a:xfrm>
          <a:prstGeom prst="rect">
            <a:avLst/>
          </a:prstGeom>
          <a:noFill/>
        </p:spPr>
        <p:txBody>
          <a:bodyPr wrap="square" lIns="0" tIns="0" rIns="0" bIns="0" anchor="t">
            <a:noAutofit/>
          </a:bodyPr>
          <a:lstStyle/>
          <a:p>
            <a:pPr algn="l">
              <a:lnSpc>
                <a:spcPct val="100000"/>
              </a:lnSpc>
            </a:pPr>
            <a:r>
              <a:rPr lang="ja-JP" altLang="en-US" sz="700" b="0">
                <a:solidFill>
                  <a:srgbClr val="7C8894"/>
                </a:solidFill>
                <a:latin typeface="+mj-ea"/>
                <a:ea typeface="+mj-ea"/>
                <a:cs typeface="Yu Gothic"/>
              </a:rPr>
              <a:t>2026年10月 〜</a:t>
            </a:r>
          </a:p>
        </p:txBody>
      </p:sp>
      <p:sp>
        <p:nvSpPr>
          <p:cNvPr id="57" name="Rectangle 32">
            <a:extLst>
              <a:ext uri="{FF2B5EF4-FFF2-40B4-BE49-F238E27FC236}">
                <a16:creationId xmlns:a16="http://schemas.microsoft.com/office/drawing/2014/main" id="{631A18C4-162F-D0E9-A108-FBB5D661DCA3}"/>
              </a:ext>
            </a:extLst>
          </p:cNvPr>
          <p:cNvSpPr/>
          <p:nvPr/>
        </p:nvSpPr>
        <p:spPr>
          <a:xfrm>
            <a:off x="4262966" y="2394996"/>
            <a:ext cx="3666066" cy="558801"/>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59" name="TextBox 33">
            <a:extLst>
              <a:ext uri="{FF2B5EF4-FFF2-40B4-BE49-F238E27FC236}">
                <a16:creationId xmlns:a16="http://schemas.microsoft.com/office/drawing/2014/main" id="{36560BAF-5A07-6905-7C9C-3ED4C0579F3D}"/>
              </a:ext>
            </a:extLst>
          </p:cNvPr>
          <p:cNvSpPr txBox="1"/>
          <p:nvPr/>
        </p:nvSpPr>
        <p:spPr>
          <a:xfrm>
            <a:off x="4428066" y="2448387"/>
            <a:ext cx="3335866" cy="127000"/>
          </a:xfrm>
          <a:prstGeom prst="rect">
            <a:avLst/>
          </a:prstGeom>
          <a:noFill/>
        </p:spPr>
        <p:txBody>
          <a:bodyPr wrap="square" lIns="0" tIns="0" rIns="0" bIns="0" anchor="t">
            <a:noAutofit/>
          </a:bodyPr>
          <a:lstStyle/>
          <a:p>
            <a:pPr algn="l">
              <a:lnSpc>
                <a:spcPct val="100000"/>
              </a:lnSpc>
            </a:pPr>
            <a:r>
              <a:rPr lang="ja-JP" altLang="en-US" sz="800" b="1" spc="140">
                <a:latin typeface="+mj-ea"/>
                <a:ea typeface="+mj-ea"/>
                <a:cs typeface="Yu Gothic"/>
              </a:rPr>
              <a:t>ゴール</a:t>
            </a:r>
          </a:p>
        </p:txBody>
      </p:sp>
      <p:sp>
        <p:nvSpPr>
          <p:cNvPr id="61" name="TextBox 34">
            <a:extLst>
              <a:ext uri="{FF2B5EF4-FFF2-40B4-BE49-F238E27FC236}">
                <a16:creationId xmlns:a16="http://schemas.microsoft.com/office/drawing/2014/main" id="{8D849419-B933-A965-6D23-EC2BA41EC47F}"/>
              </a:ext>
            </a:extLst>
          </p:cNvPr>
          <p:cNvSpPr txBox="1"/>
          <p:nvPr/>
        </p:nvSpPr>
        <p:spPr>
          <a:xfrm>
            <a:off x="4428066" y="2619777"/>
            <a:ext cx="3335866" cy="304800"/>
          </a:xfrm>
          <a:prstGeom prst="rect">
            <a:avLst/>
          </a:prstGeom>
          <a:noFill/>
        </p:spPr>
        <p:txBody>
          <a:bodyPr wrap="square" lIns="0" tIns="0" rIns="0" bIns="0" anchor="t">
            <a:noAutofit/>
          </a:bodyPr>
          <a:lstStyle/>
          <a:p>
            <a:pPr>
              <a:lnSpc>
                <a:spcPct val="140000"/>
              </a:lnSpc>
            </a:pPr>
            <a:r>
              <a:rPr lang="ja-JP" altLang="en-US" sz="1100" b="1">
                <a:latin typeface="+mj-ea"/>
                <a:ea typeface="+mj-ea"/>
                <a:cs typeface="Yu Gothic"/>
              </a:rPr>
              <a:t>現行機能を安全に本番公開し、限定部署で実運用を開始</a:t>
            </a:r>
          </a:p>
        </p:txBody>
      </p:sp>
      <p:sp>
        <p:nvSpPr>
          <p:cNvPr id="65" name="TextBox 36">
            <a:extLst>
              <a:ext uri="{FF2B5EF4-FFF2-40B4-BE49-F238E27FC236}">
                <a16:creationId xmlns:a16="http://schemas.microsoft.com/office/drawing/2014/main" id="{11FDD2D8-85E8-A61C-A6E3-9038D6DAFE8A}"/>
              </a:ext>
            </a:extLst>
          </p:cNvPr>
          <p:cNvSpPr txBox="1"/>
          <p:nvPr/>
        </p:nvSpPr>
        <p:spPr>
          <a:xfrm>
            <a:off x="4262966" y="3069334"/>
            <a:ext cx="3666066" cy="1562100"/>
          </a:xfrm>
          <a:prstGeom prst="rect">
            <a:avLst/>
          </a:prstGeom>
          <a:noFill/>
        </p:spPr>
        <p:txBody>
          <a:bodyPr wrap="square" lIns="0" tIns="0" rIns="0" bIns="0" anchor="t">
            <a:noAutofit/>
          </a:bodyPr>
          <a:lstStyle/>
          <a:p>
            <a:pPr marL="171450" indent="-171450" algn="l">
              <a:lnSpc>
                <a:spcPct val="145000"/>
              </a:lnSpc>
              <a:buFont typeface="Arial" panose="020B0604020202020204" pitchFamily="34" charset="0"/>
              <a:buChar char="•"/>
            </a:pPr>
            <a:r>
              <a:rPr lang="ja-JP" altLang="en-US" sz="1100" b="0">
                <a:latin typeface="+mj-ea"/>
                <a:ea typeface="+mj-ea"/>
                <a:cs typeface="Yu Gothic"/>
              </a:rPr>
              <a:t>現行フレーム・構造を</a:t>
            </a:r>
            <a:r>
              <a:rPr lang="ja-JP" altLang="en-US" sz="1100" b="1">
                <a:latin typeface="+mj-ea"/>
                <a:ea typeface="+mj-ea"/>
                <a:cs typeface="Yu Gothic"/>
              </a:rPr>
              <a:t>そのまま流用</a:t>
            </a:r>
            <a:r>
              <a:rPr lang="ja-JP" altLang="en-US" sz="1100" b="0">
                <a:latin typeface="+mj-ea"/>
                <a:ea typeface="+mj-ea"/>
                <a:cs typeface="Yu Gothic"/>
              </a:rPr>
              <a:t>し、認証とガードレールを追加開発</a:t>
            </a:r>
            <a:endParaRPr lang="ja-JP" altLang="en-US" sz="1100" b="0">
              <a:latin typeface="+mj-ea"/>
              <a:ea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Cognito</a:t>
            </a:r>
            <a:r>
              <a:rPr lang="ja-JP" altLang="en-US" sz="1100">
                <a:latin typeface="+mj-ea"/>
                <a:cs typeface="Yu Gothic"/>
              </a:rPr>
              <a:t>による認証分離で</a:t>
            </a:r>
            <a:r>
              <a:rPr lang="ja-JP" altLang="en-US" sz="1100">
                <a:latin typeface="+mj-ea"/>
                <a:cs typeface="Yu Gothic"/>
              </a:rPr>
              <a:t>限定部署 〜数十名が利用</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機密性A情報を扱える運用（入出力ガードレール・監査ログ）</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利用実績と改善要望を蓄積し、</a:t>
            </a:r>
            <a:r>
              <a:rPr lang="ja-JP" altLang="en-US" sz="1100" b="1">
                <a:latin typeface="+mj-ea"/>
                <a:cs typeface="Yu Gothic"/>
              </a:rPr>
              <a:t>STAGE 2の判断材料</a:t>
            </a:r>
            <a:r>
              <a:rPr lang="ja-JP" altLang="en-US" sz="1100">
                <a:latin typeface="+mj-ea"/>
                <a:cs typeface="Yu Gothic"/>
              </a:rPr>
              <a:t>にする</a:t>
            </a: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gn="l">
              <a:lnSpc>
                <a:spcPct val="145000"/>
              </a:lnSpc>
              <a:buFont typeface="Arial" panose="020B0604020202020204" pitchFamily="34" charset="0"/>
              <a:buChar char="•"/>
            </a:pPr>
            <a:endParaRPr lang="ja-JP" altLang="en-US" sz="1100" b="0">
              <a:latin typeface="+mj-ea"/>
              <a:ea typeface="+mj-ea"/>
              <a:cs typeface="Yu Gothic"/>
            </a:endParaRPr>
          </a:p>
        </p:txBody>
      </p:sp>
      <p:sp>
        <p:nvSpPr>
          <p:cNvPr id="79" name="Rectangle 43">
            <a:extLst>
              <a:ext uri="{FF2B5EF4-FFF2-40B4-BE49-F238E27FC236}">
                <a16:creationId xmlns:a16="http://schemas.microsoft.com/office/drawing/2014/main" id="{C242E039-F005-F2CA-B322-5B038A231DB3}"/>
              </a:ext>
            </a:extLst>
          </p:cNvPr>
          <p:cNvSpPr/>
          <p:nvPr/>
        </p:nvSpPr>
        <p:spPr>
          <a:xfrm>
            <a:off x="8119533" y="1578501"/>
            <a:ext cx="3691466" cy="3052934"/>
          </a:xfrm>
          <a:prstGeom prst="rect">
            <a:avLst/>
          </a:prstGeom>
          <a:solidFill>
            <a:srgbClr val="FFFFFF"/>
          </a:solidFill>
          <a:ln w="9525">
            <a:solidFill>
              <a:srgbClr val="E2E7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83" name="TextBox 45">
            <a:extLst>
              <a:ext uri="{FF2B5EF4-FFF2-40B4-BE49-F238E27FC236}">
                <a16:creationId xmlns:a16="http://schemas.microsoft.com/office/drawing/2014/main" id="{7F1E55EA-4861-268F-0596-F40333944C0B}"/>
              </a:ext>
            </a:extLst>
          </p:cNvPr>
          <p:cNvSpPr txBox="1"/>
          <p:nvPr/>
        </p:nvSpPr>
        <p:spPr>
          <a:xfrm>
            <a:off x="8297333" y="1695389"/>
            <a:ext cx="1143000" cy="139700"/>
          </a:xfrm>
          <a:prstGeom prst="rect">
            <a:avLst/>
          </a:prstGeom>
          <a:noFill/>
        </p:spPr>
        <p:txBody>
          <a:bodyPr wrap="square" lIns="0" tIns="0" rIns="0" bIns="0" anchor="t">
            <a:noAutofit/>
          </a:bodyPr>
          <a:lstStyle/>
          <a:p>
            <a:pPr algn="l">
              <a:lnSpc>
                <a:spcPct val="100000"/>
              </a:lnSpc>
            </a:pPr>
            <a:r>
              <a:rPr lang="ja-JP" altLang="en-US" sz="900" b="1" spc="140">
                <a:solidFill>
                  <a:srgbClr val="7A3E12"/>
                </a:solidFill>
                <a:latin typeface="+mj-ea"/>
                <a:ea typeface="+mj-ea"/>
                <a:cs typeface="Yu Gothic"/>
              </a:rPr>
              <a:t>STAGE 2</a:t>
            </a:r>
          </a:p>
        </p:txBody>
      </p:sp>
      <p:sp>
        <p:nvSpPr>
          <p:cNvPr id="87" name="TextBox 47">
            <a:extLst>
              <a:ext uri="{FF2B5EF4-FFF2-40B4-BE49-F238E27FC236}">
                <a16:creationId xmlns:a16="http://schemas.microsoft.com/office/drawing/2014/main" id="{4C7EB312-992D-4801-F054-13CAC74E74E5}"/>
              </a:ext>
            </a:extLst>
          </p:cNvPr>
          <p:cNvSpPr txBox="1"/>
          <p:nvPr/>
        </p:nvSpPr>
        <p:spPr>
          <a:xfrm>
            <a:off x="8297333" y="1908701"/>
            <a:ext cx="3335866" cy="228600"/>
          </a:xfrm>
          <a:prstGeom prst="rect">
            <a:avLst/>
          </a:prstGeom>
          <a:noFill/>
        </p:spPr>
        <p:txBody>
          <a:bodyPr wrap="square" lIns="0" tIns="0" rIns="0" bIns="0" anchor="t">
            <a:noAutofit/>
          </a:bodyPr>
          <a:lstStyle/>
          <a:p>
            <a:pPr algn="l">
              <a:lnSpc>
                <a:spcPct val="100000"/>
              </a:lnSpc>
            </a:pPr>
            <a:r>
              <a:rPr lang="ja-JP" altLang="en-US" sz="1350" b="1">
                <a:solidFill>
                  <a:srgbClr val="0F1720"/>
                </a:solidFill>
                <a:latin typeface="+mj-ea"/>
                <a:ea typeface="+mj-ea"/>
                <a:cs typeface="Yu Mincho"/>
              </a:rPr>
              <a:t>全社基盤リリース</a:t>
            </a:r>
          </a:p>
        </p:txBody>
      </p:sp>
      <p:sp>
        <p:nvSpPr>
          <p:cNvPr id="89" name="TextBox 48">
            <a:extLst>
              <a:ext uri="{FF2B5EF4-FFF2-40B4-BE49-F238E27FC236}">
                <a16:creationId xmlns:a16="http://schemas.microsoft.com/office/drawing/2014/main" id="{6BBF7C3B-D9CC-0CF1-0C35-09E6B5993F47}"/>
              </a:ext>
            </a:extLst>
          </p:cNvPr>
          <p:cNvSpPr txBox="1"/>
          <p:nvPr/>
        </p:nvSpPr>
        <p:spPr>
          <a:xfrm>
            <a:off x="8297333" y="2150001"/>
            <a:ext cx="3335866" cy="139700"/>
          </a:xfrm>
          <a:prstGeom prst="rect">
            <a:avLst/>
          </a:prstGeom>
          <a:noFill/>
        </p:spPr>
        <p:txBody>
          <a:bodyPr wrap="square" lIns="0" tIns="0" rIns="0" bIns="0" anchor="t">
            <a:noAutofit/>
          </a:bodyPr>
          <a:lstStyle/>
          <a:p>
            <a:pPr algn="l">
              <a:lnSpc>
                <a:spcPct val="100000"/>
              </a:lnSpc>
            </a:pPr>
            <a:r>
              <a:rPr lang="ja-JP" altLang="en-US" sz="700" b="0">
                <a:solidFill>
                  <a:srgbClr val="7C8894"/>
                </a:solidFill>
                <a:latin typeface="+mj-ea"/>
                <a:ea typeface="+mj-ea"/>
                <a:cs typeface="Yu Gothic"/>
              </a:rPr>
              <a:t>時期は STAGE 1 の実績を見て確定</a:t>
            </a:r>
          </a:p>
        </p:txBody>
      </p:sp>
      <p:sp>
        <p:nvSpPr>
          <p:cNvPr id="91" name="Rectangle 49">
            <a:extLst>
              <a:ext uri="{FF2B5EF4-FFF2-40B4-BE49-F238E27FC236}">
                <a16:creationId xmlns:a16="http://schemas.microsoft.com/office/drawing/2014/main" id="{9DF84133-E10D-083B-5147-6A0124E425F0}"/>
              </a:ext>
            </a:extLst>
          </p:cNvPr>
          <p:cNvSpPr/>
          <p:nvPr/>
        </p:nvSpPr>
        <p:spPr>
          <a:xfrm>
            <a:off x="8132233" y="2394996"/>
            <a:ext cx="3666066" cy="558801"/>
          </a:xfrm>
          <a:prstGeom prst="rect">
            <a:avLst/>
          </a:prstGeom>
          <a:solidFill>
            <a:srgbClr val="F6EF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latin typeface="+mj-ea"/>
              <a:ea typeface="+mj-ea"/>
            </a:endParaRPr>
          </a:p>
        </p:txBody>
      </p:sp>
      <p:sp>
        <p:nvSpPr>
          <p:cNvPr id="93" name="TextBox 50">
            <a:extLst>
              <a:ext uri="{FF2B5EF4-FFF2-40B4-BE49-F238E27FC236}">
                <a16:creationId xmlns:a16="http://schemas.microsoft.com/office/drawing/2014/main" id="{25E959C7-3412-33A6-8439-36049D38ED16}"/>
              </a:ext>
            </a:extLst>
          </p:cNvPr>
          <p:cNvSpPr txBox="1"/>
          <p:nvPr/>
        </p:nvSpPr>
        <p:spPr>
          <a:xfrm>
            <a:off x="8297333" y="2448387"/>
            <a:ext cx="3335866" cy="127000"/>
          </a:xfrm>
          <a:prstGeom prst="rect">
            <a:avLst/>
          </a:prstGeom>
          <a:noFill/>
        </p:spPr>
        <p:txBody>
          <a:bodyPr wrap="square" lIns="0" tIns="0" rIns="0" bIns="0" anchor="t">
            <a:noAutofit/>
          </a:bodyPr>
          <a:lstStyle/>
          <a:p>
            <a:pPr algn="l">
              <a:lnSpc>
                <a:spcPct val="100000"/>
              </a:lnSpc>
            </a:pPr>
            <a:r>
              <a:rPr lang="ja-JP" altLang="en-US" sz="800" b="1" spc="140">
                <a:latin typeface="+mj-ea"/>
                <a:ea typeface="+mj-ea"/>
                <a:cs typeface="Yu Gothic"/>
              </a:rPr>
              <a:t>ゴール</a:t>
            </a:r>
          </a:p>
        </p:txBody>
      </p:sp>
      <p:sp>
        <p:nvSpPr>
          <p:cNvPr id="95" name="TextBox 51">
            <a:extLst>
              <a:ext uri="{FF2B5EF4-FFF2-40B4-BE49-F238E27FC236}">
                <a16:creationId xmlns:a16="http://schemas.microsoft.com/office/drawing/2014/main" id="{15046E6B-6799-5F9C-7A29-8216018EFEF7}"/>
              </a:ext>
            </a:extLst>
          </p:cNvPr>
          <p:cNvSpPr txBox="1"/>
          <p:nvPr/>
        </p:nvSpPr>
        <p:spPr>
          <a:xfrm>
            <a:off x="8297333" y="2619777"/>
            <a:ext cx="3335866" cy="304800"/>
          </a:xfrm>
          <a:prstGeom prst="rect">
            <a:avLst/>
          </a:prstGeom>
          <a:noFill/>
        </p:spPr>
        <p:txBody>
          <a:bodyPr wrap="square" lIns="0" tIns="0" rIns="0" bIns="0" anchor="t">
            <a:noAutofit/>
          </a:bodyPr>
          <a:lstStyle/>
          <a:p>
            <a:pPr>
              <a:lnSpc>
                <a:spcPct val="140000"/>
              </a:lnSpc>
            </a:pPr>
            <a:r>
              <a:rPr lang="ja-JP" altLang="en-US" sz="1100" b="1">
                <a:latin typeface="+mj-ea"/>
                <a:ea typeface="+mj-ea"/>
                <a:cs typeface="Yu Gothic"/>
              </a:rPr>
              <a:t>グループ全社</a:t>
            </a:r>
            <a:r>
              <a:rPr lang="ja-JP" altLang="en-US" sz="1100" b="1">
                <a:latin typeface="+mj-ea"/>
                <a:ea typeface="+mj-ea"/>
                <a:cs typeface="Yu Gothic"/>
              </a:rPr>
              <a:t>・</a:t>
            </a:r>
            <a:r>
              <a:rPr lang="ja-JP" altLang="en-US" sz="1100" b="1">
                <a:latin typeface="+mj-ea"/>
                <a:ea typeface="+mj-ea"/>
                <a:cs typeface="Yu Gothic"/>
              </a:rPr>
              <a:t>大規模データ・多部署・高可用に耐える</a:t>
            </a:r>
          </a:p>
        </p:txBody>
      </p:sp>
      <p:sp>
        <p:nvSpPr>
          <p:cNvPr id="99" name="TextBox 53">
            <a:extLst>
              <a:ext uri="{FF2B5EF4-FFF2-40B4-BE49-F238E27FC236}">
                <a16:creationId xmlns:a16="http://schemas.microsoft.com/office/drawing/2014/main" id="{C7E33B57-D10D-0083-9F02-22DCBCFE7881}"/>
              </a:ext>
            </a:extLst>
          </p:cNvPr>
          <p:cNvSpPr txBox="1"/>
          <p:nvPr/>
        </p:nvSpPr>
        <p:spPr>
          <a:xfrm>
            <a:off x="8119532" y="3069333"/>
            <a:ext cx="3691466" cy="1440525"/>
          </a:xfrm>
          <a:prstGeom prst="rect">
            <a:avLst/>
          </a:prstGeom>
          <a:noFill/>
        </p:spPr>
        <p:txBody>
          <a:bodyPr wrap="square" lIns="0" tIns="0" rIns="0" bIns="0" anchor="t">
            <a:noAutofit/>
          </a:bodyPr>
          <a:lstStyle/>
          <a:p>
            <a:pPr marL="171450" indent="-171450" algn="l">
              <a:lnSpc>
                <a:spcPct val="145000"/>
              </a:lnSpc>
              <a:buFont typeface="Arial" panose="020B0604020202020204" pitchFamily="34" charset="0"/>
              <a:buChar char="•"/>
            </a:pPr>
            <a:r>
              <a:rPr lang="ja-JP" altLang="en-US" sz="1100" b="0">
                <a:latin typeface="+mj-ea"/>
                <a:ea typeface="+mj-ea"/>
                <a:cs typeface="Yu Gothic"/>
              </a:rPr>
              <a:t>データ格納をAWSマネージドサービスへ移行、アプリフレームを刷新</a:t>
            </a:r>
            <a:endParaRPr lang="ja-JP" altLang="en-US" sz="1100" b="0">
              <a:latin typeface="+mj-ea"/>
              <a:ea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多部署・グループ各社 数百名、</a:t>
            </a:r>
            <a:r>
              <a:rPr lang="ja-JP" altLang="en-US" sz="1100" b="1">
                <a:latin typeface="+mj-ea"/>
                <a:cs typeface="Yu Gothic"/>
              </a:rPr>
              <a:t>部署別権限</a:t>
            </a:r>
            <a:r>
              <a:rPr lang="ja-JP" altLang="en-US" sz="1100">
                <a:latin typeface="+mj-ea"/>
                <a:cs typeface="Yu Gothic"/>
              </a:rPr>
              <a:t>に対応</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内部KPIの実データ連携、経営会議議事録の取込</a:t>
            </a:r>
            <a:endParaRPr lang="ja-JP" altLang="en-US" sz="1100">
              <a:latin typeface="+mj-ea"/>
              <a:cs typeface="Yu Gothic"/>
            </a:endParaRPr>
          </a:p>
          <a:p>
            <a:pPr marL="171450" indent="-171450">
              <a:lnSpc>
                <a:spcPct val="145000"/>
              </a:lnSpc>
              <a:buFont typeface="Arial" panose="020B0604020202020204" pitchFamily="34" charset="0"/>
              <a:buChar char="•"/>
            </a:pPr>
            <a:r>
              <a:rPr lang="ja-JP" altLang="en-US" sz="1100">
                <a:latin typeface="+mj-ea"/>
                <a:cs typeface="Yu Gothic"/>
              </a:rPr>
              <a:t>診断ロジック・プロンプト・データ取得の資産は</a:t>
            </a:r>
            <a:r>
              <a:rPr lang="ja-JP" altLang="en-US" sz="1100" b="1">
                <a:latin typeface="+mj-ea"/>
                <a:cs typeface="Yu Gothic"/>
              </a:rPr>
              <a:t>そのまま持ち越し</a:t>
            </a: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nSpc>
                <a:spcPct val="145000"/>
              </a:lnSpc>
              <a:buFont typeface="Arial" panose="020B0604020202020204" pitchFamily="34" charset="0"/>
              <a:buChar char="•"/>
            </a:pPr>
            <a:endParaRPr lang="ja-JP" altLang="en-US" sz="1100">
              <a:latin typeface="+mj-ea"/>
              <a:cs typeface="Yu Gothic"/>
            </a:endParaRPr>
          </a:p>
          <a:p>
            <a:pPr marL="171450" indent="-171450" algn="l">
              <a:lnSpc>
                <a:spcPct val="145000"/>
              </a:lnSpc>
              <a:buFont typeface="Arial" panose="020B0604020202020204" pitchFamily="34" charset="0"/>
              <a:buChar char="•"/>
            </a:pPr>
            <a:endParaRPr lang="ja-JP" altLang="en-US" sz="1100" b="0">
              <a:latin typeface="+mj-ea"/>
              <a:ea typeface="+mj-ea"/>
              <a:cs typeface="Yu Gothic"/>
            </a:endParaRPr>
          </a:p>
        </p:txBody>
      </p:sp>
      <p:sp>
        <p:nvSpPr>
          <p:cNvPr id="131" name="TextBox 69">
            <a:extLst>
              <a:ext uri="{FF2B5EF4-FFF2-40B4-BE49-F238E27FC236}">
                <a16:creationId xmlns:a16="http://schemas.microsoft.com/office/drawing/2014/main" id="{72AB4214-C47F-2925-6C75-DD15E1048955}"/>
              </a:ext>
            </a:extLst>
          </p:cNvPr>
          <p:cNvSpPr txBox="1"/>
          <p:nvPr/>
        </p:nvSpPr>
        <p:spPr>
          <a:xfrm>
            <a:off x="393699" y="5342935"/>
            <a:ext cx="6489041" cy="139700"/>
          </a:xfrm>
          <a:prstGeom prst="rect">
            <a:avLst/>
          </a:prstGeom>
          <a:noFill/>
        </p:spPr>
        <p:txBody>
          <a:bodyPr wrap="square" lIns="0" tIns="0" rIns="0" bIns="0" anchor="t">
            <a:noAutofit/>
          </a:bodyPr>
          <a:lstStyle/>
          <a:p>
            <a:pPr algn="l">
              <a:lnSpc>
                <a:spcPct val="100000"/>
              </a:lnSpc>
            </a:pPr>
            <a:r>
              <a:rPr lang="ja-JP" altLang="en-US" sz="1200" b="1" spc="120">
                <a:solidFill>
                  <a:schemeClr val="accent4"/>
                </a:solidFill>
                <a:latin typeface="+mj-ea"/>
                <a:ea typeface="+mj-ea"/>
                <a:cs typeface="Yu Gothic"/>
              </a:rPr>
              <a:t>段階分けの原則</a:t>
            </a:r>
          </a:p>
        </p:txBody>
      </p:sp>
      <p:sp>
        <p:nvSpPr>
          <p:cNvPr id="133" name="TextBox 70">
            <a:extLst>
              <a:ext uri="{FF2B5EF4-FFF2-40B4-BE49-F238E27FC236}">
                <a16:creationId xmlns:a16="http://schemas.microsoft.com/office/drawing/2014/main" id="{BCD92EDF-5BCE-E0EB-B161-1FED204A02D1}"/>
              </a:ext>
            </a:extLst>
          </p:cNvPr>
          <p:cNvSpPr txBox="1"/>
          <p:nvPr/>
        </p:nvSpPr>
        <p:spPr>
          <a:xfrm>
            <a:off x="381000" y="5582254"/>
            <a:ext cx="11429999" cy="609600"/>
          </a:xfrm>
          <a:prstGeom prst="rect">
            <a:avLst/>
          </a:prstGeom>
          <a:noFill/>
        </p:spPr>
        <p:txBody>
          <a:bodyPr wrap="square" lIns="0" tIns="0" rIns="0" bIns="0" anchor="t">
            <a:noAutofit/>
          </a:bodyPr>
          <a:lstStyle/>
          <a:p>
            <a:pPr algn="l">
              <a:lnSpc>
                <a:spcPct val="150000"/>
              </a:lnSpc>
            </a:pPr>
            <a:r>
              <a:rPr lang="ja-JP" altLang="en-US" sz="1200" b="0">
                <a:latin typeface="+mj-ea"/>
                <a:ea typeface="+mj-ea"/>
                <a:cs typeface="Yu Gothic"/>
              </a:rPr>
              <a:t>STAGE 1は</a:t>
            </a:r>
            <a:r>
              <a:rPr lang="ja-JP" altLang="en-US" sz="1200" b="1">
                <a:latin typeface="+mj-ea"/>
                <a:ea typeface="+mj-ea"/>
                <a:cs typeface="Yu Gothic"/>
              </a:rPr>
              <a:t>「コードを変えず、周りを固める」＝追加のみで置換なし</a:t>
            </a:r>
            <a:r>
              <a:rPr lang="ja-JP" altLang="en-US" sz="1200" b="0">
                <a:latin typeface="+mj-ea"/>
                <a:ea typeface="+mj-ea"/>
                <a:cs typeface="Yu Gothic"/>
              </a:rPr>
              <a:t>。STAGE 2は</a:t>
            </a:r>
            <a:r>
              <a:rPr lang="ja-JP" altLang="en-US" sz="1200" b="1">
                <a:latin typeface="+mj-ea"/>
                <a:ea typeface="+mj-ea"/>
                <a:cs typeface="Yu Gothic"/>
              </a:rPr>
              <a:t>「器を入れ替え、中身のロジックは持ち越す」＝置換はインフラ層に限定</a:t>
            </a:r>
            <a:r>
              <a:rPr lang="ja-JP" altLang="en-US" sz="1200" b="0">
                <a:latin typeface="+mj-ea"/>
                <a:ea typeface="+mj-ea"/>
                <a:cs typeface="Yu Gothic"/>
              </a:rPr>
              <a:t>。この原則により、STAGE 1の追加投資（SSO・ガードレール・監査ログ・ナビ画面）はSTAGE 2にそのまま引き継がれ、</a:t>
            </a:r>
            <a:r>
              <a:rPr lang="ja-JP" altLang="en-US" sz="1200" b="1">
                <a:latin typeface="+mj-ea"/>
                <a:ea typeface="+mj-ea"/>
                <a:cs typeface="Yu Gothic"/>
              </a:rPr>
              <a:t>無駄になりません</a:t>
            </a:r>
            <a:r>
              <a:rPr lang="ja-JP" altLang="en-US" sz="1200" b="0">
                <a:latin typeface="+mj-ea"/>
                <a:ea typeface="+mj-ea"/>
                <a:cs typeface="Yu Gothic"/>
              </a:rPr>
              <a:t>。</a:t>
            </a:r>
          </a:p>
        </p:txBody>
      </p:sp>
      <p:cxnSp>
        <p:nvCxnSpPr>
          <p:cNvPr id="143" name="直線コネクタ 142">
            <a:extLst>
              <a:ext uri="{FF2B5EF4-FFF2-40B4-BE49-F238E27FC236}">
                <a16:creationId xmlns:a16="http://schemas.microsoft.com/office/drawing/2014/main" id="{F77F0D73-D1CE-55B0-BE90-F2B074D6595F}"/>
              </a:ext>
            </a:extLst>
          </p:cNvPr>
          <p:cNvCxnSpPr/>
          <p:nvPr/>
        </p:nvCxnSpPr>
        <p:spPr bwMode="gray">
          <a:xfrm>
            <a:off x="3968319" y="4675823"/>
            <a:ext cx="233489" cy="304550"/>
          </a:xfrm>
          <a:prstGeom prst="line">
            <a:avLst/>
          </a:prstGeom>
          <a:ln w="127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E4103867-4705-7F29-9EE4-84A3DD4ED9DA}"/>
              </a:ext>
            </a:extLst>
          </p:cNvPr>
          <p:cNvSpPr/>
          <p:nvPr/>
        </p:nvSpPr>
        <p:spPr bwMode="gray">
          <a:xfrm>
            <a:off x="11339393" y="4437"/>
            <a:ext cx="836583" cy="346229"/>
          </a:xfrm>
          <a:prstGeom prst="rect">
            <a:avLst/>
          </a:prstGeom>
          <a:solidFill>
            <a:srgbClr val="FFFF00"/>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600" b="0" i="0" u="none" strike="noStrike" kern="1200" cap="none" spc="0" normalizeH="0" baseline="0" noProof="0" dirty="0">
                <a:ln>
                  <a:noFill/>
                </a:ln>
                <a:solidFill>
                  <a:prstClr val="black"/>
                </a:solidFill>
                <a:effectLst/>
                <a:uLnTx/>
                <a:uFillTx/>
                <a:latin typeface="+mn-lt"/>
                <a:ea typeface="+mn-ea"/>
                <a:cs typeface="+mn-cs"/>
              </a:rPr>
              <a:t>再掲</a:t>
            </a:r>
          </a:p>
        </p:txBody>
      </p:sp>
      <p:pic>
        <p:nvPicPr>
          <p:cNvPr id="8" name="グラフィックス 7" descr="バッジ 3 単色塗りつぶし">
            <a:extLst>
              <a:ext uri="{FF2B5EF4-FFF2-40B4-BE49-F238E27FC236}">
                <a16:creationId xmlns:a16="http://schemas.microsoft.com/office/drawing/2014/main" id="{74991537-CCB8-2A09-F6A0-1F8CFC22F2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5455" y="509861"/>
            <a:ext cx="352541" cy="352541"/>
          </a:xfrm>
          <a:prstGeom prst="rect">
            <a:avLst/>
          </a:prstGeom>
        </p:spPr>
      </p:pic>
    </p:spTree>
    <p:extLst>
      <p:ext uri="{BB962C8B-B14F-4D97-AF65-F5344CB8AC3E}">
        <p14:creationId xmlns:p14="http://schemas.microsoft.com/office/powerpoint/2010/main" val="786711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D09B4-F27E-4500-3D38-2CC906A06917}"/>
            </a:ext>
          </a:extLst>
        </p:cNvPr>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0C0ADBAD-D83C-9796-B842-CE2501D1D751}"/>
              </a:ext>
            </a:extLst>
          </p:cNvPr>
          <p:cNvGraphicFramePr>
            <a:graphicFrameLocks/>
          </p:cNvGraphicFramePr>
          <p:nvPr>
            <p:custDataLst>
              <p:tags r:id="rId1"/>
            </p:custDataLst>
            <p:extLst>
              <p:ext uri="{D42A27DB-BD31-4B8C-83A1-F6EECF244321}">
                <p14:modId xmlns:p14="http://schemas.microsoft.com/office/powerpoint/2010/main" val="2296198536"/>
              </p:ext>
            </p:ext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0C0ADBAD-D83C-9796-B842-CE2501D1D751}"/>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2" name="Shape 11">
            <a:extLst>
              <a:ext uri="{FF2B5EF4-FFF2-40B4-BE49-F238E27FC236}">
                <a16:creationId xmlns:a16="http://schemas.microsoft.com/office/drawing/2014/main" id="{F8D81EB9-53C8-4F30-EE9B-45A14D63BDDF}"/>
              </a:ext>
            </a:extLst>
          </p:cNvPr>
          <p:cNvSpPr/>
          <p:nvPr/>
        </p:nvSpPr>
        <p:spPr>
          <a:xfrm>
            <a:off x="478800" y="2789615"/>
            <a:ext cx="11274552" cy="0"/>
          </a:xfrm>
          <a:prstGeom prst="line">
            <a:avLst/>
          </a:prstGeom>
          <a:noFill/>
          <a:ln w="9525">
            <a:solidFill>
              <a:srgbClr val="DFE3E8"/>
            </a:solidFill>
            <a:prstDash val="solid"/>
          </a:ln>
        </p:spPr>
        <p:txBody>
          <a:bodyPr/>
          <a:lstStyle/>
          <a:p>
            <a:endParaRPr lang="ja-JP" altLang="en-US">
              <a:latin typeface="+mj-ea"/>
              <a:ea typeface="+mj-ea"/>
            </a:endParaRPr>
          </a:p>
        </p:txBody>
      </p:sp>
      <p:sp>
        <p:nvSpPr>
          <p:cNvPr id="69" name="Shape 24">
            <a:extLst>
              <a:ext uri="{FF2B5EF4-FFF2-40B4-BE49-F238E27FC236}">
                <a16:creationId xmlns:a16="http://schemas.microsoft.com/office/drawing/2014/main" id="{8F49D8CF-BF70-1E6E-1AF5-A9C3DB70D30D}"/>
              </a:ext>
            </a:extLst>
          </p:cNvPr>
          <p:cNvSpPr/>
          <p:nvPr/>
        </p:nvSpPr>
        <p:spPr>
          <a:xfrm>
            <a:off x="4294811" y="2468046"/>
            <a:ext cx="1022337" cy="352818"/>
          </a:xfrm>
          <a:prstGeom prst="rect">
            <a:avLst/>
          </a:prstGeom>
          <a:solidFill>
            <a:srgbClr val="1C2430"/>
          </a:solidFill>
          <a:ln w="12700">
            <a:solidFill>
              <a:srgbClr val="1C2430"/>
            </a:solidFill>
            <a:prstDash val="solid"/>
          </a:ln>
        </p:spPr>
        <p:txBody>
          <a:bodyPr/>
          <a:lstStyle/>
          <a:p>
            <a:endParaRPr lang="ja-JP" altLang="en-US">
              <a:latin typeface="+mj-ea"/>
              <a:ea typeface="+mj-ea"/>
            </a:endParaRPr>
          </a:p>
        </p:txBody>
      </p:sp>
      <p:sp>
        <p:nvSpPr>
          <p:cNvPr id="37" name="テキスト プレースホルダー 3">
            <a:extLst>
              <a:ext uri="{FF2B5EF4-FFF2-40B4-BE49-F238E27FC236}">
                <a16:creationId xmlns:a16="http://schemas.microsoft.com/office/drawing/2014/main" id="{2B5D0FDC-B283-59E6-ED96-29FE333D3FDB}"/>
              </a:ext>
            </a:extLst>
          </p:cNvPr>
          <p:cNvSpPr txBox="1">
            <a:spLocks/>
          </p:cNvSpPr>
          <p:nvPr/>
        </p:nvSpPr>
        <p:spPr bwMode="gray">
          <a:xfrm>
            <a:off x="478799" y="1008000"/>
            <a:ext cx="11232000" cy="468000"/>
          </a:xfrm>
          <a:prstGeom prst="rect">
            <a:avLst/>
          </a:prstGeom>
        </p:spPr>
        <p:txBody>
          <a:bodyPr vert="horz" wrap="none" lIns="0" tIns="0" rIns="0" bIns="0" rtlCol="0" anchor="ctr">
            <a:noAutofit/>
          </a:bodyPr>
          <a:lstStyle>
            <a:lvl1pPr marL="0" marR="0" indent="0" algn="l" defTabSz="990564" rtl="0" eaLnBrk="1" fontAlgn="ctr" latinLnBrk="0" hangingPunct="1">
              <a:lnSpc>
                <a:spcPct val="100000"/>
              </a:lnSpc>
              <a:spcBef>
                <a:spcPts val="0"/>
              </a:spcBef>
              <a:spcAft>
                <a:spcPts val="0"/>
              </a:spcAft>
              <a:buClrTx/>
              <a:buSzPct val="100000"/>
              <a:buFont typeface="Arial" panose="020B0604020202020204" pitchFamily="34" charset="0"/>
              <a:buNone/>
              <a:tabLst/>
              <a:defRPr kumimoji="1" sz="1800" b="1" kern="1200">
                <a:solidFill>
                  <a:schemeClr val="accent3"/>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a:lstStyle>
          <a:p>
            <a:r>
              <a:rPr lang="ja-JP" altLang="en-US" dirty="0">
                <a:latin typeface="+mj-ea"/>
                <a:ea typeface="+mj-ea"/>
              </a:rPr>
              <a:t>10</a:t>
            </a:r>
            <a:r>
              <a:rPr lang="ja-JP" altLang="en-US" dirty="0">
                <a:latin typeface="+mj-ea"/>
                <a:ea typeface="+mj-ea"/>
              </a:rPr>
              <a:t>月のセキュア公開に向けての進め方案</a:t>
            </a:r>
          </a:p>
        </p:txBody>
      </p:sp>
      <p:sp>
        <p:nvSpPr>
          <p:cNvPr id="42" name="タイトル 6">
            <a:extLst>
              <a:ext uri="{FF2B5EF4-FFF2-40B4-BE49-F238E27FC236}">
                <a16:creationId xmlns:a16="http://schemas.microsoft.com/office/drawing/2014/main" id="{B9C43B01-8059-9697-BA13-067F9587BE72}"/>
              </a:ext>
            </a:extLst>
          </p:cNvPr>
          <p:cNvSpPr>
            <a:spLocks noGrp="1"/>
          </p:cNvSpPr>
          <p:nvPr>
            <p:ph type="title"/>
          </p:nvPr>
        </p:nvSpPr>
        <p:spPr>
          <a:xfrm>
            <a:off x="480000" y="108000"/>
            <a:ext cx="11232000" cy="738000"/>
          </a:xfrm>
        </p:spPr>
        <p:txBody>
          <a:bodyPr vert="horz" rIns="0"/>
          <a:lstStyle/>
          <a:p>
            <a:r>
              <a:rPr lang="ja-JP" altLang="en-US" dirty="0"/>
              <a:t>10月セキュア公開に向けて、9/11にリリース対象版をFIXし、以降はITEC様が統合テスト・移行準備を主導、デロイトは引継ぎ資料整備、エラー・質疑対応、バックログ整理に注力します</a:t>
            </a:r>
            <a:endParaRPr lang="ja-JP" altLang="en-US" dirty="0">
              <a:latin typeface="+mj-ea"/>
            </a:endParaRPr>
          </a:p>
        </p:txBody>
      </p:sp>
      <p:sp>
        <p:nvSpPr>
          <p:cNvPr id="2" name="スライド番号プレースホルダー 2">
            <a:extLst>
              <a:ext uri="{FF2B5EF4-FFF2-40B4-BE49-F238E27FC236}">
                <a16:creationId xmlns:a16="http://schemas.microsoft.com/office/drawing/2014/main" id="{A6B765C8-F164-6819-BC5F-8D7B573CAE88}"/>
              </a:ext>
            </a:extLst>
          </p:cNvPr>
          <p:cNvSpPr>
            <a:spLocks noGrp="1"/>
          </p:cNvSpPr>
          <p:nvPr>
            <p:ph type="sldNum" sz="quarter" idx="11"/>
          </p:nvPr>
        </p:nvSpPr>
        <p:spPr>
          <a:xfrm>
            <a:off x="480000" y="6597525"/>
            <a:ext cx="180000" cy="169200"/>
          </a:xfrm>
        </p:spPr>
        <p:txBody>
          <a:bodyPr/>
          <a:lstStyle/>
          <a:p>
            <a:fld id="{AA5FCFE5-FE56-4EF1-80A8-07776887C2A1}" type="slidenum">
              <a:rPr lang="ja-JP" altLang="en-US" smtClean="0">
                <a:latin typeface="+mj-ea"/>
                <a:ea typeface="+mj-ea"/>
              </a:rPr>
              <a:pPr/>
              <a:t>12</a:t>
            </a:fld>
            <a:endParaRPr lang="ja-JP" altLang="en-US">
              <a:latin typeface="+mj-ea"/>
              <a:ea typeface="+mj-ea"/>
            </a:endParaRPr>
          </a:p>
        </p:txBody>
      </p:sp>
      <p:sp>
        <p:nvSpPr>
          <p:cNvPr id="9" name="Text 3">
            <a:extLst>
              <a:ext uri="{FF2B5EF4-FFF2-40B4-BE49-F238E27FC236}">
                <a16:creationId xmlns:a16="http://schemas.microsoft.com/office/drawing/2014/main" id="{B3AC9DD3-9EF6-3121-6B3A-1284EF49D51E}"/>
              </a:ext>
            </a:extLst>
          </p:cNvPr>
          <p:cNvSpPr txBox="1"/>
          <p:nvPr/>
        </p:nvSpPr>
        <p:spPr>
          <a:xfrm>
            <a:off x="1993392"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9/2週</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FIX準備</a:t>
            </a:r>
            <a:endParaRPr lang="ja-JP" altLang="en-US" sz="1050" dirty="0">
              <a:latin typeface="+mj-ea"/>
              <a:ea typeface="+mj-ea"/>
            </a:endParaRPr>
          </a:p>
        </p:txBody>
      </p:sp>
      <p:sp>
        <p:nvSpPr>
          <p:cNvPr id="12" name="Text 4">
            <a:extLst>
              <a:ext uri="{FF2B5EF4-FFF2-40B4-BE49-F238E27FC236}">
                <a16:creationId xmlns:a16="http://schemas.microsoft.com/office/drawing/2014/main" id="{C7F5EFBB-84C9-2C15-2751-FF29FFDB246E}"/>
              </a:ext>
            </a:extLst>
          </p:cNvPr>
          <p:cNvSpPr txBox="1"/>
          <p:nvPr/>
        </p:nvSpPr>
        <p:spPr>
          <a:xfrm>
            <a:off x="3436261"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9/9週</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FIX</a:t>
            </a:r>
            <a:endParaRPr lang="ja-JP" altLang="en-US" sz="1050" dirty="0">
              <a:latin typeface="+mj-ea"/>
              <a:ea typeface="+mj-ea"/>
            </a:endParaRPr>
          </a:p>
        </p:txBody>
      </p:sp>
      <p:sp>
        <p:nvSpPr>
          <p:cNvPr id="14" name="Text 5">
            <a:extLst>
              <a:ext uri="{FF2B5EF4-FFF2-40B4-BE49-F238E27FC236}">
                <a16:creationId xmlns:a16="http://schemas.microsoft.com/office/drawing/2014/main" id="{38983B71-B73C-445D-DC4B-E0CF2D9DEB5D}"/>
              </a:ext>
            </a:extLst>
          </p:cNvPr>
          <p:cNvSpPr txBox="1"/>
          <p:nvPr/>
        </p:nvSpPr>
        <p:spPr>
          <a:xfrm>
            <a:off x="4879131"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9/14週</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統合テスト①</a:t>
            </a:r>
            <a:endParaRPr lang="ja-JP" altLang="en-US" sz="1050" dirty="0">
              <a:latin typeface="+mj-ea"/>
              <a:ea typeface="+mj-ea"/>
            </a:endParaRPr>
          </a:p>
        </p:txBody>
      </p:sp>
      <p:sp>
        <p:nvSpPr>
          <p:cNvPr id="17" name="Text 6">
            <a:extLst>
              <a:ext uri="{FF2B5EF4-FFF2-40B4-BE49-F238E27FC236}">
                <a16:creationId xmlns:a16="http://schemas.microsoft.com/office/drawing/2014/main" id="{1F7B5C43-87B9-B38F-FA95-169D674D1556}"/>
              </a:ext>
            </a:extLst>
          </p:cNvPr>
          <p:cNvSpPr txBox="1"/>
          <p:nvPr/>
        </p:nvSpPr>
        <p:spPr>
          <a:xfrm>
            <a:off x="6322000"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9/21週</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統合テスト②</a:t>
            </a:r>
            <a:endParaRPr lang="ja-JP" altLang="en-US" sz="1050" dirty="0">
              <a:latin typeface="+mj-ea"/>
              <a:ea typeface="+mj-ea"/>
            </a:endParaRPr>
          </a:p>
        </p:txBody>
      </p:sp>
      <p:sp>
        <p:nvSpPr>
          <p:cNvPr id="21" name="Text 7">
            <a:extLst>
              <a:ext uri="{FF2B5EF4-FFF2-40B4-BE49-F238E27FC236}">
                <a16:creationId xmlns:a16="http://schemas.microsoft.com/office/drawing/2014/main" id="{786DA47E-2C67-4F0E-57A6-20DE6909E113}"/>
              </a:ext>
            </a:extLst>
          </p:cNvPr>
          <p:cNvSpPr txBox="1"/>
          <p:nvPr/>
        </p:nvSpPr>
        <p:spPr>
          <a:xfrm>
            <a:off x="7764870"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9/28週</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リリース準備</a:t>
            </a:r>
            <a:endParaRPr lang="ja-JP" altLang="en-US" sz="1050" dirty="0">
              <a:latin typeface="+mj-ea"/>
              <a:ea typeface="+mj-ea"/>
            </a:endParaRPr>
          </a:p>
        </p:txBody>
      </p:sp>
      <p:sp>
        <p:nvSpPr>
          <p:cNvPr id="25" name="Text 8">
            <a:extLst>
              <a:ext uri="{FF2B5EF4-FFF2-40B4-BE49-F238E27FC236}">
                <a16:creationId xmlns:a16="http://schemas.microsoft.com/office/drawing/2014/main" id="{8853A02A-58FB-A0CA-7447-4F1E875B255D}"/>
              </a:ext>
            </a:extLst>
          </p:cNvPr>
          <p:cNvSpPr txBox="1"/>
          <p:nvPr/>
        </p:nvSpPr>
        <p:spPr>
          <a:xfrm>
            <a:off x="9207739" y="1638906"/>
            <a:ext cx="1062856"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10/5</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セキュア公開</a:t>
            </a:r>
            <a:endParaRPr lang="ja-JP" altLang="en-US" sz="1050" dirty="0">
              <a:latin typeface="+mj-ea"/>
              <a:ea typeface="+mj-ea"/>
            </a:endParaRPr>
          </a:p>
        </p:txBody>
      </p:sp>
      <p:sp>
        <p:nvSpPr>
          <p:cNvPr id="27" name="Text 9">
            <a:extLst>
              <a:ext uri="{FF2B5EF4-FFF2-40B4-BE49-F238E27FC236}">
                <a16:creationId xmlns:a16="http://schemas.microsoft.com/office/drawing/2014/main" id="{F18CCA04-3974-BF54-3F52-F8EADA73342C}"/>
              </a:ext>
            </a:extLst>
          </p:cNvPr>
          <p:cNvSpPr txBox="1"/>
          <p:nvPr/>
        </p:nvSpPr>
        <p:spPr>
          <a:xfrm>
            <a:off x="10362035" y="1638906"/>
            <a:ext cx="1351429" cy="374904"/>
          </a:xfrm>
          <a:prstGeom prst="rect">
            <a:avLst/>
          </a:prstGeom>
          <a:noFill/>
          <a:ln/>
        </p:spPr>
        <p:txBody>
          <a:bodyPr wrap="square" lIns="0" tIns="0" rIns="0" bIns="0" rtlCol="0" anchor="t"/>
          <a:lstStyle/>
          <a:p>
            <a:pPr marL="0" indent="0">
              <a:lnSpc>
                <a:spcPct val="115000"/>
              </a:lnSpc>
              <a:buNone/>
            </a:pPr>
            <a:r>
              <a:rPr lang="ja-JP" altLang="en-US" sz="1050" dirty="0">
                <a:latin typeface="+mj-ea"/>
                <a:ea typeface="+mj-ea"/>
                <a:cs typeface="Yu Gothic" pitchFamily="34" charset="-120"/>
              </a:rPr>
              <a:t>10月以降</a:t>
            </a:r>
            <a:endParaRPr lang="ja-JP" altLang="en-US" sz="1050" dirty="0">
              <a:latin typeface="+mj-ea"/>
              <a:ea typeface="+mj-ea"/>
            </a:endParaRPr>
          </a:p>
          <a:p>
            <a:pPr marL="0" indent="0">
              <a:lnSpc>
                <a:spcPct val="115000"/>
              </a:lnSpc>
              <a:buNone/>
            </a:pPr>
            <a:r>
              <a:rPr lang="ja-JP" altLang="en-US" sz="1200" b="1" dirty="0">
                <a:latin typeface="+mj-ea"/>
                <a:ea typeface="+mj-ea"/>
                <a:cs typeface="Yu Gothic" pitchFamily="34" charset="-120"/>
              </a:rPr>
              <a:t>継続改善</a:t>
            </a:r>
            <a:endParaRPr lang="ja-JP" altLang="en-US" sz="1050" dirty="0">
              <a:latin typeface="+mj-ea"/>
              <a:ea typeface="+mj-ea"/>
            </a:endParaRPr>
          </a:p>
        </p:txBody>
      </p:sp>
      <p:sp>
        <p:nvSpPr>
          <p:cNvPr id="30" name="Shape 10">
            <a:extLst>
              <a:ext uri="{FF2B5EF4-FFF2-40B4-BE49-F238E27FC236}">
                <a16:creationId xmlns:a16="http://schemas.microsoft.com/office/drawing/2014/main" id="{4AF634A9-FEF8-A6D6-0F70-BCD328692874}"/>
              </a:ext>
            </a:extLst>
          </p:cNvPr>
          <p:cNvSpPr/>
          <p:nvPr/>
        </p:nvSpPr>
        <p:spPr>
          <a:xfrm>
            <a:off x="457200" y="2103120"/>
            <a:ext cx="11274552" cy="0"/>
          </a:xfrm>
          <a:prstGeom prst="line">
            <a:avLst/>
          </a:prstGeom>
          <a:noFill/>
          <a:ln w="9525">
            <a:solidFill>
              <a:srgbClr val="DFE3E8"/>
            </a:solidFill>
            <a:prstDash val="solid"/>
          </a:ln>
        </p:spPr>
        <p:txBody>
          <a:bodyPr/>
          <a:lstStyle/>
          <a:p>
            <a:endParaRPr lang="ja-JP" altLang="en-US">
              <a:latin typeface="+mj-ea"/>
              <a:ea typeface="+mj-ea"/>
            </a:endParaRPr>
          </a:p>
        </p:txBody>
      </p:sp>
      <p:sp>
        <p:nvSpPr>
          <p:cNvPr id="35" name="Shape 12">
            <a:extLst>
              <a:ext uri="{FF2B5EF4-FFF2-40B4-BE49-F238E27FC236}">
                <a16:creationId xmlns:a16="http://schemas.microsoft.com/office/drawing/2014/main" id="{342B757B-BC9C-6CFB-A8BB-49A2EFF22E96}"/>
              </a:ext>
            </a:extLst>
          </p:cNvPr>
          <p:cNvSpPr/>
          <p:nvPr/>
        </p:nvSpPr>
        <p:spPr>
          <a:xfrm>
            <a:off x="457200" y="3657600"/>
            <a:ext cx="11274552" cy="0"/>
          </a:xfrm>
          <a:prstGeom prst="line">
            <a:avLst/>
          </a:prstGeom>
          <a:noFill/>
          <a:ln w="9525">
            <a:solidFill>
              <a:srgbClr val="DFE3E8"/>
            </a:solidFill>
            <a:prstDash val="solid"/>
          </a:ln>
        </p:spPr>
        <p:txBody>
          <a:bodyPr/>
          <a:lstStyle/>
          <a:p>
            <a:endParaRPr lang="ja-JP" altLang="en-US">
              <a:latin typeface="+mj-ea"/>
              <a:ea typeface="+mj-ea"/>
            </a:endParaRPr>
          </a:p>
        </p:txBody>
      </p:sp>
      <p:sp>
        <p:nvSpPr>
          <p:cNvPr id="38" name="Shape 13">
            <a:extLst>
              <a:ext uri="{FF2B5EF4-FFF2-40B4-BE49-F238E27FC236}">
                <a16:creationId xmlns:a16="http://schemas.microsoft.com/office/drawing/2014/main" id="{E761BBCB-A5B1-880F-33CC-3FEFA7ECA7BC}"/>
              </a:ext>
            </a:extLst>
          </p:cNvPr>
          <p:cNvSpPr/>
          <p:nvPr/>
        </p:nvSpPr>
        <p:spPr>
          <a:xfrm>
            <a:off x="457200" y="4526280"/>
            <a:ext cx="11274552" cy="0"/>
          </a:xfrm>
          <a:prstGeom prst="line">
            <a:avLst/>
          </a:prstGeom>
          <a:noFill/>
          <a:ln w="9525">
            <a:solidFill>
              <a:srgbClr val="DFE3E8"/>
            </a:solidFill>
            <a:prstDash val="solid"/>
          </a:ln>
        </p:spPr>
        <p:txBody>
          <a:bodyPr/>
          <a:lstStyle/>
          <a:p>
            <a:endParaRPr lang="ja-JP" altLang="en-US">
              <a:latin typeface="+mj-ea"/>
              <a:ea typeface="+mj-ea"/>
            </a:endParaRPr>
          </a:p>
        </p:txBody>
      </p:sp>
      <p:sp>
        <p:nvSpPr>
          <p:cNvPr id="40" name="Shape 14">
            <a:extLst>
              <a:ext uri="{FF2B5EF4-FFF2-40B4-BE49-F238E27FC236}">
                <a16:creationId xmlns:a16="http://schemas.microsoft.com/office/drawing/2014/main" id="{5996219E-83BC-3AF9-0E8C-AEBE8F7BA88D}"/>
              </a:ext>
            </a:extLst>
          </p:cNvPr>
          <p:cNvSpPr/>
          <p:nvPr/>
        </p:nvSpPr>
        <p:spPr>
          <a:xfrm>
            <a:off x="457200" y="5394960"/>
            <a:ext cx="11274552" cy="0"/>
          </a:xfrm>
          <a:prstGeom prst="line">
            <a:avLst/>
          </a:prstGeom>
          <a:noFill/>
          <a:ln w="9525">
            <a:solidFill>
              <a:srgbClr val="DFE3E8"/>
            </a:solidFill>
            <a:prstDash val="solid"/>
          </a:ln>
        </p:spPr>
        <p:txBody>
          <a:bodyPr/>
          <a:lstStyle/>
          <a:p>
            <a:endParaRPr lang="ja-JP" altLang="en-US">
              <a:latin typeface="+mj-ea"/>
              <a:ea typeface="+mj-ea"/>
            </a:endParaRPr>
          </a:p>
        </p:txBody>
      </p:sp>
      <p:sp>
        <p:nvSpPr>
          <p:cNvPr id="43" name="Shape 15">
            <a:extLst>
              <a:ext uri="{FF2B5EF4-FFF2-40B4-BE49-F238E27FC236}">
                <a16:creationId xmlns:a16="http://schemas.microsoft.com/office/drawing/2014/main" id="{84133B8E-47F9-2646-239A-2CA870284DDC}"/>
              </a:ext>
            </a:extLst>
          </p:cNvPr>
          <p:cNvSpPr/>
          <p:nvPr/>
        </p:nvSpPr>
        <p:spPr>
          <a:xfrm>
            <a:off x="3363109"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46" name="Shape 16">
            <a:extLst>
              <a:ext uri="{FF2B5EF4-FFF2-40B4-BE49-F238E27FC236}">
                <a16:creationId xmlns:a16="http://schemas.microsoft.com/office/drawing/2014/main" id="{005069FE-E199-40FF-F56A-A699F8FE3D2F}"/>
              </a:ext>
            </a:extLst>
          </p:cNvPr>
          <p:cNvSpPr/>
          <p:nvPr/>
        </p:nvSpPr>
        <p:spPr>
          <a:xfrm>
            <a:off x="4805979"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48" name="Shape 17">
            <a:extLst>
              <a:ext uri="{FF2B5EF4-FFF2-40B4-BE49-F238E27FC236}">
                <a16:creationId xmlns:a16="http://schemas.microsoft.com/office/drawing/2014/main" id="{8DC10A8B-8F79-40BE-1565-00EA628A1E14}"/>
              </a:ext>
            </a:extLst>
          </p:cNvPr>
          <p:cNvSpPr/>
          <p:nvPr/>
        </p:nvSpPr>
        <p:spPr>
          <a:xfrm>
            <a:off x="6248848"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51" name="Shape 18">
            <a:extLst>
              <a:ext uri="{FF2B5EF4-FFF2-40B4-BE49-F238E27FC236}">
                <a16:creationId xmlns:a16="http://schemas.microsoft.com/office/drawing/2014/main" id="{513A761B-15CB-9298-B3C9-D17109334021}"/>
              </a:ext>
            </a:extLst>
          </p:cNvPr>
          <p:cNvSpPr/>
          <p:nvPr/>
        </p:nvSpPr>
        <p:spPr>
          <a:xfrm>
            <a:off x="7691718"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54" name="Shape 19">
            <a:extLst>
              <a:ext uri="{FF2B5EF4-FFF2-40B4-BE49-F238E27FC236}">
                <a16:creationId xmlns:a16="http://schemas.microsoft.com/office/drawing/2014/main" id="{877B5D0E-7EDD-6C27-2213-5A7457BF0EF9}"/>
              </a:ext>
            </a:extLst>
          </p:cNvPr>
          <p:cNvSpPr/>
          <p:nvPr/>
        </p:nvSpPr>
        <p:spPr>
          <a:xfrm>
            <a:off x="9134587"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58" name="Shape 20">
            <a:extLst>
              <a:ext uri="{FF2B5EF4-FFF2-40B4-BE49-F238E27FC236}">
                <a16:creationId xmlns:a16="http://schemas.microsoft.com/office/drawing/2014/main" id="{F52834DB-B8D5-4169-711E-1A6B372F01BF}"/>
              </a:ext>
            </a:extLst>
          </p:cNvPr>
          <p:cNvSpPr/>
          <p:nvPr/>
        </p:nvSpPr>
        <p:spPr>
          <a:xfrm>
            <a:off x="10288883" y="2788920"/>
            <a:ext cx="0" cy="2606040"/>
          </a:xfrm>
          <a:prstGeom prst="line">
            <a:avLst/>
          </a:prstGeom>
          <a:noFill/>
          <a:ln w="6350">
            <a:solidFill>
              <a:srgbClr val="DFE3E8"/>
            </a:solidFill>
            <a:prstDash val="solid"/>
          </a:ln>
        </p:spPr>
        <p:txBody>
          <a:bodyPr/>
          <a:lstStyle/>
          <a:p>
            <a:endParaRPr lang="ja-JP" altLang="en-US">
              <a:latin typeface="+mj-ea"/>
              <a:ea typeface="+mj-ea"/>
            </a:endParaRPr>
          </a:p>
        </p:txBody>
      </p:sp>
      <p:sp>
        <p:nvSpPr>
          <p:cNvPr id="62" name="Shape 21">
            <a:extLst>
              <a:ext uri="{FF2B5EF4-FFF2-40B4-BE49-F238E27FC236}">
                <a16:creationId xmlns:a16="http://schemas.microsoft.com/office/drawing/2014/main" id="{C4A8B5D5-5F47-912E-641D-5BE4222A33F5}"/>
              </a:ext>
            </a:extLst>
          </p:cNvPr>
          <p:cNvSpPr/>
          <p:nvPr/>
        </p:nvSpPr>
        <p:spPr>
          <a:xfrm flipH="1">
            <a:off x="4810550" y="1681526"/>
            <a:ext cx="0" cy="3658565"/>
          </a:xfrm>
          <a:prstGeom prst="line">
            <a:avLst/>
          </a:prstGeom>
          <a:noFill/>
          <a:ln w="19050">
            <a:solidFill>
              <a:srgbClr val="1C2430"/>
            </a:solidFill>
            <a:prstDash val="solid"/>
          </a:ln>
        </p:spPr>
        <p:txBody>
          <a:bodyPr/>
          <a:lstStyle/>
          <a:p>
            <a:endParaRPr lang="ja-JP" altLang="en-US">
              <a:latin typeface="+mj-ea"/>
              <a:ea typeface="+mj-ea"/>
            </a:endParaRPr>
          </a:p>
        </p:txBody>
      </p:sp>
      <p:sp>
        <p:nvSpPr>
          <p:cNvPr id="64" name="Shape 22">
            <a:extLst>
              <a:ext uri="{FF2B5EF4-FFF2-40B4-BE49-F238E27FC236}">
                <a16:creationId xmlns:a16="http://schemas.microsoft.com/office/drawing/2014/main" id="{C8C470A6-2ACD-41A4-0EAA-373DCF1E8850}"/>
              </a:ext>
            </a:extLst>
          </p:cNvPr>
          <p:cNvSpPr/>
          <p:nvPr/>
        </p:nvSpPr>
        <p:spPr>
          <a:xfrm>
            <a:off x="4746543" y="2288128"/>
            <a:ext cx="118872" cy="118872"/>
          </a:xfrm>
          <a:prstGeom prst="diamond">
            <a:avLst/>
          </a:prstGeom>
          <a:solidFill>
            <a:srgbClr val="FFFFFF"/>
          </a:solidFill>
          <a:ln w="19050">
            <a:solidFill>
              <a:srgbClr val="1C2430"/>
            </a:solidFill>
            <a:prstDash val="solid"/>
          </a:ln>
        </p:spPr>
        <p:txBody>
          <a:bodyPr/>
          <a:lstStyle/>
          <a:p>
            <a:endParaRPr lang="ja-JP" altLang="en-US">
              <a:latin typeface="+mj-ea"/>
              <a:ea typeface="+mj-ea"/>
            </a:endParaRPr>
          </a:p>
        </p:txBody>
      </p:sp>
      <p:sp>
        <p:nvSpPr>
          <p:cNvPr id="67" name="Text 23">
            <a:extLst>
              <a:ext uri="{FF2B5EF4-FFF2-40B4-BE49-F238E27FC236}">
                <a16:creationId xmlns:a16="http://schemas.microsoft.com/office/drawing/2014/main" id="{2EBFC87D-5F01-5823-5A04-70241C72267E}"/>
              </a:ext>
            </a:extLst>
          </p:cNvPr>
          <p:cNvSpPr txBox="1"/>
          <p:nvPr/>
        </p:nvSpPr>
        <p:spPr>
          <a:xfrm>
            <a:off x="3800139" y="2500063"/>
            <a:ext cx="2011680" cy="347472"/>
          </a:xfrm>
          <a:prstGeom prst="rect">
            <a:avLst/>
          </a:prstGeom>
          <a:noFill/>
          <a:ln/>
        </p:spPr>
        <p:txBody>
          <a:bodyPr wrap="square" lIns="0" tIns="0" rIns="0" bIns="0" rtlCol="0" anchor="t"/>
          <a:lstStyle/>
          <a:p>
            <a:pPr marL="0" indent="0" algn="ctr">
              <a:lnSpc>
                <a:spcPct val="110000"/>
              </a:lnSpc>
              <a:buNone/>
            </a:pPr>
            <a:r>
              <a:rPr lang="ja-JP" altLang="en-US" sz="1000" b="1" dirty="0">
                <a:solidFill>
                  <a:schemeClr val="bg1"/>
                </a:solidFill>
                <a:latin typeface="+mj-ea"/>
                <a:ea typeface="+mj-ea"/>
                <a:cs typeface="Yu Gothic" pitchFamily="34" charset="-120"/>
              </a:rPr>
              <a:t>9/11 FIX</a:t>
            </a:r>
            <a:endParaRPr lang="ja-JP" altLang="en-US" sz="1000" dirty="0">
              <a:solidFill>
                <a:schemeClr val="bg1"/>
              </a:solidFill>
              <a:latin typeface="+mj-ea"/>
              <a:ea typeface="+mj-ea"/>
            </a:endParaRPr>
          </a:p>
          <a:p>
            <a:pPr marL="0" indent="0" algn="ctr">
              <a:lnSpc>
                <a:spcPct val="110000"/>
              </a:lnSpc>
              <a:buNone/>
            </a:pPr>
            <a:r>
              <a:rPr lang="ja-JP" altLang="en-US" sz="850" dirty="0">
                <a:solidFill>
                  <a:schemeClr val="bg1"/>
                </a:solidFill>
                <a:latin typeface="+mj-ea"/>
                <a:ea typeface="+mj-ea"/>
                <a:cs typeface="Yu Gothic" pitchFamily="34" charset="-120"/>
              </a:rPr>
              <a:t>承認：阪急阪神様</a:t>
            </a:r>
            <a:endParaRPr lang="ja-JP" altLang="en-US" sz="1000" dirty="0">
              <a:solidFill>
                <a:schemeClr val="bg1"/>
              </a:solidFill>
              <a:latin typeface="+mj-ea"/>
              <a:ea typeface="+mj-ea"/>
            </a:endParaRPr>
          </a:p>
        </p:txBody>
      </p:sp>
      <p:sp>
        <p:nvSpPr>
          <p:cNvPr id="73" name="Shape 26">
            <a:extLst>
              <a:ext uri="{FF2B5EF4-FFF2-40B4-BE49-F238E27FC236}">
                <a16:creationId xmlns:a16="http://schemas.microsoft.com/office/drawing/2014/main" id="{8023AE6D-5BDB-49CE-1BB3-6AE863E45D50}"/>
              </a:ext>
            </a:extLst>
          </p:cNvPr>
          <p:cNvSpPr/>
          <p:nvPr/>
        </p:nvSpPr>
        <p:spPr>
          <a:xfrm>
            <a:off x="7691718" y="2359152"/>
            <a:ext cx="0" cy="3035808"/>
          </a:xfrm>
          <a:prstGeom prst="line">
            <a:avLst/>
          </a:prstGeom>
          <a:noFill/>
          <a:ln w="12700">
            <a:solidFill>
              <a:srgbClr val="9AA3AD"/>
            </a:solidFill>
            <a:prstDash val="dash"/>
          </a:ln>
        </p:spPr>
        <p:txBody>
          <a:bodyPr/>
          <a:lstStyle/>
          <a:p>
            <a:endParaRPr lang="ja-JP" altLang="en-US">
              <a:latin typeface="+mj-ea"/>
              <a:ea typeface="+mj-ea"/>
            </a:endParaRPr>
          </a:p>
        </p:txBody>
      </p:sp>
      <p:sp>
        <p:nvSpPr>
          <p:cNvPr id="75" name="Shape 27">
            <a:extLst>
              <a:ext uri="{FF2B5EF4-FFF2-40B4-BE49-F238E27FC236}">
                <a16:creationId xmlns:a16="http://schemas.microsoft.com/office/drawing/2014/main" id="{7043D6D0-9D7F-97B3-0B59-FFBB4EFBE478}"/>
              </a:ext>
            </a:extLst>
          </p:cNvPr>
          <p:cNvSpPr/>
          <p:nvPr/>
        </p:nvSpPr>
        <p:spPr>
          <a:xfrm>
            <a:off x="7632282" y="2304288"/>
            <a:ext cx="118872" cy="118872"/>
          </a:xfrm>
          <a:prstGeom prst="diamond">
            <a:avLst/>
          </a:prstGeom>
          <a:solidFill>
            <a:srgbClr val="FFFFFF"/>
          </a:solidFill>
          <a:ln w="19050">
            <a:solidFill>
              <a:srgbClr val="1C2430"/>
            </a:solidFill>
            <a:prstDash val="solid"/>
          </a:ln>
        </p:spPr>
        <p:txBody>
          <a:bodyPr/>
          <a:lstStyle/>
          <a:p>
            <a:endParaRPr lang="ja-JP" altLang="en-US">
              <a:latin typeface="+mj-ea"/>
              <a:ea typeface="+mj-ea"/>
            </a:endParaRPr>
          </a:p>
        </p:txBody>
      </p:sp>
      <p:sp>
        <p:nvSpPr>
          <p:cNvPr id="77" name="Text 28">
            <a:extLst>
              <a:ext uri="{FF2B5EF4-FFF2-40B4-BE49-F238E27FC236}">
                <a16:creationId xmlns:a16="http://schemas.microsoft.com/office/drawing/2014/main" id="{DE5EA4CD-D02D-E72B-3D4B-06ED9D88BA4C}"/>
              </a:ext>
            </a:extLst>
          </p:cNvPr>
          <p:cNvSpPr txBox="1"/>
          <p:nvPr/>
        </p:nvSpPr>
        <p:spPr>
          <a:xfrm>
            <a:off x="6685878" y="2441448"/>
            <a:ext cx="2011680" cy="347472"/>
          </a:xfrm>
          <a:prstGeom prst="rect">
            <a:avLst/>
          </a:prstGeom>
          <a:noFill/>
          <a:ln/>
        </p:spPr>
        <p:txBody>
          <a:bodyPr wrap="square" lIns="0" tIns="0" rIns="0" bIns="0" rtlCol="0" anchor="t"/>
          <a:lstStyle/>
          <a:p>
            <a:pPr marL="0" indent="0" algn="ctr">
              <a:lnSpc>
                <a:spcPct val="110000"/>
              </a:lnSpc>
              <a:buNone/>
            </a:pPr>
            <a:r>
              <a:rPr lang="ja-JP" altLang="en-US" sz="1000" b="1" dirty="0">
                <a:solidFill>
                  <a:srgbClr val="1C2430"/>
                </a:solidFill>
                <a:latin typeface="+mj-ea"/>
                <a:ea typeface="+mj-ea"/>
                <a:cs typeface="Yu Gothic" pitchFamily="34" charset="-120"/>
              </a:rPr>
              <a:t>9/25 移行判定</a:t>
            </a:r>
            <a:endParaRPr lang="ja-JP" altLang="en-US" sz="1000" dirty="0">
              <a:latin typeface="+mj-ea"/>
              <a:ea typeface="+mj-ea"/>
            </a:endParaRPr>
          </a:p>
          <a:p>
            <a:pPr marL="0" indent="0" algn="ctr">
              <a:lnSpc>
                <a:spcPct val="110000"/>
              </a:lnSpc>
              <a:buNone/>
            </a:pPr>
            <a:r>
              <a:rPr lang="ja-JP" altLang="en-US" sz="850" dirty="0">
                <a:solidFill>
                  <a:srgbClr val="5F6772"/>
                </a:solidFill>
                <a:latin typeface="+mj-ea"/>
                <a:ea typeface="+mj-ea"/>
                <a:cs typeface="Yu Gothic" pitchFamily="34" charset="-120"/>
              </a:rPr>
              <a:t>判定：ITEC様・阪急阪神様</a:t>
            </a:r>
            <a:endParaRPr lang="ja-JP" altLang="en-US" sz="1000" dirty="0">
              <a:latin typeface="+mj-ea"/>
              <a:ea typeface="+mj-ea"/>
            </a:endParaRPr>
          </a:p>
        </p:txBody>
      </p:sp>
      <p:sp>
        <p:nvSpPr>
          <p:cNvPr id="80" name="Shape 29">
            <a:extLst>
              <a:ext uri="{FF2B5EF4-FFF2-40B4-BE49-F238E27FC236}">
                <a16:creationId xmlns:a16="http://schemas.microsoft.com/office/drawing/2014/main" id="{2A3CEC15-0E89-77A5-6815-21BC13710AF0}"/>
              </a:ext>
            </a:extLst>
          </p:cNvPr>
          <p:cNvSpPr/>
          <p:nvPr/>
        </p:nvSpPr>
        <p:spPr>
          <a:xfrm>
            <a:off x="9134587" y="2359152"/>
            <a:ext cx="0" cy="3035808"/>
          </a:xfrm>
          <a:prstGeom prst="line">
            <a:avLst/>
          </a:prstGeom>
          <a:noFill/>
          <a:ln w="12700">
            <a:solidFill>
              <a:srgbClr val="9AA3AD"/>
            </a:solidFill>
            <a:prstDash val="dash"/>
          </a:ln>
        </p:spPr>
        <p:txBody>
          <a:bodyPr/>
          <a:lstStyle/>
          <a:p>
            <a:endParaRPr lang="ja-JP" altLang="en-US">
              <a:latin typeface="+mj-ea"/>
              <a:ea typeface="+mj-ea"/>
            </a:endParaRPr>
          </a:p>
        </p:txBody>
      </p:sp>
      <p:sp>
        <p:nvSpPr>
          <p:cNvPr id="82" name="Shape 30">
            <a:extLst>
              <a:ext uri="{FF2B5EF4-FFF2-40B4-BE49-F238E27FC236}">
                <a16:creationId xmlns:a16="http://schemas.microsoft.com/office/drawing/2014/main" id="{1BA87124-47A1-E4AA-F4D0-9A9FA43A422B}"/>
              </a:ext>
            </a:extLst>
          </p:cNvPr>
          <p:cNvSpPr/>
          <p:nvPr/>
        </p:nvSpPr>
        <p:spPr>
          <a:xfrm>
            <a:off x="9075151" y="2304288"/>
            <a:ext cx="118872" cy="118872"/>
          </a:xfrm>
          <a:prstGeom prst="diamond">
            <a:avLst/>
          </a:prstGeom>
          <a:solidFill>
            <a:srgbClr val="FFFFFF"/>
          </a:solidFill>
          <a:ln w="19050">
            <a:solidFill>
              <a:srgbClr val="1C2430"/>
            </a:solidFill>
            <a:prstDash val="solid"/>
          </a:ln>
        </p:spPr>
        <p:txBody>
          <a:bodyPr/>
          <a:lstStyle/>
          <a:p>
            <a:endParaRPr lang="ja-JP" altLang="en-US">
              <a:latin typeface="+mj-ea"/>
              <a:ea typeface="+mj-ea"/>
            </a:endParaRPr>
          </a:p>
        </p:txBody>
      </p:sp>
      <p:sp>
        <p:nvSpPr>
          <p:cNvPr id="85" name="Text 31">
            <a:extLst>
              <a:ext uri="{FF2B5EF4-FFF2-40B4-BE49-F238E27FC236}">
                <a16:creationId xmlns:a16="http://schemas.microsoft.com/office/drawing/2014/main" id="{B7CEC434-D671-77EA-D21D-909C9541389B}"/>
              </a:ext>
            </a:extLst>
          </p:cNvPr>
          <p:cNvSpPr txBox="1"/>
          <p:nvPr/>
        </p:nvSpPr>
        <p:spPr>
          <a:xfrm>
            <a:off x="8128747" y="2441448"/>
            <a:ext cx="2011680" cy="347472"/>
          </a:xfrm>
          <a:prstGeom prst="rect">
            <a:avLst/>
          </a:prstGeom>
          <a:noFill/>
          <a:ln/>
        </p:spPr>
        <p:txBody>
          <a:bodyPr wrap="square" lIns="0" tIns="0" rIns="0" bIns="0" rtlCol="0" anchor="t"/>
          <a:lstStyle/>
          <a:p>
            <a:pPr marL="0" indent="0" algn="ctr">
              <a:lnSpc>
                <a:spcPct val="110000"/>
              </a:lnSpc>
              <a:buNone/>
            </a:pPr>
            <a:r>
              <a:rPr lang="ja-JP" altLang="en-US" sz="1000" b="1" dirty="0">
                <a:solidFill>
                  <a:srgbClr val="1C2430"/>
                </a:solidFill>
                <a:latin typeface="+mj-ea"/>
                <a:ea typeface="+mj-ea"/>
                <a:cs typeface="Yu Gothic" pitchFamily="34" charset="-120"/>
              </a:rPr>
              <a:t>10/2 公開GO</a:t>
            </a:r>
            <a:endParaRPr lang="ja-JP" altLang="en-US" sz="1000" dirty="0">
              <a:latin typeface="+mj-ea"/>
              <a:ea typeface="+mj-ea"/>
            </a:endParaRPr>
          </a:p>
          <a:p>
            <a:pPr marL="0" indent="0" algn="ctr">
              <a:lnSpc>
                <a:spcPct val="110000"/>
              </a:lnSpc>
              <a:buNone/>
            </a:pPr>
            <a:r>
              <a:rPr lang="ja-JP" altLang="en-US" sz="850" dirty="0">
                <a:solidFill>
                  <a:srgbClr val="5F6772"/>
                </a:solidFill>
                <a:latin typeface="+mj-ea"/>
                <a:ea typeface="+mj-ea"/>
                <a:cs typeface="Yu Gothic" pitchFamily="34" charset="-120"/>
              </a:rPr>
              <a:t>判断：阪急阪神様</a:t>
            </a:r>
            <a:endParaRPr lang="ja-JP" altLang="en-US" sz="1000" dirty="0">
              <a:latin typeface="+mj-ea"/>
              <a:ea typeface="+mj-ea"/>
            </a:endParaRPr>
          </a:p>
        </p:txBody>
      </p:sp>
      <p:sp>
        <p:nvSpPr>
          <p:cNvPr id="88" name="Text 32">
            <a:extLst>
              <a:ext uri="{FF2B5EF4-FFF2-40B4-BE49-F238E27FC236}">
                <a16:creationId xmlns:a16="http://schemas.microsoft.com/office/drawing/2014/main" id="{D0B9E0C5-407B-2066-F728-D956C0DF02FB}"/>
              </a:ext>
            </a:extLst>
          </p:cNvPr>
          <p:cNvSpPr txBox="1"/>
          <p:nvPr/>
        </p:nvSpPr>
        <p:spPr>
          <a:xfrm>
            <a:off x="457200" y="2916936"/>
            <a:ext cx="1325880" cy="685800"/>
          </a:xfrm>
          <a:prstGeom prst="rect">
            <a:avLst/>
          </a:prstGeom>
          <a:noFill/>
          <a:ln/>
        </p:spPr>
        <p:txBody>
          <a:bodyPr wrap="square" lIns="0" tIns="0" rIns="0" bIns="0" rtlCol="0" anchor="t"/>
          <a:lstStyle/>
          <a:p>
            <a:pPr marL="0" indent="0">
              <a:lnSpc>
                <a:spcPct val="120000"/>
              </a:lnSpc>
              <a:buNone/>
            </a:pPr>
            <a:r>
              <a:rPr lang="ja-JP" altLang="en-US" sz="1200" b="1" dirty="0">
                <a:solidFill>
                  <a:srgbClr val="1C2430"/>
                </a:solidFill>
                <a:latin typeface="+mj-ea"/>
                <a:ea typeface="+mj-ea"/>
                <a:cs typeface="Yu Gothic" pitchFamily="34" charset="-120"/>
              </a:rPr>
              <a:t>阪急阪神様</a:t>
            </a:r>
            <a:endParaRPr lang="ja-JP" altLang="en-US" sz="1200" dirty="0">
              <a:latin typeface="+mj-ea"/>
              <a:ea typeface="+mj-ea"/>
            </a:endParaRPr>
          </a:p>
          <a:p>
            <a:pPr marL="0" indent="0">
              <a:lnSpc>
                <a:spcPct val="120000"/>
              </a:lnSpc>
              <a:buNone/>
            </a:pPr>
            <a:r>
              <a:rPr lang="ja-JP" altLang="en-US" sz="850" dirty="0">
                <a:solidFill>
                  <a:srgbClr val="5F6772"/>
                </a:solidFill>
                <a:latin typeface="+mj-ea"/>
                <a:ea typeface="+mj-ea"/>
                <a:cs typeface="Yu Gothic" pitchFamily="34" charset="-120"/>
              </a:rPr>
              <a:t>各ゲートでの承認・判断・</a:t>
            </a:r>
            <a:endParaRPr lang="ja-JP" altLang="en-US" sz="850" dirty="0">
              <a:solidFill>
                <a:srgbClr val="5F6772"/>
              </a:solidFill>
              <a:latin typeface="+mj-ea"/>
              <a:ea typeface="+mj-ea"/>
              <a:cs typeface="Yu Gothic" pitchFamily="34" charset="-120"/>
            </a:endParaRPr>
          </a:p>
          <a:p>
            <a:pPr marL="0" indent="0">
              <a:lnSpc>
                <a:spcPct val="120000"/>
              </a:lnSpc>
              <a:buNone/>
            </a:pPr>
            <a:r>
              <a:rPr lang="ja-JP" altLang="en-US" sz="850" dirty="0">
                <a:solidFill>
                  <a:srgbClr val="5F6772"/>
                </a:solidFill>
                <a:latin typeface="+mj-ea"/>
                <a:ea typeface="+mj-ea"/>
                <a:cs typeface="Yu Gothic" pitchFamily="34" charset="-120"/>
              </a:rPr>
              <a:t>データ提供</a:t>
            </a:r>
            <a:endParaRPr lang="ja-JP" altLang="en-US" sz="1200" dirty="0">
              <a:latin typeface="+mj-ea"/>
              <a:ea typeface="+mj-ea"/>
            </a:endParaRPr>
          </a:p>
        </p:txBody>
      </p:sp>
      <p:sp>
        <p:nvSpPr>
          <p:cNvPr id="92" name="Text 33">
            <a:extLst>
              <a:ext uri="{FF2B5EF4-FFF2-40B4-BE49-F238E27FC236}">
                <a16:creationId xmlns:a16="http://schemas.microsoft.com/office/drawing/2014/main" id="{211693AA-5912-4014-DE2D-CBEACA0F587D}"/>
              </a:ext>
            </a:extLst>
          </p:cNvPr>
          <p:cNvSpPr txBox="1"/>
          <p:nvPr/>
        </p:nvSpPr>
        <p:spPr>
          <a:xfrm>
            <a:off x="457200" y="3785616"/>
            <a:ext cx="1325880" cy="685800"/>
          </a:xfrm>
          <a:prstGeom prst="rect">
            <a:avLst/>
          </a:prstGeom>
          <a:noFill/>
          <a:ln/>
        </p:spPr>
        <p:txBody>
          <a:bodyPr wrap="square" lIns="0" tIns="0" rIns="0" bIns="0" rtlCol="0" anchor="t"/>
          <a:lstStyle/>
          <a:p>
            <a:pPr marL="0" indent="0">
              <a:lnSpc>
                <a:spcPct val="120000"/>
              </a:lnSpc>
              <a:buNone/>
            </a:pPr>
            <a:r>
              <a:rPr lang="ja-JP" altLang="en-US" sz="1200" b="1" dirty="0">
                <a:solidFill>
                  <a:srgbClr val="0076A8"/>
                </a:solidFill>
                <a:latin typeface="+mj-ea"/>
                <a:ea typeface="+mj-ea"/>
                <a:cs typeface="Yu Gothic" pitchFamily="34" charset="-120"/>
              </a:rPr>
              <a:t>ITEC様</a:t>
            </a:r>
            <a:endParaRPr lang="ja-JP" altLang="en-US" sz="1200" dirty="0">
              <a:solidFill>
                <a:srgbClr val="0076A8"/>
              </a:solidFill>
              <a:latin typeface="+mj-ea"/>
              <a:ea typeface="+mj-ea"/>
            </a:endParaRPr>
          </a:p>
          <a:p>
            <a:pPr marL="0" indent="0">
              <a:lnSpc>
                <a:spcPct val="120000"/>
              </a:lnSpc>
              <a:buNone/>
            </a:pPr>
            <a:r>
              <a:rPr lang="ja-JP" altLang="en-US" sz="850" dirty="0">
                <a:solidFill>
                  <a:srgbClr val="5F6772"/>
                </a:solidFill>
                <a:latin typeface="+mj-ea"/>
                <a:ea typeface="+mj-ea"/>
                <a:cs typeface="Yu Gothic" pitchFamily="34" charset="-120"/>
              </a:rPr>
              <a:t>受入 → 主導</a:t>
            </a:r>
            <a:endParaRPr lang="ja-JP" altLang="en-US" sz="1200" dirty="0">
              <a:latin typeface="+mj-ea"/>
              <a:ea typeface="+mj-ea"/>
            </a:endParaRPr>
          </a:p>
          <a:p>
            <a:pPr marL="0" indent="0">
              <a:lnSpc>
                <a:spcPct val="120000"/>
              </a:lnSpc>
              <a:buNone/>
            </a:pPr>
            <a:r>
              <a:rPr lang="ja-JP" altLang="en-US" sz="850" dirty="0">
                <a:solidFill>
                  <a:srgbClr val="5F6772"/>
                </a:solidFill>
                <a:latin typeface="+mj-ea"/>
                <a:ea typeface="+mj-ea"/>
                <a:cs typeface="Yu Gothic" pitchFamily="34" charset="-120"/>
              </a:rPr>
              <a:t>統合テスト・移行・公開</a:t>
            </a:r>
            <a:endParaRPr lang="ja-JP" altLang="en-US" sz="1200" dirty="0">
              <a:latin typeface="+mj-ea"/>
              <a:ea typeface="+mj-ea"/>
            </a:endParaRPr>
          </a:p>
        </p:txBody>
      </p:sp>
      <p:sp>
        <p:nvSpPr>
          <p:cNvPr id="96" name="Text 34">
            <a:extLst>
              <a:ext uri="{FF2B5EF4-FFF2-40B4-BE49-F238E27FC236}">
                <a16:creationId xmlns:a16="http://schemas.microsoft.com/office/drawing/2014/main" id="{C71F950B-186D-50FD-1057-16E49E728EB5}"/>
              </a:ext>
            </a:extLst>
          </p:cNvPr>
          <p:cNvSpPr txBox="1"/>
          <p:nvPr/>
        </p:nvSpPr>
        <p:spPr>
          <a:xfrm>
            <a:off x="457200" y="4654296"/>
            <a:ext cx="1325880" cy="685800"/>
          </a:xfrm>
          <a:prstGeom prst="rect">
            <a:avLst/>
          </a:prstGeom>
          <a:noFill/>
          <a:ln/>
        </p:spPr>
        <p:txBody>
          <a:bodyPr wrap="square" lIns="0" tIns="0" rIns="0" bIns="0" rtlCol="0" anchor="t"/>
          <a:lstStyle/>
          <a:p>
            <a:pPr marL="0" indent="0">
              <a:lnSpc>
                <a:spcPct val="120000"/>
              </a:lnSpc>
              <a:buNone/>
            </a:pPr>
            <a:r>
              <a:rPr lang="ja-JP" altLang="en-US" sz="1200" b="1" dirty="0">
                <a:solidFill>
                  <a:schemeClr val="accent4"/>
                </a:solidFill>
                <a:latin typeface="+mj-ea"/>
                <a:ea typeface="+mj-ea"/>
                <a:cs typeface="Yu Gothic" pitchFamily="34" charset="-120"/>
              </a:rPr>
              <a:t>デロイト</a:t>
            </a:r>
            <a:endParaRPr lang="ja-JP" altLang="en-US" sz="1200" dirty="0">
              <a:solidFill>
                <a:schemeClr val="accent4"/>
              </a:solidFill>
              <a:latin typeface="+mj-ea"/>
              <a:ea typeface="+mj-ea"/>
            </a:endParaRPr>
          </a:p>
          <a:p>
            <a:pPr marL="0" indent="0">
              <a:lnSpc>
                <a:spcPct val="120000"/>
              </a:lnSpc>
              <a:buNone/>
            </a:pPr>
            <a:r>
              <a:rPr lang="ja-JP" altLang="en-US" sz="850" dirty="0">
                <a:solidFill>
                  <a:srgbClr val="5F6772"/>
                </a:solidFill>
                <a:latin typeface="+mj-ea"/>
                <a:ea typeface="+mj-ea"/>
                <a:cs typeface="Yu Gothic" pitchFamily="34" charset="-120"/>
              </a:rPr>
              <a:t>主導 → 支援</a:t>
            </a:r>
            <a:endParaRPr lang="ja-JP" altLang="en-US" sz="1200" dirty="0">
              <a:latin typeface="+mj-ea"/>
              <a:ea typeface="+mj-ea"/>
            </a:endParaRPr>
          </a:p>
          <a:p>
            <a:pPr marL="0" indent="0">
              <a:lnSpc>
                <a:spcPct val="120000"/>
              </a:lnSpc>
              <a:buNone/>
            </a:pPr>
            <a:r>
              <a:rPr lang="ja-JP" altLang="en-US" sz="850" dirty="0">
                <a:solidFill>
                  <a:srgbClr val="5F6772"/>
                </a:solidFill>
                <a:latin typeface="+mj-ea"/>
                <a:ea typeface="+mj-ea"/>
                <a:cs typeface="Yu Gothic" pitchFamily="34" charset="-120"/>
              </a:rPr>
              <a:t>引継ぎ・技術支援</a:t>
            </a:r>
            <a:endParaRPr lang="ja-JP" altLang="en-US" sz="1200" dirty="0">
              <a:latin typeface="+mj-ea"/>
              <a:ea typeface="+mj-ea"/>
            </a:endParaRPr>
          </a:p>
        </p:txBody>
      </p:sp>
      <p:sp>
        <p:nvSpPr>
          <p:cNvPr id="98" name="Text 35">
            <a:extLst>
              <a:ext uri="{FF2B5EF4-FFF2-40B4-BE49-F238E27FC236}">
                <a16:creationId xmlns:a16="http://schemas.microsoft.com/office/drawing/2014/main" id="{3818450E-FF21-13DC-8634-7A1C00A7655D}"/>
              </a:ext>
            </a:extLst>
          </p:cNvPr>
          <p:cNvSpPr txBox="1"/>
          <p:nvPr/>
        </p:nvSpPr>
        <p:spPr>
          <a:xfrm>
            <a:off x="1975104" y="2935224"/>
            <a:ext cx="2776011" cy="576072"/>
          </a:xfrm>
          <a:prstGeom prst="rect">
            <a:avLst/>
          </a:prstGeom>
          <a:solidFill>
            <a:srgbClr val="FFFFFF"/>
          </a:solidFill>
          <a:ln w="15875">
            <a:solidFill>
              <a:srgbClr val="1C2430"/>
            </a:solidFill>
          </a:ln>
        </p:spPr>
        <p:txBody>
          <a:bodyPr wrap="square" lIns="101600" tIns="101600" rIns="101600" bIns="101600" rtlCol="0" anchor="ctr"/>
          <a:lstStyle/>
          <a:p>
            <a:pPr marL="0" indent="0">
              <a:lnSpc>
                <a:spcPct val="115000"/>
              </a:lnSpc>
              <a:buNone/>
            </a:pPr>
            <a:r>
              <a:rPr lang="ja-JP" altLang="en-US" sz="1050" b="1" dirty="0">
                <a:solidFill>
                  <a:srgbClr val="1C2430"/>
                </a:solidFill>
                <a:latin typeface="+mj-ea"/>
                <a:ea typeface="+mj-ea"/>
                <a:cs typeface="Yu Gothic" pitchFamily="34" charset="-120"/>
              </a:rPr>
              <a:t>FIX範囲の承認</a:t>
            </a:r>
            <a:endParaRPr lang="ja-JP" altLang="en-US" sz="1050" dirty="0">
              <a:latin typeface="+mj-ea"/>
              <a:ea typeface="+mj-ea"/>
            </a:endParaRPr>
          </a:p>
          <a:p>
            <a:pPr marL="0" indent="0">
              <a:lnSpc>
                <a:spcPct val="115000"/>
              </a:lnSpc>
              <a:buNone/>
            </a:pPr>
            <a:r>
              <a:rPr lang="ja-JP" altLang="en-US" sz="800" dirty="0">
                <a:solidFill>
                  <a:srgbClr val="5F6772"/>
                </a:solidFill>
                <a:latin typeface="+mj-ea"/>
                <a:ea typeface="+mj-ea"/>
                <a:cs typeface="Yu Gothic" pitchFamily="34" charset="-120"/>
              </a:rPr>
              <a:t>9/11 リリース対象版を確定</a:t>
            </a:r>
            <a:endParaRPr lang="ja-JP" altLang="en-US" sz="1050" dirty="0">
              <a:latin typeface="+mj-ea"/>
              <a:ea typeface="+mj-ea"/>
            </a:endParaRPr>
          </a:p>
        </p:txBody>
      </p:sp>
      <p:sp>
        <p:nvSpPr>
          <p:cNvPr id="101" name="Text 36">
            <a:extLst>
              <a:ext uri="{FF2B5EF4-FFF2-40B4-BE49-F238E27FC236}">
                <a16:creationId xmlns:a16="http://schemas.microsoft.com/office/drawing/2014/main" id="{D1EBEF81-632F-C7BC-C634-77F0E0621E7F}"/>
              </a:ext>
            </a:extLst>
          </p:cNvPr>
          <p:cNvSpPr txBox="1"/>
          <p:nvPr/>
        </p:nvSpPr>
        <p:spPr>
          <a:xfrm>
            <a:off x="4860843" y="2935224"/>
            <a:ext cx="2776011" cy="576072"/>
          </a:xfrm>
          <a:prstGeom prst="rect">
            <a:avLst/>
          </a:prstGeom>
          <a:solidFill>
            <a:srgbClr val="FFFFFF"/>
          </a:solidFill>
          <a:ln w="15875">
            <a:solidFill>
              <a:srgbClr val="1C2430"/>
            </a:solidFill>
          </a:ln>
        </p:spPr>
        <p:txBody>
          <a:bodyPr wrap="square" lIns="101600" tIns="101600" rIns="101600" bIns="101600" rtlCol="0" anchor="ctr"/>
          <a:lstStyle/>
          <a:p>
            <a:pPr marL="171450" indent="-171450">
              <a:lnSpc>
                <a:spcPct val="115000"/>
              </a:lnSpc>
              <a:buFont typeface="Arial" panose="020B0604020202020204" pitchFamily="34" charset="0"/>
              <a:buChar char="•"/>
            </a:pPr>
            <a:r>
              <a:rPr lang="ja-JP" altLang="en-US" sz="1050" b="1" dirty="0">
                <a:solidFill>
                  <a:srgbClr val="1C2430"/>
                </a:solidFill>
                <a:latin typeface="+mj-ea"/>
                <a:ea typeface="+mj-ea"/>
                <a:cs typeface="Yu Gothic" pitchFamily="34" charset="-120"/>
              </a:rPr>
              <a:t>改善サイクルの継続</a:t>
            </a:r>
            <a:endParaRPr lang="ja-JP" altLang="en-US" sz="1050" b="1" dirty="0">
              <a:solidFill>
                <a:srgbClr val="1C2430"/>
              </a:solidFill>
              <a:latin typeface="+mj-ea"/>
              <a:ea typeface="+mj-ea"/>
              <a:cs typeface="Yu Gothic" pitchFamily="34" charset="-120"/>
            </a:endParaRPr>
          </a:p>
          <a:p>
            <a:pPr marL="171450" indent="-171450">
              <a:lnSpc>
                <a:spcPct val="115000"/>
              </a:lnSpc>
              <a:buFont typeface="Arial" panose="020B0604020202020204" pitchFamily="34" charset="0"/>
              <a:buChar char="•"/>
            </a:pPr>
            <a:r>
              <a:rPr lang="ja-JP" altLang="en-US" sz="1050" b="1" dirty="0">
                <a:solidFill>
                  <a:srgbClr val="1C2430"/>
                </a:solidFill>
                <a:latin typeface="+mj-ea"/>
                <a:ea typeface="+mj-ea"/>
                <a:cs typeface="Yu Gothic" pitchFamily="34" charset="-120"/>
              </a:rPr>
              <a:t>移行判定への参画</a:t>
            </a:r>
            <a:endParaRPr lang="ja-JP" altLang="en-US" sz="1050" dirty="0">
              <a:latin typeface="+mj-ea"/>
              <a:ea typeface="+mj-ea"/>
            </a:endParaRPr>
          </a:p>
        </p:txBody>
      </p:sp>
      <p:sp>
        <p:nvSpPr>
          <p:cNvPr id="103" name="Text 37">
            <a:extLst>
              <a:ext uri="{FF2B5EF4-FFF2-40B4-BE49-F238E27FC236}">
                <a16:creationId xmlns:a16="http://schemas.microsoft.com/office/drawing/2014/main" id="{B4960F25-5F05-6E19-452F-31F563E35381}"/>
              </a:ext>
            </a:extLst>
          </p:cNvPr>
          <p:cNvSpPr txBox="1"/>
          <p:nvPr/>
        </p:nvSpPr>
        <p:spPr>
          <a:xfrm>
            <a:off x="7746582" y="2935224"/>
            <a:ext cx="1333141" cy="576072"/>
          </a:xfrm>
          <a:prstGeom prst="rect">
            <a:avLst/>
          </a:prstGeom>
          <a:solidFill>
            <a:srgbClr val="FFFFFF"/>
          </a:solidFill>
          <a:ln w="15875">
            <a:solidFill>
              <a:srgbClr val="1C2430"/>
            </a:solidFill>
          </a:ln>
        </p:spPr>
        <p:txBody>
          <a:bodyPr wrap="square" lIns="101600" tIns="101600" rIns="101600" bIns="101600" rtlCol="0" anchor="ctr"/>
          <a:lstStyle/>
          <a:p>
            <a:pPr marL="0" indent="0">
              <a:lnSpc>
                <a:spcPct val="115000"/>
              </a:lnSpc>
              <a:buNone/>
            </a:pPr>
            <a:r>
              <a:rPr lang="ja-JP" altLang="en-US" sz="1050" b="1" dirty="0">
                <a:solidFill>
                  <a:srgbClr val="1C2430"/>
                </a:solidFill>
                <a:latin typeface="+mj-ea"/>
                <a:ea typeface="+mj-ea"/>
                <a:cs typeface="Yu Gothic" pitchFamily="34" charset="-120"/>
              </a:rPr>
              <a:t>GO判断</a:t>
            </a:r>
            <a:endParaRPr lang="ja-JP" altLang="en-US" sz="1050" b="1" dirty="0">
              <a:solidFill>
                <a:srgbClr val="1C2430"/>
              </a:solidFill>
              <a:latin typeface="+mj-ea"/>
              <a:ea typeface="+mj-ea"/>
              <a:cs typeface="Yu Gothic" pitchFamily="34" charset="-120"/>
            </a:endParaRPr>
          </a:p>
          <a:p>
            <a:pPr marL="0" indent="0">
              <a:lnSpc>
                <a:spcPct val="115000"/>
              </a:lnSpc>
              <a:buNone/>
            </a:pPr>
            <a:r>
              <a:rPr lang="ja-JP" altLang="en-US" sz="800" dirty="0">
                <a:solidFill>
                  <a:srgbClr val="5F6772"/>
                </a:solidFill>
                <a:latin typeface="+mj-ea"/>
                <a:cs typeface="Yu Gothic" pitchFamily="34" charset="-120"/>
              </a:rPr>
              <a:t>ITEC</a:t>
            </a:r>
            <a:r>
              <a:rPr lang="ja-JP" altLang="en-US" sz="800" dirty="0">
                <a:solidFill>
                  <a:srgbClr val="5F6772"/>
                </a:solidFill>
                <a:latin typeface="+mj-ea"/>
                <a:cs typeface="Yu Gothic" pitchFamily="34" charset="-120"/>
              </a:rPr>
              <a:t>様の統合テスト、脆弱性テストの結果を確認</a:t>
            </a:r>
            <a:endParaRPr lang="ja-JP" altLang="en-US" sz="800" b="1" dirty="0">
              <a:solidFill>
                <a:srgbClr val="1C2430"/>
              </a:solidFill>
              <a:latin typeface="+mj-ea"/>
              <a:ea typeface="+mj-ea"/>
              <a:cs typeface="Yu Gothic" pitchFamily="34" charset="-120"/>
            </a:endParaRPr>
          </a:p>
        </p:txBody>
      </p:sp>
      <p:sp>
        <p:nvSpPr>
          <p:cNvPr id="105" name="Text 38">
            <a:extLst>
              <a:ext uri="{FF2B5EF4-FFF2-40B4-BE49-F238E27FC236}">
                <a16:creationId xmlns:a16="http://schemas.microsoft.com/office/drawing/2014/main" id="{DAFCD20D-D46D-192F-98CF-2D0B8D09F476}"/>
              </a:ext>
            </a:extLst>
          </p:cNvPr>
          <p:cNvSpPr txBox="1"/>
          <p:nvPr/>
        </p:nvSpPr>
        <p:spPr>
          <a:xfrm>
            <a:off x="9189451" y="2935224"/>
            <a:ext cx="2487437" cy="576072"/>
          </a:xfrm>
          <a:prstGeom prst="rect">
            <a:avLst/>
          </a:prstGeom>
          <a:solidFill>
            <a:srgbClr val="FFFFFF"/>
          </a:solidFill>
          <a:ln w="15875">
            <a:solidFill>
              <a:srgbClr val="1C2430"/>
            </a:solidFill>
          </a:ln>
        </p:spPr>
        <p:txBody>
          <a:bodyPr wrap="square" lIns="101600" tIns="101600" rIns="101600" bIns="101600" rtlCol="0" anchor="ctr"/>
          <a:lstStyle>
            <a:defPPr>
              <a:defRPr lang="ja-JP" altLang="en-US"/>
            </a:defPPr>
            <a:lvl1pPr marL="0" indent="0">
              <a:lnSpc>
                <a:spcPct val="115000"/>
              </a:lnSpc>
              <a:buNone/>
              <a:defRPr sz="1050" b="1">
                <a:solidFill>
                  <a:srgbClr val="1C2430"/>
                </a:solidFill>
                <a:latin typeface="+mj-ea"/>
                <a:ea typeface="+mj-ea"/>
                <a:cs typeface="Yu Gothic" pitchFamily="34" charset="-120"/>
              </a:defRPr>
            </a:lvl1pPr>
          </a:lstStyle>
          <a:p>
            <a:pPr marL="171450" indent="-171450">
              <a:buFont typeface="Arial" panose="020B0604020202020204" pitchFamily="34" charset="0"/>
              <a:buChar char="•"/>
            </a:pPr>
            <a:r>
              <a:rPr lang="ja-JP" altLang="en-US" dirty="0"/>
              <a:t>バックログの優先順位を決定</a:t>
            </a:r>
            <a:endParaRPr lang="ja-JP" altLang="en-US" dirty="0"/>
          </a:p>
          <a:p>
            <a:pPr marL="171450" indent="-171450">
              <a:buFont typeface="Arial" panose="020B0604020202020204" pitchFamily="34" charset="0"/>
              <a:buChar char="•"/>
            </a:pPr>
            <a:r>
              <a:rPr lang="ja-JP" altLang="en-US" dirty="0"/>
              <a:t>本番データの連携</a:t>
            </a:r>
            <a:endParaRPr lang="ja-JP" altLang="en-US" dirty="0"/>
          </a:p>
          <a:p>
            <a:r>
              <a:rPr lang="ja-JP" altLang="en-US" sz="800" b="0" dirty="0">
                <a:solidFill>
                  <a:srgbClr val="5F6772"/>
                </a:solidFill>
                <a:ea typeface="+mn-ea"/>
              </a:rPr>
              <a:t>※</a:t>
            </a:r>
            <a:r>
              <a:rPr lang="ja-JP" altLang="en-US" sz="800" b="0" dirty="0">
                <a:solidFill>
                  <a:srgbClr val="5F6772"/>
                </a:solidFill>
                <a:ea typeface="+mn-ea"/>
              </a:rPr>
              <a:t> データ連携、精度検証後に順次ユーザーへ告知</a:t>
            </a:r>
            <a:endParaRPr lang="ja-JP" altLang="en-US" sz="800" b="0" dirty="0">
              <a:solidFill>
                <a:srgbClr val="5F6772"/>
              </a:solidFill>
              <a:ea typeface="+mn-ea"/>
            </a:endParaRPr>
          </a:p>
        </p:txBody>
      </p:sp>
      <p:sp>
        <p:nvSpPr>
          <p:cNvPr id="107" name="Text 39">
            <a:extLst>
              <a:ext uri="{FF2B5EF4-FFF2-40B4-BE49-F238E27FC236}">
                <a16:creationId xmlns:a16="http://schemas.microsoft.com/office/drawing/2014/main" id="{4016084E-B65D-432D-0033-AA9E4427E1C0}"/>
              </a:ext>
            </a:extLst>
          </p:cNvPr>
          <p:cNvSpPr txBox="1"/>
          <p:nvPr/>
        </p:nvSpPr>
        <p:spPr>
          <a:xfrm>
            <a:off x="1975104" y="3803904"/>
            <a:ext cx="2776011" cy="576072"/>
          </a:xfrm>
          <a:prstGeom prst="rect">
            <a:avLst/>
          </a:prstGeom>
          <a:solidFill>
            <a:srgbClr val="DDE7F3"/>
          </a:solidFill>
          <a:ln>
            <a:solidFill>
              <a:srgbClr val="DDE7F3"/>
            </a:solidFill>
          </a:ln>
        </p:spPr>
        <p:txBody>
          <a:bodyPr wrap="square" lIns="101600" tIns="101600" rIns="101600" bIns="101600" rtlCol="0" anchor="ctr"/>
          <a:lstStyle>
            <a:defPPr>
              <a:defRPr lang="ja-JP" altLang="en-US"/>
            </a:defPPr>
            <a:lvl1pPr marL="0" indent="0" algn="ctr">
              <a:lnSpc>
                <a:spcPct val="115000"/>
              </a:lnSpc>
              <a:buNone/>
              <a:defRPr sz="1050" b="1">
                <a:solidFill>
                  <a:srgbClr val="1C2430"/>
                </a:solidFill>
                <a:latin typeface="+mj-ea"/>
                <a:ea typeface="+mj-ea"/>
                <a:cs typeface="Yu Gothic" pitchFamily="34" charset="-120"/>
              </a:defRPr>
            </a:lvl1pPr>
          </a:lstStyle>
          <a:p>
            <a:pPr algn="l"/>
            <a:r>
              <a:rPr lang="ja-JP" altLang="en-US" dirty="0"/>
              <a:t>受入準備・FIX版受領</a:t>
            </a:r>
          </a:p>
          <a:p>
            <a:pPr algn="l"/>
            <a:r>
              <a:rPr lang="ja-JP" altLang="en-US" sz="800" b="0" dirty="0"/>
              <a:t>テスト観点整理、9/11に受領</a:t>
            </a:r>
          </a:p>
        </p:txBody>
      </p:sp>
      <p:sp>
        <p:nvSpPr>
          <p:cNvPr id="109" name="Text 40">
            <a:extLst>
              <a:ext uri="{FF2B5EF4-FFF2-40B4-BE49-F238E27FC236}">
                <a16:creationId xmlns:a16="http://schemas.microsoft.com/office/drawing/2014/main" id="{0275B364-F865-DCCF-1187-4FA740847F26}"/>
              </a:ext>
            </a:extLst>
          </p:cNvPr>
          <p:cNvSpPr txBox="1"/>
          <p:nvPr/>
        </p:nvSpPr>
        <p:spPr>
          <a:xfrm>
            <a:off x="4860843" y="3803904"/>
            <a:ext cx="4218880" cy="576072"/>
          </a:xfrm>
          <a:prstGeom prst="rect">
            <a:avLst/>
          </a:prstGeom>
          <a:solidFill>
            <a:srgbClr val="2F5D9B"/>
          </a:solidFill>
          <a:ln>
            <a:solidFill>
              <a:srgbClr val="2F5D9B"/>
            </a:solidFill>
          </a:ln>
        </p:spPr>
        <p:txBody>
          <a:bodyPr wrap="square" lIns="101600" tIns="101600" rIns="101600" bIns="101600" rtlCol="0" anchor="ctr"/>
          <a:lstStyle>
            <a:defPPr>
              <a:defRPr lang="ja-JP" altLang="en-US"/>
            </a:defPPr>
            <a:lvl1pPr marL="0" indent="0">
              <a:lnSpc>
                <a:spcPct val="115000"/>
              </a:lnSpc>
              <a:buNone/>
              <a:defRPr sz="1050" b="1">
                <a:solidFill>
                  <a:srgbClr val="FFFFFF"/>
                </a:solidFill>
                <a:latin typeface="+mj-ea"/>
                <a:ea typeface="+mj-ea"/>
                <a:cs typeface="Yu Gothic" pitchFamily="34" charset="-120"/>
              </a:defRPr>
            </a:lvl1pPr>
          </a:lstStyle>
          <a:p>
            <a:r>
              <a:rPr lang="ja-JP" altLang="en-US" dirty="0"/>
              <a:t>統合テスト①② → 移行判定 → リリース準備</a:t>
            </a:r>
          </a:p>
          <a:p>
            <a:r>
              <a:rPr lang="ja-JP" altLang="en-US" sz="900" b="0" dirty="0"/>
              <a:t>機能・業務・セキュリティ検証、リハーサル、移行手順の確定</a:t>
            </a:r>
          </a:p>
        </p:txBody>
      </p:sp>
      <p:sp>
        <p:nvSpPr>
          <p:cNvPr id="111" name="Text 41">
            <a:extLst>
              <a:ext uri="{FF2B5EF4-FFF2-40B4-BE49-F238E27FC236}">
                <a16:creationId xmlns:a16="http://schemas.microsoft.com/office/drawing/2014/main" id="{233C7A2B-B9AF-A002-1A3D-8FC6EF647B57}"/>
              </a:ext>
            </a:extLst>
          </p:cNvPr>
          <p:cNvSpPr txBox="1"/>
          <p:nvPr/>
        </p:nvSpPr>
        <p:spPr>
          <a:xfrm>
            <a:off x="9189450" y="3803904"/>
            <a:ext cx="1333137" cy="576072"/>
          </a:xfrm>
          <a:prstGeom prst="rect">
            <a:avLst/>
          </a:prstGeom>
          <a:solidFill>
            <a:srgbClr val="2F5D9B"/>
          </a:solidFill>
          <a:ln>
            <a:solidFill>
              <a:srgbClr val="2F5D9B"/>
            </a:solidFill>
          </a:ln>
        </p:spPr>
        <p:txBody>
          <a:bodyPr wrap="square" lIns="101600" tIns="101600" rIns="101600" bIns="101600" rtlCol="0" anchor="ctr"/>
          <a:lstStyle>
            <a:defPPr>
              <a:defRPr lang="ja-JP" altLang="en-US"/>
            </a:defPPr>
            <a:lvl1pPr marL="0" indent="0">
              <a:lnSpc>
                <a:spcPct val="115000"/>
              </a:lnSpc>
              <a:buNone/>
              <a:defRPr sz="1050" b="1">
                <a:solidFill>
                  <a:srgbClr val="FFFFFF"/>
                </a:solidFill>
                <a:latin typeface="+mj-ea"/>
                <a:ea typeface="+mj-ea"/>
                <a:cs typeface="Yu Gothic" pitchFamily="34" charset="-120"/>
              </a:defRPr>
            </a:lvl1pPr>
          </a:lstStyle>
          <a:p>
            <a:r>
              <a:rPr lang="ja-JP" altLang="en-US" dirty="0"/>
              <a:t>セキュア公開</a:t>
            </a:r>
          </a:p>
          <a:p>
            <a:r>
              <a:rPr lang="ja-JP" altLang="en-US" b="0" dirty="0"/>
              <a:t>稼働開始</a:t>
            </a:r>
            <a:endParaRPr lang="ja-JP" altLang="en-US" b="0" dirty="0"/>
          </a:p>
          <a:p>
            <a:r>
              <a:rPr lang="ja-JP" altLang="en-US" sz="800" b="0" dirty="0"/>
              <a:t>※</a:t>
            </a:r>
            <a:r>
              <a:rPr lang="ja-JP" altLang="en-US" sz="800" b="0" dirty="0"/>
              <a:t>本番データ投入開始</a:t>
            </a:r>
          </a:p>
        </p:txBody>
      </p:sp>
      <p:sp>
        <p:nvSpPr>
          <p:cNvPr id="113" name="Text 42">
            <a:extLst>
              <a:ext uri="{FF2B5EF4-FFF2-40B4-BE49-F238E27FC236}">
                <a16:creationId xmlns:a16="http://schemas.microsoft.com/office/drawing/2014/main" id="{95F15434-06F1-37DB-2180-D70F9523F4B6}"/>
              </a:ext>
            </a:extLst>
          </p:cNvPr>
          <p:cNvSpPr txBox="1"/>
          <p:nvPr/>
        </p:nvSpPr>
        <p:spPr>
          <a:xfrm>
            <a:off x="10577449" y="3803904"/>
            <a:ext cx="1099439" cy="576072"/>
          </a:xfrm>
          <a:prstGeom prst="rect">
            <a:avLst/>
          </a:prstGeom>
          <a:solidFill>
            <a:srgbClr val="2F5D9B"/>
          </a:solidFill>
          <a:ln>
            <a:solidFill>
              <a:srgbClr val="2F5D9B"/>
            </a:solidFill>
          </a:ln>
        </p:spPr>
        <p:txBody>
          <a:bodyPr wrap="square" lIns="101600" tIns="101600" rIns="101600" bIns="101600" rtlCol="0" anchor="ctr"/>
          <a:lstStyle>
            <a:defPPr>
              <a:defRPr lang="ja-JP" altLang="en-US"/>
            </a:defPPr>
            <a:lvl1pPr marL="0" indent="0">
              <a:lnSpc>
                <a:spcPct val="115000"/>
              </a:lnSpc>
              <a:buNone/>
              <a:defRPr sz="1050" b="1">
                <a:solidFill>
                  <a:srgbClr val="FFFFFF"/>
                </a:solidFill>
                <a:latin typeface="+mj-ea"/>
                <a:ea typeface="+mj-ea"/>
                <a:cs typeface="Yu Gothic" pitchFamily="34" charset="-120"/>
              </a:defRPr>
            </a:lvl1pPr>
          </a:lstStyle>
          <a:p>
            <a:r>
              <a:rPr lang="ja-JP" altLang="en-US" dirty="0"/>
              <a:t>継続改善</a:t>
            </a:r>
          </a:p>
          <a:p>
            <a:r>
              <a:rPr lang="ja-JP" altLang="en-US" sz="800" b="0" dirty="0"/>
              <a:t>改善計画・保守運用</a:t>
            </a:r>
          </a:p>
        </p:txBody>
      </p:sp>
      <p:sp>
        <p:nvSpPr>
          <p:cNvPr id="115" name="Text 43">
            <a:extLst>
              <a:ext uri="{FF2B5EF4-FFF2-40B4-BE49-F238E27FC236}">
                <a16:creationId xmlns:a16="http://schemas.microsoft.com/office/drawing/2014/main" id="{B8DF4D5E-BD64-E5B2-44B5-EEA474ED986B}"/>
              </a:ext>
            </a:extLst>
          </p:cNvPr>
          <p:cNvSpPr txBox="1"/>
          <p:nvPr/>
        </p:nvSpPr>
        <p:spPr>
          <a:xfrm>
            <a:off x="1975104" y="4684307"/>
            <a:ext cx="2776011" cy="576072"/>
          </a:xfrm>
          <a:prstGeom prst="rect">
            <a:avLst/>
          </a:prstGeom>
          <a:solidFill>
            <a:schemeClr val="accent4"/>
          </a:solidFill>
          <a:ln>
            <a:solidFill>
              <a:srgbClr val="1E7F4F"/>
            </a:solidFill>
          </a:ln>
        </p:spPr>
        <p:txBody>
          <a:bodyPr wrap="square" lIns="101600" tIns="101600" rIns="101600" bIns="101600" rtlCol="0" anchor="ctr"/>
          <a:lstStyle>
            <a:defPPr>
              <a:defRPr lang="ja-JP" altLang="en-US"/>
            </a:defPPr>
            <a:lvl1pPr marL="0" indent="0">
              <a:lnSpc>
                <a:spcPct val="115000"/>
              </a:lnSpc>
              <a:buNone/>
              <a:defRPr sz="1050" b="1">
                <a:solidFill>
                  <a:srgbClr val="FFFFFF"/>
                </a:solidFill>
                <a:latin typeface="+mj-ea"/>
                <a:ea typeface="+mj-ea"/>
                <a:cs typeface="Yu Gothic" pitchFamily="34" charset="-120"/>
              </a:defRPr>
            </a:lvl1pPr>
          </a:lstStyle>
          <a:p>
            <a:r>
              <a:rPr lang="ja-JP" altLang="en-US" dirty="0"/>
              <a:t>残課題の収束 → 9/11 アプリ仕様FIX</a:t>
            </a:r>
          </a:p>
        </p:txBody>
      </p:sp>
      <p:sp>
        <p:nvSpPr>
          <p:cNvPr id="117" name="Text 44">
            <a:extLst>
              <a:ext uri="{FF2B5EF4-FFF2-40B4-BE49-F238E27FC236}">
                <a16:creationId xmlns:a16="http://schemas.microsoft.com/office/drawing/2014/main" id="{7A440B44-3FE7-B232-2E12-F472DCFFCD04}"/>
              </a:ext>
            </a:extLst>
          </p:cNvPr>
          <p:cNvSpPr txBox="1"/>
          <p:nvPr/>
        </p:nvSpPr>
        <p:spPr>
          <a:xfrm>
            <a:off x="4860843" y="4644685"/>
            <a:ext cx="1333141" cy="310896"/>
          </a:xfrm>
          <a:prstGeom prst="rect">
            <a:avLst/>
          </a:prstGeom>
          <a:solidFill>
            <a:schemeClr val="accent4">
              <a:lumMod val="20000"/>
              <a:lumOff val="80000"/>
            </a:schemeClr>
          </a:solidFill>
          <a:ln>
            <a:noFill/>
          </a:ln>
        </p:spPr>
        <p:txBody>
          <a:bodyPr wrap="square" lIns="101600" tIns="101600" rIns="101600" bIns="101600" rtlCol="0" anchor="ctr"/>
          <a:lstStyle/>
          <a:p>
            <a:pPr marL="0" indent="0">
              <a:lnSpc>
                <a:spcPct val="115000"/>
              </a:lnSpc>
              <a:buNone/>
            </a:pPr>
            <a:r>
              <a:rPr lang="ja-JP" altLang="en-US" sz="1050" b="1" dirty="0">
                <a:latin typeface="+mj-ea"/>
                <a:ea typeface="+mj-ea"/>
                <a:cs typeface="Yu Gothic" pitchFamily="34" charset="-120"/>
              </a:rPr>
              <a:t>引継ぎ資料の完成</a:t>
            </a:r>
            <a:endParaRPr lang="ja-JP" altLang="en-US" sz="1050" dirty="0">
              <a:latin typeface="+mj-ea"/>
              <a:ea typeface="+mj-ea"/>
            </a:endParaRPr>
          </a:p>
          <a:p>
            <a:pPr marL="0" indent="0">
              <a:lnSpc>
                <a:spcPct val="115000"/>
              </a:lnSpc>
              <a:buNone/>
            </a:pPr>
            <a:r>
              <a:rPr lang="ja-JP" altLang="en-US" sz="800" dirty="0">
                <a:latin typeface="+mj-ea"/>
                <a:ea typeface="+mj-ea"/>
                <a:cs typeface="Yu Gothic" pitchFamily="34" charset="-120"/>
              </a:rPr>
              <a:t>9/16までにITEC様へ提供</a:t>
            </a:r>
            <a:endParaRPr lang="ja-JP" altLang="en-US" sz="1000" dirty="0">
              <a:latin typeface="+mj-ea"/>
              <a:ea typeface="+mj-ea"/>
            </a:endParaRPr>
          </a:p>
        </p:txBody>
      </p:sp>
      <p:sp>
        <p:nvSpPr>
          <p:cNvPr id="119" name="Text 45">
            <a:extLst>
              <a:ext uri="{FF2B5EF4-FFF2-40B4-BE49-F238E27FC236}">
                <a16:creationId xmlns:a16="http://schemas.microsoft.com/office/drawing/2014/main" id="{879E49DF-383D-12D4-0464-FF139E66B776}"/>
              </a:ext>
            </a:extLst>
          </p:cNvPr>
          <p:cNvSpPr txBox="1"/>
          <p:nvPr/>
        </p:nvSpPr>
        <p:spPr>
          <a:xfrm>
            <a:off x="6303712" y="4644685"/>
            <a:ext cx="2776011" cy="310896"/>
          </a:xfrm>
          <a:prstGeom prst="rect">
            <a:avLst/>
          </a:prstGeom>
          <a:solidFill>
            <a:schemeClr val="accent4">
              <a:lumMod val="20000"/>
              <a:lumOff val="80000"/>
            </a:schemeClr>
          </a:solidFill>
          <a:ln>
            <a:noFill/>
          </a:ln>
        </p:spPr>
        <p:txBody>
          <a:bodyPr wrap="square" lIns="101600" tIns="101600" rIns="101600" bIns="101600" rtlCol="0" anchor="ctr"/>
          <a:lstStyle/>
          <a:p>
            <a:pPr marL="0" indent="0">
              <a:lnSpc>
                <a:spcPct val="115000"/>
              </a:lnSpc>
              <a:buNone/>
            </a:pPr>
            <a:r>
              <a:rPr lang="ja-JP" altLang="en-US" sz="1050" b="1" dirty="0">
                <a:solidFill>
                  <a:srgbClr val="1C2430"/>
                </a:solidFill>
                <a:latin typeface="+mj-ea"/>
                <a:ea typeface="+mj-ea"/>
                <a:cs typeface="Yu Gothic" pitchFamily="34" charset="-120"/>
              </a:rPr>
              <a:t>テスト支援・QA対応・安定化支援</a:t>
            </a:r>
            <a:endParaRPr lang="ja-JP" altLang="en-US" sz="1050" dirty="0">
              <a:latin typeface="+mj-ea"/>
              <a:ea typeface="+mj-ea"/>
            </a:endParaRPr>
          </a:p>
          <a:p>
            <a:pPr marL="0" indent="0">
              <a:lnSpc>
                <a:spcPct val="115000"/>
              </a:lnSpc>
              <a:buNone/>
            </a:pPr>
            <a:r>
              <a:rPr lang="ja-JP" altLang="en-US" sz="800" dirty="0">
                <a:solidFill>
                  <a:srgbClr val="5F6772"/>
                </a:solidFill>
                <a:latin typeface="+mj-ea"/>
                <a:ea typeface="+mj-ea"/>
                <a:cs typeface="Yu Gothic" pitchFamily="34" charset="-120"/>
              </a:rPr>
              <a:t>エラー解析、</a:t>
            </a:r>
            <a:r>
              <a:rPr lang="ja-JP" altLang="en-US" sz="800" dirty="0">
                <a:solidFill>
                  <a:srgbClr val="5F6772"/>
                </a:solidFill>
                <a:latin typeface="+mj-ea"/>
                <a:ea typeface="+mj-ea"/>
                <a:cs typeface="Yu Gothic" pitchFamily="34" charset="-120"/>
              </a:rPr>
              <a:t>ITEC</a:t>
            </a:r>
            <a:r>
              <a:rPr lang="ja-JP" altLang="en-US" sz="800" dirty="0">
                <a:solidFill>
                  <a:srgbClr val="5F6772"/>
                </a:solidFill>
                <a:latin typeface="+mj-ea"/>
                <a:ea typeface="+mj-ea"/>
                <a:cs typeface="Yu Gothic" pitchFamily="34" charset="-120"/>
              </a:rPr>
              <a:t>様への</a:t>
            </a:r>
            <a:r>
              <a:rPr lang="ja-JP" altLang="en-US" sz="800" dirty="0">
                <a:solidFill>
                  <a:srgbClr val="5F6772"/>
                </a:solidFill>
                <a:latin typeface="+mj-ea"/>
                <a:ea typeface="+mj-ea"/>
                <a:cs typeface="Yu Gothic" pitchFamily="34" charset="-120"/>
              </a:rPr>
              <a:t>QA</a:t>
            </a:r>
            <a:r>
              <a:rPr lang="ja-JP" altLang="en-US" sz="800" dirty="0">
                <a:solidFill>
                  <a:srgbClr val="5F6772"/>
                </a:solidFill>
                <a:latin typeface="+mj-ea"/>
                <a:ea typeface="+mj-ea"/>
                <a:cs typeface="Yu Gothic" pitchFamily="34" charset="-120"/>
              </a:rPr>
              <a:t>対応、論点整理</a:t>
            </a:r>
            <a:endParaRPr lang="ja-JP" altLang="en-US" sz="1000" dirty="0">
              <a:latin typeface="+mj-ea"/>
              <a:ea typeface="+mj-ea"/>
            </a:endParaRPr>
          </a:p>
        </p:txBody>
      </p:sp>
      <p:sp>
        <p:nvSpPr>
          <p:cNvPr id="138" name="Text 45">
            <a:extLst>
              <a:ext uri="{FF2B5EF4-FFF2-40B4-BE49-F238E27FC236}">
                <a16:creationId xmlns:a16="http://schemas.microsoft.com/office/drawing/2014/main" id="{3622E7FE-6CB7-196F-8DDA-B32E1E838E3F}"/>
              </a:ext>
            </a:extLst>
          </p:cNvPr>
          <p:cNvSpPr txBox="1"/>
          <p:nvPr/>
        </p:nvSpPr>
        <p:spPr>
          <a:xfrm>
            <a:off x="4841024" y="5009859"/>
            <a:ext cx="2776012" cy="310896"/>
          </a:xfrm>
          <a:prstGeom prst="rect">
            <a:avLst/>
          </a:prstGeom>
          <a:solidFill>
            <a:schemeClr val="accent4"/>
          </a:solidFill>
          <a:ln>
            <a:solidFill>
              <a:srgbClr val="DDE7F3"/>
            </a:solidFill>
          </a:ln>
        </p:spPr>
        <p:txBody>
          <a:bodyPr wrap="square" lIns="101600" tIns="101600" rIns="101600" bIns="101600" rtlCol="0" anchor="ctr"/>
          <a:lstStyle/>
          <a:p>
            <a:pPr>
              <a:lnSpc>
                <a:spcPct val="115000"/>
              </a:lnSpc>
            </a:pPr>
            <a:r>
              <a:rPr lang="ja-JP" altLang="en-US" sz="1050" b="1" dirty="0">
                <a:solidFill>
                  <a:schemeClr val="bg1"/>
                </a:solidFill>
                <a:latin typeface="+mj-ea"/>
                <a:ea typeface="+mj-ea"/>
                <a:cs typeface="Yu Gothic" pitchFamily="34" charset="-120"/>
              </a:rPr>
              <a:t>改善サイクルの継続　</a:t>
            </a:r>
            <a:r>
              <a:rPr lang="ja-JP" altLang="en-US" sz="800" b="1" dirty="0">
                <a:solidFill>
                  <a:schemeClr val="bg1"/>
                </a:solidFill>
                <a:latin typeface="+mj-ea"/>
                <a:ea typeface="+mj-ea"/>
                <a:cs typeface="Yu Gothic" pitchFamily="34" charset="-120"/>
              </a:rPr>
              <a:t>※</a:t>
            </a:r>
            <a:r>
              <a:rPr lang="ja-JP" altLang="en-US" sz="850" dirty="0">
                <a:solidFill>
                  <a:schemeClr val="bg1"/>
                </a:solidFill>
                <a:latin typeface="+mj-ea"/>
                <a:ea typeface="+mj-ea"/>
              </a:rPr>
              <a:t>9/24</a:t>
            </a:r>
            <a:r>
              <a:rPr lang="ja-JP" altLang="en-US" sz="850" dirty="0">
                <a:solidFill>
                  <a:schemeClr val="bg1"/>
                </a:solidFill>
                <a:latin typeface="+mj-ea"/>
                <a:ea typeface="+mj-ea"/>
              </a:rPr>
              <a:t>スプリント最終回</a:t>
            </a:r>
          </a:p>
        </p:txBody>
      </p:sp>
      <p:sp>
        <p:nvSpPr>
          <p:cNvPr id="141" name="Text 45">
            <a:extLst>
              <a:ext uri="{FF2B5EF4-FFF2-40B4-BE49-F238E27FC236}">
                <a16:creationId xmlns:a16="http://schemas.microsoft.com/office/drawing/2014/main" id="{8537BE2D-3215-BCED-EAF8-48F6FECBEC78}"/>
              </a:ext>
            </a:extLst>
          </p:cNvPr>
          <p:cNvSpPr txBox="1"/>
          <p:nvPr/>
        </p:nvSpPr>
        <p:spPr>
          <a:xfrm>
            <a:off x="9207739" y="4644685"/>
            <a:ext cx="2524013" cy="676069"/>
          </a:xfrm>
          <a:prstGeom prst="rect">
            <a:avLst/>
          </a:prstGeom>
          <a:noFill/>
          <a:ln>
            <a:solidFill>
              <a:schemeClr val="tx1"/>
            </a:solidFill>
            <a:prstDash val="dash"/>
          </a:ln>
        </p:spPr>
        <p:txBody>
          <a:bodyPr wrap="square" lIns="101600" tIns="101600" rIns="101600" bIns="101600" rtlCol="0" anchor="ctr"/>
          <a:lstStyle/>
          <a:p>
            <a:pPr marL="0" indent="0" algn="ctr">
              <a:lnSpc>
                <a:spcPct val="115000"/>
              </a:lnSpc>
              <a:buNone/>
            </a:pPr>
            <a:r>
              <a:rPr lang="ja-JP" altLang="en-US" sz="1050" dirty="0">
                <a:solidFill>
                  <a:srgbClr val="1C2430"/>
                </a:solidFill>
                <a:latin typeface="+mj-ea"/>
                <a:ea typeface="+mj-ea"/>
                <a:cs typeface="Yu Gothic" pitchFamily="34" charset="-120"/>
              </a:rPr>
              <a:t>※</a:t>
            </a:r>
            <a:r>
              <a:rPr lang="ja-JP" altLang="en-US" sz="1050" dirty="0">
                <a:solidFill>
                  <a:srgbClr val="1C2430"/>
                </a:solidFill>
                <a:latin typeface="+mj-ea"/>
                <a:ea typeface="+mj-ea"/>
                <a:cs typeface="Yu Gothic" pitchFamily="34" charset="-120"/>
              </a:rPr>
              <a:t>こちらの動き方は別途提案中</a:t>
            </a:r>
            <a:endParaRPr lang="ja-JP" altLang="en-US" sz="850" dirty="0">
              <a:solidFill>
                <a:srgbClr val="5F6772"/>
              </a:solidFill>
              <a:latin typeface="+mj-ea"/>
              <a:ea typeface="+mj-ea"/>
            </a:endParaRPr>
          </a:p>
        </p:txBody>
      </p:sp>
      <p:cxnSp>
        <p:nvCxnSpPr>
          <p:cNvPr id="147" name="直線コネクタ 146">
            <a:extLst>
              <a:ext uri="{FF2B5EF4-FFF2-40B4-BE49-F238E27FC236}">
                <a16:creationId xmlns:a16="http://schemas.microsoft.com/office/drawing/2014/main" id="{BF43D588-5B11-5CB7-3AE8-8DEA344559E9}"/>
              </a:ext>
            </a:extLst>
          </p:cNvPr>
          <p:cNvCxnSpPr>
            <a:cxnSpLocks/>
            <a:stCxn id="138" idx="2"/>
          </p:cNvCxnSpPr>
          <p:nvPr/>
        </p:nvCxnSpPr>
        <p:spPr bwMode="gray">
          <a:xfrm>
            <a:off x="6229030" y="5320755"/>
            <a:ext cx="0" cy="363757"/>
          </a:xfrm>
          <a:prstGeom prst="line">
            <a:avLst/>
          </a:prstGeom>
          <a:ln w="12700">
            <a:solidFill>
              <a:schemeClr val="accent4"/>
            </a:solidFill>
            <a:prstDash val="dash"/>
            <a:headEnd type="oval"/>
          </a:ln>
        </p:spPr>
        <p:style>
          <a:lnRef idx="1">
            <a:schemeClr val="accent1"/>
          </a:lnRef>
          <a:fillRef idx="0">
            <a:schemeClr val="accent1"/>
          </a:fillRef>
          <a:effectRef idx="0">
            <a:schemeClr val="accent1"/>
          </a:effectRef>
          <a:fontRef idx="minor">
            <a:schemeClr val="tx1"/>
          </a:fontRef>
        </p:style>
      </p:cxnSp>
      <p:sp>
        <p:nvSpPr>
          <p:cNvPr id="149" name="Shape 14">
            <a:extLst>
              <a:ext uri="{FF2B5EF4-FFF2-40B4-BE49-F238E27FC236}">
                <a16:creationId xmlns:a16="http://schemas.microsoft.com/office/drawing/2014/main" id="{DF04A2B6-BC4C-6AB1-33A5-CEC4A51BD91C}"/>
              </a:ext>
            </a:extLst>
          </p:cNvPr>
          <p:cNvSpPr/>
          <p:nvPr/>
        </p:nvSpPr>
        <p:spPr>
          <a:xfrm>
            <a:off x="4828504" y="5673910"/>
            <a:ext cx="4288896" cy="0"/>
          </a:xfrm>
          <a:prstGeom prst="line">
            <a:avLst/>
          </a:prstGeom>
          <a:noFill/>
          <a:ln w="9525">
            <a:solidFill>
              <a:schemeClr val="accent4"/>
            </a:solidFill>
            <a:prstDash val="solid"/>
          </a:ln>
        </p:spPr>
        <p:txBody>
          <a:bodyPr/>
          <a:lstStyle/>
          <a:p>
            <a:endParaRPr lang="ja-JP" altLang="en-US">
              <a:latin typeface="+mj-ea"/>
              <a:ea typeface="+mj-ea"/>
            </a:endParaRPr>
          </a:p>
        </p:txBody>
      </p:sp>
      <p:sp>
        <p:nvSpPr>
          <p:cNvPr id="150" name="テキスト ボックス 149">
            <a:extLst>
              <a:ext uri="{FF2B5EF4-FFF2-40B4-BE49-F238E27FC236}">
                <a16:creationId xmlns:a16="http://schemas.microsoft.com/office/drawing/2014/main" id="{F13F0D41-0E9A-37F2-A451-DB368D296410}"/>
              </a:ext>
            </a:extLst>
          </p:cNvPr>
          <p:cNvSpPr txBox="1"/>
          <p:nvPr/>
        </p:nvSpPr>
        <p:spPr bwMode="gray">
          <a:xfrm>
            <a:off x="4876649" y="5747659"/>
            <a:ext cx="4198501" cy="323165"/>
          </a:xfrm>
          <a:prstGeom prst="rect">
            <a:avLst/>
          </a:prstGeom>
          <a:noFill/>
        </p:spPr>
        <p:txBody>
          <a:bodyPr wrap="squar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050" b="0" i="0" u="none" strike="noStrike" kern="1200" cap="none" spc="0" normalizeH="0" baseline="0" noProof="0" dirty="0">
                <a:ln>
                  <a:noFill/>
                </a:ln>
                <a:solidFill>
                  <a:prstClr val="black"/>
                </a:solidFill>
                <a:effectLst/>
                <a:uLnTx/>
                <a:uFillTx/>
                <a:latin typeface="+mj-ea"/>
                <a:ea typeface="+mj-ea"/>
                <a:cs typeface="+mn-cs"/>
              </a:rPr>
              <a:t>FIX</a:t>
            </a:r>
            <a:r>
              <a:rPr kumimoji="1" lang="ja-JP" altLang="en-US" sz="1050" dirty="0">
                <a:solidFill>
                  <a:prstClr val="black"/>
                </a:solidFill>
                <a:latin typeface="+mj-ea"/>
                <a:ea typeface="+mj-ea"/>
                <a:cs typeface="+mn-cs"/>
              </a:rPr>
              <a:t>後の期間に頂いた</a:t>
            </a:r>
            <a:r>
              <a:rPr kumimoji="1" lang="ja-JP" altLang="en-US" sz="1050" dirty="0">
                <a:solidFill>
                  <a:prstClr val="black"/>
                </a:solidFill>
                <a:latin typeface="+mj-ea"/>
                <a:ea typeface="+mj-ea"/>
                <a:cs typeface="+mn-cs"/>
              </a:rPr>
              <a:t>FB</a:t>
            </a:r>
            <a:r>
              <a:rPr kumimoji="1" lang="ja-JP" altLang="en-US" sz="1050" dirty="0">
                <a:solidFill>
                  <a:prstClr val="black"/>
                </a:solidFill>
                <a:latin typeface="+mj-ea"/>
                <a:ea typeface="+mj-ea"/>
                <a:cs typeface="+mn-cs"/>
              </a:rPr>
              <a:t>や改善のご要望はバックログにタスクとして記載し、</a:t>
            </a:r>
            <a:r>
              <a:rPr kumimoji="1" lang="ja-JP" altLang="en-US" sz="1050" dirty="0">
                <a:solidFill>
                  <a:prstClr val="black"/>
                </a:solidFill>
                <a:latin typeface="+mj-ea"/>
                <a:ea typeface="+mj-ea"/>
                <a:cs typeface="+mn-cs"/>
              </a:rPr>
              <a:t>10</a:t>
            </a:r>
            <a:r>
              <a:rPr kumimoji="1" lang="ja-JP" altLang="en-US" sz="1050" dirty="0">
                <a:solidFill>
                  <a:prstClr val="black"/>
                </a:solidFill>
                <a:latin typeface="+mj-ea"/>
                <a:ea typeface="+mj-ea"/>
                <a:cs typeface="+mn-cs"/>
              </a:rPr>
              <a:t>月以降に阪急阪神様と</a:t>
            </a:r>
            <a:r>
              <a:rPr kumimoji="1" lang="ja-JP" altLang="en-US" sz="1050" dirty="0">
                <a:solidFill>
                  <a:prstClr val="black"/>
                </a:solidFill>
                <a:latin typeface="+mj-ea"/>
                <a:ea typeface="+mj-ea"/>
                <a:cs typeface="+mn-cs"/>
              </a:rPr>
              <a:t>ITEC</a:t>
            </a:r>
            <a:r>
              <a:rPr kumimoji="1" lang="ja-JP" altLang="en-US" sz="1050" dirty="0">
                <a:solidFill>
                  <a:prstClr val="black"/>
                </a:solidFill>
                <a:latin typeface="+mj-ea"/>
                <a:ea typeface="+mj-ea"/>
                <a:cs typeface="+mn-cs"/>
              </a:rPr>
              <a:t>様にて優先順位を決めてから</a:t>
            </a:r>
            <a:r>
              <a:rPr kumimoji="1" lang="ja-JP" altLang="en-US" sz="1050" dirty="0">
                <a:solidFill>
                  <a:prstClr val="black"/>
                </a:solidFill>
                <a:latin typeface="+mj-ea"/>
                <a:ea typeface="+mj-ea"/>
                <a:cs typeface="+mn-cs"/>
              </a:rPr>
              <a:t>ITEC</a:t>
            </a:r>
            <a:r>
              <a:rPr kumimoji="1" lang="ja-JP" altLang="en-US" sz="1050" dirty="0">
                <a:solidFill>
                  <a:prstClr val="black"/>
                </a:solidFill>
                <a:latin typeface="+mj-ea"/>
                <a:ea typeface="+mj-ea"/>
                <a:cs typeface="+mn-cs"/>
              </a:rPr>
              <a:t>様のほうで実装</a:t>
            </a:r>
            <a:endParaRPr kumimoji="1" lang="ja-JP" altLang="en-US" sz="1050" dirty="0">
              <a:solidFill>
                <a:prstClr val="black"/>
              </a:solidFill>
              <a:latin typeface="+mj-ea"/>
              <a:ea typeface="+mj-ea"/>
              <a:cs typeface="+mn-cs"/>
            </a:endParaRPr>
          </a:p>
        </p:txBody>
      </p:sp>
      <p:pic>
        <p:nvPicPr>
          <p:cNvPr id="152" name="グラフィックス 151" descr="バッジ 3 単色塗りつぶし">
            <a:extLst>
              <a:ext uri="{FF2B5EF4-FFF2-40B4-BE49-F238E27FC236}">
                <a16:creationId xmlns:a16="http://schemas.microsoft.com/office/drawing/2014/main" id="{79727B09-25A8-1864-C49D-F426321898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5455" y="325223"/>
            <a:ext cx="352541" cy="352541"/>
          </a:xfrm>
          <a:prstGeom prst="rect">
            <a:avLst/>
          </a:prstGeom>
        </p:spPr>
      </p:pic>
    </p:spTree>
    <p:extLst>
      <p:ext uri="{BB962C8B-B14F-4D97-AF65-F5344CB8AC3E}">
        <p14:creationId xmlns:p14="http://schemas.microsoft.com/office/powerpoint/2010/main" val="458038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75DD-7687-18CD-6477-EC4CB4A915A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F3CE8E-0BEA-B4D6-42CB-E98F95672D8F}"/>
              </a:ext>
            </a:extLst>
          </p:cNvPr>
          <p:cNvSpPr txBox="1"/>
          <p:nvPr/>
        </p:nvSpPr>
        <p:spPr bwMode="gray">
          <a:xfrm>
            <a:off x="9639300" y="6253004"/>
            <a:ext cx="2073275" cy="246221"/>
          </a:xfrm>
          <a:prstGeom prst="rect">
            <a:avLst/>
          </a:prstGeom>
          <a:noFill/>
          <a:ln>
            <a:noFill/>
          </a:ln>
        </p:spPr>
        <p:txBody>
          <a:bodyPr wrap="square" lIns="0" tIns="0" rIns="0" bIns="0" rtlCol="0">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IS/BCMS</a:t>
            </a: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それぞれの認証範囲はこちらをご覧ください</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800" b="0" i="0" u="sng" strike="noStrike" kern="1200" cap="none" spc="0" normalizeH="0" baseline="0" noProof="0">
                <a:ln>
                  <a:noFill/>
                </a:ln>
                <a:solidFill>
                  <a:srgbClr val="0563C1"/>
                </a:solidFill>
                <a:effectLst/>
                <a:uLnTx/>
                <a:uFillTx/>
                <a:latin typeface="Yu Gothic UI"/>
                <a:ea typeface="Yu Gothic UI"/>
                <a:cs typeface="Arial" charset="0"/>
                <a:hlinkClick r:id="rId3"/>
              </a:rPr>
              <a:t>http://www.bsigroup.com/clientDirectory</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 name="テキスト プレースホルダー 8">
            <a:extLst>
              <a:ext uri="{FF2B5EF4-FFF2-40B4-BE49-F238E27FC236}">
                <a16:creationId xmlns:a16="http://schemas.microsoft.com/office/drawing/2014/main" id="{090CCCCE-6D25-7612-9F7D-A4033FB1AEEC}"/>
              </a:ext>
            </a:extLst>
          </p:cNvPr>
          <p:cNvSpPr txBox="1">
            <a:spLocks/>
          </p:cNvSpPr>
          <p:nvPr/>
        </p:nvSpPr>
        <p:spPr bwMode="gray">
          <a:xfrm>
            <a:off x="358493" y="3470575"/>
            <a:ext cx="8820000" cy="3028650"/>
          </a:xfrm>
          <a:prstGeom prst="rect">
            <a:avLst/>
          </a:prstGeom>
        </p:spPr>
        <p:txBody>
          <a:bodyPr/>
          <a:lst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a:lstStyle>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トーマツ グループは、日本におけるデロイト アジア パシフィック リミテッドおよびデロイトネットワークのメンバーである合同会社デロイト トーマツ グループならびにそのグループ法人（有限責任監査法人トーマツ、合同会社デロイト トーマツ、デロイト トーマツ税理士法人および</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弁護士法人を含む）の総称です。デロイト トーマツ グループは、日本で最大級のプロフェッショナルグループのひとつであり、各法人がそれぞれの適用法令に従いプロフェッショナルサービスを提供しています。また、国内</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30</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都市以上に</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2</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万人超の専門家を擁し、多国籍企業や主要な日本企業をクライアントとしています。詳細はデロイト トーマツ グループ</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Web</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サイト、</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4"/>
              </a:rPr>
              <a:t>www.deloitte.com/jp</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endParaRPr kumimoji="1" lang="ja-JP" altLang="en-US" sz="800" b="0" i="0" u="none" strike="noStrike" kern="1200" cap="none" spc="0" normalizeH="0" baseline="0" noProof="0">
              <a:ln>
                <a:noFill/>
              </a:ln>
              <a:solidFill>
                <a:prstClr val="black"/>
              </a:solidFill>
              <a:effectLst/>
              <a:uLnTx/>
              <a:uFillTx/>
              <a:latin typeface="Calibri"/>
              <a:ea typeface="Yu Gothic UI"/>
              <a:cs typeface="+mn-cs"/>
            </a:endParaRP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（デロイト）とは、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Touche Tohmatsu Limited</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）、そのグローバルネットワーク組織を構成するメンバーファームおよびそれらの関係法人（総称して“デロイトネットワーク”）のひとつまたは複数を指します。</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ならびに各メンバーファームおよび関係法人はそれぞれ法的に独立した別個の組織体であり、第三者に関して相互に義務を課しまたは拘束させることはありません。</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およびその各メンバーファームならびに関係法人は、自らの作為および不作為についてのみ責任を負い、互いに他のファームまたは関係法人の作為および不作為について責任を負うものではありません。</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はクライアントへのサービス提供を行いません。詳細は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5"/>
              </a:rPr>
              <a:t>www.deloitte.com/jp/about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br>
              <a:rPr kumimoji="1" lang="ja-JP" altLang="en-US" sz="800" b="0" i="0" u="none" strike="noStrike" kern="1200" cap="none" spc="0" normalizeH="0" baseline="0" noProof="0">
                <a:ln>
                  <a:noFill/>
                </a:ln>
                <a:solidFill>
                  <a:prstClr val="black"/>
                </a:solidFill>
                <a:effectLst/>
                <a:uLnTx/>
                <a:uFillTx/>
                <a:latin typeface="Calibri"/>
                <a:ea typeface="Yu Gothic UI"/>
                <a:cs typeface="+mn-cs"/>
              </a:rPr>
            </a:b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アジア パシフィック リミテッドは保証有限責任会社であり、</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のメンバーファームです。デロイト アジア パシフィック リミテッドのメンバーおよびそれらの関係法人は、それぞれ法的に独立した別個の組織体であり、アジア パシフィックにおける</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100</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超える都市（オークランド、バンコク、北京、ベンガルール、ハノイ、香港、ジャカルタ、クアラルンプール、マニラ、メルボルン、ムンバイ、ニューデリー、大阪、ソウル、上海、シンガポール、シドニー、台北、東京を含む）にてサービスを提供しています。</a:t>
            </a:r>
            <a:endParaRPr kumimoji="1" lang="ja-JP" altLang="en-US" sz="800" b="0" i="0" u="none" strike="noStrike" kern="1200" cap="none" spc="0" normalizeH="0" baseline="0" noProof="0">
              <a:ln>
                <a:noFill/>
              </a:ln>
              <a:solidFill>
                <a:prstClr val="black"/>
              </a:solidFill>
              <a:effectLst/>
              <a:uLnTx/>
              <a:uFillTx/>
              <a:latin typeface="Calibri"/>
              <a:ea typeface="Yu Gothic UI"/>
              <a:cs typeface="+mn-cs"/>
            </a:endParaRP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（デロイト）は、最先端のプロフェッショナルサービスを、</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Fortune Global 500®</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の約</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9</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割の企業や多数のプライベート（非公開）企業を含むクライアントに提供しています。デロイトは、資本市場に対する社会的な信頼を高め、クライアントの変革と繁栄を促進することで、計測可能で継続性のある成果をもたらすプロフェッショナルの集団です。デロイトは、創設以来</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180</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年の歴史を有し、</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150</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を超える国・地域にわたって活動を展開しています。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Making an impact that matters”</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をパーパス（存在理由）として標榜するデロイトの約</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46</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万人の人材の活動の詳細については、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6"/>
              </a:rPr>
              <a:t>www.deloitte.com</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endParaRPr kumimoji="1" lang="ja-JP" altLang="en-US" sz="800" b="0" i="0" u="none" strike="noStrike" kern="1200" cap="none" spc="0" normalizeH="0" baseline="0" noProof="0">
              <a:ln>
                <a:noFill/>
              </a:ln>
              <a:solidFill>
                <a:prstClr val="black"/>
              </a:solidFill>
              <a:effectLst/>
              <a:uLnTx/>
              <a:uFillTx/>
              <a:latin typeface="Calibri"/>
              <a:ea typeface="Yu Gothic UI"/>
              <a:cs typeface="+mn-cs"/>
            </a:endParaRP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本資料は皆様への情報提供として一般的な情報を掲載するのみであり、</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Touche Tohmatsu Limited (”Deloitte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、そのメンバーファーム、関係法人、社員・職員または代理人のいずれも、本資料に依拠した人に関係して直接または間接に発生したいかなる損失および損害に対しても責任を負いません。</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 Global</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ならびに各メンバーファームおよび関係法人はそれぞれ法的に独立した別個の組織体です。</a:t>
            </a:r>
          </a:p>
        </p:txBody>
      </p:sp>
    </p:spTree>
    <p:extLst>
      <p:ext uri="{BB962C8B-B14F-4D97-AF65-F5344CB8AC3E}">
        <p14:creationId xmlns:p14="http://schemas.microsoft.com/office/powerpoint/2010/main" val="147554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74B0-14F3-8391-2E97-A4BB4E0CF025}"/>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5F44220-E73A-2D66-F2B6-9FC413798D36}"/>
              </a:ext>
            </a:extLst>
          </p:cNvPr>
          <p:cNvSpPr>
            <a:spLocks noGrp="1"/>
          </p:cNvSpPr>
          <p:nvPr>
            <p:ph type="body" sz="quarter" idx="15"/>
          </p:nvPr>
        </p:nvSpPr>
        <p:spPr/>
        <p:txBody>
          <a:bodyPr/>
          <a:lstStyle/>
          <a:p>
            <a:r>
              <a:rPr lang="ja-JP" altLang="en-US" dirty="0"/>
              <a:t>自由質問のウェブ検索機能の扱いについて</a:t>
            </a:r>
          </a:p>
        </p:txBody>
      </p:sp>
      <p:sp>
        <p:nvSpPr>
          <p:cNvPr id="7" name="タイトル 6">
            <a:extLst>
              <a:ext uri="{FF2B5EF4-FFF2-40B4-BE49-F238E27FC236}">
                <a16:creationId xmlns:a16="http://schemas.microsoft.com/office/drawing/2014/main" id="{8A130457-252E-9702-5A3D-2E8ADDB23C13}"/>
              </a:ext>
            </a:extLst>
          </p:cNvPr>
          <p:cNvSpPr>
            <a:spLocks noGrp="1"/>
          </p:cNvSpPr>
          <p:nvPr>
            <p:ph type="title"/>
          </p:nvPr>
        </p:nvSpPr>
        <p:spPr/>
        <p:txBody>
          <a:bodyPr vert="horz" rIns="0"/>
          <a:lstStyle/>
          <a:p>
            <a:r>
              <a:rPr lang="ja-JP" altLang="en-US" dirty="0"/>
              <a:t>自由質問のウェブ検索は現構成ではリスク要件を満たせないため、10月公開では一旦除外し再実装を検討することをご提案します</a:t>
            </a:r>
          </a:p>
        </p:txBody>
      </p:sp>
      <p:sp>
        <p:nvSpPr>
          <p:cNvPr id="2" name="スライド番号プレースホルダー 1">
            <a:extLst>
              <a:ext uri="{FF2B5EF4-FFF2-40B4-BE49-F238E27FC236}">
                <a16:creationId xmlns:a16="http://schemas.microsoft.com/office/drawing/2014/main" id="{45E48585-C509-0A5A-4905-58BA782D5349}"/>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401" name="colhd402"/>
          <p:cNvSpPr txBox="1"/>
          <p:nvPr/>
        </p:nvSpPr>
        <p:spPr>
          <a:xfrm>
            <a:off x="480000" y="1560000"/>
            <a:ext cx="5054000" cy="330000"/>
          </a:xfrm>
          <a:prstGeom prst="rect">
            <a:avLst/>
          </a:prstGeom>
          <a:solidFill>
            <a:srgbClr val="53565A"/>
          </a:solidFill>
          <a:ln>
            <a:noFill/>
          </a:ln>
        </p:spPr>
        <p:txBody>
          <a:bodyPr wrap="square" lIns="0" tIns="0" rIns="0" bIns="0" anchor="ctr">
            <a:noAutofit/>
          </a:bodyPr>
          <a:lstStyle/>
          <a:p>
            <a:pPr algn="ctr">
              <a:lnSpc>
                <a:spcPct val="100000"/>
              </a:lnSpc>
              <a:buNone/>
            </a:pPr>
            <a:r>
              <a:rPr lang="ja-JP" altLang="en-US" sz="1050" b="1" dirty="0">
                <a:solidFill>
                  <a:srgbClr val="FFFFFF"/>
                </a:solidFill>
                <a:latin typeface="+mj-ea"/>
                <a:ea typeface="+mj-ea"/>
              </a:rPr>
              <a:t>現在の仕組み</a:t>
            </a:r>
          </a:p>
        </p:txBody>
      </p:sp>
      <p:sp>
        <p:nvSpPr>
          <p:cNvPr id="403" name="colbd404"/>
          <p:cNvSpPr txBox="1"/>
          <p:nvPr/>
        </p:nvSpPr>
        <p:spPr>
          <a:xfrm>
            <a:off x="480000" y="1890000"/>
            <a:ext cx="5054000" cy="3010000"/>
          </a:xfrm>
          <a:prstGeom prst="rect">
            <a:avLst/>
          </a:prstGeom>
          <a:solidFill>
            <a:srgbClr val="FFFFFF"/>
          </a:solidFill>
          <a:ln w="9525">
            <a:solidFill>
              <a:srgbClr val="D0D0CE"/>
            </a:solidFill>
          </a:ln>
        </p:spPr>
        <p:txBody>
          <a:bodyPr wrap="square" lIns="91440" tIns="45720" rIns="91440" bIns="45720" anchor="ctr">
            <a:noAutofit/>
          </a:bodyPr>
          <a:lstStyle/>
          <a:p>
            <a:pPr algn="l">
              <a:lnSpc>
                <a:spcPct val="100000"/>
              </a:lnSpc>
              <a:buNone/>
            </a:pPr>
            <a:r>
              <a:rPr lang="ja-JP" altLang="en-US" sz="800" dirty="0">
                <a:solidFill>
                  <a:srgbClr val="1C1C1E"/>
                </a:solidFill>
                <a:latin typeface="+mj-ea"/>
                <a:ea typeface="+mj-ea"/>
              </a:rPr>
              <a:t/>
            </a:r>
          </a:p>
        </p:txBody>
      </p:sp>
      <p:sp>
        <p:nvSpPr>
          <p:cNvPr id="405" name="colhd406"/>
          <p:cNvSpPr txBox="1"/>
          <p:nvPr/>
        </p:nvSpPr>
        <p:spPr>
          <a:xfrm>
            <a:off x="5734000" y="1560000"/>
            <a:ext cx="2889000" cy="330000"/>
          </a:xfrm>
          <a:prstGeom prst="rect">
            <a:avLst/>
          </a:prstGeom>
          <a:solidFill>
            <a:srgbClr val="9B2743"/>
          </a:solidFill>
          <a:ln>
            <a:noFill/>
          </a:ln>
        </p:spPr>
        <p:txBody>
          <a:bodyPr wrap="square" lIns="0" tIns="0" rIns="0" bIns="0" anchor="ctr">
            <a:noAutofit/>
          </a:bodyPr>
          <a:lstStyle/>
          <a:p>
            <a:pPr algn="ctr">
              <a:lnSpc>
                <a:spcPct val="100000"/>
              </a:lnSpc>
              <a:buNone/>
            </a:pPr>
            <a:r>
              <a:rPr lang="ja-JP" altLang="en-US" sz="1050" b="1" dirty="0">
                <a:solidFill>
                  <a:srgbClr val="FFFFFF"/>
                </a:solidFill>
                <a:latin typeface="+mj-ea"/>
                <a:ea typeface="+mj-ea"/>
              </a:rPr>
              <a:t>論点</a:t>
            </a:r>
          </a:p>
        </p:txBody>
      </p:sp>
      <p:sp>
        <p:nvSpPr>
          <p:cNvPr id="407" name="colbd408"/>
          <p:cNvSpPr txBox="1"/>
          <p:nvPr/>
        </p:nvSpPr>
        <p:spPr>
          <a:xfrm>
            <a:off x="5734000" y="1890000"/>
            <a:ext cx="2889000" cy="3010000"/>
          </a:xfrm>
          <a:prstGeom prst="rect">
            <a:avLst/>
          </a:prstGeom>
          <a:solidFill>
            <a:srgbClr val="FFFFFF"/>
          </a:solidFill>
          <a:ln w="9525">
            <a:solidFill>
              <a:srgbClr val="D0D0CE"/>
            </a:solidFill>
          </a:ln>
        </p:spPr>
        <p:txBody>
          <a:bodyPr wrap="square" lIns="91440" tIns="45720" rIns="91440" bIns="45720" anchor="ctr">
            <a:noAutofit/>
          </a:bodyPr>
          <a:lstStyle/>
          <a:p>
            <a:pPr algn="l">
              <a:lnSpc>
                <a:spcPct val="100000"/>
              </a:lnSpc>
              <a:buNone/>
            </a:pPr>
            <a:r>
              <a:rPr lang="ja-JP" altLang="en-US" sz="800" dirty="0">
                <a:solidFill>
                  <a:srgbClr val="1C1C1E"/>
                </a:solidFill>
                <a:latin typeface="+mj-ea"/>
                <a:ea typeface="+mj-ea"/>
              </a:rPr>
              <a:t/>
            </a:r>
          </a:p>
        </p:txBody>
      </p:sp>
      <p:sp>
        <p:nvSpPr>
          <p:cNvPr id="409" name="colhd410"/>
          <p:cNvSpPr txBox="1"/>
          <p:nvPr/>
        </p:nvSpPr>
        <p:spPr>
          <a:xfrm>
            <a:off x="8823000" y="1560000"/>
            <a:ext cx="2889000" cy="330000"/>
          </a:xfrm>
          <a:prstGeom prst="rect">
            <a:avLst/>
          </a:prstGeom>
          <a:solidFill>
            <a:srgbClr val="53565A"/>
          </a:solidFill>
          <a:ln>
            <a:noFill/>
          </a:ln>
        </p:spPr>
        <p:txBody>
          <a:bodyPr wrap="square" lIns="0" tIns="0" rIns="0" bIns="0" anchor="ctr">
            <a:noAutofit/>
          </a:bodyPr>
          <a:lstStyle/>
          <a:p>
            <a:pPr algn="ctr">
              <a:lnSpc>
                <a:spcPct val="100000"/>
              </a:lnSpc>
              <a:buNone/>
            </a:pPr>
            <a:r>
              <a:rPr lang="ja-JP" altLang="en-US" sz="1050" b="1" dirty="0">
                <a:solidFill>
                  <a:srgbClr val="FFFFFF"/>
                </a:solidFill>
                <a:latin typeface="+mj-ea"/>
                <a:ea typeface="+mj-ea"/>
              </a:rPr>
              <a:t>想定される代替策</a:t>
            </a:r>
          </a:p>
        </p:txBody>
      </p:sp>
      <p:sp>
        <p:nvSpPr>
          <p:cNvPr id="411" name="colbd412"/>
          <p:cNvSpPr txBox="1"/>
          <p:nvPr/>
        </p:nvSpPr>
        <p:spPr>
          <a:xfrm>
            <a:off x="8823000" y="1890000"/>
            <a:ext cx="2889000" cy="3010000"/>
          </a:xfrm>
          <a:prstGeom prst="rect">
            <a:avLst/>
          </a:prstGeom>
          <a:solidFill>
            <a:srgbClr val="FFFFFF"/>
          </a:solidFill>
          <a:ln w="9525">
            <a:solidFill>
              <a:srgbClr val="D0D0CE"/>
            </a:solidFill>
          </a:ln>
        </p:spPr>
        <p:txBody>
          <a:bodyPr wrap="square" lIns="91440" tIns="45720" rIns="91440" bIns="45720" anchor="ctr">
            <a:noAutofit/>
          </a:bodyPr>
          <a:lstStyle/>
          <a:p>
            <a:pPr algn="l">
              <a:lnSpc>
                <a:spcPct val="100000"/>
              </a:lnSpc>
              <a:buNone/>
            </a:pPr>
            <a:r>
              <a:rPr lang="ja-JP" altLang="en-US" sz="800" dirty="0">
                <a:solidFill>
                  <a:srgbClr val="1C1C1E"/>
                </a:solidFill>
                <a:latin typeface="+mj-ea"/>
                <a:ea typeface="+mj-ea"/>
              </a:rPr>
              <a:t/>
            </a:r>
          </a:p>
        </p:txBody>
      </p:sp>
      <p:sp>
        <p:nvSpPr>
          <p:cNvPr id="413" name="zoneA414"/>
          <p:cNvSpPr txBox="1"/>
          <p:nvPr/>
        </p:nvSpPr>
        <p:spPr>
          <a:xfrm>
            <a:off x="600000" y="2000000"/>
            <a:ext cx="2960000" cy="1620000"/>
          </a:xfrm>
          <a:prstGeom prst="rect">
            <a:avLst/>
          </a:prstGeom>
          <a:solidFill>
            <a:srgbClr val="F4F5F5"/>
          </a:solidFill>
          <a:ln w="9525">
            <a:solidFill>
              <a:srgbClr val="D0D0CE"/>
            </a:solidFill>
          </a:ln>
        </p:spPr>
        <p:txBody>
          <a:bodyPr wrap="square" lIns="91440" tIns="45720" rIns="91440" bIns="45720" anchor="ctr">
            <a:noAutofit/>
          </a:bodyPr>
          <a:lstStyle/>
          <a:p>
            <a:pPr algn="l">
              <a:lnSpc>
                <a:spcPct val="100000"/>
              </a:lnSpc>
              <a:buNone/>
            </a:pPr>
            <a:r>
              <a:rPr lang="ja-JP" altLang="en-US" sz="800" dirty="0">
                <a:solidFill>
                  <a:srgbClr val="1C1C1E"/>
                </a:solidFill>
                <a:latin typeface="+mj-ea"/>
                <a:ea typeface="+mj-ea"/>
              </a:rPr>
              <a:t/>
            </a:r>
          </a:p>
        </p:txBody>
      </p:sp>
      <p:sp>
        <p:nvSpPr>
          <p:cNvPr id="415" name="zoneB416"/>
          <p:cNvSpPr txBox="1"/>
          <p:nvPr/>
        </p:nvSpPr>
        <p:spPr>
          <a:xfrm>
            <a:off x="3650000" y="2000000"/>
            <a:ext cx="1764000" cy="1620000"/>
          </a:xfrm>
          <a:prstGeom prst="rect">
            <a:avLst/>
          </a:prstGeom>
          <a:solidFill>
            <a:srgbClr val="FBEEF0"/>
          </a:solidFill>
          <a:ln w="9525">
            <a:solidFill>
              <a:srgbClr val="ECCDD2"/>
            </a:solidFill>
          </a:ln>
        </p:spPr>
        <p:txBody>
          <a:bodyPr wrap="square" lIns="91440" tIns="45720" rIns="91440" bIns="45720" anchor="ctr">
            <a:noAutofit/>
          </a:bodyPr>
          <a:lstStyle/>
          <a:p>
            <a:pPr algn="l">
              <a:lnSpc>
                <a:spcPct val="100000"/>
              </a:lnSpc>
              <a:buNone/>
            </a:pPr>
            <a:r>
              <a:rPr lang="ja-JP" altLang="en-US" sz="800" dirty="0">
                <a:solidFill>
                  <a:srgbClr val="1C1C1E"/>
                </a:solidFill>
                <a:latin typeface="+mj-ea"/>
                <a:ea typeface="+mj-ea"/>
              </a:rPr>
              <a:t/>
            </a:r>
          </a:p>
        </p:txBody>
      </p:sp>
      <p:sp>
        <p:nvSpPr>
          <p:cNvPr id="417" name="zl418"/>
          <p:cNvSpPr txBox="1"/>
          <p:nvPr/>
        </p:nvSpPr>
        <p:spPr>
          <a:xfrm>
            <a:off x="660000" y="2040000"/>
            <a:ext cx="1200000" cy="160000"/>
          </a:xfrm>
          <a:prstGeom prst="rect">
            <a:avLst/>
          </a:prstGeom>
          <a:noFill/>
          <a:ln>
            <a:noFill/>
          </a:ln>
        </p:spPr>
        <p:txBody>
          <a:bodyPr wrap="square" lIns="0" tIns="0" rIns="0" bIns="0" anchor="ctr">
            <a:noAutofit/>
          </a:bodyPr>
          <a:lstStyle/>
          <a:p>
            <a:pPr algn="l">
              <a:lnSpc>
                <a:spcPct val="100000"/>
              </a:lnSpc>
              <a:buNone/>
            </a:pPr>
            <a:r>
              <a:rPr lang="ja-JP" altLang="en-US" sz="700" dirty="0">
                <a:solidFill>
                  <a:srgbClr val="63666A"/>
                </a:solidFill>
                <a:latin typeface="+mj-ea"/>
                <a:ea typeface="+mj-ea"/>
              </a:rPr>
              <a:t>アプリ内（EC2）</a:t>
            </a:r>
          </a:p>
        </p:txBody>
      </p:sp>
      <p:sp>
        <p:nvSpPr>
          <p:cNvPr id="419" name="zl420"/>
          <p:cNvSpPr txBox="1"/>
          <p:nvPr/>
        </p:nvSpPr>
        <p:spPr>
          <a:xfrm>
            <a:off x="3710000" y="2040000"/>
            <a:ext cx="1400000" cy="160000"/>
          </a:xfrm>
          <a:prstGeom prst="rect">
            <a:avLst/>
          </a:prstGeom>
          <a:noFill/>
          <a:ln>
            <a:noFill/>
          </a:ln>
        </p:spPr>
        <p:txBody>
          <a:bodyPr wrap="square" lIns="0" tIns="0" rIns="0" bIns="0" anchor="ctr">
            <a:noAutofit/>
          </a:bodyPr>
          <a:lstStyle/>
          <a:p>
            <a:pPr algn="l">
              <a:lnSpc>
                <a:spcPct val="100000"/>
              </a:lnSpc>
              <a:buNone/>
            </a:pPr>
            <a:r>
              <a:rPr lang="ja-JP" altLang="en-US" sz="700" dirty="0">
                <a:solidFill>
                  <a:srgbClr val="9B2743"/>
                </a:solidFill>
                <a:latin typeface="+mj-ea"/>
                <a:ea typeface="+mj-ea"/>
              </a:rPr>
              <a:t>外部（インターネット）</a:t>
            </a:r>
          </a:p>
        </p:txBody>
      </p:sp>
      <p:sp>
        <p:nvSpPr>
          <p:cNvPr id="421" name="d422"/>
          <p:cNvSpPr txBox="1"/>
          <p:nvPr/>
        </p:nvSpPr>
        <p:spPr>
          <a:xfrm>
            <a:off x="670000" y="2250000"/>
            <a:ext cx="900000" cy="300000"/>
          </a:xfrm>
          <a:prstGeom prst="rect">
            <a:avLst/>
          </a:prstGeom>
          <a:solidFill>
            <a:srgbClr val="FFFFFF"/>
          </a:solidFill>
          <a:ln w="9525">
            <a:solidFill>
              <a:srgbClr val="1C1C1E"/>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利用者の質問</a:t>
            </a:r>
          </a:p>
          <a:p>
            <a:pPr algn="ctr">
              <a:spcBef>
                <a:spcPts val="100"/>
              </a:spcBef>
              <a:lnSpc>
                <a:spcPct val="100000"/>
              </a:lnSpc>
              <a:buNone/>
            </a:pPr>
            <a:r>
              <a:rPr lang="ja-JP" altLang="en-US" sz="650" dirty="0">
                <a:solidFill>
                  <a:srgbClr val="63666A"/>
                </a:solidFill>
                <a:latin typeface="+mj-ea"/>
                <a:ea typeface="+mj-ea"/>
              </a:rPr>
              <a:t>経営AI相談</a:t>
            </a:r>
          </a:p>
        </p:txBody>
      </p:sp>
      <p:sp>
        <p:nvSpPr>
          <p:cNvPr id="423" name="d424"/>
          <p:cNvSpPr txBox="1"/>
          <p:nvPr/>
        </p:nvSpPr>
        <p:spPr>
          <a:xfrm>
            <a:off x="1720000" y="2250000"/>
            <a:ext cx="1620000" cy="300000"/>
          </a:xfrm>
          <a:prstGeom prst="rect">
            <a:avLst/>
          </a:prstGeom>
          <a:solidFill>
            <a:srgbClr val="FFFFFF"/>
          </a:solidFill>
          <a:ln w="9525">
            <a:solidFill>
              <a:srgbClr val="1C1C1E"/>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検索語の組み立て</a:t>
            </a:r>
          </a:p>
          <a:p>
            <a:pPr algn="ctr">
              <a:spcBef>
                <a:spcPts val="100"/>
              </a:spcBef>
              <a:lnSpc>
                <a:spcPct val="100000"/>
              </a:lnSpc>
              <a:buNone/>
            </a:pPr>
            <a:r>
              <a:rPr lang="ja-JP" altLang="en-US" sz="650" dirty="0">
                <a:solidFill>
                  <a:srgbClr val="63666A"/>
                </a:solidFill>
                <a:latin typeface="+mj-ea"/>
                <a:ea typeface="+mj-ea"/>
              </a:rPr>
              <a:t>質問文そのまま・最大300字</a:t>
            </a:r>
          </a:p>
        </p:txBody>
      </p:sp>
      <p:sp>
        <p:nvSpPr>
          <p:cNvPr id="425" name="d426"/>
          <p:cNvSpPr txBox="1"/>
          <p:nvPr/>
        </p:nvSpPr>
        <p:spPr>
          <a:xfrm>
            <a:off x="3730000" y="2250000"/>
            <a:ext cx="1514000" cy="300000"/>
          </a:xfrm>
          <a:prstGeom prst="rect">
            <a:avLst/>
          </a:prstGeom>
          <a:solidFill>
            <a:srgbClr val="FFFFFF"/>
          </a:solidFill>
          <a:ln w="12700">
            <a:solidFill>
              <a:srgbClr val="9B2743"/>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検索エンジン</a:t>
            </a:r>
          </a:p>
          <a:p>
            <a:pPr algn="ctr">
              <a:spcBef>
                <a:spcPts val="100"/>
              </a:spcBef>
              <a:lnSpc>
                <a:spcPct val="100000"/>
              </a:lnSpc>
              <a:buNone/>
            </a:pPr>
            <a:r>
              <a:rPr lang="ja-JP" altLang="en-US" sz="650" dirty="0">
                <a:solidFill>
                  <a:srgbClr val="63666A"/>
                </a:solidFill>
                <a:latin typeface="+mj-ea"/>
                <a:ea typeface="+mj-ea"/>
              </a:rPr>
              <a:t>DuckDuckGo（契約なし・無認証）</a:t>
            </a:r>
          </a:p>
        </p:txBody>
      </p:sp>
      <p:sp>
        <p:nvSpPr>
          <p:cNvPr id="427" name="d428"/>
          <p:cNvSpPr txBox="1"/>
          <p:nvPr/>
        </p:nvSpPr>
        <p:spPr>
          <a:xfrm>
            <a:off x="1720000" y="2690000"/>
            <a:ext cx="1620000" cy="300000"/>
          </a:xfrm>
          <a:prstGeom prst="rect">
            <a:avLst/>
          </a:prstGeom>
          <a:solidFill>
            <a:srgbClr val="FFFFFF"/>
          </a:solidFill>
          <a:ln w="9525">
            <a:solidFill>
              <a:srgbClr val="1C1C1E"/>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ページ本文の取得</a:t>
            </a:r>
          </a:p>
          <a:p>
            <a:pPr algn="ctr">
              <a:spcBef>
                <a:spcPts val="100"/>
              </a:spcBef>
              <a:lnSpc>
                <a:spcPct val="100000"/>
              </a:lnSpc>
              <a:buNone/>
            </a:pPr>
            <a:r>
              <a:rPr lang="ja-JP" altLang="en-US" sz="650" dirty="0">
                <a:solidFill>
                  <a:srgbClr val="63666A"/>
                </a:solidFill>
                <a:latin typeface="+mj-ea"/>
                <a:ea typeface="+mj-ea"/>
              </a:rPr>
              <a:t>上位3件・各6,000字</a:t>
            </a:r>
          </a:p>
        </p:txBody>
      </p:sp>
      <p:sp>
        <p:nvSpPr>
          <p:cNvPr id="429" name="d430"/>
          <p:cNvSpPr txBox="1"/>
          <p:nvPr/>
        </p:nvSpPr>
        <p:spPr>
          <a:xfrm>
            <a:off x="3730000" y="2690000"/>
            <a:ext cx="1514000" cy="300000"/>
          </a:xfrm>
          <a:prstGeom prst="rect">
            <a:avLst/>
          </a:prstGeom>
          <a:solidFill>
            <a:srgbClr val="FFFFFF"/>
          </a:solidFill>
          <a:ln w="12700">
            <a:solidFill>
              <a:srgbClr val="9B2743"/>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検索結果の各サイト</a:t>
            </a:r>
          </a:p>
          <a:p>
            <a:pPr algn="ctr">
              <a:spcBef>
                <a:spcPts val="100"/>
              </a:spcBef>
              <a:lnSpc>
                <a:spcPct val="100000"/>
              </a:lnSpc>
              <a:buNone/>
            </a:pPr>
            <a:r>
              <a:rPr lang="ja-JP" altLang="en-US" sz="650" dirty="0">
                <a:solidFill>
                  <a:srgbClr val="63666A"/>
                </a:solidFill>
                <a:latin typeface="+mj-ea"/>
                <a:ea typeface="+mj-ea"/>
              </a:rPr>
              <a:t>ニュース・企業サイト・ブログ</a:t>
            </a:r>
          </a:p>
        </p:txBody>
      </p:sp>
      <p:sp>
        <p:nvSpPr>
          <p:cNvPr id="431" name="d432"/>
          <p:cNvSpPr txBox="1"/>
          <p:nvPr/>
        </p:nvSpPr>
        <p:spPr>
          <a:xfrm>
            <a:off x="670000" y="3130000"/>
            <a:ext cx="900000" cy="300000"/>
          </a:xfrm>
          <a:prstGeom prst="rect">
            <a:avLst/>
          </a:prstGeom>
          <a:solidFill>
            <a:srgbClr val="FFFFFF"/>
          </a:solidFill>
          <a:ln w="9525">
            <a:solidFill>
              <a:srgbClr val="1C1C1E"/>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社内資料の検索</a:t>
            </a:r>
          </a:p>
          <a:p>
            <a:pPr algn="ctr">
              <a:spcBef>
                <a:spcPts val="100"/>
              </a:spcBef>
              <a:lnSpc>
                <a:spcPct val="100000"/>
              </a:lnSpc>
              <a:buNone/>
            </a:pPr>
            <a:r>
              <a:rPr lang="ja-JP" altLang="en-US" sz="650" dirty="0">
                <a:solidFill>
                  <a:srgbClr val="63666A"/>
                </a:solidFill>
                <a:latin typeface="+mj-ea"/>
                <a:ea typeface="+mj-ea"/>
              </a:rPr>
              <a:t>RAG（アプリ内）</a:t>
            </a:r>
          </a:p>
        </p:txBody>
      </p:sp>
      <p:sp>
        <p:nvSpPr>
          <p:cNvPr id="433" name="d434"/>
          <p:cNvSpPr txBox="1"/>
          <p:nvPr/>
        </p:nvSpPr>
        <p:spPr>
          <a:xfrm>
            <a:off x="1720000" y="3130000"/>
            <a:ext cx="1620000" cy="300000"/>
          </a:xfrm>
          <a:prstGeom prst="rect">
            <a:avLst/>
          </a:prstGeom>
          <a:solidFill>
            <a:srgbClr val="FFFFFF"/>
          </a:solidFill>
          <a:ln w="9525">
            <a:solidFill>
              <a:srgbClr val="1C1C1E"/>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回答生成</a:t>
            </a:r>
          </a:p>
          <a:p>
            <a:pPr algn="ctr">
              <a:spcBef>
                <a:spcPts val="100"/>
              </a:spcBef>
              <a:lnSpc>
                <a:spcPct val="100000"/>
              </a:lnSpc>
              <a:buNone/>
            </a:pPr>
            <a:r>
              <a:rPr lang="ja-JP" altLang="en-US" sz="650" dirty="0">
                <a:solidFill>
                  <a:srgbClr val="63666A"/>
                </a:solidFill>
                <a:latin typeface="+mj-ea"/>
                <a:ea typeface="+mj-ea"/>
              </a:rPr>
              <a:t>根拠＋外部本文を渡す</a:t>
            </a:r>
          </a:p>
        </p:txBody>
      </p:sp>
      <p:sp>
        <p:nvSpPr>
          <p:cNvPr id="435" name="d436"/>
          <p:cNvSpPr txBox="1"/>
          <p:nvPr/>
        </p:nvSpPr>
        <p:spPr>
          <a:xfrm>
            <a:off x="3730000" y="3130000"/>
            <a:ext cx="1514000" cy="300000"/>
          </a:xfrm>
          <a:prstGeom prst="rect">
            <a:avLst/>
          </a:prstGeom>
          <a:solidFill>
            <a:srgbClr val="FFFFFF"/>
          </a:solidFill>
          <a:ln w="9525">
            <a:solidFill>
              <a:srgbClr val="53565A"/>
            </a:solidFill>
          </a:ln>
        </p:spPr>
        <p:txBody>
          <a:bodyPr wrap="square" lIns="27432" tIns="18288" rIns="27432" bIns="18288" anchor="ctr">
            <a:noAutofit/>
          </a:bodyPr>
          <a:lstStyle/>
          <a:p>
            <a:pPr algn="ctr">
              <a:lnSpc>
                <a:spcPct val="100000"/>
              </a:lnSpc>
              <a:buNone/>
            </a:pPr>
            <a:r>
              <a:rPr lang="ja-JP" altLang="en-US" sz="800" b="1" dirty="0">
                <a:solidFill>
                  <a:srgbClr val="1C1C1E"/>
                </a:solidFill>
                <a:latin typeface="+mj-ea"/>
                <a:ea typeface="+mj-ea"/>
              </a:rPr>
              <a:t>LLM（Bedrock）</a:t>
            </a:r>
          </a:p>
          <a:p>
            <a:pPr algn="ctr">
              <a:spcBef>
                <a:spcPts val="100"/>
              </a:spcBef>
              <a:lnSpc>
                <a:spcPct val="100000"/>
              </a:lnSpc>
              <a:buNone/>
            </a:pPr>
            <a:r>
              <a:rPr lang="ja-JP" altLang="en-US" sz="650" dirty="0">
                <a:solidFill>
                  <a:srgbClr val="63666A"/>
                </a:solidFill>
                <a:latin typeface="+mj-ea"/>
                <a:ea typeface="+mj-ea"/>
              </a:rPr>
              <a:t>検索OFFでも使う既存経路</a:t>
            </a:r>
          </a:p>
        </p:txBody>
      </p:sp>
      <p:sp>
        <p:nvSpPr>
          <p:cNvPr id="437" name="ln438"/>
          <p:cNvSpPr/>
          <p:nvPr/>
        </p:nvSpPr>
        <p:spPr>
          <a:xfrm>
            <a:off x="1570000" y="2400000"/>
            <a:ext cx="150000" cy="0"/>
          </a:xfrm>
          <a:prstGeom prst="line">
            <a:avLst/>
          </a:prstGeom>
          <a:ln w="12700">
            <a:solidFill>
              <a:srgbClr val="63666A"/>
            </a:solidFill>
            <a:tailEnd type="triangle" w="med" len="med"/>
          </a:ln>
        </p:spPr>
        <p:txBody>
          <a:bodyPr/>
          <a:lstStyle/>
          <a:p>
            <a:endParaRPr lang="ja-JP"/>
          </a:p>
        </p:txBody>
      </p:sp>
      <p:sp>
        <p:nvSpPr>
          <p:cNvPr id="439" name="ln440"/>
          <p:cNvSpPr/>
          <p:nvPr/>
        </p:nvSpPr>
        <p:spPr>
          <a:xfrm>
            <a:off x="1570000" y="3280000"/>
            <a:ext cx="150000" cy="0"/>
          </a:xfrm>
          <a:prstGeom prst="line">
            <a:avLst/>
          </a:prstGeom>
          <a:ln w="12700">
            <a:solidFill>
              <a:srgbClr val="63666A"/>
            </a:solidFill>
            <a:tailEnd type="triangle" w="med" len="med"/>
          </a:ln>
        </p:spPr>
        <p:txBody>
          <a:bodyPr/>
          <a:lstStyle/>
          <a:p>
            <a:endParaRPr lang="ja-JP"/>
          </a:p>
        </p:txBody>
      </p:sp>
      <p:sp>
        <p:nvSpPr>
          <p:cNvPr id="441" name="ln442"/>
          <p:cNvSpPr/>
          <p:nvPr/>
        </p:nvSpPr>
        <p:spPr>
          <a:xfrm>
            <a:off x="2530000" y="2550000"/>
            <a:ext cx="0" cy="140000"/>
          </a:xfrm>
          <a:prstGeom prst="line">
            <a:avLst/>
          </a:prstGeom>
          <a:ln w="12700">
            <a:solidFill>
              <a:srgbClr val="63666A"/>
            </a:solidFill>
            <a:tailEnd type="triangle" w="med" len="med"/>
          </a:ln>
        </p:spPr>
        <p:txBody>
          <a:bodyPr/>
          <a:lstStyle/>
          <a:p>
            <a:endParaRPr lang="ja-JP"/>
          </a:p>
        </p:txBody>
      </p:sp>
      <p:sp>
        <p:nvSpPr>
          <p:cNvPr id="443" name="ln444"/>
          <p:cNvSpPr/>
          <p:nvPr/>
        </p:nvSpPr>
        <p:spPr>
          <a:xfrm>
            <a:off x="2530000" y="2990000"/>
            <a:ext cx="0" cy="140000"/>
          </a:xfrm>
          <a:prstGeom prst="line">
            <a:avLst/>
          </a:prstGeom>
          <a:ln w="12700">
            <a:solidFill>
              <a:srgbClr val="63666A"/>
            </a:solidFill>
            <a:tailEnd type="triangle" w="med" len="med"/>
          </a:ln>
        </p:spPr>
        <p:txBody>
          <a:bodyPr/>
          <a:lstStyle/>
          <a:p>
            <a:endParaRPr lang="ja-JP"/>
          </a:p>
        </p:txBody>
      </p:sp>
      <p:sp>
        <p:nvSpPr>
          <p:cNvPr id="445" name="ln446"/>
          <p:cNvSpPr/>
          <p:nvPr/>
        </p:nvSpPr>
        <p:spPr>
          <a:xfrm>
            <a:off x="3340000" y="2355000"/>
            <a:ext cx="390000" cy="0"/>
          </a:xfrm>
          <a:prstGeom prst="line">
            <a:avLst/>
          </a:prstGeom>
          <a:ln w="15875">
            <a:solidFill>
              <a:srgbClr val="9B2743"/>
            </a:solidFill>
            <a:tailEnd type="triangle" w="med" len="med"/>
          </a:ln>
        </p:spPr>
        <p:txBody>
          <a:bodyPr/>
          <a:lstStyle/>
          <a:p>
            <a:endParaRPr lang="ja-JP"/>
          </a:p>
        </p:txBody>
      </p:sp>
      <p:sp>
        <p:nvSpPr>
          <p:cNvPr id="447" name="ln448"/>
          <p:cNvSpPr/>
          <p:nvPr/>
        </p:nvSpPr>
        <p:spPr>
          <a:xfrm flipH="1">
            <a:off x="3340000" y="2475000"/>
            <a:ext cx="390000" cy="0"/>
          </a:xfrm>
          <a:prstGeom prst="line">
            <a:avLst/>
          </a:prstGeom>
          <a:ln w="9525">
            <a:solidFill>
              <a:srgbClr val="63666A"/>
            </a:solidFill>
            <a:tailEnd type="triangle" w="med" len="med"/>
          </a:ln>
        </p:spPr>
        <p:txBody>
          <a:bodyPr/>
          <a:lstStyle/>
          <a:p>
            <a:endParaRPr lang="ja-JP"/>
          </a:p>
        </p:txBody>
      </p:sp>
      <p:sp>
        <p:nvSpPr>
          <p:cNvPr id="449" name="al450"/>
          <p:cNvSpPr txBox="1"/>
          <p:nvPr/>
        </p:nvSpPr>
        <p:spPr>
          <a:xfrm>
            <a:off x="3300000" y="2140000"/>
            <a:ext cx="470000" cy="150000"/>
          </a:xfrm>
          <a:prstGeom prst="rect">
            <a:avLst/>
          </a:prstGeom>
          <a:noFill/>
          <a:ln>
            <a:noFill/>
          </a:ln>
        </p:spPr>
        <p:txBody>
          <a:bodyPr wrap="square" lIns="0" tIns="0" rIns="0" bIns="0" anchor="ctr">
            <a:noAutofit/>
          </a:bodyPr>
          <a:lstStyle/>
          <a:p>
            <a:pPr algn="ctr">
              <a:lnSpc>
                <a:spcPct val="100000"/>
              </a:lnSpc>
              <a:buNone/>
            </a:pPr>
            <a:r>
              <a:rPr lang="ja-JP" altLang="en-US" sz="650" b="1" dirty="0">
                <a:solidFill>
                  <a:srgbClr val="9B2743"/>
                </a:solidFill>
                <a:latin typeface="+mj-ea"/>
                <a:ea typeface="+mj-ea"/>
              </a:rPr>
              <a:t>① 質問文</a:t>
            </a:r>
          </a:p>
        </p:txBody>
      </p:sp>
      <p:sp>
        <p:nvSpPr>
          <p:cNvPr id="451" name="ln452"/>
          <p:cNvSpPr/>
          <p:nvPr/>
        </p:nvSpPr>
        <p:spPr>
          <a:xfrm>
            <a:off x="3340000" y="2795000"/>
            <a:ext cx="390000" cy="0"/>
          </a:xfrm>
          <a:prstGeom prst="line">
            <a:avLst/>
          </a:prstGeom>
          <a:ln w="15875">
            <a:solidFill>
              <a:srgbClr val="9B2743"/>
            </a:solidFill>
            <a:tailEnd type="triangle" w="med" len="med"/>
          </a:ln>
        </p:spPr>
        <p:txBody>
          <a:bodyPr/>
          <a:lstStyle/>
          <a:p>
            <a:endParaRPr lang="ja-JP"/>
          </a:p>
        </p:txBody>
      </p:sp>
      <p:sp>
        <p:nvSpPr>
          <p:cNvPr id="453" name="ln454"/>
          <p:cNvSpPr/>
          <p:nvPr/>
        </p:nvSpPr>
        <p:spPr>
          <a:xfrm flipH="1">
            <a:off x="3340000" y="2915000"/>
            <a:ext cx="390000" cy="0"/>
          </a:xfrm>
          <a:prstGeom prst="line">
            <a:avLst/>
          </a:prstGeom>
          <a:ln w="9525">
            <a:solidFill>
              <a:srgbClr val="63666A"/>
            </a:solidFill>
            <a:tailEnd type="triangle" w="med" len="med"/>
          </a:ln>
        </p:spPr>
        <p:txBody>
          <a:bodyPr/>
          <a:lstStyle/>
          <a:p>
            <a:endParaRPr lang="ja-JP"/>
          </a:p>
        </p:txBody>
      </p:sp>
      <p:sp>
        <p:nvSpPr>
          <p:cNvPr id="455" name="al456"/>
          <p:cNvSpPr txBox="1"/>
          <p:nvPr/>
        </p:nvSpPr>
        <p:spPr>
          <a:xfrm>
            <a:off x="3300000" y="2580000"/>
            <a:ext cx="470000" cy="150000"/>
          </a:xfrm>
          <a:prstGeom prst="rect">
            <a:avLst/>
          </a:prstGeom>
          <a:noFill/>
          <a:ln>
            <a:noFill/>
          </a:ln>
        </p:spPr>
        <p:txBody>
          <a:bodyPr wrap="square" lIns="0" tIns="0" rIns="0" bIns="0" anchor="ctr">
            <a:noAutofit/>
          </a:bodyPr>
          <a:lstStyle/>
          <a:p>
            <a:pPr algn="ctr">
              <a:lnSpc>
                <a:spcPct val="100000"/>
              </a:lnSpc>
              <a:buNone/>
            </a:pPr>
            <a:r>
              <a:rPr lang="ja-JP" altLang="en-US" sz="650" b="1" dirty="0">
                <a:solidFill>
                  <a:srgbClr val="9B2743"/>
                </a:solidFill>
                <a:latin typeface="+mj-ea"/>
                <a:ea typeface="+mj-ea"/>
              </a:rPr>
              <a:t>② UA・IP</a:t>
            </a:r>
          </a:p>
        </p:txBody>
      </p:sp>
      <p:sp>
        <p:nvSpPr>
          <p:cNvPr id="457" name="ln458"/>
          <p:cNvSpPr/>
          <p:nvPr/>
        </p:nvSpPr>
        <p:spPr>
          <a:xfrm>
            <a:off x="3340000" y="3235000"/>
            <a:ext cx="390000" cy="0"/>
          </a:xfrm>
          <a:prstGeom prst="line">
            <a:avLst/>
          </a:prstGeom>
          <a:ln w="12700">
            <a:solidFill>
              <a:srgbClr val="63666A"/>
            </a:solidFill>
            <a:tailEnd type="triangle" w="med" len="med"/>
          </a:ln>
        </p:spPr>
        <p:txBody>
          <a:bodyPr/>
          <a:lstStyle/>
          <a:p>
            <a:endParaRPr lang="ja-JP"/>
          </a:p>
        </p:txBody>
      </p:sp>
      <p:sp>
        <p:nvSpPr>
          <p:cNvPr id="459" name="ln460"/>
          <p:cNvSpPr/>
          <p:nvPr/>
        </p:nvSpPr>
        <p:spPr>
          <a:xfrm flipH="1">
            <a:off x="3340000" y="3355000"/>
            <a:ext cx="390000" cy="0"/>
          </a:xfrm>
          <a:prstGeom prst="line">
            <a:avLst/>
          </a:prstGeom>
          <a:ln w="9525">
            <a:solidFill>
              <a:srgbClr val="63666A"/>
            </a:solidFill>
            <a:tailEnd type="triangle" w="med" len="med"/>
          </a:ln>
        </p:spPr>
        <p:txBody>
          <a:bodyPr/>
          <a:lstStyle/>
          <a:p>
            <a:endParaRPr lang="ja-JP"/>
          </a:p>
        </p:txBody>
      </p:sp>
      <p:sp>
        <p:nvSpPr>
          <p:cNvPr id="461" name="cap462"/>
          <p:cNvSpPr txBox="1"/>
          <p:nvPr/>
        </p:nvSpPr>
        <p:spPr>
          <a:xfrm>
            <a:off x="600000" y="3680000"/>
            <a:ext cx="4814000" cy="300000"/>
          </a:xfrm>
          <a:prstGeom prst="rect">
            <a:avLst/>
          </a:prstGeom>
          <a:noFill/>
          <a:ln>
            <a:noFill/>
          </a:ln>
        </p:spPr>
        <p:txBody>
          <a:bodyPr wrap="square" lIns="0" tIns="0" rIns="0" bIns="0" anchor="t">
            <a:noAutofit/>
          </a:bodyPr>
          <a:lstStyle/>
          <a:p>
            <a:pPr algn="l">
              <a:lnSpc>
                <a:spcPct val="110000"/>
              </a:lnSpc>
              <a:buNone/>
            </a:pPr>
            <a:r>
              <a:rPr lang="ja-JP" altLang="en-US" sz="700" dirty="0">
                <a:solidFill>
                  <a:srgbClr val="63666A"/>
                </a:solidFill>
                <a:latin typeface="+mj-ea"/>
                <a:ea typeface="+mj-ea"/>
              </a:rPr>
              <a:t>赤の矢印が、ウェブ検索を有効にしたときだけ発生する外部通信。①②は検索を止めれば経路ごと消える。社内資料の本文・会話履歴は検索語に含めていない。</a:t>
            </a:r>
          </a:p>
        </p:txBody>
      </p:sp>
      <p:sp>
        <p:nvSpPr>
          <p:cNvPr id="463" name="b1464"/>
          <p:cNvSpPr txBox="1"/>
          <p:nvPr/>
        </p:nvSpPr>
        <p:spPr>
          <a:xfrm>
            <a:off x="600000" y="4000000"/>
            <a:ext cx="4814000" cy="810000"/>
          </a:xfrm>
          <a:prstGeom prst="rect">
            <a:avLst/>
          </a:prstGeom>
          <a:noFill/>
          <a:ln>
            <a:noFill/>
          </a:ln>
        </p:spPr>
        <p:txBody>
          <a:bodyPr wrap="square" lIns="45720" tIns="0" rIns="45720" bIns="0" anchor="t">
            <a:noAutofit/>
          </a:bodyPr>
          <a:lstStyle/>
          <a:p>
            <a:pPr algn="l" marL="152400" indent="-152400">
              <a:lnSpc>
                <a:spcPct val="100000"/>
              </a:lnSpc>
              <a:buFont typeface="Arial"/>
              <a:buChar char="•"/>
            </a:pPr>
            <a:r>
              <a:rPr lang="ja-JP" altLang="en-US" sz="900" b="1" dirty="0">
                <a:solidFill>
                  <a:srgbClr val="1C1C1E"/>
                </a:solidFill>
                <a:latin typeface="+mj-ea"/>
                <a:ea typeface="+mj-ea"/>
              </a:rPr>
              <a:t>① 利用者の質問文が、そのまま外部の検索エンジンへ送信される（最大300字・伏字化なし）</a:t>
            </a:r>
          </a:p>
          <a:p>
            <a:pPr algn="l" marL="152400" indent="-152400">
              <a:spcBef>
                <a:spcPts val="350"/>
              </a:spcBef>
              <a:lnSpc>
                <a:spcPct val="100000"/>
              </a:lnSpc>
              <a:buFont typeface="Arial"/>
              <a:buChar char="•"/>
            </a:pPr>
            <a:r>
              <a:rPr lang="ja-JP" altLang="en-US" sz="900" b="1" dirty="0">
                <a:solidFill>
                  <a:srgbClr val="1C1C1E"/>
                </a:solidFill>
                <a:latin typeface="+mj-ea"/>
                <a:ea typeface="+mj-ea"/>
              </a:rPr>
              <a:t>② 取得先サイトのアクセスログに、アプリの識別子と接続元IPが残る</a:t>
            </a:r>
          </a:p>
        </p:txBody>
      </p:sp>
      <p:sp>
        <p:nvSpPr>
          <p:cNvPr id="465" name="col466"/>
          <p:cNvSpPr txBox="1"/>
          <p:nvPr/>
        </p:nvSpPr>
        <p:spPr>
          <a:xfrm>
            <a:off x="5734000" y="1890000"/>
            <a:ext cx="2889000" cy="3010000"/>
          </a:xfrm>
          <a:prstGeom prst="rect">
            <a:avLst/>
          </a:prstGeom>
          <a:noFill/>
          <a:ln>
            <a:noFill/>
          </a:ln>
        </p:spPr>
        <p:txBody>
          <a:bodyPr wrap="square" lIns="160020" tIns="137160" rIns="137160" bIns="91440" anchor="t">
            <a:noAutofit/>
          </a:bodyPr>
          <a:lstStyle/>
          <a:p>
            <a:pPr algn="l" marL="152400" indent="-152400">
              <a:lnSpc>
                <a:spcPct val="104000"/>
              </a:lnSpc>
              <a:buFont typeface="Arial"/>
              <a:buChar char="•"/>
            </a:pPr>
            <a:r>
              <a:rPr lang="ja-JP" altLang="en-US" sz="900" b="1" dirty="0">
                <a:solidFill>
                  <a:srgbClr val="9B2743"/>
                </a:solidFill>
                <a:latin typeface="+mj-ea"/>
                <a:ea typeface="+mj-ea"/>
              </a:rPr>
              <a:t>リスクチェックリスト No.18「禁止情報の入力による流出」に該当する</a:t>
            </a:r>
          </a:p>
          <a:p>
            <a:pPr algn="l" marL="152400" indent="-152400">
              <a:spcBef>
                <a:spcPts val="450"/>
              </a:spcBef>
              <a:lnSpc>
                <a:spcPct val="104000"/>
              </a:lnSpc>
              <a:buFont typeface="Arial"/>
              <a:buChar char="•"/>
            </a:pPr>
            <a:r>
              <a:rPr lang="ja-JP" altLang="en-US" sz="900" dirty="0">
                <a:solidFill>
                  <a:srgbClr val="1C1C1E"/>
                </a:solidFill>
                <a:latin typeface="+mj-ea"/>
                <a:ea typeface="+mj-ea"/>
              </a:rPr>
              <a:t>案件名・未公表の数値・人名が入力されれば、そのまま外部へ出る構造になっている</a:t>
            </a:r>
          </a:p>
          <a:p>
            <a:pPr algn="l" marL="152400" indent="-152400">
              <a:spcBef>
                <a:spcPts val="450"/>
              </a:spcBef>
              <a:lnSpc>
                <a:spcPct val="104000"/>
              </a:lnSpc>
              <a:buFont typeface="Arial"/>
              <a:buChar char="•"/>
            </a:pPr>
            <a:r>
              <a:rPr lang="ja-JP" altLang="en-US" sz="900" b="1" dirty="0">
                <a:solidFill>
                  <a:srgbClr val="9B2743"/>
                </a:solidFill>
                <a:latin typeface="+mj-ea"/>
                <a:ea typeface="+mj-ea"/>
              </a:rPr>
              <a:t>現構成のままでは、10月のセキュア公開のリリース要件を満たせない</a:t>
            </a:r>
          </a:p>
        </p:txBody>
      </p:sp>
      <p:sp>
        <p:nvSpPr>
          <p:cNvPr id="467" name="col468"/>
          <p:cNvSpPr txBox="1"/>
          <p:nvPr/>
        </p:nvSpPr>
        <p:spPr>
          <a:xfrm>
            <a:off x="8823000" y="1890000"/>
            <a:ext cx="2889000" cy="3010000"/>
          </a:xfrm>
          <a:prstGeom prst="rect">
            <a:avLst/>
          </a:prstGeom>
          <a:noFill/>
          <a:ln>
            <a:noFill/>
          </a:ln>
        </p:spPr>
        <p:txBody>
          <a:bodyPr wrap="square" lIns="160020" tIns="137160" rIns="137160" bIns="91440" anchor="t">
            <a:noAutofit/>
          </a:bodyPr>
          <a:lstStyle/>
          <a:p>
            <a:pPr algn="l" marL="152400" indent="-152400">
              <a:lnSpc>
                <a:spcPct val="104000"/>
              </a:lnSpc>
              <a:buFont typeface="Arial"/>
              <a:buChar char="•"/>
            </a:pPr>
            <a:r>
              <a:rPr lang="ja-JP" altLang="en-US" sz="900" b="1" dirty="0">
                <a:solidFill>
                  <a:srgbClr val="1C1C1E"/>
                </a:solidFill>
                <a:latin typeface="+mj-ea"/>
                <a:ea typeface="+mj-ea"/>
              </a:rPr>
              <a:t>① 安全性を担保した検索サービス（Brave Search 等）への切り替え</a:t>
            </a:r>
          </a:p>
          <a:p>
            <a:pPr algn="l" marL="152400" indent="-152400">
              <a:spcBef>
                <a:spcPts val="450"/>
              </a:spcBef>
              <a:lnSpc>
                <a:spcPct val="104000"/>
              </a:lnSpc>
              <a:buFont typeface="Arial"/>
              <a:buChar char="•"/>
            </a:pPr>
            <a:r>
              <a:rPr lang="ja-JP" altLang="en-US" sz="900" b="1" dirty="0">
                <a:solidFill>
                  <a:srgbClr val="1C1C1E"/>
                </a:solidFill>
                <a:latin typeface="+mj-ea"/>
                <a:ea typeface="+mj-ea"/>
              </a:rPr>
              <a:t>② 検索エンジンを経由せず、情報ソース先を限定した取得方式へ変更</a:t>
            </a:r>
          </a:p>
          <a:p>
            <a:pPr algn="l" marL="152400" indent="-152400">
              <a:spcBef>
                <a:spcPts val="450"/>
              </a:spcBef>
              <a:lnSpc>
                <a:spcPct val="104000"/>
              </a:lnSpc>
              <a:buFont typeface="Arial"/>
              <a:buChar char="•"/>
            </a:pPr>
            <a:r>
              <a:rPr lang="ja-JP" altLang="en-US" sz="900" dirty="0">
                <a:solidFill>
                  <a:srgbClr val="1C1C1E"/>
                </a:solidFill>
                <a:latin typeface="+mj-ea"/>
                <a:ea typeface="+mj-ea"/>
              </a:rPr>
              <a:t>いずれも、契約・情報ソースの選定・ガバナンスのリスク要件チェックに相応の時間を要する</a:t>
            </a:r>
          </a:p>
        </p:txBody>
      </p:sp>
      <p:sp>
        <p:nvSpPr>
          <p:cNvPr id="469" name="prophd470"/>
          <p:cNvSpPr txBox="1"/>
          <p:nvPr/>
        </p:nvSpPr>
        <p:spPr>
          <a:xfrm>
            <a:off x="480000" y="5100000"/>
            <a:ext cx="11232000" cy="330000"/>
          </a:xfrm>
          <a:prstGeom prst="rect">
            <a:avLst/>
          </a:prstGeom>
          <a:solidFill>
            <a:srgbClr val="046A38"/>
          </a:solidFill>
          <a:ln>
            <a:noFill/>
          </a:ln>
        </p:spPr>
        <p:txBody>
          <a:bodyPr wrap="square" lIns="0" tIns="0" rIns="0" bIns="0" anchor="ctr">
            <a:noAutofit/>
          </a:bodyPr>
          <a:lstStyle/>
          <a:p>
            <a:pPr algn="ctr">
              <a:lnSpc>
                <a:spcPct val="100000"/>
              </a:lnSpc>
              <a:buNone/>
            </a:pPr>
            <a:r>
              <a:rPr lang="ja-JP" altLang="en-US" sz="1050" b="1" dirty="0">
                <a:solidFill>
                  <a:srgbClr val="FFFFFF"/>
                </a:solidFill>
                <a:latin typeface="+mj-ea"/>
                <a:ea typeface="+mj-ea"/>
              </a:rPr>
              <a:t>ご提案</a:t>
            </a:r>
          </a:p>
        </p:txBody>
      </p:sp>
      <p:sp>
        <p:nvSpPr>
          <p:cNvPr id="471" name="propbd472"/>
          <p:cNvSpPr txBox="1"/>
          <p:nvPr/>
        </p:nvSpPr>
        <p:spPr>
          <a:xfrm>
            <a:off x="480000" y="5430000"/>
            <a:ext cx="11232000" cy="850000"/>
          </a:xfrm>
          <a:prstGeom prst="rect">
            <a:avLst/>
          </a:prstGeom>
          <a:solidFill>
            <a:srgbClr val="EDF6E3"/>
          </a:solidFill>
          <a:ln>
            <a:noFill/>
          </a:ln>
        </p:spPr>
        <p:txBody>
          <a:bodyPr wrap="square" lIns="228600" tIns="114300" rIns="228600" bIns="91440" anchor="t">
            <a:noAutofit/>
          </a:bodyPr>
          <a:lstStyle/>
          <a:p>
            <a:pPr algn="l" marL="152400" indent="-152400">
              <a:lnSpc>
                <a:spcPct val="100000"/>
              </a:lnSpc>
              <a:buFont typeface="Arial"/>
              <a:buChar char="•"/>
            </a:pPr>
            <a:r>
              <a:rPr lang="ja-JP" altLang="en-US" sz="1150" b="1" dirty="0">
                <a:solidFill>
                  <a:srgbClr val="046A38"/>
                </a:solidFill>
                <a:latin typeface="+mj-ea"/>
                <a:ea typeface="+mj-ea"/>
              </a:rPr>
              <a:t>10月のセキュア公開までは、自由質問のウェブ検索機能を一旦取り除く</a:t>
            </a:r>
          </a:p>
          <a:p>
            <a:pPr algn="l" marL="152400" indent="-152400">
              <a:spcBef>
                <a:spcPts val="350"/>
              </a:spcBef>
              <a:lnSpc>
                <a:spcPct val="100000"/>
              </a:lnSpc>
              <a:buFont typeface="Arial"/>
              <a:buChar char="•"/>
            </a:pPr>
            <a:r>
              <a:rPr lang="ja-JP" altLang="en-US" sz="1150" b="1" dirty="0">
                <a:solidFill>
                  <a:srgbClr val="046A38"/>
                </a:solidFill>
                <a:latin typeface="+mj-ea"/>
                <a:ea typeface="+mj-ea"/>
              </a:rPr>
              <a:t>10月以降、代替策の検討およびウェブ検索を要するユースケースの整理に合わせて、再度実装を検討する</a:t>
            </a:r>
          </a:p>
          <a:p>
            <a:pPr algn="l">
              <a:spcBef>
                <a:spcPts val="400"/>
              </a:spcBef>
              <a:lnSpc>
                <a:spcPct val="100000"/>
              </a:lnSpc>
              <a:buNone/>
            </a:pPr>
            <a:r>
              <a:rPr lang="ja-JP" altLang="en-US" sz="750" dirty="0">
                <a:solidFill>
                  <a:srgbClr val="63666A"/>
                </a:solidFill>
                <a:latin typeface="+mj-ea"/>
                <a:ea typeface="+mj-ea"/>
              </a:rPr>
              <a:t>※ 株価・為替・金利・気象などの外部データは日次で取得済みのため、失われるのは当日のニュース等の即時情報に限られます</a:t>
            </a:r>
          </a:p>
        </p:txBody>
      </p:sp>
    </p:spTree>
    <p:extLst>
      <p:ext uri="{BB962C8B-B14F-4D97-AF65-F5344CB8AC3E}">
        <p14:creationId xmlns:p14="http://schemas.microsoft.com/office/powerpoint/2010/main" val="1836597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74B0-14F3-8391-2E97-A4BB4E0CF025}"/>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5F44220-E73A-2D66-F2B6-9FC413798D36}"/>
              </a:ext>
            </a:extLst>
          </p:cNvPr>
          <p:cNvSpPr>
            <a:spLocks noGrp="1"/>
          </p:cNvSpPr>
          <p:nvPr>
            <p:ph type="body" sz="quarter" idx="15"/>
          </p:nvPr>
        </p:nvSpPr>
        <p:spPr/>
        <p:txBody>
          <a:bodyPr/>
          <a:lstStyle/>
          <a:p>
            <a:r>
              <a:rPr lang="ja-JP" altLang="en-US" dirty="0"/>
              <a:t>9/11 コードFIXまでの時間の使い方とロール別の動き方</a:t>
            </a:r>
          </a:p>
        </p:txBody>
      </p:sp>
      <p:sp>
        <p:nvSpPr>
          <p:cNvPr id="7" name="タイトル 6">
            <a:extLst>
              <a:ext uri="{FF2B5EF4-FFF2-40B4-BE49-F238E27FC236}">
                <a16:creationId xmlns:a16="http://schemas.microsoft.com/office/drawing/2014/main" id="{8A130457-252E-9702-5A3D-2E8ADDB23C13}"/>
              </a:ext>
            </a:extLst>
          </p:cNvPr>
          <p:cNvSpPr>
            <a:spLocks noGrp="1"/>
          </p:cNvSpPr>
          <p:nvPr>
            <p:ph type="title"/>
          </p:nvPr>
        </p:nvSpPr>
        <p:spPr/>
        <p:txBody>
          <a:bodyPr vert="horz" rIns="0"/>
          <a:lstStyle/>
          <a:p>
            <a:r>
              <a:rPr lang="ja-JP" altLang="en-US" dirty="0"/>
              <a:t>本日のFBを9/10中に反映のうえ9/11午後にFIX版を確定し、以降の改善分は10月以降に順次反映する方針といたします</a:t>
            </a:r>
          </a:p>
        </p:txBody>
      </p:sp>
      <p:sp>
        <p:nvSpPr>
          <p:cNvPr id="2" name="スライド番号プレースホルダー 1">
            <a:extLst>
              <a:ext uri="{FF2B5EF4-FFF2-40B4-BE49-F238E27FC236}">
                <a16:creationId xmlns:a16="http://schemas.microsoft.com/office/drawing/2014/main" id="{45E48585-C509-0A5A-4905-58BA782D5349}"/>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101" name="hd102"/>
          <p:cNvSpPr txBox="1"/>
          <p:nvPr/>
        </p:nvSpPr>
        <p:spPr>
          <a:xfrm>
            <a:off x="1790000"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9/9（水）</a:t>
            </a:r>
          </a:p>
          <a:p>
            <a:pPr algn="ctr">
              <a:lnSpc>
                <a:spcPct val="100000"/>
              </a:lnSpc>
              <a:buNone/>
            </a:pPr>
            <a:r>
              <a:rPr lang="ja-JP" altLang="en-US" sz="750" dirty="0">
                <a:solidFill>
                  <a:srgbClr val="63666A"/>
                </a:solidFill>
                <a:latin typeface="+mj-ea"/>
                <a:ea typeface="+mj-ea"/>
              </a:rPr>
              <a:t>本日</a:t>
            </a:r>
          </a:p>
        </p:txBody>
      </p:sp>
      <p:sp>
        <p:nvSpPr>
          <p:cNvPr id="103" name="hd104"/>
          <p:cNvSpPr txBox="1"/>
          <p:nvPr/>
        </p:nvSpPr>
        <p:spPr>
          <a:xfrm>
            <a:off x="3453666"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9/10（木）</a:t>
            </a:r>
          </a:p>
        </p:txBody>
      </p:sp>
      <p:sp>
        <p:nvSpPr>
          <p:cNvPr id="105" name="hd106"/>
          <p:cNvSpPr txBox="1"/>
          <p:nvPr/>
        </p:nvSpPr>
        <p:spPr>
          <a:xfrm>
            <a:off x="5117332"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9/11（金）午前</a:t>
            </a:r>
          </a:p>
        </p:txBody>
      </p:sp>
      <p:sp>
        <p:nvSpPr>
          <p:cNvPr id="107" name="hd108"/>
          <p:cNvSpPr txBox="1"/>
          <p:nvPr/>
        </p:nvSpPr>
        <p:spPr>
          <a:xfrm>
            <a:off x="6780998"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9/11（金）午後</a:t>
            </a:r>
          </a:p>
        </p:txBody>
      </p:sp>
      <p:sp>
        <p:nvSpPr>
          <p:cNvPr id="109" name="hd110"/>
          <p:cNvSpPr txBox="1"/>
          <p:nvPr/>
        </p:nvSpPr>
        <p:spPr>
          <a:xfrm>
            <a:off x="8444664"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9/12 〜 9月末</a:t>
            </a:r>
          </a:p>
        </p:txBody>
      </p:sp>
      <p:sp>
        <p:nvSpPr>
          <p:cNvPr id="111" name="hd112"/>
          <p:cNvSpPr txBox="1"/>
          <p:nvPr/>
        </p:nvSpPr>
        <p:spPr>
          <a:xfrm>
            <a:off x="10108330" y="1560000"/>
            <a:ext cx="1603666" cy="330000"/>
          </a:xfrm>
          <a:prstGeom prst="rect">
            <a:avLst/>
          </a:prstGeom>
          <a:noFill/>
          <a:ln>
            <a:noFill/>
          </a:ln>
        </p:spPr>
        <p:txBody>
          <a:bodyPr wrap="square" lIns="18288" tIns="0" rIns="18288" bIns="0" anchor="ctr">
            <a:noAutofit/>
          </a:bodyPr>
          <a:lstStyle/>
          <a:p>
            <a:pPr algn="ctr">
              <a:lnSpc>
                <a:spcPct val="100000"/>
              </a:lnSpc>
              <a:buNone/>
            </a:pPr>
            <a:r>
              <a:rPr lang="ja-JP" altLang="en-US" sz="900" b="1" dirty="0">
                <a:solidFill>
                  <a:srgbClr val="53565A"/>
                </a:solidFill>
                <a:latin typeface="+mj-ea"/>
                <a:ea typeface="+mj-ea"/>
              </a:rPr>
              <a:t>10月 〜</a:t>
            </a:r>
          </a:p>
        </p:txBody>
      </p:sp>
      <p:sp>
        <p:nvSpPr>
          <p:cNvPr id="113" name="ln114"/>
          <p:cNvSpPr/>
          <p:nvPr/>
        </p:nvSpPr>
        <p:spPr>
          <a:xfrm>
            <a:off x="1790000" y="1890000"/>
            <a:ext cx="9921996" cy="0"/>
          </a:xfrm>
          <a:prstGeom prst="line">
            <a:avLst/>
          </a:prstGeom>
          <a:ln w="15875">
            <a:solidFill>
              <a:srgbClr val="53565A"/>
            </a:solidFill>
          </a:ln>
        </p:spPr>
        <p:txBody>
          <a:bodyPr/>
          <a:lstStyle/>
          <a:p>
            <a:endParaRPr lang="ja-JP"/>
          </a:p>
        </p:txBody>
      </p:sp>
      <p:sp>
        <p:nvSpPr>
          <p:cNvPr id="115" name="ms116"/>
          <p:cNvSpPr txBox="1"/>
          <p:nvPr/>
        </p:nvSpPr>
        <p:spPr>
          <a:xfrm>
            <a:off x="6780998" y="1940000"/>
            <a:ext cx="1603666" cy="330000"/>
          </a:xfrm>
          <a:prstGeom prst="rect">
            <a:avLst/>
          </a:prstGeom>
          <a:solidFill>
            <a:srgbClr val="1C1C1E"/>
          </a:solidFill>
          <a:ln>
            <a:noFill/>
          </a:ln>
        </p:spPr>
        <p:txBody>
          <a:bodyPr wrap="square" lIns="18288" tIns="0" rIns="18288" bIns="0" anchor="ctr">
            <a:noAutofit/>
          </a:bodyPr>
          <a:lstStyle/>
          <a:p>
            <a:pPr algn="ctr">
              <a:lnSpc>
                <a:spcPct val="100000"/>
              </a:lnSpc>
              <a:buNone/>
            </a:pPr>
            <a:r>
              <a:rPr lang="ja-JP" altLang="en-US" sz="900" b="1" dirty="0">
                <a:solidFill>
                  <a:srgbClr val="FFFFFF"/>
                </a:solidFill>
                <a:latin typeface="+mj-ea"/>
                <a:ea typeface="+mj-ea"/>
              </a:rPr>
              <a:t>9/11 FIX</a:t>
            </a:r>
          </a:p>
          <a:p>
            <a:pPr algn="ctr">
              <a:lnSpc>
                <a:spcPct val="100000"/>
              </a:lnSpc>
              <a:buNone/>
            </a:pPr>
            <a:r>
              <a:rPr lang="ja-JP" altLang="en-US" sz="700" dirty="0">
                <a:solidFill>
                  <a:srgbClr val="D9D9D9"/>
                </a:solidFill>
                <a:latin typeface="+mj-ea"/>
                <a:ea typeface="+mj-ea"/>
              </a:rPr>
              <a:t>承認：阪急阪神様</a:t>
            </a:r>
          </a:p>
        </p:txBody>
      </p:sp>
      <p:sp>
        <p:nvSpPr>
          <p:cNvPr id="117" name="ln118"/>
          <p:cNvSpPr/>
          <p:nvPr/>
        </p:nvSpPr>
        <p:spPr>
          <a:xfrm>
            <a:off x="6750998" y="1890000"/>
            <a:ext cx="0" cy="3330000"/>
          </a:xfrm>
          <a:prstGeom prst="line">
            <a:avLst/>
          </a:prstGeom>
          <a:ln w="12700">
            <a:solidFill>
              <a:srgbClr val="1C1C1E"/>
            </a:solidFill>
            <a:prstDash val="dash"/>
          </a:ln>
        </p:spPr>
        <p:txBody>
          <a:bodyPr/>
          <a:lstStyle/>
          <a:p>
            <a:endParaRPr lang="ja-JP"/>
          </a:p>
        </p:txBody>
      </p:sp>
      <p:sp>
        <p:nvSpPr>
          <p:cNvPr id="119" name="lbl120"/>
          <p:cNvSpPr txBox="1"/>
          <p:nvPr/>
        </p:nvSpPr>
        <p:spPr>
          <a:xfrm>
            <a:off x="480000" y="2340000"/>
            <a:ext cx="1250000" cy="900000"/>
          </a:xfrm>
          <a:prstGeom prst="rect">
            <a:avLst/>
          </a:prstGeom>
          <a:noFill/>
          <a:ln>
            <a:noFill/>
          </a:ln>
        </p:spPr>
        <p:txBody>
          <a:bodyPr wrap="square" lIns="0" tIns="45720" rIns="45720" bIns="0" anchor="t">
            <a:noAutofit/>
          </a:bodyPr>
          <a:lstStyle/>
          <a:p>
            <a:pPr algn="l">
              <a:lnSpc>
                <a:spcPct val="100000"/>
              </a:lnSpc>
              <a:buNone/>
            </a:pPr>
            <a:r>
              <a:rPr lang="ja-JP" altLang="en-US" sz="950" b="1" dirty="0">
                <a:solidFill>
                  <a:srgbClr val="1C1C1E"/>
                </a:solidFill>
                <a:latin typeface="+mj-ea"/>
                <a:ea typeface="+mj-ea"/>
              </a:rPr>
              <a:t>阪急阪神様</a:t>
            </a:r>
          </a:p>
          <a:p>
            <a:pPr algn="l">
              <a:spcBef>
                <a:spcPts val="200"/>
              </a:spcBef>
              <a:lnSpc>
                <a:spcPct val="100000"/>
              </a:lnSpc>
              <a:buNone/>
            </a:pPr>
            <a:r>
              <a:rPr lang="ja-JP" altLang="en-US" sz="750" dirty="0">
                <a:solidFill>
                  <a:srgbClr val="63666A"/>
                </a:solidFill>
                <a:latin typeface="+mj-ea"/>
                <a:ea typeface="+mj-ea"/>
              </a:rPr>
              <a:t>FB・レビュー／承認</a:t>
            </a:r>
          </a:p>
        </p:txBody>
      </p:sp>
      <p:sp>
        <p:nvSpPr>
          <p:cNvPr id="121" name="lbl122"/>
          <p:cNvSpPr txBox="1"/>
          <p:nvPr/>
        </p:nvSpPr>
        <p:spPr>
          <a:xfrm>
            <a:off x="480000" y="3330000"/>
            <a:ext cx="1250000" cy="900000"/>
          </a:xfrm>
          <a:prstGeom prst="rect">
            <a:avLst/>
          </a:prstGeom>
          <a:noFill/>
          <a:ln>
            <a:noFill/>
          </a:ln>
        </p:spPr>
        <p:txBody>
          <a:bodyPr wrap="square" lIns="0" tIns="45720" rIns="45720" bIns="0" anchor="t">
            <a:noAutofit/>
          </a:bodyPr>
          <a:lstStyle/>
          <a:p>
            <a:pPr algn="l">
              <a:lnSpc>
                <a:spcPct val="100000"/>
              </a:lnSpc>
              <a:buNone/>
            </a:pPr>
            <a:r>
              <a:rPr lang="ja-JP" altLang="en-US" sz="950" b="1" dirty="0">
                <a:solidFill>
                  <a:srgbClr val="046A38"/>
                </a:solidFill>
                <a:latin typeface="+mj-ea"/>
                <a:ea typeface="+mj-ea"/>
              </a:rPr>
              <a:t>デロイト</a:t>
            </a:r>
          </a:p>
          <a:p>
            <a:pPr algn="l">
              <a:spcBef>
                <a:spcPts val="200"/>
              </a:spcBef>
              <a:lnSpc>
                <a:spcPct val="100000"/>
              </a:lnSpc>
              <a:buNone/>
            </a:pPr>
            <a:r>
              <a:rPr lang="ja-JP" altLang="en-US" sz="750" dirty="0">
                <a:solidFill>
                  <a:srgbClr val="63666A"/>
                </a:solidFill>
                <a:latin typeface="+mj-ea"/>
                <a:ea typeface="+mj-ea"/>
              </a:rPr>
              <a:t>PoCアプリの改修</a:t>
            </a:r>
          </a:p>
        </p:txBody>
      </p:sp>
      <p:sp>
        <p:nvSpPr>
          <p:cNvPr id="123" name="lbl124"/>
          <p:cNvSpPr txBox="1"/>
          <p:nvPr/>
        </p:nvSpPr>
        <p:spPr>
          <a:xfrm>
            <a:off x="480000" y="4320000"/>
            <a:ext cx="1250000" cy="900000"/>
          </a:xfrm>
          <a:prstGeom prst="rect">
            <a:avLst/>
          </a:prstGeom>
          <a:noFill/>
          <a:ln>
            <a:noFill/>
          </a:ln>
        </p:spPr>
        <p:txBody>
          <a:bodyPr wrap="square" lIns="0" tIns="45720" rIns="45720" bIns="0" anchor="t">
            <a:noAutofit/>
          </a:bodyPr>
          <a:lstStyle/>
          <a:p>
            <a:pPr algn="l">
              <a:lnSpc>
                <a:spcPct val="100000"/>
              </a:lnSpc>
              <a:buNone/>
            </a:pPr>
            <a:r>
              <a:rPr lang="ja-JP" altLang="en-US" sz="950" b="1" dirty="0">
                <a:solidFill>
                  <a:srgbClr val="1F4E79"/>
                </a:solidFill>
                <a:latin typeface="+mj-ea"/>
                <a:ea typeface="+mj-ea"/>
              </a:rPr>
              <a:t>ITEC様</a:t>
            </a:r>
          </a:p>
          <a:p>
            <a:pPr algn="l">
              <a:spcBef>
                <a:spcPts val="200"/>
              </a:spcBef>
              <a:lnSpc>
                <a:spcPct val="100000"/>
              </a:lnSpc>
              <a:buNone/>
            </a:pPr>
            <a:r>
              <a:rPr lang="ja-JP" altLang="en-US" sz="750" dirty="0">
                <a:solidFill>
                  <a:srgbClr val="63666A"/>
                </a:solidFill>
                <a:latin typeface="+mj-ea"/>
                <a:ea typeface="+mj-ea"/>
              </a:rPr>
              <a:t>引き継ぎ・統合テスト</a:t>
            </a:r>
          </a:p>
        </p:txBody>
      </p:sp>
      <p:sp>
        <p:nvSpPr>
          <p:cNvPr id="125" name="c126"/>
          <p:cNvSpPr txBox="1"/>
          <p:nvPr/>
        </p:nvSpPr>
        <p:spPr>
          <a:xfrm>
            <a:off x="1790000" y="2340000"/>
            <a:ext cx="1603666" cy="900000"/>
          </a:xfrm>
          <a:prstGeom prst="rect">
            <a:avLst/>
          </a:prstGeom>
          <a:solidFill>
            <a:srgbClr val="FFFFFF"/>
          </a:solidFill>
          <a:ln w="9525">
            <a:solidFill>
              <a:srgbClr val="53565A"/>
            </a:solid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両アプリをご確認</a:t>
            </a:r>
          </a:p>
          <a:p>
            <a:pPr algn="l">
              <a:spcBef>
                <a:spcPts val="150"/>
              </a:spcBef>
              <a:lnSpc>
                <a:spcPct val="104000"/>
              </a:lnSpc>
              <a:buNone/>
            </a:pPr>
            <a:r>
              <a:rPr lang="ja-JP" altLang="en-US" sz="800" dirty="0">
                <a:solidFill>
                  <a:srgbClr val="1C1C1E"/>
                </a:solidFill>
                <a:latin typeface="+mj-ea"/>
                <a:ea typeface="+mj-ea"/>
              </a:rPr>
              <a:t>改修点を洗い出し、本日この場で優先順位を決定</a:t>
            </a:r>
          </a:p>
        </p:txBody>
      </p:sp>
      <p:sp>
        <p:nvSpPr>
          <p:cNvPr id="127" name="c128"/>
          <p:cNvSpPr txBox="1"/>
          <p:nvPr/>
        </p:nvSpPr>
        <p:spPr>
          <a:xfrm>
            <a:off x="5117332" y="2340000"/>
            <a:ext cx="1603666" cy="900000"/>
          </a:xfrm>
          <a:prstGeom prst="rect">
            <a:avLst/>
          </a:prstGeom>
          <a:solidFill>
            <a:srgbClr val="FFFFFF"/>
          </a:solidFill>
          <a:ln w="9525">
            <a:solidFill>
              <a:srgbClr val="53565A"/>
            </a:solid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反映内容のご確認</a:t>
            </a:r>
          </a:p>
          <a:p>
            <a:pPr algn="l">
              <a:spcBef>
                <a:spcPts val="150"/>
              </a:spcBef>
              <a:lnSpc>
                <a:spcPct val="104000"/>
              </a:lnSpc>
              <a:buNone/>
            </a:pPr>
            <a:r>
              <a:rPr lang="ja-JP" altLang="en-US" sz="800" dirty="0">
                <a:solidFill>
                  <a:srgbClr val="1C1C1E"/>
                </a:solidFill>
                <a:latin typeface="+mj-ea"/>
                <a:ea typeface="+mj-ea"/>
              </a:rPr>
              <a:t>追加の微修正はメール・お電話にてご連絡</a:t>
            </a:r>
          </a:p>
        </p:txBody>
      </p:sp>
      <p:sp>
        <p:nvSpPr>
          <p:cNvPr id="129" name="c130"/>
          <p:cNvSpPr txBox="1"/>
          <p:nvPr/>
        </p:nvSpPr>
        <p:spPr>
          <a:xfrm>
            <a:off x="6780998" y="2340000"/>
            <a:ext cx="1603666" cy="900000"/>
          </a:xfrm>
          <a:prstGeom prst="rect">
            <a:avLst/>
          </a:prstGeom>
          <a:solidFill>
            <a:srgbClr val="FFFFFF"/>
          </a:solidFill>
          <a:ln w="9525">
            <a:solidFill>
              <a:srgbClr val="53565A"/>
            </a:solid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FIX範囲の承認</a:t>
            </a:r>
          </a:p>
        </p:txBody>
      </p:sp>
      <p:sp>
        <p:nvSpPr>
          <p:cNvPr id="131" name="c132"/>
          <p:cNvSpPr txBox="1"/>
          <p:nvPr/>
        </p:nvSpPr>
        <p:spPr>
          <a:xfrm>
            <a:off x="8444664" y="2340000"/>
            <a:ext cx="1603666" cy="900000"/>
          </a:xfrm>
          <a:prstGeom prst="rect">
            <a:avLst/>
          </a:prstGeom>
          <a:solidFill>
            <a:srgbClr val="FFFFFF"/>
          </a:solidFill>
          <a:ln w="9525">
            <a:solidFill>
              <a:srgbClr val="53565A"/>
            </a:solid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改善サイクルへのFB継続</a:t>
            </a:r>
          </a:p>
          <a:p>
            <a:pPr algn="l">
              <a:spcBef>
                <a:spcPts val="150"/>
              </a:spcBef>
              <a:lnSpc>
                <a:spcPct val="104000"/>
              </a:lnSpc>
              <a:buNone/>
            </a:pPr>
            <a:r>
              <a:rPr lang="ja-JP" altLang="en-US" sz="800" dirty="0">
                <a:solidFill>
                  <a:srgbClr val="1C1C1E"/>
                </a:solidFill>
                <a:latin typeface="+mj-ea"/>
                <a:ea typeface="+mj-ea"/>
              </a:rPr>
              <a:t>検証環境で確認・ご要望を継続</a:t>
            </a:r>
          </a:p>
        </p:txBody>
      </p:sp>
      <p:sp>
        <p:nvSpPr>
          <p:cNvPr id="133" name="c134"/>
          <p:cNvSpPr txBox="1"/>
          <p:nvPr/>
        </p:nvSpPr>
        <p:spPr>
          <a:xfrm>
            <a:off x="10108330" y="2340000"/>
            <a:ext cx="1603666" cy="900000"/>
          </a:xfrm>
          <a:prstGeom prst="rect">
            <a:avLst/>
          </a:prstGeom>
          <a:solidFill>
            <a:srgbClr val="FFFFFF"/>
          </a:solidFill>
          <a:ln w="9525">
            <a:solidFill>
              <a:srgbClr val="53565A"/>
            </a:solid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バックログの優先順位を決定</a:t>
            </a:r>
          </a:p>
        </p:txBody>
      </p:sp>
      <p:sp>
        <p:nvSpPr>
          <p:cNvPr id="135" name="c136"/>
          <p:cNvSpPr txBox="1"/>
          <p:nvPr/>
        </p:nvSpPr>
        <p:spPr>
          <a:xfrm>
            <a:off x="1790000" y="3330000"/>
            <a:ext cx="1603666" cy="900000"/>
          </a:xfrm>
          <a:prstGeom prst="rect">
            <a:avLst/>
          </a:prstGeom>
          <a:solidFill>
            <a:srgbClr val="D6EDDB"/>
          </a:solidFill>
          <a:ln>
            <a:noFill/>
          </a:ln>
        </p:spPr>
        <p:txBody>
          <a:bodyPr wrap="square" lIns="114300" tIns="68580" rIns="91440" bIns="68580" anchor="ctr">
            <a:noAutofit/>
          </a:bodyPr>
          <a:lstStyle/>
          <a:p>
            <a:pPr algn="l">
              <a:spcBef>
                <a:spcPts val="150"/>
              </a:spcBef>
              <a:lnSpc>
                <a:spcPct val="104000"/>
              </a:lnSpc>
              <a:buNone/>
            </a:pPr>
            <a:r>
              <a:rPr lang="ja-JP" altLang="en-US" sz="800" dirty="0">
                <a:solidFill>
                  <a:srgbClr val="1C1C1E"/>
                </a:solidFill>
                <a:latin typeface="+mj-ea"/>
                <a:ea typeface="+mj-ea"/>
              </a:rPr>
              <a:t>改修点の受領・優先順位づけ</a:t>
            </a:r>
          </a:p>
        </p:txBody>
      </p:sp>
      <p:sp>
        <p:nvSpPr>
          <p:cNvPr id="137" name="c138"/>
          <p:cNvSpPr txBox="1"/>
          <p:nvPr/>
        </p:nvSpPr>
        <p:spPr>
          <a:xfrm>
            <a:off x="3453666" y="3330000"/>
            <a:ext cx="1603666" cy="900000"/>
          </a:xfrm>
          <a:prstGeom prst="rect">
            <a:avLst/>
          </a:prstGeom>
          <a:solidFill>
            <a:srgbClr val="046A38"/>
          </a:solidFill>
          <a:ln>
            <a:noFill/>
          </a:ln>
        </p:spPr>
        <p:txBody>
          <a:bodyPr wrap="square" lIns="114300" tIns="68580" rIns="91440" bIns="68580" anchor="ctr">
            <a:noAutofit/>
          </a:bodyPr>
          <a:lstStyle/>
          <a:p>
            <a:pPr algn="l">
              <a:lnSpc>
                <a:spcPct val="100000"/>
              </a:lnSpc>
              <a:buNone/>
            </a:pPr>
            <a:r>
              <a:rPr lang="ja-JP" altLang="en-US" sz="850" b="1" dirty="0">
                <a:solidFill>
                  <a:srgbClr val="FFFFFF"/>
                </a:solidFill>
                <a:latin typeface="+mj-ea"/>
                <a:ea typeface="+mj-ea"/>
              </a:rPr>
              <a:t>修正点を反映</a:t>
            </a:r>
          </a:p>
          <a:p>
            <a:pPr algn="l">
              <a:spcBef>
                <a:spcPts val="150"/>
              </a:spcBef>
              <a:lnSpc>
                <a:spcPct val="104000"/>
              </a:lnSpc>
              <a:buNone/>
            </a:pPr>
            <a:r>
              <a:rPr lang="ja-JP" altLang="en-US" sz="800" dirty="0">
                <a:solidFill>
                  <a:srgbClr val="FFFFFF"/>
                </a:solidFill>
                <a:latin typeface="+mj-ea"/>
                <a:ea typeface="+mj-ea"/>
              </a:rPr>
              <a:t>木曜エンドまでに一通り完了</a:t>
            </a:r>
          </a:p>
        </p:txBody>
      </p:sp>
      <p:sp>
        <p:nvSpPr>
          <p:cNvPr id="139" name="c140"/>
          <p:cNvSpPr txBox="1"/>
          <p:nvPr/>
        </p:nvSpPr>
        <p:spPr>
          <a:xfrm>
            <a:off x="5117332" y="3330000"/>
            <a:ext cx="1603666" cy="900000"/>
          </a:xfrm>
          <a:prstGeom prst="rect">
            <a:avLst/>
          </a:prstGeom>
          <a:solidFill>
            <a:srgbClr val="046A38"/>
          </a:solidFill>
          <a:ln>
            <a:noFill/>
          </a:ln>
        </p:spPr>
        <p:txBody>
          <a:bodyPr wrap="square" lIns="114300" tIns="68580" rIns="91440" bIns="68580" anchor="ctr">
            <a:noAutofit/>
          </a:bodyPr>
          <a:lstStyle/>
          <a:p>
            <a:pPr algn="l">
              <a:spcBef>
                <a:spcPts val="150"/>
              </a:spcBef>
              <a:lnSpc>
                <a:spcPct val="104000"/>
              </a:lnSpc>
              <a:buNone/>
            </a:pPr>
            <a:r>
              <a:rPr lang="ja-JP" altLang="en-US" sz="800" dirty="0">
                <a:solidFill>
                  <a:srgbClr val="FFFFFF"/>
                </a:solidFill>
                <a:latin typeface="+mj-ea"/>
                <a:ea typeface="+mj-ea"/>
              </a:rPr>
              <a:t>追加の微修正を反映</a:t>
            </a:r>
          </a:p>
        </p:txBody>
      </p:sp>
      <p:sp>
        <p:nvSpPr>
          <p:cNvPr id="141" name="c142"/>
          <p:cNvSpPr txBox="1"/>
          <p:nvPr/>
        </p:nvSpPr>
        <p:spPr>
          <a:xfrm>
            <a:off x="6780998" y="3330000"/>
            <a:ext cx="1603666" cy="900000"/>
          </a:xfrm>
          <a:prstGeom prst="rect">
            <a:avLst/>
          </a:prstGeom>
          <a:solidFill>
            <a:srgbClr val="046A38"/>
          </a:solidFill>
          <a:ln>
            <a:noFill/>
          </a:ln>
        </p:spPr>
        <p:txBody>
          <a:bodyPr wrap="square" lIns="114300" tIns="68580" rIns="91440" bIns="68580" anchor="ctr">
            <a:noAutofit/>
          </a:bodyPr>
          <a:lstStyle/>
          <a:p>
            <a:pPr algn="l">
              <a:lnSpc>
                <a:spcPct val="100000"/>
              </a:lnSpc>
              <a:buNone/>
            </a:pPr>
            <a:r>
              <a:rPr lang="ja-JP" altLang="en-US" sz="850" b="1" dirty="0">
                <a:solidFill>
                  <a:srgbClr val="FFFFFF"/>
                </a:solidFill>
                <a:latin typeface="+mj-ea"/>
                <a:ea typeface="+mj-ea"/>
              </a:rPr>
              <a:t>FIX版を確定・引き渡し</a:t>
            </a:r>
          </a:p>
        </p:txBody>
      </p:sp>
      <p:sp>
        <p:nvSpPr>
          <p:cNvPr id="143" name="c144"/>
          <p:cNvSpPr txBox="1"/>
          <p:nvPr/>
        </p:nvSpPr>
        <p:spPr>
          <a:xfrm>
            <a:off x="8444664" y="3330000"/>
            <a:ext cx="1603666" cy="900000"/>
          </a:xfrm>
          <a:prstGeom prst="rect">
            <a:avLst/>
          </a:prstGeom>
          <a:solidFill>
            <a:srgbClr val="D6EDDB"/>
          </a:solidFill>
          <a:ln>
            <a:noFill/>
          </a:ln>
        </p:spPr>
        <p:txBody>
          <a:bodyPr wrap="square" lIns="114300" tIns="68580" rIns="91440" bIns="68580" anchor="ctr">
            <a:noAutofit/>
          </a:bodyPr>
          <a:lstStyle/>
          <a:p>
            <a:pPr algn="l">
              <a:lnSpc>
                <a:spcPct val="100000"/>
              </a:lnSpc>
              <a:buNone/>
            </a:pPr>
            <a:r>
              <a:rPr lang="ja-JP" altLang="en-US" sz="850" b="1" dirty="0">
                <a:solidFill>
                  <a:srgbClr val="1C1C1E"/>
                </a:solidFill>
                <a:latin typeface="+mj-ea"/>
                <a:ea typeface="+mj-ea"/>
              </a:rPr>
              <a:t>改善サイクルは継続</a:t>
            </a:r>
          </a:p>
          <a:p>
            <a:pPr algn="l">
              <a:spcBef>
                <a:spcPts val="150"/>
              </a:spcBef>
              <a:lnSpc>
                <a:spcPct val="104000"/>
              </a:lnSpc>
              <a:buNone/>
            </a:pPr>
            <a:r>
              <a:rPr lang="ja-JP" altLang="en-US" sz="800" dirty="0">
                <a:solidFill>
                  <a:srgbClr val="1C1C1E"/>
                </a:solidFill>
                <a:latin typeface="+mj-ea"/>
                <a:ea typeface="+mj-ea"/>
              </a:rPr>
              <a:t>検証環境に反映し、変更分を9月末までにITEC様へ連携</a:t>
            </a:r>
          </a:p>
        </p:txBody>
      </p:sp>
      <p:sp>
        <p:nvSpPr>
          <p:cNvPr id="145" name="c146"/>
          <p:cNvSpPr txBox="1"/>
          <p:nvPr/>
        </p:nvSpPr>
        <p:spPr>
          <a:xfrm>
            <a:off x="10108330" y="3330000"/>
            <a:ext cx="1603666" cy="900000"/>
          </a:xfrm>
          <a:prstGeom prst="rect">
            <a:avLst/>
          </a:prstGeom>
          <a:noFill/>
          <a:ln w="9525">
            <a:solidFill>
              <a:srgbClr val="53565A"/>
            </a:solidFill>
            <a:prstDash val="dash"/>
          </a:ln>
        </p:spPr>
        <p:txBody>
          <a:bodyPr wrap="square" lIns="114300" tIns="68580" rIns="91440" bIns="68580" anchor="ctr">
            <a:noAutofit/>
          </a:bodyPr>
          <a:lstStyle/>
          <a:p>
            <a:pPr algn="l">
              <a:spcBef>
                <a:spcPts val="150"/>
              </a:spcBef>
              <a:lnSpc>
                <a:spcPct val="104000"/>
              </a:lnSpc>
              <a:buNone/>
            </a:pPr>
            <a:r>
              <a:rPr lang="ja-JP" altLang="en-US" sz="800" dirty="0">
                <a:solidFill>
                  <a:srgbClr val="63666A"/>
                </a:solidFill>
                <a:latin typeface="+mj-ea"/>
                <a:ea typeface="+mj-ea"/>
              </a:rPr>
              <a:t>動き方は別途提案中</a:t>
            </a:r>
          </a:p>
        </p:txBody>
      </p:sp>
      <p:sp>
        <p:nvSpPr>
          <p:cNvPr id="147" name="c148"/>
          <p:cNvSpPr txBox="1"/>
          <p:nvPr/>
        </p:nvSpPr>
        <p:spPr>
          <a:xfrm>
            <a:off x="1790000" y="4320000"/>
            <a:ext cx="4930998" cy="900000"/>
          </a:xfrm>
          <a:prstGeom prst="rect">
            <a:avLst/>
          </a:prstGeom>
          <a:solidFill>
            <a:srgbClr val="DCE6F1"/>
          </a:solidFill>
          <a:ln>
            <a:noFill/>
          </a:ln>
        </p:spPr>
        <p:txBody>
          <a:bodyPr wrap="square" lIns="114300" tIns="68580" rIns="91440" bIns="68580" anchor="ctr">
            <a:noAutofit/>
          </a:bodyPr>
          <a:lstStyle/>
          <a:p>
            <a:pPr algn="l">
              <a:spcBef>
                <a:spcPts val="150"/>
              </a:spcBef>
              <a:lnSpc>
                <a:spcPct val="104000"/>
              </a:lnSpc>
              <a:buNone/>
            </a:pPr>
            <a:r>
              <a:rPr lang="ja-JP" altLang="en-US" sz="800" dirty="0">
                <a:solidFill>
                  <a:srgbClr val="1C1C1E"/>
                </a:solidFill>
                <a:latin typeface="+mj-ea"/>
                <a:ea typeface="+mj-ea"/>
              </a:rPr>
              <a:t>受入準備・テスト観点の整理</a:t>
            </a:r>
          </a:p>
        </p:txBody>
      </p:sp>
      <p:sp>
        <p:nvSpPr>
          <p:cNvPr id="149" name="c150"/>
          <p:cNvSpPr txBox="1"/>
          <p:nvPr/>
        </p:nvSpPr>
        <p:spPr>
          <a:xfrm>
            <a:off x="6780998" y="4320000"/>
            <a:ext cx="1603666" cy="900000"/>
          </a:xfrm>
          <a:prstGeom prst="rect">
            <a:avLst/>
          </a:prstGeom>
          <a:solidFill>
            <a:srgbClr val="1F4E79"/>
          </a:solidFill>
          <a:ln>
            <a:noFill/>
          </a:ln>
        </p:spPr>
        <p:txBody>
          <a:bodyPr wrap="square" lIns="114300" tIns="68580" rIns="91440" bIns="68580" anchor="ctr">
            <a:noAutofit/>
          </a:bodyPr>
          <a:lstStyle/>
          <a:p>
            <a:pPr algn="l">
              <a:spcBef>
                <a:spcPts val="150"/>
              </a:spcBef>
              <a:lnSpc>
                <a:spcPct val="104000"/>
              </a:lnSpc>
              <a:buNone/>
            </a:pPr>
            <a:r>
              <a:rPr lang="ja-JP" altLang="en-US" sz="800" dirty="0">
                <a:solidFill>
                  <a:srgbClr val="FFFFFF"/>
                </a:solidFill>
                <a:latin typeface="+mj-ea"/>
                <a:ea typeface="+mj-ea"/>
              </a:rPr>
              <a:t>FIX版を受領</a:t>
            </a:r>
          </a:p>
        </p:txBody>
      </p:sp>
      <p:sp>
        <p:nvSpPr>
          <p:cNvPr id="151" name="c152"/>
          <p:cNvSpPr txBox="1"/>
          <p:nvPr/>
        </p:nvSpPr>
        <p:spPr>
          <a:xfrm>
            <a:off x="8444664" y="4320000"/>
            <a:ext cx="1603666" cy="900000"/>
          </a:xfrm>
          <a:prstGeom prst="rect">
            <a:avLst/>
          </a:prstGeom>
          <a:solidFill>
            <a:srgbClr val="1F4E79"/>
          </a:solidFill>
          <a:ln>
            <a:noFill/>
          </a:ln>
        </p:spPr>
        <p:txBody>
          <a:bodyPr wrap="square" lIns="114300" tIns="68580" rIns="91440" bIns="68580" anchor="ctr">
            <a:noAutofit/>
          </a:bodyPr>
          <a:lstStyle/>
          <a:p>
            <a:pPr algn="l">
              <a:lnSpc>
                <a:spcPct val="100000"/>
              </a:lnSpc>
              <a:buNone/>
            </a:pPr>
            <a:r>
              <a:rPr lang="ja-JP" altLang="en-US" sz="850" b="1" dirty="0">
                <a:solidFill>
                  <a:srgbClr val="FFFFFF"/>
                </a:solidFill>
                <a:latin typeface="+mj-ea"/>
                <a:ea typeface="+mj-ea"/>
              </a:rPr>
              <a:t>統合テスト①②</a:t>
            </a:r>
          </a:p>
          <a:p>
            <a:pPr algn="l">
              <a:spcBef>
                <a:spcPts val="200"/>
              </a:spcBef>
              <a:lnSpc>
                <a:spcPct val="100000"/>
              </a:lnSpc>
              <a:buNone/>
            </a:pPr>
            <a:r>
              <a:rPr lang="ja-JP" altLang="en-US" sz="700" dirty="0">
                <a:solidFill>
                  <a:srgbClr val="FFFFFF"/>
                </a:solidFill>
                <a:latin typeface="+mj-ea"/>
                <a:ea typeface="+mj-ea"/>
              </a:rPr>
              <a:t>10月セキュア公開版はこの断面</a:t>
            </a:r>
          </a:p>
        </p:txBody>
      </p:sp>
      <p:sp>
        <p:nvSpPr>
          <p:cNvPr id="153" name="c154"/>
          <p:cNvSpPr txBox="1"/>
          <p:nvPr/>
        </p:nvSpPr>
        <p:spPr>
          <a:xfrm>
            <a:off x="10108330" y="4320000"/>
            <a:ext cx="1603666" cy="900000"/>
          </a:xfrm>
          <a:prstGeom prst="rect">
            <a:avLst/>
          </a:prstGeom>
          <a:solidFill>
            <a:srgbClr val="DCE6F1"/>
          </a:solidFill>
          <a:ln>
            <a:noFill/>
          </a:ln>
        </p:spPr>
        <p:txBody>
          <a:bodyPr wrap="square" lIns="114300" tIns="68580" rIns="91440" bIns="68580" anchor="ctr">
            <a:noAutofit/>
          </a:bodyPr>
          <a:lstStyle/>
          <a:p>
            <a:pPr algn="l">
              <a:spcBef>
                <a:spcPts val="150"/>
              </a:spcBef>
              <a:lnSpc>
                <a:spcPct val="104000"/>
              </a:lnSpc>
              <a:buNone/>
            </a:pPr>
            <a:r>
              <a:rPr lang="ja-JP" altLang="en-US" sz="800" dirty="0">
                <a:solidFill>
                  <a:srgbClr val="1C1C1E"/>
                </a:solidFill>
                <a:latin typeface="+mj-ea"/>
                <a:ea typeface="+mj-ea"/>
              </a:rPr>
              <a:t>FIX後の変更分を順次反映</a:t>
            </a:r>
          </a:p>
        </p:txBody>
      </p:sp>
      <p:sp>
        <p:nvSpPr>
          <p:cNvPr id="155" name="band156"/>
          <p:cNvSpPr txBox="1"/>
          <p:nvPr/>
        </p:nvSpPr>
        <p:spPr>
          <a:xfrm>
            <a:off x="480000" y="5440000"/>
            <a:ext cx="11232000" cy="640000"/>
          </a:xfrm>
          <a:prstGeom prst="rect">
            <a:avLst/>
          </a:prstGeom>
          <a:solidFill>
            <a:srgbClr val="EDF6E3"/>
          </a:solidFill>
          <a:ln>
            <a:noFill/>
          </a:ln>
        </p:spPr>
        <p:txBody>
          <a:bodyPr wrap="square" lIns="228600" tIns="45720" rIns="228600" bIns="45720" anchor="ctr">
            <a:noAutofit/>
          </a:bodyPr>
          <a:lstStyle/>
          <a:p>
            <a:pPr algn="l">
              <a:lnSpc>
                <a:spcPct val="100000"/>
              </a:lnSpc>
              <a:buNone/>
            </a:pPr>
            <a:r>
              <a:rPr lang="ja-JP" altLang="en-US" sz="1200" b="1" dirty="0">
                <a:solidFill>
                  <a:srgbClr val="046A38"/>
                </a:solidFill>
                <a:latin typeface="+mj-ea"/>
                <a:ea typeface="+mj-ea"/>
              </a:rPr>
              <a:t>10月のセキュア公開版は 9/11 FIX版です。</a:t>
            </a:r>
            <a:r>
              <a:rPr lang="ja-JP" altLang="en-US" sz="1200" b="1" dirty="0">
                <a:solidFill>
                  <a:srgbClr val="1C1C1E"/>
                </a:solidFill>
                <a:latin typeface="+mj-ea"/>
                <a:ea typeface="+mj-ea"/>
              </a:rPr>
              <a:t>FIX後の変更分は、10月以降にITEC様のワークロードを踏まえて順次反映していく方針といたします</a:t>
            </a:r>
          </a:p>
        </p:txBody>
      </p:sp>
    </p:spTree>
    <p:extLst>
      <p:ext uri="{BB962C8B-B14F-4D97-AF65-F5344CB8AC3E}">
        <p14:creationId xmlns:p14="http://schemas.microsoft.com/office/powerpoint/2010/main" val="18365974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41"/>
  <p:tag name="EE4P_STYLE_ID" val="076a8867-8b72-4914-890a-d2f9a5d03d9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16:9_J_202507">
  <a:themeElements>
    <a:clrScheme name="Deloitte2025">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8E462FA6-9B00-4E7F-BFC0-B6BC63B792EF}"/>
    </a:ext>
  </a:extLst>
</a:theme>
</file>

<file path=ppt/theme/theme2.xml><?xml version="1.0" encoding="utf-8"?>
<a:theme xmlns:a="http://schemas.openxmlformats.org/drawingml/2006/main" name="DT Template_16:9_J_202507_基本版②">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EC5F9899-8C00-41A7-90E2-1AA9CB841817}"/>
    </a:ext>
  </a:extLst>
</a:theme>
</file>

<file path=ppt/theme/theme3.xml><?xml version="1.0" encoding="utf-8"?>
<a:theme xmlns:a="http://schemas.openxmlformats.org/drawingml/2006/main" name="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4.xml><?xml version="1.0" encoding="utf-8"?>
<a:theme xmlns:a="http://schemas.openxmlformats.org/drawingml/2006/main" name="1_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algn="ctr">
          <a:solidFill>
            <a:srgbClr val="BBBCBC"/>
          </a:solidFill>
          <a:miter lim="800000"/>
          <a:headEnd/>
          <a:tailEnd/>
        </a:ln>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F75EE8-E51D-4422-BE39-CF7C03367777}">
  <ds:schemaRefs>
    <ds:schemaRef ds:uri="736c8bd6-b1a7-463d-a242-abcb0c1a3ab7"/>
    <ds:schemaRef ds:uri="25a5c49f-f1be-44ee-b7a9-954566e675d2"/>
    <ds:schemaRef ds:uri="http://purl.org/dc/terms/"/>
    <ds:schemaRef ds:uri="http://www.w3.org/XML/1998/namespace"/>
    <ds:schemaRef ds:uri="http://schemas.microsoft.com/office/infopath/2007/PartnerControls"/>
    <ds:schemaRef ds:uri="http://schemas.microsoft.com/office/2006/documentManagement/types"/>
    <ds:schemaRef ds:uri="http://purl.org/dc/dcmitype/"/>
    <ds:schemaRef ds:uri="http://schemas.microsoft.com/office/2006/metadata/propertie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17FBEDF8-B34A-44D4-809F-AC40EDF134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6c8bd6-b1a7-463d-a242-abcb0c1a3ab7"/>
    <ds:schemaRef ds:uri="25a5c49f-f1be-44ee-b7a9-954566e675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3C562D3-14B2-4A04-B255-084073502BBE}">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blank</Template>
  <TotalTime>569</TotalTime>
  <Words>2662</Words>
  <Application>Microsoft Office PowerPoint</Application>
  <PresentationFormat>Widescreen</PresentationFormat>
  <Paragraphs>309</Paragraphs>
  <Slides>14</Slides>
  <Notes>7</Notes>
  <HiddenSlides>0</HiddenSlides>
  <MMClips>0</MMClips>
  <ScaleCrop>false</ScaleCrop>
  <HeadingPairs>
    <vt:vector size="4" baseType="variant">
      <vt:variant>
        <vt:lpstr>Theme</vt:lpstr>
      </vt:variant>
      <vt:variant>
        <vt:i4>4</vt:i4>
      </vt:variant>
      <vt:variant>
        <vt:lpstr>Slide Titles</vt:lpstr>
      </vt:variant>
      <vt:variant>
        <vt:i4>14</vt:i4>
      </vt:variant>
    </vt:vector>
  </HeadingPairs>
  <TitlesOfParts>
    <vt:vector size="18" baseType="lpstr">
      <vt:lpstr>DT Template_16:9_J_202507</vt:lpstr>
      <vt:lpstr>DT Template_16:9_J_202507_基本版②</vt:lpstr>
      <vt:lpstr>DT Template_16:9_J_202401</vt:lpstr>
      <vt:lpstr>1_DT Template_16:9_J_202401</vt:lpstr>
      <vt:lpstr>PowerPoint Presentation</vt:lpstr>
      <vt:lpstr>本日のアジェンダ</vt:lpstr>
      <vt:lpstr>経営診断および株主総会Q&amp;Aアプリの初期構築が完了し、本格改善段階に移行します</vt:lpstr>
      <vt:lpstr>本日のアジェンダ</vt:lpstr>
      <vt:lpstr>本取り組みはスケジュール通り推進されています</vt:lpstr>
      <vt:lpstr>前回週次ミーティングのFBを踏まえ、経営診断・株主総会Q&amp;Aの主要改善を実装しました</vt:lpstr>
      <vt:lpstr>本日のアジェンダ</vt:lpstr>
      <vt:lpstr>経営診断ホーム画面を中心に、コアユーザーが直観的かつ気軽に使える体験へ改善しました</vt:lpstr>
      <vt:lpstr>総会QAのコアBUの生データを起点に業務プロセスを見直し、主要ユーザー向けに機能を 洗練しました</vt:lpstr>
      <vt:lpstr>アプリ画面にてご説明いたします</vt:lpstr>
      <vt:lpstr>本日のアジェンダ</vt:lpstr>
      <vt:lpstr>PoCで得た成果を活かし、セキュア公開から全社基盤化まで段階的に本番実装を進めます</vt:lpstr>
      <vt:lpstr>10月セキュア公開に向けて、9/11にリリース対象版をFIXし、以降はITEC様が統合テスト・移行準備を主導、デロイトは引継ぎ資料整備、エラー・質疑対応、バックログ整理に注力します</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Xinlong</dc:creator>
  <cp:lastModifiedBy>Hu, Xinlong</cp:lastModifiedBy>
  <cp:revision>3</cp:revision>
  <dcterms:created xsi:type="dcterms:W3CDTF">2026-06-25T23:44:23Z</dcterms:created>
  <dcterms:modified xsi:type="dcterms:W3CDTF">2026-09-08T06:57:21Z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SIP_Label_ea60d57e-af5b-4752-ac57-3e4f28ca11dc_Enabled">
    <vt:lpwstr>true</vt:lpwstr>
  </property>
  <property fmtid="{D5CDD505-2E9C-101B-9397-08002B2CF9AE}" pid="4" name="MSIP_Label_ea60d57e-af5b-4752-ac57-3e4f28ca11dc_SetDate">
    <vt:lpwstr>2021-11-30T06:12:18Z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177f38b9-1e8a-4270-81d8-98c657c22e6c</vt:lpwstr>
  </property>
  <property fmtid="{D5CDD505-2E9C-101B-9397-08002B2CF9AE}" pid="9" name="MSIP_Label_ea60d57e-af5b-4752-ac57-3e4f28ca11dc_ContentBits">
    <vt:lpwstr>0</vt:lpwstr>
  </property>
  <property fmtid="{D5CDD505-2E9C-101B-9397-08002B2CF9AE}" pid="10" name="MediaServiceImageTags">
    <vt:lpwstr/>
  </property>
</Properties>
</file>