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25.bin" ContentType="application/vnd.openxmlformats-officedocument.oleObject"/>
  <Override PartName="/ppt/embeddings/oleObject26.bin" ContentType="application/vnd.openxmlformats-officedocument.oleObject"/>
  <Override PartName="/ppt/embeddings/oleObject27.bin" ContentType="application/vnd.openxmlformats-officedocument.oleObject"/>
  <Override PartName="/ppt/embeddings/oleObject28.bin" ContentType="application/vnd.openxmlformats-officedocument.oleObject"/>
  <Override PartName="/ppt/embeddings/oleObject29.bin" ContentType="application/vnd.openxmlformats-officedocument.oleObject"/>
  <Override PartName="/ppt/embeddings/oleObject3.bin" ContentType="application/vnd.openxmlformats-officedocument.oleObject"/>
  <Override PartName="/ppt/embeddings/oleObject30.bin" ContentType="application/vnd.openxmlformats-officedocument.oleObject"/>
  <Override PartName="/ppt/embeddings/oleObject31.bin" ContentType="application/vnd.openxmlformats-officedocument.oleObject"/>
  <Override PartName="/ppt/embeddings/oleObject32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8" r:id="rId4"/>
    <p:sldMasterId id="2147483919" r:id="rId5"/>
  </p:sldMasterIdLst>
  <p:notesMasterIdLst>
    <p:notesMasterId r:id="rId11"/>
  </p:notesMasterIdLst>
  <p:handoutMasterIdLst>
    <p:handoutMasterId r:id="rId12"/>
  </p:handoutMasterIdLst>
  <p:sldIdLst>
    <p:sldId id="2146847607" r:id="rId6"/>
    <p:sldId id="259" r:id="rId7"/>
    <p:sldId id="273" r:id="rId8"/>
    <p:sldId id="266" r:id="rId9"/>
    <p:sldId id="2146847608" r:id="rId21"/>
    <p:sldId id="275" r:id="rId10"/>
  </p:sldIdLst>
  <p:sldSz cx="12192000" cy="6858000"/>
  <p:notesSz cx="6735763" cy="9866313"/>
  <p:custDataLst>
    <p:tags r:id="rId13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29768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859536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289304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719072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148840" algn="l" defTabSz="859536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578608" algn="l" defTabSz="859536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008376" algn="l" defTabSz="859536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438144" algn="l" defTabSz="859536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3" orient="horz" pos="2137" userDrawn="1">
          <p15:clr>
            <a:srgbClr val="A4A3A4"/>
          </p15:clr>
        </p15:guide>
        <p15:guide id="4" pos="3863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A34F904-F128-8147-A709-5BA0B0EDD907}" name="Kato, Yoshiko 1" initials="K1" userId="S::yoshiko1.kato@tohmatsu.co.jp::0536b235-f5eb-4716-8d5f-c14ea1117cc8" providerId="AD"/>
  <p188:author id="{85B9C713-2719-418F-0DB1-FD33C6FBAE59}" name="Mori, Yukiko" initials="MY" userId="S::yukiko.mori@tohmatsu.co.jp::f6c28165-7909-45e9-8c53-3daca56a9b1c" providerId="AD"/>
  <p188:author id="{1E114F58-398E-C9D2-8536-99ABF1D54C77}" name="DLS" initials="u" userId="DLS" providerId="None"/>
  <p188:author id="{5FF94BAC-1D89-45C0-351C-0BB77D8448C6}" name="Fukushima, Rieko" initials="FR" userId="S::rieko.fukushima@tohmatsu.co.jp::42ea695b-0072-4304-903b-cd25183e2212" providerId="AD"/>
  <p188:author id="{668514CC-2331-AEE1-14A9-653540C09CE5}" name="Ochi, Hana" initials="OH" userId="S::haochi@tohmatsu.co.jp::9fa41629-42c7-428e-8d4f-8f774cfc7829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eshima, Michiru" initials="TM" lastIdx="16" clrIdx="0">
    <p:extLst>
      <p:ext uri="{19B8F6BF-5375-455C-9EA6-DF929625EA0E}">
        <p15:presenceInfo xmlns:p15="http://schemas.microsoft.com/office/powerpoint/2012/main" userId="S::miteshima@tohmatsu.co.jp::4ce32794-bca9-4413-b02a-c3d46948b27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6A38"/>
    <a:srgbClr val="9BE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8D6A08-FCAC-4358-BAE4-43561AE9EF14}" v="2376" dt="2026-09-15T09:35:23.863"/>
    <p1510:client id="{AB5C4B94-6472-7803-CE20-A7CD06FA2A8B}" v="102" dt="2026-09-15T08:42:14.940"/>
    <p1510:client id="{F245FC92-33F3-4BB8-AB35-C27D90D97766}" v="1" dt="2026-09-15T12:05:26.9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FECB4D8-DB02-4DC6-A0A2-4F2EBAE1DC90}" styleName="中間スタイル 1 - アクセント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中間スタイル 1 - アクセント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132" y="366"/>
      </p:cViewPr>
      <p:guideLst>
        <p:guide orient="horz" pos="2137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12" Type="http://schemas.openxmlformats.org/officeDocument/2006/relationships/handoutMaster" Target="handoutMasters/handoutMaster1.xml"/><Relationship Id="rId13" Type="http://schemas.openxmlformats.org/officeDocument/2006/relationships/tags" Target="tags/tag1.xml"/><Relationship Id="rId14" Type="http://schemas.openxmlformats.org/officeDocument/2006/relationships/commentAuthors" Target="commentAuthors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5/10/relationships/revisionInfo" Target="revisionInfo.xml"/><Relationship Id="rId20" Type="http://schemas.microsoft.com/office/2018/10/relationships/authors" Target="authors.xml"/><Relationship Id="rId21" Type="http://schemas.openxmlformats.org/officeDocument/2006/relationships/slide" Target="slides/slide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14763" y="0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EC3375-25C1-4132-8356-F0254E04DDEC}" type="datetimeFigureOut">
              <a:rPr kumimoji="1" lang="ja-JP" altLang="en-US" smtClean="0"/>
              <a:t>2026/9/28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371013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14763" y="9371013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64172F-6366-47B3-B3D8-F99B8E17CF9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84794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+mn-lt"/>
                <a:ea typeface="Yu Gothic UI" panose="020B0500000000000000" pitchFamily="50" charset="-128"/>
                <a:cs typeface="+mn-cs"/>
                <a:sym typeface="+mn-lt"/>
              </a:defRPr>
            </a:lvl1pPr>
          </a:lstStyle>
          <a:p>
            <a:endParaRPr kumimoji="1" lang="ja-JP" altLang="en-US">
              <a:latin typeface="Aptos" panose="020B0004020202020204" pitchFamily="34" charset="0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14763" y="0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+mn-lt"/>
                <a:ea typeface="Yu Gothic UI" panose="020B0500000000000000" pitchFamily="50" charset="-128"/>
                <a:cs typeface="+mn-cs"/>
                <a:sym typeface="+mn-lt"/>
              </a:defRPr>
            </a:lvl1pPr>
          </a:lstStyle>
          <a:p>
            <a:fld id="{AAE2C4BB-DD5D-4EF0-8811-528209874544}" type="datetimeFigureOut">
              <a:rPr kumimoji="1" lang="ja-JP" altLang="en-US" smtClean="0">
                <a:latin typeface="Aptos" panose="020B0004020202020204" pitchFamily="34" charset="0"/>
              </a:rPr>
              <a:pPr/>
              <a:t>2026/9/28</a:t>
            </a:fld>
            <a:endParaRPr kumimoji="1" lang="ja-JP" altLang="en-US">
              <a:latin typeface="Aptos" panose="020B0004020202020204" pitchFamily="34" charset="0"/>
            </a:endParaRPr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>
              <a:latin typeface="Aptos" panose="020B0004020202020204" pitchFamily="34" charset="0"/>
            </a:endParaRPr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3100" y="4748213"/>
            <a:ext cx="5389563" cy="38846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371013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+mn-lt"/>
                <a:ea typeface="Yu Gothic UI" panose="020B0500000000000000" pitchFamily="50" charset="-128"/>
                <a:cs typeface="+mn-cs"/>
                <a:sym typeface="+mn-lt"/>
              </a:defRPr>
            </a:lvl1pPr>
          </a:lstStyle>
          <a:p>
            <a:endParaRPr kumimoji="1" lang="ja-JP" altLang="en-US">
              <a:latin typeface="Aptos" panose="020B0004020202020204" pitchFamily="34" charset="0"/>
            </a:endParaRP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14763" y="9371013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+mn-lt"/>
                <a:ea typeface="Yu Gothic UI" panose="020B0500000000000000" pitchFamily="50" charset="-128"/>
                <a:cs typeface="+mn-cs"/>
                <a:sym typeface="+mn-lt"/>
              </a:defRPr>
            </a:lvl1pPr>
          </a:lstStyle>
          <a:p>
            <a:fld id="{24DE13BB-FCB6-4491-A87D-1E9BA7500F8E}" type="slidenum">
              <a:rPr kumimoji="1" lang="ja-JP" altLang="en-US" smtClean="0">
                <a:latin typeface="Aptos" panose="020B0004020202020204" pitchFamily="34" charset="0"/>
              </a:rPr>
              <a:pPr/>
              <a:t>‹#›</a:t>
            </a:fld>
            <a:endParaRPr kumimoji="1" lang="ja-JP" altLang="en-US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9852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Aptos" panose="020B0004020202020204" pitchFamily="34" charset="0"/>
        <a:ea typeface="Yu Gothic UI" panose="020B0500000000000000" pitchFamily="50" charset="-128"/>
        <a:cs typeface="+mn-cs"/>
        <a:sym typeface="+mn-lt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Aptos" panose="020B0004020202020204" pitchFamily="34" charset="0"/>
        <a:ea typeface="Yu Gothic UI" panose="020B0500000000000000" pitchFamily="50" charset="-128"/>
        <a:cs typeface="+mn-cs"/>
        <a:sym typeface="+mn-lt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Aptos" panose="020B0004020202020204" pitchFamily="34" charset="0"/>
        <a:ea typeface="Yu Gothic UI" panose="020B0500000000000000" pitchFamily="50" charset="-128"/>
        <a:cs typeface="+mn-cs"/>
        <a:sym typeface="+mn-lt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Aptos" panose="020B0004020202020204" pitchFamily="34" charset="0"/>
        <a:ea typeface="Yu Gothic UI" panose="020B0500000000000000" pitchFamily="50" charset="-128"/>
        <a:cs typeface="+mn-cs"/>
        <a:sym typeface="+mn-lt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Aptos" panose="020B0004020202020204" pitchFamily="34" charset="0"/>
        <a:ea typeface="Yu Gothic UI" panose="020B0500000000000000" pitchFamily="50" charset="-128"/>
        <a:cs typeface="+mn-cs"/>
        <a:sym typeface="+mn-lt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冒頭2分。3か月の成果→引継ぎ状況（9/11版は完了、以降分は材料を連携済み）→9/11版以降の改修と残要望、の順に要点だけ。詳細は各章で。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変遷は路線図で。8/04で経営診断と総会Q&amp;Aの2本柱に分かれ、9/11版で確定（FIX）、その後も毎週改修（9/27にOpus 5.5へ切替）。この後、共創の記録（動画・約4分）へ。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行＝引継ぎ物、列＝版。9/11版はソース・ドキュメントを共有し、ITEC様で統合テスト済み（9/27 利光様よりメール）。9/11版以降は材料を連携済みで、説明は順次。BOXのURLは要記入。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120点以上のご要望（メール・定例・打鍵会、見た目の微修正を含む）を機能単位の15項目に集約した台帳。9/27分は検証環境への配置を確認のうえ説明。No.5の9/24受付は推定。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左：実際にいただいた言葉（微修正を含む）。120点以上をすべて受け付け、右の15項目に集約して反映。詳細台帳は次ページ（Appendix）。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Relationship Id="rId5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1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1.emf"/><Relationship Id="rId5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1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6.bin"/><Relationship Id="rId4" Type="http://schemas.openxmlformats.org/officeDocument/2006/relationships/image" Target="../media/image1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1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8.bin"/><Relationship Id="rId4" Type="http://schemas.openxmlformats.org/officeDocument/2006/relationships/image" Target="../media/image1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9.bin"/><Relationship Id="rId4" Type="http://schemas.openxmlformats.org/officeDocument/2006/relationships/image" Target="../media/image1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0.bin"/><Relationship Id="rId4" Type="http://schemas.openxmlformats.org/officeDocument/2006/relationships/image" Target="../media/image1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1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1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3.bin"/><Relationship Id="rId4" Type="http://schemas.openxmlformats.org/officeDocument/2006/relationships/image" Target="../media/image1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4.bin"/><Relationship Id="rId4" Type="http://schemas.openxmlformats.org/officeDocument/2006/relationships/image" Target="../media/image1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5.bin"/><Relationship Id="rId4" Type="http://schemas.openxmlformats.org/officeDocument/2006/relationships/image" Target="../media/image1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1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6.bin"/><Relationship Id="rId4" Type="http://schemas.openxmlformats.org/officeDocument/2006/relationships/image" Target="../media/image1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7.bin"/><Relationship Id="rId4" Type="http://schemas.openxmlformats.org/officeDocument/2006/relationships/image" Target="../media/image1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1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8.bin"/><Relationship Id="rId4" Type="http://schemas.openxmlformats.org/officeDocument/2006/relationships/image" Target="../media/image1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9.bin"/><Relationship Id="rId4" Type="http://schemas.openxmlformats.org/officeDocument/2006/relationships/image" Target="../media/image1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2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0.bin"/><Relationship Id="rId4" Type="http://schemas.openxmlformats.org/officeDocument/2006/relationships/image" Target="../media/image1.emf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jpeg"/><Relationship Id="rId8" Type="http://schemas.openxmlformats.org/officeDocument/2006/relationships/image" Target="../media/image7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1.bin"/><Relationship Id="rId4" Type="http://schemas.openxmlformats.org/officeDocument/2006/relationships/image" Target="../media/image1.emf"/><Relationship Id="rId5" Type="http://schemas.openxmlformats.org/officeDocument/2006/relationships/image" Target="../media/image8.png"/><Relationship Id="rId6" Type="http://schemas.openxmlformats.org/officeDocument/2006/relationships/image" Target="../media/image7.png"/><Relationship Id="rId7" Type="http://schemas.openxmlformats.org/officeDocument/2006/relationships/image" Target="../media/image5.png"/><Relationship Id="rId8" Type="http://schemas.openxmlformats.org/officeDocument/2006/relationships/image" Target="../media/image6.jpe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2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2.bin"/><Relationship Id="rId4" Type="http://schemas.openxmlformats.org/officeDocument/2006/relationships/image" Target="../media/image1.emf"/><Relationship Id="rId5" Type="http://schemas.openxmlformats.org/officeDocument/2006/relationships/image" Target="../media/image3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2.bin"/><Relationship Id="rId4" Type="http://schemas.openxmlformats.org/officeDocument/2006/relationships/image" Target="../media/image1.emf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24.bin"/><Relationship Id="rId4" Type="http://schemas.openxmlformats.org/officeDocument/2006/relationships/image" Target="../media/image1.em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27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25.bin"/><Relationship Id="rId4" Type="http://schemas.openxmlformats.org/officeDocument/2006/relationships/image" Target="../media/image1.emf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26.bin"/><Relationship Id="rId4" Type="http://schemas.openxmlformats.org/officeDocument/2006/relationships/image" Target="../media/image1.emf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29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24.bin"/><Relationship Id="rId4" Type="http://schemas.openxmlformats.org/officeDocument/2006/relationships/image" Target="../media/image1.emf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27.bin"/><Relationship Id="rId4" Type="http://schemas.openxmlformats.org/officeDocument/2006/relationships/image" Target="../media/image1.emf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tags" Target="../tags/tag31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26.bin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基本版）タイトル_ ロゴ入り_16:9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72E5A2AA-8632-4C90-834B-AAF8FA2847A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70411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72E5A2AA-8632-4C90-834B-AAF8FA2847A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icture Placeholder 8"/>
          <p:cNvSpPr>
            <a:spLocks noGrp="1" noChangeAspect="1"/>
          </p:cNvSpPr>
          <p:nvPr>
            <p:ph type="pic" sz="quarter" idx="11"/>
          </p:nvPr>
        </p:nvSpPr>
        <p:spPr bwMode="gray">
          <a:xfrm>
            <a:off x="3666000" y="999000"/>
            <a:ext cx="4860000" cy="486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</a:lstStyle>
          <a:p>
            <a:r>
              <a:rPr lang="ja-JP" altLang="en-US"/>
              <a:t>アイコンをクリックして図を追加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78799" y="5292000"/>
            <a:ext cx="4680000" cy="864000"/>
          </a:xfrm>
        </p:spPr>
        <p:txBody>
          <a:bodyPr vert="horz" anchor="t" anchorCtr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 b="1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noProof="0"/>
              <a:t>表紙タイトル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78799" y="5760001"/>
            <a:ext cx="4680000" cy="307777"/>
          </a:xfrm>
          <a:prstGeom prst="rect">
            <a:avLst/>
          </a:prstGeom>
        </p:spPr>
        <p:txBody>
          <a:bodyPr wrap="non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283" indent="0" algn="ctr">
              <a:buNone/>
              <a:defRPr sz="2167"/>
            </a:lvl2pPr>
            <a:lvl3pPr marL="990564" indent="0" algn="ctr">
              <a:buNone/>
              <a:defRPr sz="1950"/>
            </a:lvl3pPr>
            <a:lvl4pPr marL="1485846" indent="0" algn="ctr">
              <a:buNone/>
              <a:defRPr sz="1733"/>
            </a:lvl4pPr>
            <a:lvl5pPr marL="1981127" indent="0" algn="ctr">
              <a:buNone/>
              <a:defRPr sz="1733"/>
            </a:lvl5pPr>
            <a:lvl6pPr marL="2476410" indent="0" algn="ctr">
              <a:buNone/>
              <a:defRPr sz="1733"/>
            </a:lvl6pPr>
            <a:lvl7pPr marL="2971692" indent="0" algn="ctr">
              <a:buNone/>
              <a:defRPr sz="1733"/>
            </a:lvl7pPr>
            <a:lvl8pPr marL="3466973" indent="0" algn="ctr">
              <a:buNone/>
              <a:defRPr sz="1733"/>
            </a:lvl8pPr>
            <a:lvl9pPr marL="3962255" indent="0" algn="ctr">
              <a:buNone/>
              <a:defRPr sz="1733"/>
            </a:lvl9pPr>
          </a:lstStyle>
          <a:p>
            <a:r>
              <a:rPr lang="ja-JP" altLang="en-US" noProof="0"/>
              <a:t>表紙サブタイトル</a:t>
            </a:r>
            <a:endParaRPr lang="en-US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 bwMode="gray">
          <a:xfrm>
            <a:off x="478799" y="6408000"/>
            <a:ext cx="4680000" cy="215444"/>
          </a:xfrm>
          <a:prstGeom prst="rect">
            <a:avLst/>
          </a:prstGeom>
        </p:spPr>
        <p:txBody>
          <a:bodyPr wrap="square" lIns="0" tIns="0" anchor="b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</p:txBody>
      </p:sp>
      <p:sp>
        <p:nvSpPr>
          <p:cNvPr id="10" name="テキスト プレースホルダー 9"/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6095999" y="396000"/>
            <a:ext cx="5616000" cy="676800"/>
          </a:xfrm>
          <a:prstGeom prst="rect">
            <a:avLst/>
          </a:prstGeom>
        </p:spPr>
        <p:txBody>
          <a:bodyPr lIns="0" tIns="0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200">
                <a:latin typeface="+mn-lt"/>
                <a:ea typeface="+mn-ea"/>
                <a:cs typeface="+mn-cs"/>
              </a:defRPr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kumimoji="1" lang="ja-JP" altLang="en-US"/>
              <a:t>クライアント社名</a:t>
            </a:r>
          </a:p>
        </p:txBody>
      </p:sp>
      <p:pic>
        <p:nvPicPr>
          <p:cNvPr id="11" name="図 10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478800" y="432000"/>
            <a:ext cx="2016000" cy="633201"/>
          </a:xfrm>
          <a:prstGeom prst="rect">
            <a:avLst/>
          </a:prstGeom>
        </p:spPr>
      </p:pic>
      <p:sp>
        <p:nvSpPr>
          <p:cNvPr id="6" name="日付プレースホルダー 5">
            <a:extLst>
              <a:ext uri="{FF2B5EF4-FFF2-40B4-BE49-F238E27FC236}">
                <a16:creationId xmlns:a16="http://schemas.microsoft.com/office/drawing/2014/main" id="{F26CE00B-EF0F-41D9-B6BD-2D199AF6C07D}"/>
              </a:ext>
            </a:extLst>
          </p:cNvPr>
          <p:cNvSpPr>
            <a:spLocks noGrp="1"/>
          </p:cNvSpPr>
          <p:nvPr>
            <p:ph type="dt" sz="half" idx="13"/>
          </p:nvPr>
        </p:nvSpPr>
        <p:spPr bwMode="gray"/>
        <p:txBody>
          <a:bodyPr/>
          <a:lstStyle>
            <a:lvl1pPr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/>
            <a:r>
              <a:rPr lang="en-US"/>
              <a:t>&lt; Confidential &gt;</a:t>
            </a:r>
          </a:p>
        </p:txBody>
      </p:sp>
    </p:spTree>
    <p:extLst>
      <p:ext uri="{BB962C8B-B14F-4D97-AF65-F5344CB8AC3E}">
        <p14:creationId xmlns:p14="http://schemas.microsoft.com/office/powerpoint/2010/main" val="1058155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基本版）タイトル ロゴ無_16:9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8F3F91AC-B9F8-4593-AC14-9A64CBC9995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786175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8F3F91AC-B9F8-4593-AC14-9A64CBC999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icture Placeholder 8"/>
          <p:cNvSpPr>
            <a:spLocks noGrp="1" noChangeAspect="1"/>
          </p:cNvSpPr>
          <p:nvPr>
            <p:ph type="pic" sz="quarter" idx="11"/>
          </p:nvPr>
        </p:nvSpPr>
        <p:spPr bwMode="gray">
          <a:xfrm>
            <a:off x="3666000" y="999000"/>
            <a:ext cx="4860000" cy="486000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</a:lstStyle>
          <a:p>
            <a:r>
              <a:rPr lang="ja-JP" altLang="en-US"/>
              <a:t>アイコンをクリックして図を追加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78800" y="5292000"/>
            <a:ext cx="4680000" cy="864000"/>
          </a:xfrm>
        </p:spPr>
        <p:txBody>
          <a:bodyPr vert="horz" anchor="t" anchorCtr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 b="1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noProof="0"/>
              <a:t>表紙タイトル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78800" y="5760001"/>
            <a:ext cx="4680000" cy="307777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283" indent="0" algn="ctr">
              <a:buNone/>
              <a:defRPr sz="2167"/>
            </a:lvl2pPr>
            <a:lvl3pPr marL="990564" indent="0" algn="ctr">
              <a:buNone/>
              <a:defRPr sz="1950"/>
            </a:lvl3pPr>
            <a:lvl4pPr marL="1485846" indent="0" algn="ctr">
              <a:buNone/>
              <a:defRPr sz="1733"/>
            </a:lvl4pPr>
            <a:lvl5pPr marL="1981127" indent="0" algn="ctr">
              <a:buNone/>
              <a:defRPr sz="1733"/>
            </a:lvl5pPr>
            <a:lvl6pPr marL="2476410" indent="0" algn="ctr">
              <a:buNone/>
              <a:defRPr sz="1733"/>
            </a:lvl6pPr>
            <a:lvl7pPr marL="2971692" indent="0" algn="ctr">
              <a:buNone/>
              <a:defRPr sz="1733"/>
            </a:lvl7pPr>
            <a:lvl8pPr marL="3466973" indent="0" algn="ctr">
              <a:buNone/>
              <a:defRPr sz="1733"/>
            </a:lvl8pPr>
            <a:lvl9pPr marL="3962255" indent="0" algn="ctr">
              <a:buNone/>
              <a:defRPr sz="1733"/>
            </a:lvl9pPr>
          </a:lstStyle>
          <a:p>
            <a:r>
              <a:rPr lang="ja-JP" altLang="en-US" noProof="0"/>
              <a:t>表紙サブタイトル</a:t>
            </a:r>
            <a:endParaRPr lang="en-US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 bwMode="gray">
          <a:xfrm>
            <a:off x="478800" y="6408000"/>
            <a:ext cx="4680000" cy="215444"/>
          </a:xfrm>
          <a:prstGeom prst="rect">
            <a:avLst/>
          </a:prstGeom>
        </p:spPr>
        <p:txBody>
          <a:bodyPr wrap="square" lIns="0" tIns="0" anchor="b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</p:txBody>
      </p:sp>
      <p:sp>
        <p:nvSpPr>
          <p:cNvPr id="6" name="日付プレースホルダー 5">
            <a:extLst>
              <a:ext uri="{FF2B5EF4-FFF2-40B4-BE49-F238E27FC236}">
                <a16:creationId xmlns:a16="http://schemas.microsoft.com/office/drawing/2014/main" id="{123FC496-31C5-46DB-A99D-560417973E7D}"/>
              </a:ext>
            </a:extLst>
          </p:cNvPr>
          <p:cNvSpPr>
            <a:spLocks noGrp="1"/>
          </p:cNvSpPr>
          <p:nvPr>
            <p:ph type="dt" sz="half" idx="12"/>
          </p:nvPr>
        </p:nvSpPr>
        <p:spPr bwMode="gray"/>
        <p:txBody>
          <a:bodyPr/>
          <a:lstStyle>
            <a:lvl1pPr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/>
            <a:r>
              <a:rPr lang="en-US"/>
              <a:t>&lt; Confidential &gt;</a:t>
            </a:r>
          </a:p>
        </p:txBody>
      </p:sp>
    </p:spTree>
    <p:extLst>
      <p:ext uri="{BB962C8B-B14F-4D97-AF65-F5344CB8AC3E}">
        <p14:creationId xmlns:p14="http://schemas.microsoft.com/office/powerpoint/2010/main" val="2543739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基本版）黒_タイトル_ ロゴ入り_16:9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A7976D6E-C49A-4F4A-AE13-FFFBECE6140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241782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A7976D6E-C49A-4F4A-AE13-FFFBECE614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icture Placeholder 8"/>
          <p:cNvSpPr>
            <a:spLocks noGrp="1" noChangeAspect="1"/>
          </p:cNvSpPr>
          <p:nvPr>
            <p:ph type="pic" sz="quarter" idx="11"/>
          </p:nvPr>
        </p:nvSpPr>
        <p:spPr bwMode="gray">
          <a:xfrm>
            <a:off x="3666000" y="999000"/>
            <a:ext cx="4860000" cy="486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ja-JP" altLang="en-US"/>
              <a:t>アイコンをクリックして図を追加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78800" y="5292000"/>
            <a:ext cx="4680000" cy="864000"/>
          </a:xfrm>
        </p:spPr>
        <p:txBody>
          <a:bodyPr vert="horz" anchor="t" anchorCtr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 b="1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noProof="0"/>
              <a:t>表紙タイトル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78800" y="5760001"/>
            <a:ext cx="4680000" cy="307777"/>
          </a:xfrm>
          <a:prstGeom prst="rect">
            <a:avLst/>
          </a:prstGeom>
        </p:spPr>
        <p:txBody>
          <a:bodyPr wrap="non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283" indent="0" algn="ctr">
              <a:buNone/>
              <a:defRPr sz="2167"/>
            </a:lvl2pPr>
            <a:lvl3pPr marL="990564" indent="0" algn="ctr">
              <a:buNone/>
              <a:defRPr sz="1950"/>
            </a:lvl3pPr>
            <a:lvl4pPr marL="1485846" indent="0" algn="ctr">
              <a:buNone/>
              <a:defRPr sz="1733"/>
            </a:lvl4pPr>
            <a:lvl5pPr marL="1981127" indent="0" algn="ctr">
              <a:buNone/>
              <a:defRPr sz="1733"/>
            </a:lvl5pPr>
            <a:lvl6pPr marL="2476410" indent="0" algn="ctr">
              <a:buNone/>
              <a:defRPr sz="1733"/>
            </a:lvl6pPr>
            <a:lvl7pPr marL="2971692" indent="0" algn="ctr">
              <a:buNone/>
              <a:defRPr sz="1733"/>
            </a:lvl7pPr>
            <a:lvl8pPr marL="3466973" indent="0" algn="ctr">
              <a:buNone/>
              <a:defRPr sz="1733"/>
            </a:lvl8pPr>
            <a:lvl9pPr marL="3962255" indent="0" algn="ctr">
              <a:buNone/>
              <a:defRPr sz="1733"/>
            </a:lvl9pPr>
          </a:lstStyle>
          <a:p>
            <a:r>
              <a:rPr lang="ja-JP" altLang="en-US" noProof="0"/>
              <a:t>表紙サブタイトル</a:t>
            </a:r>
            <a:endParaRPr lang="en-US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 bwMode="gray">
          <a:xfrm>
            <a:off x="478800" y="6408000"/>
            <a:ext cx="4680000" cy="215444"/>
          </a:xfrm>
          <a:prstGeom prst="rect">
            <a:avLst/>
          </a:prstGeom>
        </p:spPr>
        <p:txBody>
          <a:bodyPr wrap="square" lIns="0" tIns="0" anchor="b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</p:txBody>
      </p:sp>
      <p:sp>
        <p:nvSpPr>
          <p:cNvPr id="10" name="テキスト プレースホルダー 9"/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6094800" y="396000"/>
            <a:ext cx="5616000" cy="676800"/>
          </a:xfrm>
          <a:prstGeom prst="rect">
            <a:avLst/>
          </a:prstGeom>
        </p:spPr>
        <p:txBody>
          <a:bodyPr lIns="0" tIns="0">
            <a:norm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sz="2200"/>
            </a:lvl2pPr>
            <a:lvl3pPr>
              <a:defRPr sz="2200"/>
            </a:lvl3pPr>
            <a:lvl4pPr>
              <a:defRPr sz="2200"/>
            </a:lvl4pPr>
            <a:lvl5pPr>
              <a:defRPr sz="2200"/>
            </a:lvl5pPr>
          </a:lstStyle>
          <a:p>
            <a:pPr lvl="0"/>
            <a:r>
              <a:rPr kumimoji="1" lang="ja-JP" altLang="en-US"/>
              <a:t>クライアント社名</a:t>
            </a:r>
          </a:p>
        </p:txBody>
      </p:sp>
      <p:pic>
        <p:nvPicPr>
          <p:cNvPr id="11" name="図 10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478800" y="431999"/>
            <a:ext cx="2016000" cy="627200"/>
          </a:xfrm>
          <a:prstGeom prst="rect">
            <a:avLst/>
          </a:prstGeom>
        </p:spPr>
      </p:pic>
      <p:sp>
        <p:nvSpPr>
          <p:cNvPr id="6" name="日付プレースホルダー 5">
            <a:extLst>
              <a:ext uri="{FF2B5EF4-FFF2-40B4-BE49-F238E27FC236}">
                <a16:creationId xmlns:a16="http://schemas.microsoft.com/office/drawing/2014/main" id="{3C714361-BA49-499D-BC89-8E0AF24FD365}"/>
              </a:ext>
            </a:extLst>
          </p:cNvPr>
          <p:cNvSpPr>
            <a:spLocks noGrp="1"/>
          </p:cNvSpPr>
          <p:nvPr>
            <p:ph type="dt" sz="half" idx="13"/>
          </p:nvPr>
        </p:nvSpPr>
        <p:spPr bwMode="gray"/>
        <p:txBody>
          <a:bodyPr/>
          <a:lstStyle>
            <a:lvl1pPr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/>
            <a:r>
              <a:rPr lang="en-US"/>
              <a:t>&lt; Confidential &gt;</a:t>
            </a:r>
          </a:p>
        </p:txBody>
      </p:sp>
    </p:spTree>
    <p:extLst>
      <p:ext uri="{BB962C8B-B14F-4D97-AF65-F5344CB8AC3E}">
        <p14:creationId xmlns:p14="http://schemas.microsoft.com/office/powerpoint/2010/main" val="19147821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基本版）黒_タイトル ロゴ無_16:9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B84D28BC-667A-4B82-8BF2-52395A1B866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408008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B84D28BC-667A-4B82-8BF2-52395A1B86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icture Placeholder 8"/>
          <p:cNvSpPr>
            <a:spLocks noGrp="1" noChangeAspect="1"/>
          </p:cNvSpPr>
          <p:nvPr>
            <p:ph type="pic" sz="quarter" idx="11"/>
          </p:nvPr>
        </p:nvSpPr>
        <p:spPr bwMode="gray">
          <a:xfrm>
            <a:off x="3666000" y="999000"/>
            <a:ext cx="4860000" cy="486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ja-JP" altLang="en-US"/>
              <a:t>アイコンをクリックして図を追加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478799" y="5292000"/>
            <a:ext cx="4680000" cy="864000"/>
          </a:xfrm>
        </p:spPr>
        <p:txBody>
          <a:bodyPr vert="horz" anchor="t" anchorCtr="0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 b="1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noProof="0"/>
              <a:t>表紙タイトル</a:t>
            </a:r>
            <a:endParaRPr lang="en-US" noProof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78799" y="5760001"/>
            <a:ext cx="4680000" cy="307777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283" indent="0" algn="ctr">
              <a:buNone/>
              <a:defRPr sz="2167"/>
            </a:lvl2pPr>
            <a:lvl3pPr marL="990564" indent="0" algn="ctr">
              <a:buNone/>
              <a:defRPr sz="1950"/>
            </a:lvl3pPr>
            <a:lvl4pPr marL="1485846" indent="0" algn="ctr">
              <a:buNone/>
              <a:defRPr sz="1733"/>
            </a:lvl4pPr>
            <a:lvl5pPr marL="1981127" indent="0" algn="ctr">
              <a:buNone/>
              <a:defRPr sz="1733"/>
            </a:lvl5pPr>
            <a:lvl6pPr marL="2476410" indent="0" algn="ctr">
              <a:buNone/>
              <a:defRPr sz="1733"/>
            </a:lvl6pPr>
            <a:lvl7pPr marL="2971692" indent="0" algn="ctr">
              <a:buNone/>
              <a:defRPr sz="1733"/>
            </a:lvl7pPr>
            <a:lvl8pPr marL="3466973" indent="0" algn="ctr">
              <a:buNone/>
              <a:defRPr sz="1733"/>
            </a:lvl8pPr>
            <a:lvl9pPr marL="3962255" indent="0" algn="ctr">
              <a:buNone/>
              <a:defRPr sz="1733"/>
            </a:lvl9pPr>
          </a:lstStyle>
          <a:p>
            <a:r>
              <a:rPr lang="ja-JP" altLang="en-US" noProof="0"/>
              <a:t>表紙サブタイトル</a:t>
            </a:r>
            <a:endParaRPr lang="en-US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 bwMode="gray">
          <a:xfrm>
            <a:off x="478799" y="6408000"/>
            <a:ext cx="4680000" cy="215444"/>
          </a:xfrm>
          <a:prstGeom prst="rect">
            <a:avLst/>
          </a:prstGeom>
        </p:spPr>
        <p:txBody>
          <a:bodyPr wrap="square" lIns="0" tIns="0" anchor="b" anchorCtr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</p:txBody>
      </p:sp>
      <p:sp>
        <p:nvSpPr>
          <p:cNvPr id="6" name="日付プレースホルダー 5">
            <a:extLst>
              <a:ext uri="{FF2B5EF4-FFF2-40B4-BE49-F238E27FC236}">
                <a16:creationId xmlns:a16="http://schemas.microsoft.com/office/drawing/2014/main" id="{9E461804-808B-4C49-B40D-446D892A3BF8}"/>
              </a:ext>
            </a:extLst>
          </p:cNvPr>
          <p:cNvSpPr>
            <a:spLocks noGrp="1"/>
          </p:cNvSpPr>
          <p:nvPr>
            <p:ph type="dt" sz="half" idx="12"/>
          </p:nvPr>
        </p:nvSpPr>
        <p:spPr bwMode="gray"/>
        <p:txBody>
          <a:bodyPr/>
          <a:lstStyle>
            <a:lvl1pPr>
              <a:defRPr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/>
            <a:r>
              <a:rPr lang="en-US"/>
              <a:t>&lt; Confidential &gt;</a:t>
            </a:r>
          </a:p>
        </p:txBody>
      </p:sp>
    </p:spTree>
    <p:extLst>
      <p:ext uri="{BB962C8B-B14F-4D97-AF65-F5344CB8AC3E}">
        <p14:creationId xmlns:p14="http://schemas.microsoft.com/office/powerpoint/2010/main" val="8169167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（基本版）目次_16:9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 hidden="1">
            <a:extLst>
              <a:ext uri="{FF2B5EF4-FFF2-40B4-BE49-F238E27FC236}">
                <a16:creationId xmlns:a16="http://schemas.microsoft.com/office/drawing/2014/main" id="{D6642530-2487-4EE6-BEA5-E8FB44599D7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013388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3" name="オブジェクト 2" hidden="1">
                        <a:extLst>
                          <a:ext uri="{FF2B5EF4-FFF2-40B4-BE49-F238E27FC236}">
                            <a16:creationId xmlns:a16="http://schemas.microsoft.com/office/drawing/2014/main" id="{D6642530-2487-4EE6-BEA5-E8FB44599D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/>
          </p:nvPr>
        </p:nvSpPr>
        <p:spPr bwMode="gray">
          <a:xfrm>
            <a:off x="480000" y="1483200"/>
            <a:ext cx="5436000" cy="4824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tabLst>
                <a:tab pos="5448101" algn="r"/>
              </a:tabLst>
              <a:defRPr>
                <a:latin typeface="+mn-lt"/>
                <a:ea typeface="+mn-ea"/>
                <a:cs typeface="+mn-cs"/>
              </a:defRPr>
            </a:lvl1pPr>
            <a:lvl2pPr>
              <a:lnSpc>
                <a:spcPct val="100000"/>
              </a:lnSpc>
              <a:tabLst>
                <a:tab pos="5448101" algn="r"/>
              </a:tabLst>
              <a:defRPr>
                <a:latin typeface="+mn-lt"/>
                <a:ea typeface="+mn-ea"/>
                <a:cs typeface="+mn-cs"/>
              </a:defRPr>
            </a:lvl2pPr>
            <a:lvl3pPr>
              <a:lnSpc>
                <a:spcPct val="100000"/>
              </a:lnSpc>
              <a:tabLst>
                <a:tab pos="5448101" algn="r"/>
              </a:tabLst>
              <a:defRPr>
                <a:latin typeface="+mn-lt"/>
                <a:ea typeface="+mn-ea"/>
                <a:cs typeface="+mn-cs"/>
              </a:defRPr>
            </a:lvl3pPr>
            <a:lvl4pPr>
              <a:lnSpc>
                <a:spcPct val="100000"/>
              </a:lnSpc>
              <a:tabLst>
                <a:tab pos="5448101" algn="r"/>
              </a:tabLst>
              <a:defRPr>
                <a:latin typeface="+mn-lt"/>
                <a:ea typeface="+mn-ea"/>
                <a:cs typeface="+mn-cs"/>
              </a:defRPr>
            </a:lvl4pPr>
            <a:lvl5pPr>
              <a:tabLst>
                <a:tab pos="5448101" algn="r"/>
              </a:tabLst>
              <a:defRPr baseline="0"/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/>
          </p:nvPr>
        </p:nvSpPr>
        <p:spPr bwMode="gray">
          <a:xfrm>
            <a:off x="6276000" y="1483200"/>
            <a:ext cx="5436000" cy="4824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tabLst>
                <a:tab pos="5448101" algn="r"/>
              </a:tabLst>
              <a:defRPr>
                <a:latin typeface="+mn-lt"/>
                <a:ea typeface="+mn-ea"/>
                <a:cs typeface="+mn-cs"/>
              </a:defRPr>
            </a:lvl1pPr>
            <a:lvl2pPr>
              <a:lnSpc>
                <a:spcPct val="100000"/>
              </a:lnSpc>
              <a:tabLst>
                <a:tab pos="5448101" algn="r"/>
              </a:tabLst>
              <a:defRPr>
                <a:latin typeface="+mn-lt"/>
                <a:ea typeface="+mn-ea"/>
                <a:cs typeface="+mn-cs"/>
              </a:defRPr>
            </a:lvl2pPr>
            <a:lvl3pPr>
              <a:lnSpc>
                <a:spcPct val="100000"/>
              </a:lnSpc>
              <a:tabLst>
                <a:tab pos="5448101" algn="r"/>
              </a:tabLst>
              <a:defRPr>
                <a:latin typeface="+mn-lt"/>
                <a:ea typeface="+mn-ea"/>
                <a:cs typeface="+mn-cs"/>
              </a:defRPr>
            </a:lvl3pPr>
            <a:lvl4pPr>
              <a:lnSpc>
                <a:spcPct val="100000"/>
              </a:lnSpc>
              <a:tabLst>
                <a:tab pos="5448101" algn="r"/>
              </a:tabLst>
              <a:defRPr>
                <a:latin typeface="+mn-lt"/>
                <a:ea typeface="+mn-ea"/>
                <a:cs typeface="+mn-cs"/>
              </a:defRPr>
            </a:lvl4pPr>
            <a:lvl5pPr>
              <a:tabLst>
                <a:tab pos="5448101" algn="r"/>
              </a:tabLst>
              <a:defRPr baseline="0"/>
            </a:lvl5pPr>
          </a:lstStyle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</p:txBody>
      </p:sp>
      <p:sp>
        <p:nvSpPr>
          <p:cNvPr id="4" name="タイトル 3"/>
          <p:cNvSpPr>
            <a:spLocks noGrp="1"/>
          </p:cNvSpPr>
          <p:nvPr>
            <p:ph type="title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982903191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（基本版）白紙_16:9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3FE34F38-94AA-4F62-8832-48A80D3F204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978727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3FE34F38-94AA-4F62-8832-48A80D3F20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2"/>
          </p:nvPr>
        </p:nvSpPr>
        <p:spPr bwMode="gray">
          <a:xfrm>
            <a:off x="1596000" y="2556000"/>
            <a:ext cx="9000000" cy="1440000"/>
          </a:xfrm>
          <a:prstGeom prst="rect">
            <a:avLst/>
          </a:prstGeom>
        </p:spPr>
        <p:txBody>
          <a:bodyPr/>
          <a:lstStyle>
            <a:lvl1pPr>
              <a:defRPr sz="2400" baseline="0"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Text Box 37">
            <a:extLst>
              <a:ext uri="{FF2B5EF4-FFF2-40B4-BE49-F238E27FC236}">
                <a16:creationId xmlns:a16="http://schemas.microsoft.com/office/drawing/2014/main" id="{385A94CF-8CB1-C466-40C6-FF0115BA7D94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© 2025. For information, contact Deloitte Tohmatsu Group.</a:t>
            </a:r>
          </a:p>
        </p:txBody>
      </p:sp>
    </p:spTree>
    <p:extLst>
      <p:ext uri="{BB962C8B-B14F-4D97-AF65-F5344CB8AC3E}">
        <p14:creationId xmlns:p14="http://schemas.microsoft.com/office/powerpoint/2010/main" val="2894029594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中表紙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CBD7C55F-79D3-4D3C-BF22-E2499EF3028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6091063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CBD7C55F-79D3-4D3C-BF22-E2499EF302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18800" y="2232000"/>
            <a:ext cx="6264000" cy="432000"/>
          </a:xfrm>
          <a:prstGeom prst="rect">
            <a:avLst/>
          </a:prstGeom>
          <a:noFill/>
        </p:spPr>
        <p:txBody>
          <a:bodyPr wrap="none" lIns="0" tIns="0" r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ja-JP" altLang="en-US"/>
              <a:t>中表紙タイトル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フッター プレースホルダ 6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</p:spTree>
    <p:extLst>
      <p:ext uri="{BB962C8B-B14F-4D97-AF65-F5344CB8AC3E}">
        <p14:creationId xmlns:p14="http://schemas.microsoft.com/office/powerpoint/2010/main" val="1633268474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Accessible Green_中表紙_16:9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CBD7C55F-79D3-4D3C-BF22-E2499EF3028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626008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CBD7C55F-79D3-4D3C-BF22-E2499EF302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18800" y="2232000"/>
            <a:ext cx="6264000" cy="432000"/>
          </a:xfrm>
          <a:prstGeom prst="rect">
            <a:avLst/>
          </a:prstGeom>
          <a:noFill/>
        </p:spPr>
        <p:txBody>
          <a:bodyPr wrap="none" lIns="0" tIns="0" r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ja-JP" altLang="en-US"/>
              <a:t>中表紙タイトル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フッター プレースホルダ 6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</p:spTree>
    <p:extLst>
      <p:ext uri="{BB962C8B-B14F-4D97-AF65-F5344CB8AC3E}">
        <p14:creationId xmlns:p14="http://schemas.microsoft.com/office/powerpoint/2010/main" val="34514640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Accessible Teal_中表紙_16:9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CBD7C55F-79D3-4D3C-BF22-E2499EF3028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087084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CBD7C55F-79D3-4D3C-BF22-E2499EF302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18800" y="2232000"/>
            <a:ext cx="6264000" cy="432000"/>
          </a:xfrm>
          <a:prstGeom prst="rect">
            <a:avLst/>
          </a:prstGeom>
          <a:noFill/>
        </p:spPr>
        <p:txBody>
          <a:bodyPr wrap="none" lIns="0" tIns="0" r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ja-JP" altLang="en-US"/>
              <a:t>中表紙タイトル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フッター プレースホルダ 6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</p:spTree>
    <p:extLst>
      <p:ext uri="{BB962C8B-B14F-4D97-AF65-F5344CB8AC3E}">
        <p14:creationId xmlns:p14="http://schemas.microsoft.com/office/powerpoint/2010/main" val="38272657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Accessible Blue_中表紙_16:9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CBD7C55F-79D3-4D3C-BF22-E2499EF3028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872648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CBD7C55F-79D3-4D3C-BF22-E2499EF302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18800" y="2232000"/>
            <a:ext cx="6264000" cy="432000"/>
          </a:xfrm>
          <a:prstGeom prst="rect">
            <a:avLst/>
          </a:prstGeom>
          <a:noFill/>
        </p:spPr>
        <p:txBody>
          <a:bodyPr wrap="none" lIns="0" tIns="0" r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800" b="1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ja-JP" altLang="en-US"/>
              <a:t>中表紙タイトル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7" name="フッター プレースホルダ 6"/>
          <p:cNvSpPr>
            <a:spLocks noGrp="1"/>
          </p:cNvSpPr>
          <p:nvPr>
            <p:ph type="ftr" sz="quarter" idx="12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</p:spTree>
    <p:extLst>
      <p:ext uri="{BB962C8B-B14F-4D97-AF65-F5344CB8AC3E}">
        <p14:creationId xmlns:p14="http://schemas.microsoft.com/office/powerpoint/2010/main" val="10564197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タイトルのみ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851802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テキスト プレースホルダー 6">
            <a:extLst>
              <a:ext uri="{FF2B5EF4-FFF2-40B4-BE49-F238E27FC236}">
                <a16:creationId xmlns:a16="http://schemas.microsoft.com/office/drawing/2014/main" id="{497333F6-9AD1-6169-C739-EE0E8EEF79D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5951022"/>
            <a:ext cx="11233150" cy="360000"/>
          </a:xfrm>
        </p:spPr>
        <p:txBody>
          <a:bodyPr anchor="b"/>
          <a:lstStyle>
            <a:lvl1pPr fontAlgn="auto">
              <a:lnSpc>
                <a:spcPct val="100000"/>
              </a:lnSpc>
              <a:spcBef>
                <a:spcPts val="0"/>
              </a:spcBef>
              <a:defRPr sz="1200"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5436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auto">
              <a:lnSpc>
                <a:spcPct val="100000"/>
              </a:lnSpc>
              <a:spcBef>
                <a:spcPts val="0"/>
              </a:spcBef>
              <a:defRPr sz="1800" b="1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8569957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タイトルのみ_出所・脚注なし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162689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5436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auto">
              <a:lnSpc>
                <a:spcPct val="100000"/>
              </a:lnSpc>
              <a:spcBef>
                <a:spcPts val="0"/>
              </a:spcBef>
              <a:defRPr sz="1800" b="1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6047188"/>
      </p:ext>
    </p:extLst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コンテンツ両サイド_レベル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520863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スライド番号プレースホルダ 9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3" name="コンテンツ プレースホルダー 2">
            <a:extLst>
              <a:ext uri="{FF2B5EF4-FFF2-40B4-BE49-F238E27FC236}">
                <a16:creationId xmlns:a16="http://schemas.microsoft.com/office/drawing/2014/main" id="{6A85E96B-E1AC-4DF5-5614-680F3EA213FD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479425" y="1484314"/>
            <a:ext cx="5436001" cy="4823999"/>
          </a:xfrm>
        </p:spPr>
        <p:txBody>
          <a:bodyPr/>
          <a:lstStyle>
            <a:lvl1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1pPr>
            <a:lvl2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2pPr>
            <a:lvl3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3pPr>
            <a:lvl4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4pPr>
            <a:lvl5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4" name="コンテンツ プレースホルダー 2">
            <a:extLst>
              <a:ext uri="{FF2B5EF4-FFF2-40B4-BE49-F238E27FC236}">
                <a16:creationId xmlns:a16="http://schemas.microsoft.com/office/drawing/2014/main" id="{07EF26B2-575F-9ED1-90F8-6FBC9CF4FC3F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76575" y="1484314"/>
            <a:ext cx="5436001" cy="4823999"/>
          </a:xfrm>
        </p:spPr>
        <p:txBody>
          <a:bodyPr/>
          <a:lstStyle>
            <a:lvl1pPr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1pPr>
            <a:lvl2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2pPr>
            <a:lvl3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3pPr>
            <a:lvl4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4pPr>
            <a:lvl5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3" name="フッター プレースホルダ 10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9" name="テキスト プレースホルダー 2">
            <a:extLst>
              <a:ext uri="{FF2B5EF4-FFF2-40B4-BE49-F238E27FC236}">
                <a16:creationId xmlns:a16="http://schemas.microsoft.com/office/drawing/2014/main" id="{46B5496C-DFB7-93F6-1A89-9771DD29BD1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9425" y="1008000"/>
            <a:ext cx="5437188" cy="468000"/>
          </a:xfrm>
        </p:spPr>
        <p:txBody>
          <a:bodyPr anchor="ctr"/>
          <a:lstStyle>
            <a:lvl1pPr fontAlgn="auto">
              <a:lnSpc>
                <a:spcPct val="100000"/>
              </a:lnSpc>
              <a:spcBef>
                <a:spcPts val="0"/>
              </a:spcBef>
              <a:defRPr sz="1800" b="1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20" name="テキスト プレースホルダー 6">
            <a:extLst>
              <a:ext uri="{FF2B5EF4-FFF2-40B4-BE49-F238E27FC236}">
                <a16:creationId xmlns:a16="http://schemas.microsoft.com/office/drawing/2014/main" id="{15EC7259-B2A3-5EC1-CEAF-805353B90F9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75388" y="1008000"/>
            <a:ext cx="5437188" cy="468000"/>
          </a:xfrm>
        </p:spPr>
        <p:txBody>
          <a:bodyPr vert="horz" lIns="0" tIns="0" rIns="0" bIns="0" rtlCol="0" anchor="ctr">
            <a:noAutofit/>
          </a:bodyPr>
          <a:lstStyle>
            <a:lvl1pPr fontAlgn="auto">
              <a:lnSpc>
                <a:spcPct val="100000"/>
              </a:lnSpc>
              <a:spcBef>
                <a:spcPts val="0"/>
              </a:spcBef>
              <a:defRPr lang="ja-JP" altLang="en-US" sz="1800" b="1" baseline="0" dirty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BBEF2C36-9683-41F6-673C-68495BDF311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79425" y="5951022"/>
            <a:ext cx="11232000" cy="360000"/>
          </a:xfrm>
        </p:spPr>
        <p:txBody>
          <a:bodyPr vert="horz" lIns="0" tIns="0" rIns="0" bIns="0" rtlCol="0" anchor="b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lang="ja-JP" altLang="en-US" sz="1200" b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0928838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コンテンツ全面_レベル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341836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コンテンツ プレースホルダ 2">
            <a:extLst>
              <a:ext uri="{FF2B5EF4-FFF2-40B4-BE49-F238E27FC236}">
                <a16:creationId xmlns:a16="http://schemas.microsoft.com/office/drawing/2014/main" id="{5B75B1AC-23A7-0EC1-A099-E19E2BA92CC3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480000" y="1483200"/>
            <a:ext cx="11232000" cy="4824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buNone/>
              <a:defRPr sz="1600" baseline="0">
                <a:latin typeface="+mn-lt"/>
                <a:ea typeface="+mn-ea"/>
                <a:cs typeface="+mn-cs"/>
              </a:defRPr>
            </a:lvl1pPr>
            <a:lvl2pPr marL="252000" indent="-252000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n"/>
              <a:defRPr sz="1600" baseline="0">
                <a:latin typeface="+mn-lt"/>
                <a:ea typeface="+mn-ea"/>
                <a:cs typeface="+mn-cs"/>
              </a:defRPr>
            </a:lvl2pPr>
            <a:lvl3pPr marL="504000" indent="-252000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Ø"/>
              <a:defRPr sz="1600" baseline="0">
                <a:latin typeface="+mn-lt"/>
                <a:ea typeface="+mn-ea"/>
                <a:cs typeface="+mn-cs"/>
              </a:defRPr>
            </a:lvl3pPr>
            <a:lvl4pPr marL="684000" marR="0" indent="-180000" algn="l" defTabSz="989013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600" baseline="0"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11232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auto">
              <a:lnSpc>
                <a:spcPct val="100000"/>
              </a:lnSpc>
              <a:spcBef>
                <a:spcPts val="0"/>
              </a:spcBef>
              <a:defRPr sz="1800" b="1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  <p:sp>
        <p:nvSpPr>
          <p:cNvPr id="8" name="テキスト プレースホルダー 6">
            <a:extLst>
              <a:ext uri="{FF2B5EF4-FFF2-40B4-BE49-F238E27FC236}">
                <a16:creationId xmlns:a16="http://schemas.microsoft.com/office/drawing/2014/main" id="{E4AF888F-393A-D115-D1C7-E8C19773D9A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5951022"/>
            <a:ext cx="11233150" cy="360000"/>
          </a:xfrm>
        </p:spPr>
        <p:txBody>
          <a:bodyPr anchor="b"/>
          <a:lstStyle>
            <a:lvl1pPr fontAlgn="auto">
              <a:lnSpc>
                <a:spcPct val="100000"/>
              </a:lnSpc>
              <a:spcBef>
                <a:spcPts val="0"/>
              </a:spcBef>
              <a:defRPr sz="1200"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2250517"/>
      </p:ext>
    </p:extLst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黒_タイトルのみ_16: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717772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テキスト プレースホルダー 6">
            <a:extLst>
              <a:ext uri="{FF2B5EF4-FFF2-40B4-BE49-F238E27FC236}">
                <a16:creationId xmlns:a16="http://schemas.microsoft.com/office/drawing/2014/main" id="{497333F6-9AD1-6169-C739-EE0E8EEF79D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5951022"/>
            <a:ext cx="11233150" cy="360000"/>
          </a:xfrm>
        </p:spPr>
        <p:txBody>
          <a:bodyPr anchor="b"/>
          <a:lstStyle>
            <a:lvl1pPr fontAlgn="auto">
              <a:lnSpc>
                <a:spcPct val="100000"/>
              </a:lnSpc>
              <a:spcBef>
                <a:spcPts val="0"/>
              </a:spcBef>
              <a:defRPr sz="1200"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5436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auto">
              <a:lnSpc>
                <a:spcPct val="100000"/>
              </a:lnSpc>
              <a:spcBef>
                <a:spcPts val="0"/>
              </a:spcBef>
              <a:defRPr sz="1800" b="1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35959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黒_タイトルのみ_出所・脚注なし_16: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423414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5436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auto">
              <a:lnSpc>
                <a:spcPct val="100000"/>
              </a:lnSpc>
              <a:spcBef>
                <a:spcPts val="0"/>
              </a:spcBef>
              <a:defRPr sz="1800" b="1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6168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黒_コンテンツ両サイド_レベル_16: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9189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コンテンツ プレースホルダー 2">
            <a:extLst>
              <a:ext uri="{FF2B5EF4-FFF2-40B4-BE49-F238E27FC236}">
                <a16:creationId xmlns:a16="http://schemas.microsoft.com/office/drawing/2014/main" id="{6A85E96B-E1AC-4DF5-5614-680F3EA213FD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479425" y="1484314"/>
            <a:ext cx="5436001" cy="4823999"/>
          </a:xfrm>
        </p:spPr>
        <p:txBody>
          <a:bodyPr/>
          <a:lstStyle>
            <a:lvl1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1pPr>
            <a:lvl2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2pPr>
            <a:lvl3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3pPr>
            <a:lvl4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4pPr>
            <a:lvl5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4" name="コンテンツ プレースホルダー 2">
            <a:extLst>
              <a:ext uri="{FF2B5EF4-FFF2-40B4-BE49-F238E27FC236}">
                <a16:creationId xmlns:a16="http://schemas.microsoft.com/office/drawing/2014/main" id="{07EF26B2-575F-9ED1-90F8-6FBC9CF4FC3F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76575" y="1484314"/>
            <a:ext cx="5436001" cy="4823999"/>
          </a:xfrm>
        </p:spPr>
        <p:txBody>
          <a:bodyPr/>
          <a:lstStyle>
            <a:lvl1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1pPr>
            <a:lvl2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2pPr>
            <a:lvl3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3pPr>
            <a:lvl4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4pPr>
            <a:lvl5pPr fontAlgn="auto">
              <a:lnSpc>
                <a:spcPct val="100000"/>
              </a:lnSpc>
              <a:defRPr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スライド番号プレースホルダ 9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BBEF2C36-9683-41F6-673C-68495BDF311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79425" y="5951022"/>
            <a:ext cx="11232000" cy="360000"/>
          </a:xfrm>
        </p:spPr>
        <p:txBody>
          <a:bodyPr vert="horz" lIns="0" tIns="0" rIns="0" bIns="0" rtlCol="0" anchor="b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lang="ja-JP" altLang="en-US" sz="1200" b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3" name="フッター プレースホルダ 10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9" name="テキスト プレースホルダー 2">
            <a:extLst>
              <a:ext uri="{FF2B5EF4-FFF2-40B4-BE49-F238E27FC236}">
                <a16:creationId xmlns:a16="http://schemas.microsoft.com/office/drawing/2014/main" id="{46B5496C-DFB7-93F6-1A89-9771DD29BD1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9425" y="1008000"/>
            <a:ext cx="5437188" cy="468000"/>
          </a:xfrm>
        </p:spPr>
        <p:txBody>
          <a:bodyPr anchor="ctr"/>
          <a:lstStyle>
            <a:lvl1pPr fontAlgn="auto">
              <a:lnSpc>
                <a:spcPct val="100000"/>
              </a:lnSpc>
              <a:spcBef>
                <a:spcPts val="0"/>
              </a:spcBef>
              <a:defRPr sz="1800" b="1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20" name="テキスト プレースホルダー 6">
            <a:extLst>
              <a:ext uri="{FF2B5EF4-FFF2-40B4-BE49-F238E27FC236}">
                <a16:creationId xmlns:a16="http://schemas.microsoft.com/office/drawing/2014/main" id="{15EC7259-B2A3-5EC1-CEAF-805353B90F9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75388" y="1008000"/>
            <a:ext cx="5437188" cy="468000"/>
          </a:xfrm>
        </p:spPr>
        <p:txBody>
          <a:bodyPr vert="horz" lIns="0" tIns="0" rIns="0" bIns="0" rtlCol="0"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lang="ja-JP" altLang="en-US" sz="1800" b="1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76976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）黒_コンテンツ全面_レベル_16: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77D81023-2A1D-453A-B6C3-7E7FA34E42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059539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77D81023-2A1D-453A-B6C3-7E7FA34E42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コンテンツ プレースホルダ 2">
            <a:extLst>
              <a:ext uri="{FF2B5EF4-FFF2-40B4-BE49-F238E27FC236}">
                <a16:creationId xmlns:a16="http://schemas.microsoft.com/office/drawing/2014/main" id="{5B75B1AC-23A7-0EC1-A099-E19E2BA92CC3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480000" y="1483200"/>
            <a:ext cx="11232000" cy="482400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buNone/>
              <a:defRPr sz="1600" baseline="0">
                <a:latin typeface="+mn-lt"/>
                <a:ea typeface="+mn-ea"/>
                <a:cs typeface="+mn-cs"/>
              </a:defRPr>
            </a:lvl1pPr>
            <a:lvl2pPr marL="252000" indent="-252000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n"/>
              <a:defRPr sz="1600" baseline="0">
                <a:latin typeface="+mn-lt"/>
                <a:ea typeface="+mn-ea"/>
                <a:cs typeface="+mn-cs"/>
              </a:defRPr>
            </a:lvl2pPr>
            <a:lvl3pPr marL="504000" indent="-252000">
              <a:lnSpc>
                <a:spcPct val="100000"/>
              </a:lnSpc>
              <a:spcBef>
                <a:spcPts val="600"/>
              </a:spcBef>
              <a:buFont typeface="Wingdings" pitchFamily="2" charset="2"/>
              <a:buChar char="Ø"/>
              <a:defRPr sz="1600" baseline="0">
                <a:latin typeface="+mn-lt"/>
                <a:ea typeface="+mn-ea"/>
                <a:cs typeface="+mn-cs"/>
              </a:defRPr>
            </a:lvl3pPr>
            <a:lvl4pPr marL="684000" marR="0" indent="-180000" algn="l" defTabSz="989013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600" baseline="0"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AA5FCFE5-FE56-4EF1-80A8-07776887C2A1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8" name="テキスト プレースホルダー 6">
            <a:extLst>
              <a:ext uri="{FF2B5EF4-FFF2-40B4-BE49-F238E27FC236}">
                <a16:creationId xmlns:a16="http://schemas.microsoft.com/office/drawing/2014/main" id="{E4AF888F-393A-D115-D1C7-E8C19773D9A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425" y="5951022"/>
            <a:ext cx="11233150" cy="360000"/>
          </a:xfrm>
        </p:spPr>
        <p:txBody>
          <a:bodyPr anchor="b"/>
          <a:lstStyle>
            <a:lvl1pPr fontAlgn="auto">
              <a:lnSpc>
                <a:spcPct val="100000"/>
              </a:lnSpc>
              <a:spcBef>
                <a:spcPts val="0"/>
              </a:spcBef>
              <a:defRPr sz="1200"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9" name="テキスト プレースホルダー 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78799" y="1008000"/>
            <a:ext cx="11232000" cy="468000"/>
          </a:xfrm>
          <a:prstGeom prst="rect">
            <a:avLst/>
          </a:prstGeom>
        </p:spPr>
        <p:txBody>
          <a:bodyPr wrap="none" tIns="0" anchor="ctr">
            <a:noAutofit/>
          </a:bodyPr>
          <a:lstStyle>
            <a:lvl1pPr fontAlgn="auto">
              <a:lnSpc>
                <a:spcPct val="100000"/>
              </a:lnSpc>
              <a:spcBef>
                <a:spcPts val="0"/>
              </a:spcBef>
              <a:defRPr sz="1800" b="1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6" name="タイトル 5"/>
          <p:cNvSpPr>
            <a:spLocks noGrp="1"/>
          </p:cNvSpPr>
          <p:nvPr>
            <p:ph type="title" hasCustomPrompt="1"/>
          </p:nvPr>
        </p:nvSpPr>
        <p:spPr bwMode="gray">
          <a:xfrm>
            <a:off x="480000" y="108000"/>
            <a:ext cx="11232000" cy="738000"/>
          </a:xfrm>
        </p:spPr>
        <p:txBody>
          <a:bodyPr vert="horz"/>
          <a:lstStyle>
            <a:lvl1pPr>
              <a:defRPr baseline="0"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/>
              <a:t>キーメッセージを入力（本スライドで一番伝えたいこと＜名詞止め・体言止め不可＞）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25936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（基本版）背表紙_16:9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3FE34F38-94AA-4F62-8832-48A80D3F204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938687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3FE34F38-94AA-4F62-8832-48A80D3F20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図 6">
            <a:extLst>
              <a:ext uri="{FF2B5EF4-FFF2-40B4-BE49-F238E27FC236}">
                <a16:creationId xmlns:a16="http://schemas.microsoft.com/office/drawing/2014/main" id="{367F1314-1825-435D-8B63-69D515D2D34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478800" y="432000"/>
            <a:ext cx="2016000" cy="631680"/>
          </a:xfrm>
          <a:prstGeom prst="rect">
            <a:avLst/>
          </a:prstGeom>
        </p:spPr>
      </p:pic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483C3FE-A231-4B89-B872-32F0B9B83B51}"/>
              </a:ext>
            </a:extLst>
          </p:cNvPr>
          <p:cNvSpPr txBox="1"/>
          <p:nvPr userDrawn="1"/>
        </p:nvSpPr>
        <p:spPr bwMode="gray">
          <a:xfrm>
            <a:off x="10308172" y="6517422"/>
            <a:ext cx="1604606" cy="25282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951"/>
              </a:lnSpc>
            </a:pPr>
            <a:r>
              <a:rPr kumimoji="1" lang="en-US" altLang="ja-JP" sz="800">
                <a:solidFill>
                  <a:prstClr val="black"/>
                </a:solidFill>
                <a:latin typeface="+mn-lt"/>
                <a:ea typeface="+mn-ea"/>
                <a:cs typeface="+mn-cs"/>
                <a:sym typeface="+mn-lt"/>
              </a:rPr>
              <a:t>Member of</a:t>
            </a:r>
            <a:br>
              <a:rPr kumimoji="1" lang="en-US" altLang="ja-JP" sz="800">
                <a:solidFill>
                  <a:prstClr val="black"/>
                </a:solidFill>
                <a:latin typeface="+mn-lt"/>
                <a:ea typeface="+mn-ea"/>
                <a:cs typeface="+mn-cs"/>
                <a:sym typeface="+mn-lt"/>
              </a:rPr>
            </a:br>
            <a:r>
              <a:rPr kumimoji="1" lang="en-US" altLang="ja-JP" sz="800" b="1">
                <a:solidFill>
                  <a:prstClr val="black"/>
                </a:solidFill>
                <a:latin typeface="+mn-lt"/>
                <a:ea typeface="+mn-ea"/>
                <a:cs typeface="+mn-cs"/>
                <a:sym typeface="+mn-lt"/>
              </a:rPr>
              <a:t>Deloitte </a:t>
            </a:r>
            <a:r>
              <a:rPr kumimoji="1" lang="en-US" altLang="ja-JP" sz="800" b="1" err="1">
                <a:solidFill>
                  <a:prstClr val="black"/>
                </a:solidFill>
                <a:latin typeface="+mn-lt"/>
                <a:ea typeface="+mn-ea"/>
                <a:cs typeface="+mn-cs"/>
                <a:sym typeface="+mn-lt"/>
              </a:rPr>
              <a:t>Touche</a:t>
            </a:r>
            <a:r>
              <a:rPr kumimoji="1" lang="en-US" altLang="ja-JP" sz="800" b="1">
                <a:solidFill>
                  <a:prstClr val="black"/>
                </a:solidFill>
                <a:latin typeface="+mn-lt"/>
                <a:ea typeface="+mn-ea"/>
                <a:cs typeface="+mn-cs"/>
                <a:sym typeface="+mn-lt"/>
              </a:rPr>
              <a:t> Tohmatsu Limited</a:t>
            </a:r>
            <a:endParaRPr kumimoji="1" lang="ja-JP" altLang="en-US" sz="800" b="1">
              <a:solidFill>
                <a:prstClr val="black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24BFF78-91C0-4FA5-B03F-78B1D33C00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gray">
          <a:xfrm>
            <a:off x="478800" y="6372000"/>
            <a:ext cx="8820000" cy="127856"/>
          </a:xfrm>
        </p:spPr>
        <p:txBody>
          <a:bodyPr vert="horz" lIns="0" tIns="0" rIns="0" bIns="0" rtlCol="0" anchor="b" anchorCtr="0">
            <a:spAutoFit/>
          </a:bodyPr>
          <a:lstStyle>
            <a:lvl1pPr>
              <a:defRPr lang="ja-JP" altLang="en-US" sz="800" smtClean="0">
                <a:latin typeface="+mn-lt"/>
                <a:ea typeface="+mn-ea"/>
                <a:cs typeface="+mn-cs"/>
              </a:defRPr>
            </a:lvl1pPr>
            <a:lvl2pPr>
              <a:defRPr lang="ja-JP" altLang="en-US" smtClean="0"/>
            </a:lvl2pPr>
            <a:lvl3pPr>
              <a:defRPr lang="ja-JP" altLang="en-US" smtClean="0"/>
            </a:lvl3pPr>
            <a:lvl4pPr>
              <a:defRPr lang="ja-JP" altLang="en-US" smtClean="0"/>
            </a:lvl4pPr>
            <a:lvl5pPr>
              <a:defRPr lang="ja-JP" altLang="en-US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3" name="Text Box 37">
            <a:extLst>
              <a:ext uri="{FF2B5EF4-FFF2-40B4-BE49-F238E27FC236}">
                <a16:creationId xmlns:a16="http://schemas.microsoft.com/office/drawing/2014/main" id="{9BD445DE-20C1-460B-9740-50459E6F6E63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478800" y="6660000"/>
            <a:ext cx="2604880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t" anchorCtr="0">
            <a:spAutoFit/>
          </a:bodyPr>
          <a:lstStyle/>
          <a:p>
            <a:pPr algn="l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© 2025. For information, contact Deloitte Tohmatsu Group.</a:t>
            </a:r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6D3A5278-6D4D-48CD-B33F-E16518FBA520}"/>
              </a:ext>
            </a:extLst>
          </p:cNvPr>
          <p:cNvGrpSpPr/>
          <p:nvPr userDrawn="1"/>
        </p:nvGrpSpPr>
        <p:grpSpPr>
          <a:xfrm>
            <a:off x="10270800" y="3222000"/>
            <a:ext cx="1440000" cy="1894801"/>
            <a:chOff x="8050246" y="4451478"/>
            <a:chExt cx="1440000" cy="1894801"/>
          </a:xfrm>
        </p:grpSpPr>
        <p:pic>
          <p:nvPicPr>
            <p:cNvPr id="9" name="図 8" descr="ロゴ, 会社名&#10;&#10;自動的に生成された説明">
              <a:extLst>
                <a:ext uri="{FF2B5EF4-FFF2-40B4-BE49-F238E27FC236}">
                  <a16:creationId xmlns:a16="http://schemas.microsoft.com/office/drawing/2014/main" id="{EE572D97-F5AE-4209-9B5E-6F62708DD6F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8050246" y="4451478"/>
              <a:ext cx="1440000" cy="873777"/>
            </a:xfrm>
            <a:prstGeom prst="rect">
              <a:avLst/>
            </a:prstGeom>
          </p:spPr>
        </p:pic>
        <p:pic>
          <p:nvPicPr>
            <p:cNvPr id="10" name="図 9" descr="ロゴ&#10;&#10;自動的に生成された説明">
              <a:extLst>
                <a:ext uri="{FF2B5EF4-FFF2-40B4-BE49-F238E27FC236}">
                  <a16:creationId xmlns:a16="http://schemas.microsoft.com/office/drawing/2014/main" id="{174BAC09-EE91-4451-95F8-BA04B238569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48021" y="5473537"/>
              <a:ext cx="1244450" cy="872742"/>
            </a:xfrm>
            <a:prstGeom prst="rect">
              <a:avLst/>
            </a:prstGeom>
          </p:spPr>
        </p:pic>
      </p:grpSp>
      <p:pic>
        <p:nvPicPr>
          <p:cNvPr id="5" name="Picture 3">
            <a:extLst>
              <a:ext uri="{FF2B5EF4-FFF2-40B4-BE49-F238E27FC236}">
                <a16:creationId xmlns:a16="http://schemas.microsoft.com/office/drawing/2014/main" id="{68101465-63EE-D2BF-35AA-692852B492F9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rcRect/>
          <a:stretch/>
        </p:blipFill>
        <p:spPr>
          <a:xfrm>
            <a:off x="10694852" y="5436000"/>
            <a:ext cx="1198880" cy="119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249305"/>
      </p:ext>
    </p:extLst>
  </p:cSld>
  <p:clrMapOvr>
    <a:masterClrMapping/>
  </p:clrMapOvr>
  <p:hf hdr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（基本版）背表紙_トーマツロゴ_16:9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3FE34F38-94AA-4F62-8832-48A80D3F204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956650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3FE34F38-94AA-4F62-8832-48A80D3F20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483C3FE-A231-4B89-B872-32F0B9B83B51}"/>
              </a:ext>
            </a:extLst>
          </p:cNvPr>
          <p:cNvSpPr txBox="1"/>
          <p:nvPr userDrawn="1"/>
        </p:nvSpPr>
        <p:spPr bwMode="gray">
          <a:xfrm>
            <a:off x="10308172" y="6517422"/>
            <a:ext cx="1604606" cy="25282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951"/>
              </a:lnSpc>
            </a:pPr>
            <a:r>
              <a:rPr kumimoji="1" lang="en-US" altLang="ja-JP" sz="800">
                <a:solidFill>
                  <a:prstClr val="black"/>
                </a:solidFill>
                <a:latin typeface="+mn-lt"/>
                <a:ea typeface="+mn-ea"/>
                <a:cs typeface="+mn-cs"/>
                <a:sym typeface="+mn-lt"/>
              </a:rPr>
              <a:t>Member of</a:t>
            </a:r>
            <a:br>
              <a:rPr kumimoji="1" lang="en-US" altLang="ja-JP" sz="800">
                <a:solidFill>
                  <a:prstClr val="black"/>
                </a:solidFill>
                <a:latin typeface="+mn-lt"/>
                <a:ea typeface="+mn-ea"/>
                <a:cs typeface="+mn-cs"/>
                <a:sym typeface="+mn-lt"/>
              </a:rPr>
            </a:br>
            <a:r>
              <a:rPr kumimoji="1" lang="en-US" altLang="ja-JP" sz="800" b="1">
                <a:solidFill>
                  <a:prstClr val="black"/>
                </a:solidFill>
                <a:latin typeface="+mn-lt"/>
                <a:ea typeface="+mn-ea"/>
                <a:cs typeface="+mn-cs"/>
                <a:sym typeface="+mn-lt"/>
              </a:rPr>
              <a:t>Deloitte </a:t>
            </a:r>
            <a:r>
              <a:rPr kumimoji="1" lang="en-US" altLang="ja-JP" sz="800" b="1" err="1">
                <a:solidFill>
                  <a:prstClr val="black"/>
                </a:solidFill>
                <a:latin typeface="+mn-lt"/>
                <a:ea typeface="+mn-ea"/>
                <a:cs typeface="+mn-cs"/>
                <a:sym typeface="+mn-lt"/>
              </a:rPr>
              <a:t>Touche</a:t>
            </a:r>
            <a:r>
              <a:rPr kumimoji="1" lang="en-US" altLang="ja-JP" sz="800" b="1">
                <a:solidFill>
                  <a:prstClr val="black"/>
                </a:solidFill>
                <a:latin typeface="+mn-lt"/>
                <a:ea typeface="+mn-ea"/>
                <a:cs typeface="+mn-cs"/>
                <a:sym typeface="+mn-lt"/>
              </a:rPr>
              <a:t> Tohmatsu Limited</a:t>
            </a:r>
            <a:endParaRPr kumimoji="1" lang="ja-JP" altLang="en-US" sz="800" b="1">
              <a:solidFill>
                <a:prstClr val="black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24BFF78-91C0-4FA5-B03F-78B1D33C00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gray">
          <a:xfrm>
            <a:off x="478800" y="6372000"/>
            <a:ext cx="8820000" cy="127856"/>
          </a:xfrm>
        </p:spPr>
        <p:txBody>
          <a:bodyPr vert="horz" lIns="0" tIns="0" rIns="0" bIns="0" rtlCol="0" anchor="b" anchorCtr="0">
            <a:spAutoFit/>
          </a:bodyPr>
          <a:lstStyle>
            <a:lvl1pPr>
              <a:defRPr lang="ja-JP" altLang="en-US" sz="800" smtClean="0">
                <a:latin typeface="+mn-lt"/>
                <a:ea typeface="+mn-ea"/>
                <a:cs typeface="+mn-cs"/>
              </a:defRPr>
            </a:lvl1pPr>
            <a:lvl2pPr>
              <a:defRPr lang="ja-JP" altLang="en-US" smtClean="0"/>
            </a:lvl2pPr>
            <a:lvl3pPr>
              <a:defRPr lang="ja-JP" altLang="en-US" smtClean="0"/>
            </a:lvl3pPr>
            <a:lvl4pPr>
              <a:defRPr lang="ja-JP" altLang="en-US" smtClean="0"/>
            </a:lvl4pPr>
            <a:lvl5pPr>
              <a:defRPr lang="ja-JP" altLang="en-US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3" name="Text Box 37">
            <a:extLst>
              <a:ext uri="{FF2B5EF4-FFF2-40B4-BE49-F238E27FC236}">
                <a16:creationId xmlns:a16="http://schemas.microsoft.com/office/drawing/2014/main" id="{9BD445DE-20C1-460B-9740-50459E6F6E63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478800" y="6660000"/>
            <a:ext cx="2604880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t" anchorCtr="0">
            <a:spAutoFit/>
          </a:bodyPr>
          <a:lstStyle/>
          <a:p>
            <a:pPr algn="l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© 2025. For information, contact Deloitte Tohmatsu Group.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501A15D5-7B51-4B9F-8EF0-8D771BACAF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gray">
          <a:xfrm>
            <a:off x="478800" y="431005"/>
            <a:ext cx="3721455" cy="6329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7AA5F3BE-2C73-21B4-1792-CE7804C9094E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10694852" y="5436000"/>
            <a:ext cx="1198880" cy="1198880"/>
          </a:xfrm>
          <a:prstGeom prst="rect">
            <a:avLst/>
          </a:prstGeom>
        </p:spPr>
      </p:pic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E553D118-33B9-8047-F5CF-3B03F130350F}"/>
              </a:ext>
            </a:extLst>
          </p:cNvPr>
          <p:cNvGrpSpPr/>
          <p:nvPr userDrawn="1"/>
        </p:nvGrpSpPr>
        <p:grpSpPr>
          <a:xfrm>
            <a:off x="10270800" y="3222000"/>
            <a:ext cx="1440000" cy="1894801"/>
            <a:chOff x="8050246" y="4451478"/>
            <a:chExt cx="1440000" cy="1894801"/>
          </a:xfrm>
        </p:grpSpPr>
        <p:pic>
          <p:nvPicPr>
            <p:cNvPr id="6" name="図 5" descr="ロゴ, 会社名&#10;&#10;自動的に生成された説明">
              <a:extLst>
                <a:ext uri="{FF2B5EF4-FFF2-40B4-BE49-F238E27FC236}">
                  <a16:creationId xmlns:a16="http://schemas.microsoft.com/office/drawing/2014/main" id="{D2C433B9-83A5-C204-17F5-89F2B1D6A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8050246" y="4451478"/>
              <a:ext cx="1440000" cy="873777"/>
            </a:xfrm>
            <a:prstGeom prst="rect">
              <a:avLst/>
            </a:prstGeom>
          </p:spPr>
        </p:pic>
        <p:pic>
          <p:nvPicPr>
            <p:cNvPr id="7" name="図 6" descr="ロゴ&#10;&#10;自動的に生成された説明">
              <a:extLst>
                <a:ext uri="{FF2B5EF4-FFF2-40B4-BE49-F238E27FC236}">
                  <a16:creationId xmlns:a16="http://schemas.microsoft.com/office/drawing/2014/main" id="{7E3E8DC4-DA86-93F3-32DB-DBD7E5E7F1C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48021" y="5473537"/>
              <a:ext cx="1244450" cy="87274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59241581"/>
      </p:ext>
    </p:extLst>
  </p:cSld>
  <p:clrMapOvr>
    <a:masterClrMapping/>
  </p:clrMapOvr>
  <p:hf hdr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（基本版）黒_背表紙_16:9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3FE34F38-94AA-4F62-8832-48A80D3F204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446754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3FE34F38-94AA-4F62-8832-48A80D3F20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483C3FE-A231-4B89-B872-32F0B9B83B51}"/>
              </a:ext>
            </a:extLst>
          </p:cNvPr>
          <p:cNvSpPr txBox="1"/>
          <p:nvPr userDrawn="1"/>
        </p:nvSpPr>
        <p:spPr bwMode="gray">
          <a:xfrm>
            <a:off x="10308172" y="6517422"/>
            <a:ext cx="1604606" cy="25282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951"/>
              </a:lnSpc>
            </a:pPr>
            <a:r>
              <a:rPr kumimoji="1" lang="en-US" altLang="ja-JP" sz="8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Member of</a:t>
            </a:r>
            <a:br>
              <a:rPr kumimoji="1" lang="en-US" altLang="ja-JP" sz="8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</a:br>
            <a:r>
              <a:rPr kumimoji="1" lang="en-US" altLang="ja-JP" sz="800" b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Deloitte </a:t>
            </a:r>
            <a:r>
              <a:rPr kumimoji="1" lang="en-US" altLang="ja-JP" sz="800" b="1" err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Touche</a:t>
            </a:r>
            <a:r>
              <a:rPr kumimoji="1" lang="en-US" altLang="ja-JP" sz="800" b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 Tohmatsu Limited</a:t>
            </a:r>
            <a:endParaRPr kumimoji="1" lang="ja-JP" altLang="en-US" sz="800" b="1">
              <a:solidFill>
                <a:schemeClr val="tx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24BFF78-91C0-4FA5-B03F-78B1D33C00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gray">
          <a:xfrm>
            <a:off x="478800" y="6372000"/>
            <a:ext cx="8820000" cy="127856"/>
          </a:xfrm>
        </p:spPr>
        <p:txBody>
          <a:bodyPr vert="horz" lIns="0" tIns="0" rIns="0" bIns="0" rtlCol="0" anchor="b" anchorCtr="0">
            <a:spAutoFit/>
          </a:bodyPr>
          <a:lstStyle>
            <a:lvl1pPr>
              <a:defRPr lang="ja-JP" altLang="en-US" sz="8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ja-JP" altLang="en-US" smtClean="0"/>
            </a:lvl2pPr>
            <a:lvl3pPr>
              <a:defRPr lang="ja-JP" altLang="en-US" smtClean="0"/>
            </a:lvl3pPr>
            <a:lvl4pPr>
              <a:defRPr lang="ja-JP" altLang="en-US" smtClean="0"/>
            </a:lvl4pPr>
            <a:lvl5pPr>
              <a:defRPr lang="ja-JP" altLang="en-US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3" name="Text Box 37">
            <a:extLst>
              <a:ext uri="{FF2B5EF4-FFF2-40B4-BE49-F238E27FC236}">
                <a16:creationId xmlns:a16="http://schemas.microsoft.com/office/drawing/2014/main" id="{9BD445DE-20C1-460B-9740-50459E6F6E63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478800" y="6660000"/>
            <a:ext cx="2604880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t" anchorCtr="0">
            <a:spAutoFit/>
          </a:bodyPr>
          <a:lstStyle/>
          <a:p>
            <a:pPr algn="l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© 2025. For information, contact Deloitte Tohmatsu Group.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FE41D69D-2433-4D11-814D-C797F4E5053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478800" y="431999"/>
            <a:ext cx="2016000" cy="627200"/>
          </a:xfrm>
          <a:prstGeom prst="rect">
            <a:avLst/>
          </a:prstGeom>
        </p:spPr>
      </p:pic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245A9EC4-0A34-443E-8A5C-E1C41D6E8ECA}"/>
              </a:ext>
            </a:extLst>
          </p:cNvPr>
          <p:cNvGrpSpPr/>
          <p:nvPr userDrawn="1"/>
        </p:nvGrpSpPr>
        <p:grpSpPr>
          <a:xfrm>
            <a:off x="10270800" y="3222000"/>
            <a:ext cx="1440000" cy="1861937"/>
            <a:chOff x="8050925" y="4451478"/>
            <a:chExt cx="1440000" cy="1861937"/>
          </a:xfrm>
        </p:grpSpPr>
        <p:pic>
          <p:nvPicPr>
            <p:cNvPr id="11" name="図 10" descr="ロゴ, 会社名&#10;&#10;自動的に生成された説明">
              <a:extLst>
                <a:ext uri="{FF2B5EF4-FFF2-40B4-BE49-F238E27FC236}">
                  <a16:creationId xmlns:a16="http://schemas.microsoft.com/office/drawing/2014/main" id="{C713905B-35CF-4B24-BCA2-637030354B4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8050925" y="4451478"/>
              <a:ext cx="1440000" cy="873777"/>
            </a:xfrm>
            <a:prstGeom prst="rect">
              <a:avLst/>
            </a:prstGeom>
          </p:spPr>
        </p:pic>
        <p:pic>
          <p:nvPicPr>
            <p:cNvPr id="12" name="図 11">
              <a:extLst>
                <a:ext uri="{FF2B5EF4-FFF2-40B4-BE49-F238E27FC236}">
                  <a16:creationId xmlns:a16="http://schemas.microsoft.com/office/drawing/2014/main" id="{DEA888C4-18A7-4DB2-A911-C4F477C66E7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48021" y="5473537"/>
              <a:ext cx="1229139" cy="839878"/>
            </a:xfrm>
            <a:prstGeom prst="rect">
              <a:avLst/>
            </a:prstGeom>
          </p:spPr>
        </p:pic>
      </p:grpSp>
      <p:pic>
        <p:nvPicPr>
          <p:cNvPr id="3" name="Picture 3">
            <a:extLst>
              <a:ext uri="{FF2B5EF4-FFF2-40B4-BE49-F238E27FC236}">
                <a16:creationId xmlns:a16="http://schemas.microsoft.com/office/drawing/2014/main" id="{B58FE27E-7473-91AD-522F-C6EE7B389FF8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rcRect/>
          <a:stretch/>
        </p:blipFill>
        <p:spPr>
          <a:xfrm>
            <a:off x="10694852" y="5436000"/>
            <a:ext cx="1198880" cy="119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3781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（基本版）黒_背表紙_トーマツロゴ_16:9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>
            <a:extLst>
              <a:ext uri="{FF2B5EF4-FFF2-40B4-BE49-F238E27FC236}">
                <a16:creationId xmlns:a16="http://schemas.microsoft.com/office/drawing/2014/main" id="{3FE34F38-94AA-4F62-8832-48A80D3F204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219903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2" name="オブジェクト 1" hidden="1">
                        <a:extLst>
                          <a:ext uri="{FF2B5EF4-FFF2-40B4-BE49-F238E27FC236}">
                            <a16:creationId xmlns:a16="http://schemas.microsoft.com/office/drawing/2014/main" id="{3FE34F38-94AA-4F62-8832-48A80D3F20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9483C3FE-A231-4B89-B872-32F0B9B83B51}"/>
              </a:ext>
            </a:extLst>
          </p:cNvPr>
          <p:cNvSpPr txBox="1"/>
          <p:nvPr userDrawn="1"/>
        </p:nvSpPr>
        <p:spPr bwMode="gray">
          <a:xfrm>
            <a:off x="10308172" y="6517422"/>
            <a:ext cx="1604606" cy="25282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ts val="951"/>
              </a:lnSpc>
            </a:pPr>
            <a:r>
              <a:rPr kumimoji="1" lang="en-US" altLang="ja-JP" sz="8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Member of</a:t>
            </a:r>
            <a:br>
              <a:rPr kumimoji="1" lang="en-US" altLang="ja-JP" sz="8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</a:br>
            <a:r>
              <a:rPr kumimoji="1" lang="en-US" altLang="ja-JP" sz="800" b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Deloitte </a:t>
            </a:r>
            <a:r>
              <a:rPr kumimoji="1" lang="en-US" altLang="ja-JP" sz="800" b="1" err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Touche</a:t>
            </a:r>
            <a:r>
              <a:rPr kumimoji="1" lang="en-US" altLang="ja-JP" sz="800" b="1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 Tohmatsu Limited</a:t>
            </a:r>
            <a:endParaRPr kumimoji="1" lang="ja-JP" altLang="en-US" sz="800" b="1">
              <a:solidFill>
                <a:schemeClr val="tx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24BFF78-91C0-4FA5-B03F-78B1D33C00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gray">
          <a:xfrm>
            <a:off x="478800" y="6372000"/>
            <a:ext cx="8820000" cy="127856"/>
          </a:xfrm>
        </p:spPr>
        <p:txBody>
          <a:bodyPr vert="horz" lIns="0" tIns="0" rIns="0" bIns="0" rtlCol="0" anchor="b" anchorCtr="0">
            <a:spAutoFit/>
          </a:bodyPr>
          <a:lstStyle>
            <a:lvl1pPr>
              <a:defRPr lang="ja-JP" altLang="en-US" sz="8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ja-JP" altLang="en-US" smtClean="0"/>
            </a:lvl2pPr>
            <a:lvl3pPr>
              <a:defRPr lang="ja-JP" altLang="en-US" smtClean="0"/>
            </a:lvl3pPr>
            <a:lvl4pPr>
              <a:defRPr lang="ja-JP" altLang="en-US" smtClean="0"/>
            </a:lvl4pPr>
            <a:lvl5pPr>
              <a:defRPr lang="ja-JP" altLang="en-US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13" name="Text Box 37">
            <a:extLst>
              <a:ext uri="{FF2B5EF4-FFF2-40B4-BE49-F238E27FC236}">
                <a16:creationId xmlns:a16="http://schemas.microsoft.com/office/drawing/2014/main" id="{9BD445DE-20C1-460B-9740-50459E6F6E63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478800" y="6660000"/>
            <a:ext cx="2604880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t" anchorCtr="0">
            <a:spAutoFit/>
          </a:bodyPr>
          <a:lstStyle/>
          <a:p>
            <a:pPr algn="l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8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+mn-lt"/>
              </a:rPr>
              <a:t>© 2025. For information, contact Deloitte Tohmatsu Group.</a:t>
            </a: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9C0938ED-B2BE-4693-8FA5-820BAD918B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 bwMode="gray">
          <a:xfrm>
            <a:off x="478800" y="431997"/>
            <a:ext cx="3722400" cy="632360"/>
          </a:xfrm>
          <a:prstGeom prst="rect">
            <a:avLst/>
          </a:prstGeom>
        </p:spPr>
      </p:pic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366F5FD9-1E58-CDA7-CACE-B242EB6B204F}"/>
              </a:ext>
            </a:extLst>
          </p:cNvPr>
          <p:cNvGrpSpPr/>
          <p:nvPr userDrawn="1"/>
        </p:nvGrpSpPr>
        <p:grpSpPr>
          <a:xfrm>
            <a:off x="10270800" y="3222000"/>
            <a:ext cx="1440000" cy="1861937"/>
            <a:chOff x="8050925" y="4451478"/>
            <a:chExt cx="1440000" cy="1861937"/>
          </a:xfrm>
        </p:grpSpPr>
        <p:pic>
          <p:nvPicPr>
            <p:cNvPr id="5" name="図 4" descr="ロゴ, 会社名&#10;&#10;自動的に生成された説明">
              <a:extLst>
                <a:ext uri="{FF2B5EF4-FFF2-40B4-BE49-F238E27FC236}">
                  <a16:creationId xmlns:a16="http://schemas.microsoft.com/office/drawing/2014/main" id="{D73EDECA-A512-7669-1691-62C5E111EAE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 bwMode="gray">
            <a:xfrm>
              <a:off x="8050925" y="4451478"/>
              <a:ext cx="1440000" cy="873777"/>
            </a:xfrm>
            <a:prstGeom prst="rect">
              <a:avLst/>
            </a:prstGeom>
          </p:spPr>
        </p:pic>
        <p:pic>
          <p:nvPicPr>
            <p:cNvPr id="6" name="図 5">
              <a:extLst>
                <a:ext uri="{FF2B5EF4-FFF2-40B4-BE49-F238E27FC236}">
                  <a16:creationId xmlns:a16="http://schemas.microsoft.com/office/drawing/2014/main" id="{17480D25-DAE4-135D-514C-ADF811A79B2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48021" y="5473537"/>
              <a:ext cx="1229139" cy="839878"/>
            </a:xfrm>
            <a:prstGeom prst="rect">
              <a:avLst/>
            </a:prstGeom>
          </p:spPr>
        </p:pic>
      </p:grpSp>
      <p:pic>
        <p:nvPicPr>
          <p:cNvPr id="7" name="Picture 3">
            <a:extLst>
              <a:ext uri="{FF2B5EF4-FFF2-40B4-BE49-F238E27FC236}">
                <a16:creationId xmlns:a16="http://schemas.microsoft.com/office/drawing/2014/main" id="{7114BB36-8EE5-0472-5190-1AC8C392D5CC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rcRect/>
          <a:stretch/>
        </p:blipFill>
        <p:spPr>
          <a:xfrm>
            <a:off x="10694852" y="5436000"/>
            <a:ext cx="1198880" cy="119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2311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②） タイトルのみ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オブジェクト 5" hidden="1">
            <a:extLst>
              <a:ext uri="{FF2B5EF4-FFF2-40B4-BE49-F238E27FC236}">
                <a16:creationId xmlns:a16="http://schemas.microsoft.com/office/drawing/2014/main" id="{565569E2-3698-4981-B3D0-8A71927BC8F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992992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6" name="オブジェクト 5" hidden="1">
                        <a:extLst>
                          <a:ext uri="{FF2B5EF4-FFF2-40B4-BE49-F238E27FC236}">
                            <a16:creationId xmlns:a16="http://schemas.microsoft.com/office/drawing/2014/main" id="{565569E2-3698-4981-B3D0-8A71927BC8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>
          <a:xfrm>
            <a:off x="730799" y="6588000"/>
            <a:ext cx="5184000" cy="1692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6E56C22-CD92-4A50-AAD1-E2171E0619B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テキスト プレースホルダー 6">
            <a:extLst>
              <a:ext uri="{FF2B5EF4-FFF2-40B4-BE49-F238E27FC236}">
                <a16:creationId xmlns:a16="http://schemas.microsoft.com/office/drawing/2014/main" id="{B5C48E74-0194-96FD-16F5-39F7833E8EE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8798" y="5951022"/>
            <a:ext cx="11233150" cy="360000"/>
          </a:xfrm>
        </p:spPr>
        <p:txBody>
          <a:bodyPr anchor="b">
            <a:noAutofit/>
          </a:bodyPr>
          <a:lstStyle>
            <a:lvl1pPr fontAlgn="auto">
              <a:lnSpc>
                <a:spcPct val="100000"/>
              </a:lnSpc>
              <a:spcBef>
                <a:spcPts val="0"/>
              </a:spcBef>
              <a:defRPr sz="1200"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10" name="タイトル 5">
            <a:extLst>
              <a:ext uri="{FF2B5EF4-FFF2-40B4-BE49-F238E27FC236}">
                <a16:creationId xmlns:a16="http://schemas.microsoft.com/office/drawing/2014/main" id="{1976C00D-F300-41F7-B9BE-555B270FFC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78798" y="836613"/>
            <a:ext cx="11232000" cy="647700"/>
          </a:xfrm>
        </p:spPr>
        <p:txBody>
          <a:bodyPr vert="horz" anchor="t" anchorCtr="0">
            <a:noAutofit/>
          </a:bodyPr>
          <a:lstStyle>
            <a:lvl1pPr>
              <a:defRPr sz="1800" b="0" baseline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kumimoji="1" lang="ja-JP" altLang="en-US"/>
              <a:t>キーメッセージ（オプション）</a:t>
            </a:r>
          </a:p>
        </p:txBody>
      </p:sp>
      <p:sp>
        <p:nvSpPr>
          <p:cNvPr id="9" name="テキスト プレースホルダー 2">
            <a:extLst>
              <a:ext uri="{FF2B5EF4-FFF2-40B4-BE49-F238E27FC236}">
                <a16:creationId xmlns:a16="http://schemas.microsoft.com/office/drawing/2014/main" id="{87B3B458-ABA1-4820-BE44-AF09043A23A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478798" y="152400"/>
            <a:ext cx="11232000" cy="647700"/>
          </a:xfrm>
          <a:prstGeom prst="rect">
            <a:avLst/>
          </a:prstGeom>
        </p:spPr>
        <p:txBody>
          <a:bodyPr wrap="square" tIns="0" anchor="b" anchorCtr="0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2400" b="1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</a:lstStyle>
          <a:p>
            <a:pPr marL="0" marR="0" lvl="0" indent="0" algn="l" defTabSz="9905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/>
              <a:t>スライドタイトル（入力が必要）</a:t>
            </a:r>
          </a:p>
        </p:txBody>
      </p:sp>
    </p:spTree>
    <p:extLst>
      <p:ext uri="{BB962C8B-B14F-4D97-AF65-F5344CB8AC3E}">
        <p14:creationId xmlns:p14="http://schemas.microsoft.com/office/powerpoint/2010/main" val="103636557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②）タイトルのみ_出所・脚注なし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オブジェクト 5" hidden="1">
            <a:extLst>
              <a:ext uri="{FF2B5EF4-FFF2-40B4-BE49-F238E27FC236}">
                <a16:creationId xmlns:a16="http://schemas.microsoft.com/office/drawing/2014/main" id="{565569E2-3698-4981-B3D0-8A71927BC8F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420444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6" name="オブジェクト 5" hidden="1">
                        <a:extLst>
                          <a:ext uri="{FF2B5EF4-FFF2-40B4-BE49-F238E27FC236}">
                            <a16:creationId xmlns:a16="http://schemas.microsoft.com/office/drawing/2014/main" id="{565569E2-3698-4981-B3D0-8A71927BC8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>
          <a:xfrm>
            <a:off x="730799" y="6588000"/>
            <a:ext cx="5184000" cy="1692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6E56C22-CD92-4A50-AAD1-E2171E0619B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0" name="タイトル 5">
            <a:extLst>
              <a:ext uri="{FF2B5EF4-FFF2-40B4-BE49-F238E27FC236}">
                <a16:creationId xmlns:a16="http://schemas.microsoft.com/office/drawing/2014/main" id="{1976C00D-F300-41F7-B9BE-555B270FFC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78798" y="836613"/>
            <a:ext cx="11232000" cy="647700"/>
          </a:xfrm>
        </p:spPr>
        <p:txBody>
          <a:bodyPr vert="horz" anchor="t" anchorCtr="0">
            <a:noAutofit/>
          </a:bodyPr>
          <a:lstStyle>
            <a:lvl1pPr>
              <a:defRPr sz="1800" b="0" baseline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kumimoji="1" lang="ja-JP" altLang="en-US"/>
              <a:t>キーメッセージ（オプション）</a:t>
            </a:r>
          </a:p>
        </p:txBody>
      </p:sp>
      <p:sp>
        <p:nvSpPr>
          <p:cNvPr id="9" name="テキスト プレースホルダー 2">
            <a:extLst>
              <a:ext uri="{FF2B5EF4-FFF2-40B4-BE49-F238E27FC236}">
                <a16:creationId xmlns:a16="http://schemas.microsoft.com/office/drawing/2014/main" id="{87B3B458-ABA1-4820-BE44-AF09043A23A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478798" y="152400"/>
            <a:ext cx="11232000" cy="647700"/>
          </a:xfrm>
          <a:prstGeom prst="rect">
            <a:avLst/>
          </a:prstGeom>
        </p:spPr>
        <p:txBody>
          <a:bodyPr wrap="square" tIns="0" anchor="b" anchorCtr="0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2400" b="1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</a:lstStyle>
          <a:p>
            <a:pPr marL="0" marR="0" lvl="0" indent="0" algn="l" defTabSz="9905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/>
              <a:t>スライドタイトル（入力が必要）</a:t>
            </a:r>
          </a:p>
        </p:txBody>
      </p:sp>
    </p:spTree>
    <p:extLst>
      <p:ext uri="{BB962C8B-B14F-4D97-AF65-F5344CB8AC3E}">
        <p14:creationId xmlns:p14="http://schemas.microsoft.com/office/powerpoint/2010/main" val="25948881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②）小見出しあり_16: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オブジェクト 5" hidden="1">
            <a:extLst>
              <a:ext uri="{FF2B5EF4-FFF2-40B4-BE49-F238E27FC236}">
                <a16:creationId xmlns:a16="http://schemas.microsoft.com/office/drawing/2014/main" id="{565569E2-3698-4981-B3D0-8A71927BC8F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91150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6" name="オブジェクト 5" hidden="1">
                        <a:extLst>
                          <a:ext uri="{FF2B5EF4-FFF2-40B4-BE49-F238E27FC236}">
                            <a16:creationId xmlns:a16="http://schemas.microsoft.com/office/drawing/2014/main" id="{565569E2-3698-4981-B3D0-8A71927BC8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>
          <a:xfrm>
            <a:off x="730799" y="6588000"/>
            <a:ext cx="5184000" cy="1692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6E56C22-CD92-4A50-AAD1-E2171E0619B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テキスト プレースホルダー 6">
            <a:extLst>
              <a:ext uri="{FF2B5EF4-FFF2-40B4-BE49-F238E27FC236}">
                <a16:creationId xmlns:a16="http://schemas.microsoft.com/office/drawing/2014/main" id="{B5C48E74-0194-96FD-16F5-39F7833E8EE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8798" y="5951022"/>
            <a:ext cx="11233150" cy="360000"/>
          </a:xfrm>
        </p:spPr>
        <p:txBody>
          <a:bodyPr anchor="b">
            <a:noAutofit/>
          </a:bodyPr>
          <a:lstStyle>
            <a:lvl1pPr fontAlgn="auto">
              <a:lnSpc>
                <a:spcPct val="100000"/>
              </a:lnSpc>
              <a:spcBef>
                <a:spcPts val="0"/>
              </a:spcBef>
              <a:defRPr sz="1200"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7" name="テキスト プレースホルダー 3">
            <a:extLst>
              <a:ext uri="{FF2B5EF4-FFF2-40B4-BE49-F238E27FC236}">
                <a16:creationId xmlns:a16="http://schemas.microsoft.com/office/drawing/2014/main" id="{22111ABA-B7FF-8C45-F205-C96EDB6F8C5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9425" y="1494000"/>
            <a:ext cx="5437188" cy="468000"/>
          </a:xfrm>
        </p:spPr>
        <p:txBody>
          <a:bodyPr anchor="ctr">
            <a:noAutofit/>
          </a:bodyPr>
          <a:lstStyle>
            <a:lvl1pPr>
              <a:spcBef>
                <a:spcPts val="0"/>
              </a:spcBef>
              <a:defRPr sz="1800" b="1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小見出し（オプション）</a:t>
            </a:r>
          </a:p>
        </p:txBody>
      </p:sp>
      <p:sp>
        <p:nvSpPr>
          <p:cNvPr id="9" name="テキスト プレースホルダー 2">
            <a:extLst>
              <a:ext uri="{FF2B5EF4-FFF2-40B4-BE49-F238E27FC236}">
                <a16:creationId xmlns:a16="http://schemas.microsoft.com/office/drawing/2014/main" id="{87B3B458-ABA1-4820-BE44-AF09043A23A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478798" y="152400"/>
            <a:ext cx="11232000" cy="647700"/>
          </a:xfrm>
          <a:prstGeom prst="rect">
            <a:avLst/>
          </a:prstGeom>
        </p:spPr>
        <p:txBody>
          <a:bodyPr wrap="square" tIns="0" anchor="b" anchorCtr="0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2400" b="1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</a:lstStyle>
          <a:p>
            <a:pPr marL="0" marR="0" lvl="0" indent="0" algn="l" defTabSz="9905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/>
              <a:t>スライドタイトル（入力が必要）</a:t>
            </a:r>
          </a:p>
        </p:txBody>
      </p:sp>
      <p:sp>
        <p:nvSpPr>
          <p:cNvPr id="10" name="タイトル 5">
            <a:extLst>
              <a:ext uri="{FF2B5EF4-FFF2-40B4-BE49-F238E27FC236}">
                <a16:creationId xmlns:a16="http://schemas.microsoft.com/office/drawing/2014/main" id="{1976C00D-F300-41F7-B9BE-555B270FFC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78798" y="836613"/>
            <a:ext cx="11232000" cy="647700"/>
          </a:xfrm>
        </p:spPr>
        <p:txBody>
          <a:bodyPr vert="horz" anchor="t" anchorCtr="0">
            <a:noAutofit/>
          </a:bodyPr>
          <a:lstStyle>
            <a:lvl1pPr>
              <a:defRPr sz="1800" b="0" baseline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kumimoji="1" lang="ja-JP" altLang="en-US"/>
              <a:t>キーメッセージ（オプション）</a:t>
            </a:r>
          </a:p>
        </p:txBody>
      </p:sp>
    </p:spTree>
    <p:extLst>
      <p:ext uri="{BB962C8B-B14F-4D97-AF65-F5344CB8AC3E}">
        <p14:creationId xmlns:p14="http://schemas.microsoft.com/office/powerpoint/2010/main" val="14444192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②）黒_タイトルのみ_16: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オブジェクト 5" hidden="1">
            <a:extLst>
              <a:ext uri="{FF2B5EF4-FFF2-40B4-BE49-F238E27FC236}">
                <a16:creationId xmlns:a16="http://schemas.microsoft.com/office/drawing/2014/main" id="{565569E2-3698-4981-B3D0-8A71927BC8F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354579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6" name="オブジェクト 5" hidden="1">
                        <a:extLst>
                          <a:ext uri="{FF2B5EF4-FFF2-40B4-BE49-F238E27FC236}">
                            <a16:creationId xmlns:a16="http://schemas.microsoft.com/office/drawing/2014/main" id="{565569E2-3698-4981-B3D0-8A71927BC8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>
          <a:xfrm>
            <a:off x="730799" y="6588000"/>
            <a:ext cx="5184000" cy="1692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6E56C22-CD92-4A50-AAD1-E2171E0619B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テキスト プレースホルダー 6">
            <a:extLst>
              <a:ext uri="{FF2B5EF4-FFF2-40B4-BE49-F238E27FC236}">
                <a16:creationId xmlns:a16="http://schemas.microsoft.com/office/drawing/2014/main" id="{B5C48E74-0194-96FD-16F5-39F7833E8EE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8798" y="5951022"/>
            <a:ext cx="11233150" cy="360000"/>
          </a:xfrm>
        </p:spPr>
        <p:txBody>
          <a:bodyPr anchor="b">
            <a:noAutofit/>
          </a:bodyPr>
          <a:lstStyle>
            <a:lvl1pPr fontAlgn="auto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10" name="タイトル 5">
            <a:extLst>
              <a:ext uri="{FF2B5EF4-FFF2-40B4-BE49-F238E27FC236}">
                <a16:creationId xmlns:a16="http://schemas.microsoft.com/office/drawing/2014/main" id="{1976C00D-F300-41F7-B9BE-555B270FFC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78798" y="836613"/>
            <a:ext cx="11232000" cy="647700"/>
          </a:xfrm>
        </p:spPr>
        <p:txBody>
          <a:bodyPr vert="horz" anchor="t" anchorCtr="0">
            <a:noAutofit/>
          </a:bodyPr>
          <a:lstStyle>
            <a:lvl1pPr>
              <a:defRPr sz="1800" b="0" baseline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kumimoji="1" lang="ja-JP" altLang="en-US"/>
              <a:t>キーメッセージ（オプション）</a:t>
            </a:r>
          </a:p>
        </p:txBody>
      </p:sp>
      <p:sp>
        <p:nvSpPr>
          <p:cNvPr id="9" name="テキスト プレースホルダー 2">
            <a:extLst>
              <a:ext uri="{FF2B5EF4-FFF2-40B4-BE49-F238E27FC236}">
                <a16:creationId xmlns:a16="http://schemas.microsoft.com/office/drawing/2014/main" id="{87B3B458-ABA1-4820-BE44-AF09043A23A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478798" y="152400"/>
            <a:ext cx="11232000" cy="647700"/>
          </a:xfrm>
          <a:prstGeom prst="rect">
            <a:avLst/>
          </a:prstGeom>
        </p:spPr>
        <p:txBody>
          <a:bodyPr wrap="square" tIns="0" anchor="b" anchorCtr="0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2400" b="1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</a:lstStyle>
          <a:p>
            <a:pPr marL="0" marR="0" lvl="0" indent="0" algn="l" defTabSz="9905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/>
              <a:t>スライドタイトル（入力が必要）</a:t>
            </a:r>
          </a:p>
        </p:txBody>
      </p:sp>
    </p:spTree>
    <p:extLst>
      <p:ext uri="{BB962C8B-B14F-4D97-AF65-F5344CB8AC3E}">
        <p14:creationId xmlns:p14="http://schemas.microsoft.com/office/powerpoint/2010/main" val="32690814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②）黒_タイトルのみ_出所・脚注なし_16: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オブジェクト 5" hidden="1">
            <a:extLst>
              <a:ext uri="{FF2B5EF4-FFF2-40B4-BE49-F238E27FC236}">
                <a16:creationId xmlns:a16="http://schemas.microsoft.com/office/drawing/2014/main" id="{565569E2-3698-4981-B3D0-8A71927BC8F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415254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6" name="オブジェクト 5" hidden="1">
                        <a:extLst>
                          <a:ext uri="{FF2B5EF4-FFF2-40B4-BE49-F238E27FC236}">
                            <a16:creationId xmlns:a16="http://schemas.microsoft.com/office/drawing/2014/main" id="{565569E2-3698-4981-B3D0-8A71927BC8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>
          <a:xfrm>
            <a:off x="730799" y="6588000"/>
            <a:ext cx="5184000" cy="1692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6E56C22-CD92-4A50-AAD1-E2171E0619B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0" name="タイトル 5">
            <a:extLst>
              <a:ext uri="{FF2B5EF4-FFF2-40B4-BE49-F238E27FC236}">
                <a16:creationId xmlns:a16="http://schemas.microsoft.com/office/drawing/2014/main" id="{1976C00D-F300-41F7-B9BE-555B270FFC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78798" y="836613"/>
            <a:ext cx="11232000" cy="647700"/>
          </a:xfrm>
        </p:spPr>
        <p:txBody>
          <a:bodyPr vert="horz" anchor="t" anchorCtr="0">
            <a:noAutofit/>
          </a:bodyPr>
          <a:lstStyle>
            <a:lvl1pPr>
              <a:defRPr sz="1800" b="0" baseline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kumimoji="1" lang="ja-JP" altLang="en-US"/>
              <a:t>キーメッセージ（オプション）</a:t>
            </a:r>
          </a:p>
        </p:txBody>
      </p:sp>
      <p:sp>
        <p:nvSpPr>
          <p:cNvPr id="9" name="テキスト プレースホルダー 2">
            <a:extLst>
              <a:ext uri="{FF2B5EF4-FFF2-40B4-BE49-F238E27FC236}">
                <a16:creationId xmlns:a16="http://schemas.microsoft.com/office/drawing/2014/main" id="{87B3B458-ABA1-4820-BE44-AF09043A23A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478798" y="152400"/>
            <a:ext cx="11232000" cy="647700"/>
          </a:xfrm>
          <a:prstGeom prst="rect">
            <a:avLst/>
          </a:prstGeom>
        </p:spPr>
        <p:txBody>
          <a:bodyPr wrap="square" tIns="0" anchor="b" anchorCtr="0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2400" b="1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</a:lstStyle>
          <a:p>
            <a:pPr marL="0" marR="0" lvl="0" indent="0" algn="l" defTabSz="9905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/>
              <a:t>スライドタイトル（入力が必要）</a:t>
            </a:r>
          </a:p>
        </p:txBody>
      </p:sp>
    </p:spTree>
    <p:extLst>
      <p:ext uri="{BB962C8B-B14F-4D97-AF65-F5344CB8AC3E}">
        <p14:creationId xmlns:p14="http://schemas.microsoft.com/office/powerpoint/2010/main" val="4584503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（基本版②）黒_小見出しあり_16: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オブジェクト 5" hidden="1">
            <a:extLst>
              <a:ext uri="{FF2B5EF4-FFF2-40B4-BE49-F238E27FC236}">
                <a16:creationId xmlns:a16="http://schemas.microsoft.com/office/drawing/2014/main" id="{565569E2-3698-4981-B3D0-8A71927BC8F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588250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444" imgH="443" progId="TCLayout.ActiveDocument.1">
                  <p:embed/>
                </p:oleObj>
              </mc:Choice>
              <mc:Fallback>
                <p:oleObj name="thinkcellスライド" r:id="rId3" imgW="444" imgH="443" progId="TCLayout.ActiveDocument.1">
                  <p:embed/>
                  <p:pic>
                    <p:nvPicPr>
                      <p:cNvPr id="6" name="オブジェクト 5" hidden="1">
                        <a:extLst>
                          <a:ext uri="{FF2B5EF4-FFF2-40B4-BE49-F238E27FC236}">
                            <a16:creationId xmlns:a16="http://schemas.microsoft.com/office/drawing/2014/main" id="{565569E2-3698-4981-B3D0-8A71927BC8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フッター プレースホルダ 2"/>
          <p:cNvSpPr>
            <a:spLocks noGrp="1"/>
          </p:cNvSpPr>
          <p:nvPr>
            <p:ph type="ftr" sz="quarter" idx="10"/>
          </p:nvPr>
        </p:nvSpPr>
        <p:spPr bwMode="gray">
          <a:xfrm>
            <a:off x="730799" y="6588000"/>
            <a:ext cx="5184000" cy="1692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GB" altLang="en-GB"/>
              <a:t>DT Template 16:9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1"/>
          </p:nvPr>
        </p:nvSpPr>
        <p:spPr bwMode="gray"/>
        <p:txBody>
          <a:bodyPr/>
          <a:lstStyle>
            <a:lvl1pPr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6E56C22-CD92-4A50-AAD1-E2171E0619BD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テキスト プレースホルダー 6">
            <a:extLst>
              <a:ext uri="{FF2B5EF4-FFF2-40B4-BE49-F238E27FC236}">
                <a16:creationId xmlns:a16="http://schemas.microsoft.com/office/drawing/2014/main" id="{B5C48E74-0194-96FD-16F5-39F7833E8EE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8798" y="5951022"/>
            <a:ext cx="11233150" cy="360000"/>
          </a:xfrm>
        </p:spPr>
        <p:txBody>
          <a:bodyPr anchor="b">
            <a:noAutofit/>
          </a:bodyPr>
          <a:lstStyle>
            <a:lvl1pPr fontAlgn="auto">
              <a:lnSpc>
                <a:spcPct val="100000"/>
              </a:lnSpc>
              <a:spcBef>
                <a:spcPts val="0"/>
              </a:spcBef>
              <a:defRPr sz="1200"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出所：</a:t>
            </a:r>
            <a:r>
              <a:rPr kumimoji="1" lang="en-US" altLang="ja-JP"/>
              <a:t>XXX</a:t>
            </a:r>
            <a:br>
              <a:rPr kumimoji="1" lang="en-US" altLang="ja-JP"/>
            </a:br>
            <a:r>
              <a:rPr kumimoji="1" lang="ja-JP" altLang="en-US"/>
              <a:t>脚注：</a:t>
            </a:r>
            <a:r>
              <a:rPr kumimoji="1" lang="en-US" altLang="ja-JP"/>
              <a:t>XXX</a:t>
            </a:r>
            <a:endParaRPr kumimoji="1" lang="ja-JP" altLang="en-US"/>
          </a:p>
        </p:txBody>
      </p:sp>
      <p:sp>
        <p:nvSpPr>
          <p:cNvPr id="7" name="テキスト プレースホルダー 3">
            <a:extLst>
              <a:ext uri="{FF2B5EF4-FFF2-40B4-BE49-F238E27FC236}">
                <a16:creationId xmlns:a16="http://schemas.microsoft.com/office/drawing/2014/main" id="{22111ABA-B7FF-8C45-F205-C96EDB6F8C5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9425" y="1494000"/>
            <a:ext cx="5437188" cy="468000"/>
          </a:xfrm>
        </p:spPr>
        <p:txBody>
          <a:bodyPr anchor="ctr">
            <a:noAutofit/>
          </a:bodyPr>
          <a:lstStyle>
            <a:lvl1pPr>
              <a:spcBef>
                <a:spcPts val="0"/>
              </a:spcBef>
              <a:defRPr sz="1800" b="1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kumimoji="1" lang="ja-JP" altLang="en-US"/>
              <a:t>小見出し（オプション）</a:t>
            </a:r>
          </a:p>
        </p:txBody>
      </p:sp>
      <p:sp>
        <p:nvSpPr>
          <p:cNvPr id="9" name="テキスト プレースホルダー 2">
            <a:extLst>
              <a:ext uri="{FF2B5EF4-FFF2-40B4-BE49-F238E27FC236}">
                <a16:creationId xmlns:a16="http://schemas.microsoft.com/office/drawing/2014/main" id="{87B3B458-ABA1-4820-BE44-AF09043A23A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478798" y="152400"/>
            <a:ext cx="11232000" cy="647700"/>
          </a:xfrm>
          <a:prstGeom prst="rect">
            <a:avLst/>
          </a:prstGeom>
        </p:spPr>
        <p:txBody>
          <a:bodyPr wrap="square" tIns="0" anchor="b" anchorCtr="0">
            <a:noAutofit/>
          </a:bodyPr>
          <a:lstStyle>
            <a:lvl1pPr fontAlgn="ctr">
              <a:lnSpc>
                <a:spcPct val="100000"/>
              </a:lnSpc>
              <a:spcBef>
                <a:spcPts val="0"/>
              </a:spcBef>
              <a:defRPr sz="2400" b="1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</a:lstStyle>
          <a:p>
            <a:pPr marL="0" marR="0" lvl="0" indent="0" algn="l" defTabSz="99056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/>
              <a:t>スライドタイトル（入力が必要）</a:t>
            </a:r>
          </a:p>
        </p:txBody>
      </p:sp>
      <p:sp>
        <p:nvSpPr>
          <p:cNvPr id="10" name="タイトル 5">
            <a:extLst>
              <a:ext uri="{FF2B5EF4-FFF2-40B4-BE49-F238E27FC236}">
                <a16:creationId xmlns:a16="http://schemas.microsoft.com/office/drawing/2014/main" id="{1976C00D-F300-41F7-B9BE-555B270FFC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78798" y="836613"/>
            <a:ext cx="11232000" cy="647700"/>
          </a:xfrm>
        </p:spPr>
        <p:txBody>
          <a:bodyPr vert="horz" anchor="t" anchorCtr="0">
            <a:noAutofit/>
          </a:bodyPr>
          <a:lstStyle>
            <a:lvl1pPr>
              <a:defRPr sz="1800" b="0" baseline="0">
                <a:solidFill>
                  <a:schemeClr val="tx1"/>
                </a:solidFill>
                <a:latin typeface="+mn-lt"/>
                <a:ea typeface="+mn-ea"/>
                <a:cs typeface="+mj-cs"/>
              </a:defRPr>
            </a:lvl1pPr>
          </a:lstStyle>
          <a:p>
            <a:r>
              <a:rPr kumimoji="1" lang="ja-JP" altLang="en-US"/>
              <a:t>キーメッセージ（オプション）</a:t>
            </a:r>
          </a:p>
        </p:txBody>
      </p:sp>
    </p:spTree>
    <p:extLst>
      <p:ext uri="{BB962C8B-B14F-4D97-AF65-F5344CB8AC3E}">
        <p14:creationId xmlns:p14="http://schemas.microsoft.com/office/powerpoint/2010/main" val="20381721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theme" Target="../theme/theme1.xml"/><Relationship Id="rId24" Type="http://schemas.openxmlformats.org/officeDocument/2006/relationships/tags" Target="../tags/tag2.xml"/><Relationship Id="rId25" Type="http://schemas.openxmlformats.org/officeDocument/2006/relationships/oleObject" Target="../embeddings/oleObject1.bin"/><Relationship Id="rId26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theme" Target="../theme/theme2.xml"/><Relationship Id="rId8" Type="http://schemas.openxmlformats.org/officeDocument/2006/relationships/tags" Target="../tags/tag25.xml"/><Relationship Id="rId9" Type="http://schemas.openxmlformats.org/officeDocument/2006/relationships/oleObject" Target="../embeddings/oleObject23.bin"/><Relationship Id="rId10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886ACD3C-B1FD-4D8B-B85B-1B25921C344F}"/>
              </a:ext>
            </a:extLst>
          </p:cNvPr>
          <p:cNvGraphicFramePr>
            <a:graphicFrameLocks/>
          </p:cNvGraphicFramePr>
          <p:nvPr userDrawn="1">
            <p:custDataLst>
              <p:tags r:id="rId24"/>
            </p:custDataLst>
            <p:extLst>
              <p:ext uri="{D42A27DB-BD31-4B8C-83A1-F6EECF244321}">
                <p14:modId xmlns:p14="http://schemas.microsoft.com/office/powerpoint/2010/main" val="30926568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25" imgW="444" imgH="443" progId="TCLayout.ActiveDocument.1">
                  <p:embed/>
                </p:oleObj>
              </mc:Choice>
              <mc:Fallback>
                <p:oleObj name="thinkcellスライド" r:id="rId25" imgW="444" imgH="443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886ACD3C-B1FD-4D8B-B85B-1B25921C34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480000" y="108000"/>
            <a:ext cx="11232000" cy="738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ja-JP" altLang="en-US" noProof="0"/>
              <a:t>キーメッセージを入力（本スライドで一番伝えたいこと＜名詞止め・体言止め不可＞）</a:t>
            </a:r>
            <a:endParaRPr lang="en-US" noProof="0"/>
          </a:p>
        </p:txBody>
      </p:sp>
      <p:sp>
        <p:nvSpPr>
          <p:cNvPr id="8" name="フッター プレースホルダ 8"/>
          <p:cNvSpPr>
            <a:spLocks noGrp="1"/>
          </p:cNvSpPr>
          <p:nvPr>
            <p:ph type="ftr" sz="quarter" idx="3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en-US" altLang="ja-JP"/>
              <a:t>DT Template 16:9</a:t>
            </a:r>
            <a:endParaRPr kumimoji="1" lang="en-GB" altLang="en-GB"/>
          </a:p>
        </p:txBody>
      </p:sp>
      <p:sp>
        <p:nvSpPr>
          <p:cNvPr id="9" name="スライド番号プレースホルダ 9"/>
          <p:cNvSpPr>
            <a:spLocks noGrp="1"/>
          </p:cNvSpPr>
          <p:nvPr>
            <p:ph type="sldNum" sz="quarter" idx="4"/>
          </p:nvPr>
        </p:nvSpPr>
        <p:spPr bwMode="gray">
          <a:xfrm>
            <a:off x="480000" y="6588000"/>
            <a:ext cx="180000" cy="1692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r"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AA5FCFE5-FE56-4EF1-80A8-07776887C2A1}" type="slidenum">
              <a:rPr kumimoji="1" lang="ja-JP" altLang="en-US" smtClean="0"/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1" lang="ja-JP" altLang="en-US"/>
          </a:p>
        </p:txBody>
      </p:sp>
      <p:sp>
        <p:nvSpPr>
          <p:cNvPr id="15" name="Text Box 37"/>
          <p:cNvSpPr txBox="1">
            <a:spLocks noChangeArrowheads="1"/>
          </p:cNvSpPr>
          <p:nvPr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© 2025. For information, contact Deloitte Tohmatsu Group.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 bwMode="gray">
          <a:xfrm>
            <a:off x="480000" y="1483200"/>
            <a:ext cx="11232000" cy="4824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1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</p:txBody>
      </p:sp>
      <p:sp>
        <p:nvSpPr>
          <p:cNvPr id="10" name="日付プレースホルダー 3">
            <a:extLst>
              <a:ext uri="{FF2B5EF4-FFF2-40B4-BE49-F238E27FC236}">
                <a16:creationId xmlns:a16="http://schemas.microsoft.com/office/drawing/2014/main" id="{E0E64AB6-CEBE-4B69-BA95-262258503BE9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5615099" y="6444000"/>
            <a:ext cx="961802" cy="169277"/>
          </a:xfrm>
          <a:prstGeom prst="rect">
            <a:avLst/>
          </a:prstGeom>
        </p:spPr>
        <p:txBody>
          <a:bodyPr vert="horz" wrap="none" lIns="0" tIns="0" rIns="0" bIns="0" rtlCol="0" anchor="t" anchorCtr="0">
            <a:spAutoFit/>
          </a:bodyPr>
          <a:lstStyle>
            <a:lvl1pPr>
              <a:defRPr kumimoji="1" lang="en-US" altLang="ja-JP" sz="11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/>
            <a:r>
              <a:rPr lang="en-US"/>
              <a:t>&lt; Confidential &gt;</a:t>
            </a:r>
          </a:p>
        </p:txBody>
      </p:sp>
    </p:spTree>
    <p:extLst>
      <p:ext uri="{BB962C8B-B14F-4D97-AF65-F5344CB8AC3E}">
        <p14:creationId xmlns:p14="http://schemas.microsoft.com/office/powerpoint/2010/main" val="1977651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5" r:id="rId1"/>
    <p:sldLayoutId id="2147483944" r:id="rId2"/>
    <p:sldLayoutId id="2147483946" r:id="rId3"/>
    <p:sldLayoutId id="2147483947" r:id="rId4"/>
    <p:sldLayoutId id="2147483911" r:id="rId5"/>
    <p:sldLayoutId id="2147483912" r:id="rId6"/>
    <p:sldLayoutId id="2147483934" r:id="rId7"/>
    <p:sldLayoutId id="2147483983" r:id="rId8"/>
    <p:sldLayoutId id="2147483984" r:id="rId9"/>
    <p:sldLayoutId id="2147483985" r:id="rId10"/>
    <p:sldLayoutId id="2147483959" r:id="rId11"/>
    <p:sldLayoutId id="2147483969" r:id="rId12"/>
    <p:sldLayoutId id="2147483960" r:id="rId13"/>
    <p:sldLayoutId id="2147483961" r:id="rId14"/>
    <p:sldLayoutId id="2147483976" r:id="rId15"/>
    <p:sldLayoutId id="2147483977" r:id="rId16"/>
    <p:sldLayoutId id="2147483978" r:id="rId17"/>
    <p:sldLayoutId id="2147483979" r:id="rId18"/>
    <p:sldLayoutId id="2147483952" r:id="rId19"/>
    <p:sldLayoutId id="2147483957" r:id="rId20"/>
    <p:sldLayoutId id="2147483956" r:id="rId21"/>
    <p:sldLayoutId id="2147483958" r:id="rId22"/>
  </p:sldLayoutIdLst>
  <p:hf hdr="0"/>
  <p:txStyles>
    <p:titleStyle>
      <a:lvl1pPr algn="l" defTabSz="990564" rtl="0" eaLnBrk="1" latinLnBrk="0" hangingPunct="1">
        <a:spcBef>
          <a:spcPct val="0"/>
        </a:spcBef>
        <a:buNone/>
        <a:defRPr kumimoji="1" sz="2400" b="1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990564" rtl="0" eaLnBrk="1" fontAlgn="auto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Arial" panose="020B0604020202020204" pitchFamily="34" charset="0"/>
        <a:buNone/>
        <a:tabLst/>
        <a:defRPr kumimoji="1" sz="1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52000" marR="0" indent="-252000" algn="l" defTabSz="990564" rtl="0" eaLnBrk="1" fontAlgn="auto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Wingdings" panose="05000000000000000000" pitchFamily="2" charset="2"/>
        <a:buChar char="n"/>
        <a:tabLst/>
        <a:defRPr kumimoji="1" lang="en-US" sz="1600" b="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504000" marR="0" indent="-252000" algn="l" defTabSz="990564" rtl="0" eaLnBrk="1" fontAlgn="auto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Wingdings" panose="05000000000000000000" pitchFamily="2" charset="2"/>
        <a:buChar char="Ø"/>
        <a:tabLst/>
        <a:defRPr kumimoji="1" lang="en-US" sz="1600" b="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684000" marR="0" indent="-180000" algn="l" defTabSz="990564" rtl="0" eaLnBrk="1" fontAlgn="auto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kumimoji="1" lang="en-US" sz="1600" b="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936000" indent="-252000" algn="l" defTabSz="865024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Verdana" panose="020B0604030504040204" pitchFamily="34" charset="0"/>
        <a:buChar char="−"/>
        <a:tabLst/>
        <a:defRPr kumimoji="1" lang="en-US" sz="160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1188000" indent="-252000" algn="l" defTabSz="990564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Wingdings" panose="05000000000000000000" pitchFamily="2" charset="2"/>
        <a:buChar char="ü"/>
        <a:defRPr kumimoji="1" sz="16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577179" indent="-191093" algn="l" defTabSz="990564" rtl="0" eaLnBrk="1" latinLnBrk="0" hangingPunct="1">
        <a:spcBef>
          <a:spcPts val="0"/>
        </a:spcBef>
        <a:spcAft>
          <a:spcPts val="1083"/>
        </a:spcAft>
        <a:buFont typeface="Verdana" panose="020B0604030504040204" pitchFamily="34" charset="0"/>
        <a:buChar char="−"/>
        <a:defRPr kumimoji="1"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577179" indent="-191093" algn="l" defTabSz="990564" rtl="0" eaLnBrk="1" latinLnBrk="0" hangingPunct="1">
        <a:spcBef>
          <a:spcPts val="0"/>
        </a:spcBef>
        <a:spcAft>
          <a:spcPts val="1083"/>
        </a:spcAft>
        <a:buFont typeface="Verdana" panose="020B0604030504040204" pitchFamily="34" charset="0"/>
        <a:buChar char="−"/>
        <a:defRPr kumimoji="1" sz="13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77179" indent="-191093" algn="l" defTabSz="990564" rtl="0" eaLnBrk="1" latinLnBrk="0" hangingPunct="1">
        <a:spcBef>
          <a:spcPts val="0"/>
        </a:spcBef>
        <a:spcAft>
          <a:spcPts val="1083"/>
        </a:spcAft>
        <a:buFont typeface="Verdana" panose="020B0604030504040204" pitchFamily="34" charset="0"/>
        <a:buChar char="−"/>
        <a:defRPr kumimoji="1" sz="13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3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64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46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27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10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92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73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55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pos="3840" userDrawn="1">
          <p15:clr>
            <a:srgbClr val="A4A3A4"/>
          </p15:clr>
        </p15:guide>
        <p15:guide id="1" orient="horz" pos="96" userDrawn="1">
          <p15:clr>
            <a:srgbClr val="A4A3A4"/>
          </p15:clr>
        </p15:guide>
        <p15:guide id="2" pos="3727" userDrawn="1">
          <p15:clr>
            <a:srgbClr val="A4A3A4"/>
          </p15:clr>
        </p15:guide>
        <p15:guide id="3" pos="3953" userDrawn="1">
          <p15:clr>
            <a:srgbClr val="A4A3A4"/>
          </p15:clr>
        </p15:guide>
        <p15:guide id="4" pos="7378" userDrawn="1">
          <p15:clr>
            <a:srgbClr val="A4A3A4"/>
          </p15:clr>
        </p15:guide>
        <p15:guide id="5" pos="302" userDrawn="1">
          <p15:clr>
            <a:srgbClr val="A4A3A4"/>
          </p15:clr>
        </p15:guide>
        <p15:guide id="6" orient="horz" pos="527" userDrawn="1">
          <p15:clr>
            <a:srgbClr val="A4A3A4"/>
          </p15:clr>
        </p15:guide>
        <p15:guide id="8" orient="horz" pos="935" userDrawn="1">
          <p15:clr>
            <a:srgbClr val="A4A3A4"/>
          </p15:clr>
        </p15:guide>
        <p15:guide id="9" orient="horz" pos="3974" userDrawn="1">
          <p15:clr>
            <a:srgbClr val="A4A3A4"/>
          </p15:clr>
        </p15:guide>
        <p15:guide id="10" orient="horz" pos="4156" userDrawn="1">
          <p15:clr>
            <a:srgbClr val="A4A3A4"/>
          </p15:clr>
        </p15:guide>
        <p15:guide id="11" orient="horz" pos="4269" userDrawn="1">
          <p15:clr>
            <a:srgbClr val="A4A3A4"/>
          </p15:clr>
        </p15:guide>
        <p15:guide id="12" orient="horz" pos="640" userDrawn="1">
          <p15:clr>
            <a:srgbClr val="A4A3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88710619-D609-4ABA-8EC3-1DBA3A476E1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6970859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9" imgW="444" imgH="443" progId="TCLayout.ActiveDocument.1">
                  <p:embed/>
                </p:oleObj>
              </mc:Choice>
              <mc:Fallback>
                <p:oleObj name="thinkcellスライド" r:id="rId9" imgW="444" imgH="443" progId="TCLayout.ActiveDocument.1">
                  <p:embed/>
                  <p:pic>
                    <p:nvPicPr>
                      <p:cNvPr id="4" name="オブジェクト 3" hidden="1">
                        <a:extLst>
                          <a:ext uri="{FF2B5EF4-FFF2-40B4-BE49-F238E27FC236}">
                            <a16:creationId xmlns:a16="http://schemas.microsoft.com/office/drawing/2014/main" id="{88710619-D609-4ABA-8EC3-1DBA3A476E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480000" y="152400"/>
            <a:ext cx="11232000" cy="6477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kumimoji="1" lang="ja-JP" altLang="en-US"/>
              <a:t>スライドタイトル</a:t>
            </a:r>
            <a:r>
              <a:rPr lang="ja-JP" altLang="en-US" noProof="0"/>
              <a:t>（入力が必要）</a:t>
            </a:r>
            <a:endParaRPr lang="en-US" noProof="0"/>
          </a:p>
        </p:txBody>
      </p:sp>
      <p:sp>
        <p:nvSpPr>
          <p:cNvPr id="8" name="フッター プレースホルダ 8"/>
          <p:cNvSpPr>
            <a:spLocks noGrp="1"/>
          </p:cNvSpPr>
          <p:nvPr>
            <p:ph type="ftr" sz="quarter" idx="3"/>
          </p:nvPr>
        </p:nvSpPr>
        <p:spPr bwMode="gray">
          <a:xfrm>
            <a:off x="730800" y="6588000"/>
            <a:ext cx="5184000" cy="1692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en-GB" altLang="en-GB"/>
              <a:t>DT Template 16:9</a:t>
            </a:r>
          </a:p>
        </p:txBody>
      </p:sp>
      <p:sp>
        <p:nvSpPr>
          <p:cNvPr id="9" name="スライド番号プレースホルダ 9"/>
          <p:cNvSpPr>
            <a:spLocks noGrp="1"/>
          </p:cNvSpPr>
          <p:nvPr>
            <p:ph type="sldNum" sz="quarter" idx="4"/>
          </p:nvPr>
        </p:nvSpPr>
        <p:spPr bwMode="gray">
          <a:xfrm>
            <a:off x="478800" y="6588000"/>
            <a:ext cx="180000" cy="1692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r">
              <a:defRPr sz="9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AA5FCFE5-FE56-4EF1-80A8-07776887C2A1}" type="slidenum">
              <a:rPr kumimoji="1" lang="ja-JP" altLang="en-US" smtClean="0"/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1" lang="ja-JP" altLang="en-US"/>
          </a:p>
        </p:txBody>
      </p:sp>
      <p:sp>
        <p:nvSpPr>
          <p:cNvPr id="15" name="Text Box 37"/>
          <p:cNvSpPr txBox="1">
            <a:spLocks noChangeArrowheads="1"/>
          </p:cNvSpPr>
          <p:nvPr/>
        </p:nvSpPr>
        <p:spPr bwMode="gray">
          <a:xfrm>
            <a:off x="6276000" y="6588000"/>
            <a:ext cx="5436000" cy="16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 anchorCtr="0">
            <a:noAutofit/>
          </a:bodyPr>
          <a:lstStyle/>
          <a:p>
            <a:pPr algn="r" rtl="0" eaLnBrk="0" fontAlgn="base" hangingPunct="0">
              <a:spcBef>
                <a:spcPct val="50000"/>
              </a:spcBef>
              <a:spcAft>
                <a:spcPct val="0"/>
              </a:spcAft>
            </a:pPr>
            <a:r>
              <a:rPr lang="en-US" altLang="ja-JP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© 2025. For information, contact Deloitte Tohmatsu Group.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 bwMode="gray">
          <a:xfrm>
            <a:off x="480000" y="1484725"/>
            <a:ext cx="11232000" cy="4824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1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53086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0" r:id="rId1"/>
    <p:sldLayoutId id="2147483975" r:id="rId2"/>
    <p:sldLayoutId id="2147483970" r:id="rId3"/>
    <p:sldLayoutId id="2147483980" r:id="rId4"/>
    <p:sldLayoutId id="2147483981" r:id="rId5"/>
    <p:sldLayoutId id="2147483982" r:id="rId6"/>
  </p:sldLayoutIdLst>
  <p:hf hdr="0"/>
  <p:txStyles>
    <p:titleStyle>
      <a:lvl1pPr algn="l" defTabSz="990564" rtl="0" eaLnBrk="1" latinLnBrk="0" hangingPunct="1">
        <a:spcBef>
          <a:spcPct val="0"/>
        </a:spcBef>
        <a:buNone/>
        <a:defRPr kumimoji="1" sz="2400" b="1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90564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SzPct val="100000"/>
        <a:buFont typeface="Arial" panose="020B0604020202020204" pitchFamily="34" charset="0"/>
        <a:buNone/>
        <a:defRPr kumimoji="1" sz="1600" b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52000" indent="-252000" algn="l" defTabSz="990564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SzPct val="100000"/>
        <a:buFont typeface="Wingdings" panose="05000000000000000000" pitchFamily="2" charset="2"/>
        <a:buChar char="n"/>
        <a:defRPr kumimoji="1" lang="en-US" sz="1600" b="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504000" indent="-252000" algn="l" defTabSz="990564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SzPct val="100000"/>
        <a:buFont typeface="Wingdings" panose="05000000000000000000" pitchFamily="2" charset="2"/>
        <a:buChar char="Ø"/>
        <a:defRPr kumimoji="1" lang="en-US" sz="1600" b="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684000" indent="-180000" algn="l" defTabSz="990564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defRPr kumimoji="1" lang="en-US" sz="1600" b="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936000" indent="-252000" algn="l" defTabSz="865024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ClrTx/>
        <a:buSzPct val="100000"/>
        <a:buFont typeface="Verdana" panose="020B0604030504040204" pitchFamily="34" charset="0"/>
        <a:buChar char="−"/>
        <a:tabLst/>
        <a:defRPr kumimoji="1" lang="en-US" sz="160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1188000" indent="-252000" algn="l" defTabSz="990564" rtl="0" eaLnBrk="1" latinLnBrk="0" hangingPunct="1">
        <a:lnSpc>
          <a:spcPct val="110000"/>
        </a:lnSpc>
        <a:spcBef>
          <a:spcPts val="600"/>
        </a:spcBef>
        <a:spcAft>
          <a:spcPts val="0"/>
        </a:spcAft>
        <a:buFont typeface="Wingdings" panose="05000000000000000000" pitchFamily="2" charset="2"/>
        <a:buChar char="ü"/>
        <a:defRPr kumimoji="1" sz="16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577179" indent="-191093" algn="l" defTabSz="990564" rtl="0" eaLnBrk="1" latinLnBrk="0" hangingPunct="1">
        <a:spcBef>
          <a:spcPts val="0"/>
        </a:spcBef>
        <a:spcAft>
          <a:spcPts val="1083"/>
        </a:spcAft>
        <a:buFont typeface="Verdana" panose="020B0604030504040204" pitchFamily="34" charset="0"/>
        <a:buChar char="−"/>
        <a:defRPr kumimoji="1"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577179" indent="-191093" algn="l" defTabSz="990564" rtl="0" eaLnBrk="1" latinLnBrk="0" hangingPunct="1">
        <a:spcBef>
          <a:spcPts val="0"/>
        </a:spcBef>
        <a:spcAft>
          <a:spcPts val="1083"/>
        </a:spcAft>
        <a:buFont typeface="Verdana" panose="020B0604030504040204" pitchFamily="34" charset="0"/>
        <a:buChar char="−"/>
        <a:defRPr kumimoji="1" sz="13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77179" indent="-191093" algn="l" defTabSz="990564" rtl="0" eaLnBrk="1" latinLnBrk="0" hangingPunct="1">
        <a:spcBef>
          <a:spcPts val="0"/>
        </a:spcBef>
        <a:spcAft>
          <a:spcPts val="1083"/>
        </a:spcAft>
        <a:buFont typeface="Verdana" panose="020B0604030504040204" pitchFamily="34" charset="0"/>
        <a:buChar char="−"/>
        <a:defRPr kumimoji="1" sz="13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3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64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46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27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10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92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73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55" algn="l" defTabSz="990564" rtl="0" eaLnBrk="1" latinLnBrk="0" hangingPunct="1">
        <a:defRPr kumimoji="1"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96" userDrawn="1">
          <p15:clr>
            <a:srgbClr val="A4A3A4"/>
          </p15:clr>
        </p15:guide>
        <p15:guide id="3" pos="3727" userDrawn="1">
          <p15:clr>
            <a:srgbClr val="A4A3A4"/>
          </p15:clr>
        </p15:guide>
        <p15:guide id="4" pos="3953" userDrawn="1">
          <p15:clr>
            <a:srgbClr val="A4A3A4"/>
          </p15:clr>
        </p15:guide>
        <p15:guide id="5" pos="7378" userDrawn="1">
          <p15:clr>
            <a:srgbClr val="A4A3A4"/>
          </p15:clr>
        </p15:guide>
        <p15:guide id="6" pos="302" userDrawn="1">
          <p15:clr>
            <a:srgbClr val="A4A3A4"/>
          </p15:clr>
        </p15:guide>
        <p15:guide id="7" orient="horz" pos="504" userDrawn="1">
          <p15:clr>
            <a:srgbClr val="A4A3A4"/>
          </p15:clr>
        </p15:guide>
        <p15:guide id="8" orient="horz" pos="527" userDrawn="1">
          <p15:clr>
            <a:srgbClr val="A4A3A4"/>
          </p15:clr>
        </p15:guide>
        <p15:guide id="9" orient="horz" pos="935" userDrawn="1">
          <p15:clr>
            <a:srgbClr val="A4A3A4"/>
          </p15:clr>
        </p15:guide>
        <p15:guide id="10" orient="horz" pos="3974" userDrawn="1">
          <p15:clr>
            <a:srgbClr val="A4A3A4"/>
          </p15:clr>
        </p15:guide>
        <p15:guide id="11" orient="horz" pos="4156" userDrawn="1">
          <p15:clr>
            <a:srgbClr val="A4A3A4"/>
          </p15:clr>
        </p15:guide>
        <p15:guide id="12" orient="horz" pos="4269" userDrawn="1">
          <p15:clr>
            <a:srgbClr val="A4A3A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32.xm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.xml"/><Relationship Id="rId4" Type="http://schemas.openxmlformats.org/officeDocument/2006/relationships/oleObject" Target="../embeddings/oleObject28.bin"/><Relationship Id="rId5" Type="http://schemas.openxmlformats.org/officeDocument/2006/relationships/image" Target="../media/image13.em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33.xm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2.xml"/><Relationship Id="rId4" Type="http://schemas.openxmlformats.org/officeDocument/2006/relationships/oleObject" Target="../embeddings/oleObject29.bin"/><Relationship Id="rId5" Type="http://schemas.openxmlformats.org/officeDocument/2006/relationships/image" Target="../media/image13.emf"/><Relationship Id="rId6" Type="http://schemas.openxmlformats.org/officeDocument/2006/relationships/image" Target="../media/image14.jpeg"/><Relationship Id="rId7" Type="http://schemas.openxmlformats.org/officeDocument/2006/relationships/image" Target="../media/image15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34.xml"/><Relationship Id="rId2" Type="http://schemas.openxmlformats.org/officeDocument/2006/relationships/slideLayout" Target="../slideLayouts/slideLayout12.xml"/><Relationship Id="rId3" Type="http://schemas.openxmlformats.org/officeDocument/2006/relationships/oleObject" Target="../embeddings/oleObject30.bin"/><Relationship Id="rId4" Type="http://schemas.openxmlformats.org/officeDocument/2006/relationships/image" Target="../media/image16.emf"/><Relationship Id="rId5" Type="http://schemas.openxmlformats.org/officeDocument/2006/relationships/hyperlink" Target="https://jpdeloitte.sharepoint.com/:u:/r/sites/HHHD_AI/Shared%20Documents/General/01_%E4%BC%9A%E8%AD%B0%E3%83%BB%E6%89%93%E5%90%88%E3%81%9B/010_%E3%83%9E%E3%82%A4%E3%83%AB%E3%82%B9%E3%83%88%E3%83%BC%E3%83%B3%EF%BC%88kickoff.%E5%BD%B9%E5%93%A1%E5%A0%B1%E5%91%8A%E7%AD%89%EF%BC%89/HHHD_AI%E7%B5%8C%E5%96%B6%E3%83%8A%E3%83%92%E3%82%99_%E5%85%B1%E5%89%B5%E3%81%AE%E8%A8%98%E9%8C%B2.html?d=wa707387d984f4484b95068cc82395b89&amp;csf=1&amp;web=1&amp;e=l5ka7j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35.xm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3.xml"/><Relationship Id="rId4" Type="http://schemas.openxmlformats.org/officeDocument/2006/relationships/oleObject" Target="../embeddings/oleObject31.bin"/><Relationship Id="rId5" Type="http://schemas.openxmlformats.org/officeDocument/2006/relationships/image" Target="../media/image13.em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36.xm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4.xml"/><Relationship Id="rId4" Type="http://schemas.openxmlformats.org/officeDocument/2006/relationships/oleObject" Target="../embeddings/oleObject32.bin"/><Relationship Id="rId5" Type="http://schemas.openxmlformats.org/officeDocument/2006/relationships/image" Target="../media/image13.em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cell data - do not delete" hidden="1">
            <a:extLst>
              <a:ext uri="{FF2B5EF4-FFF2-40B4-BE49-F238E27FC236}">
                <a16:creationId xmlns:a16="http://schemas.microsoft.com/office/drawing/2014/main" id="{137CE23A-3591-618E-84C0-9EE71EED699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4" imgW="639" imgH="639" progId="TCLayout.ActiveDocument.1">
                  <p:embed/>
                </p:oleObj>
              </mc:Choice>
              <mc:Fallback>
                <p:oleObj name="thinkcellスライド" r:id="rId4" imgW="639" imgH="639" progId="TCLayout.ActiveDocument.1">
                  <p:embed/>
                  <p:pic>
                    <p:nvPicPr>
                      <p:cNvPr id="2" name="thinkcell data - do not delete" hidden="1">
                        <a:extLst>
                          <a:ext uri="{FF2B5EF4-FFF2-40B4-BE49-F238E27FC236}">
                            <a16:creationId xmlns:a16="http://schemas.microsoft.com/office/drawing/2014/main" id="{137CE23A-3591-618E-84C0-9EE71EED699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CA31FE1-1128-4A19-B707-D354CF727FF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ja-JP" altLang="en-US">
                <a:latin typeface="+mj-ea"/>
                <a:ea typeface="+mj-ea"/>
              </a:rPr>
              <a:t>サマリー</a:t>
            </a:r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3B8A63B1-B5A6-47C8-8BD0-28DE6AFBF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ja-JP" altLang="en-US">
                <a:latin typeface="+mj-ea"/>
              </a:rPr>
              <a:t>10月のセキュア公開版に到達し、9/11版の引継ぎは完了。本日は9/11版以降の改修の引継ぎと次フェーズの進め方をご確認ください</a:t>
            </a:r>
          </a:p>
        </p:txBody>
      </p:sp>
      <p:sp>
        <p:nvSpPr>
          <p:cNvPr id="6" name="スライド番号プレースホルダー 1">
            <a:extLst>
              <a:ext uri="{FF2B5EF4-FFF2-40B4-BE49-F238E27FC236}">
                <a16:creationId xmlns:a16="http://schemas.microsoft.com/office/drawing/2014/main" id="{0BED03D4-18EC-E4B0-DF9A-83D2D27C94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80000" y="6588000"/>
            <a:ext cx="180000" cy="169200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lang="ja-JP" altLang="en-US"/>
            </a:pPr>
            <a:fld id="{AA5FCFE5-FE56-4EF1-80A8-07776887C2A1}" type="slidenum">
              <a:rPr kumimoji="0" lang="ja-JP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 lang="ja-JP" altLang="en-US"/>
              </a:pPr>
              <a:t>1</a:t>
            </a:fld>
            <a:endParaRPr kumimoji="0" lang="ja-JP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ea"/>
              <a:ea typeface="+mj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75488" y="1627632"/>
            <a:ext cx="11237976" cy="1298448"/>
          </a:xfrm>
          <a:prstGeom prst="rect">
            <a:avLst/>
          </a:prstGeom>
          <a:solidFill>
            <a:srgbClr val="EEF5EA"/>
          </a:solidFill>
          <a:ln>
            <a:noFill/>
          </a:ln>
        </p:spPr>
        <p:txBody>
          <a:bodyPr rtlCol="0" anchor="ctr"/>
          <a:lstStyle/>
          <a:p>
            <a:endParaRPr sz="2800" lang="ja-JP" altLang="en-US">
              <a:latin typeface="+mj-ea"/>
              <a:ea typeface="+mj-ea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75488" y="1627632"/>
            <a:ext cx="1965960" cy="1298448"/>
          </a:xfrm>
          <a:prstGeom prst="rect">
            <a:avLst/>
          </a:prstGeom>
          <a:solidFill>
            <a:srgbClr val="046A38"/>
          </a:solidFill>
          <a:ln>
            <a:noFill/>
          </a:ln>
        </p:spPr>
        <p:txBody>
          <a:bodyPr wrap="square" lIns="164592" tIns="36576" rIns="73152" bIns="36576" rtlCol="0" anchor="ctr"/>
          <a:lstStyle/>
          <a:p>
            <a:pPr>
              <a:spcAft>
                <a:spcPts val="200"/>
              </a:spcAft>
            </a:pPr>
            <a:r>
              <a:rPr lang="ja-JP" altLang="en-US" sz="1100" b="1">
                <a:solidFill>
                  <a:srgbClr val="FFFFFF"/>
                </a:solidFill>
                <a:latin typeface="+mj-ea"/>
                <a:ea typeface="+mj-ea"/>
              </a:rPr>
              <a:t>01</a:t>
            </a:r>
          </a:p>
          <a:p>
            <a:r>
              <a:rPr lang="ja-JP" altLang="en-US" sz="1800" b="1">
                <a:solidFill>
                  <a:srgbClr val="FFFFFF"/>
                </a:solidFill>
                <a:latin typeface="+mj-ea"/>
                <a:ea typeface="+mj-ea"/>
              </a:rPr>
              <a:t>3か月の変遷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70048" y="1773936"/>
            <a:ext cx="8869680" cy="100583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lang="ja-JP" altLang="en-US" sz="1800" b="1">
                <a:solidFill>
                  <a:srgbClr val="1C1C1E"/>
                </a:solidFill>
                <a:latin typeface="+mj-ea"/>
                <a:ea typeface="+mj-ea"/>
              </a:rPr>
              <a:t>週次の改善サイクルで、7月の雛形から8つの版を経て10月の公開版へ</a:t>
            </a:r>
          </a:p>
          <a:p>
            <a:pPr algn="l">
              <a:lnSpc>
                <a:spcPct val="115000"/>
              </a:lnSpc>
            </a:pPr>
            <a:r>
              <a:rPr lang="ja-JP" altLang="en-US" sz="1200" b="0">
                <a:latin typeface="+mj-ea"/>
                <a:ea typeface="+mj-ea"/>
              </a:rPr>
              <a:t>隔週のスプリントレビュー・週次定例・日次のタッチポイントでいただいたご意見を毎週の版に反映し、9/11版で確定（FIX）。以降もご依頼を毎週反映し、AI経営ナビ・総会QAの双方を実務の流れに合わせました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3054096"/>
            <a:ext cx="11237976" cy="1298448"/>
          </a:xfrm>
          <a:prstGeom prst="rect">
            <a:avLst/>
          </a:prstGeom>
          <a:solidFill>
            <a:srgbClr val="EEF5EA"/>
          </a:solidFill>
          <a:ln>
            <a:noFill/>
          </a:ln>
        </p:spPr>
        <p:txBody>
          <a:bodyPr rtlCol="0" anchor="ctr"/>
          <a:lstStyle/>
          <a:p>
            <a:endParaRPr sz="2800" lang="ja-JP" altLang="en-US">
              <a:latin typeface="+mj-ea"/>
              <a:ea typeface="+mj-ea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75488" y="3054096"/>
            <a:ext cx="1965960" cy="1298448"/>
          </a:xfrm>
          <a:prstGeom prst="rect">
            <a:avLst/>
          </a:prstGeom>
          <a:solidFill>
            <a:srgbClr val="046A38"/>
          </a:solidFill>
          <a:ln>
            <a:noFill/>
          </a:ln>
        </p:spPr>
        <p:txBody>
          <a:bodyPr wrap="square" lIns="164592" tIns="36576" rIns="73152" bIns="36576" rtlCol="0" anchor="ctr"/>
          <a:lstStyle/>
          <a:p>
            <a:pPr>
              <a:spcAft>
                <a:spcPts val="200"/>
              </a:spcAft>
            </a:pPr>
            <a:r>
              <a:rPr lang="ja-JP" altLang="en-US" sz="1100" b="1">
                <a:solidFill>
                  <a:srgbClr val="FFFFFF"/>
                </a:solidFill>
                <a:latin typeface="+mj-ea"/>
                <a:ea typeface="+mj-ea"/>
              </a:rPr>
              <a:t>02</a:t>
            </a:r>
          </a:p>
          <a:p>
            <a:r>
              <a:rPr lang="ja-JP" altLang="en-US" sz="1800" b="1">
                <a:solidFill>
                  <a:srgbClr val="FFFFFF"/>
                </a:solidFill>
                <a:latin typeface="+mj-ea"/>
                <a:ea typeface="+mj-ea"/>
              </a:rPr>
              <a:t>引継ぎ状況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70048" y="3200400"/>
            <a:ext cx="8869680" cy="100583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lang="ja-JP" altLang="en-US" sz="1800" b="1">
                <a:solidFill>
                  <a:srgbClr val="1C1C1E"/>
                </a:solidFill>
                <a:latin typeface="+mj-ea"/>
                <a:ea typeface="+mj-ea"/>
              </a:rPr>
              <a:t>9/11版の引継ぎは完了。以降の改修分も引継ぎ材料3点を連携済み</a:t>
            </a:r>
          </a:p>
          <a:p>
            <a:pPr algn="l">
              <a:lnSpc>
                <a:spcPct val="115000"/>
              </a:lnSpc>
            </a:pPr>
            <a:r>
              <a:rPr lang="ja-JP" altLang="en-US" sz="1200" b="0">
                <a:latin typeface="+mj-ea"/>
                <a:ea typeface="+mj-ea"/>
              </a:rPr>
              <a:t>9/11版はソースコードと9/11断面のドキュメント一覧を共有し、ITEC様にて認証・ガードレール等を含む統合テストを実施済み（9/27にご連絡受領）。以降の改修分も最新アプリ・改修台帳・ドキュメントを連携済みで、ご説明は順次実施します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" y="4480560"/>
            <a:ext cx="11237976" cy="1298448"/>
          </a:xfrm>
          <a:prstGeom prst="rect">
            <a:avLst/>
          </a:prstGeom>
          <a:solidFill>
            <a:srgbClr val="EEF5EA"/>
          </a:solidFill>
          <a:ln>
            <a:noFill/>
          </a:ln>
        </p:spPr>
        <p:txBody>
          <a:bodyPr rtlCol="0" anchor="ctr"/>
          <a:lstStyle/>
          <a:p>
            <a:endParaRPr sz="2800" lang="ja-JP" altLang="en-US">
              <a:latin typeface="+mj-ea"/>
              <a:ea typeface="+mj-ea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75488" y="4480560"/>
            <a:ext cx="1965960" cy="1298448"/>
          </a:xfrm>
          <a:prstGeom prst="rect">
            <a:avLst/>
          </a:prstGeom>
          <a:solidFill>
            <a:srgbClr val="046A38"/>
          </a:solidFill>
          <a:ln>
            <a:noFill/>
          </a:ln>
        </p:spPr>
        <p:txBody>
          <a:bodyPr wrap="square" lIns="164592" tIns="36576" rIns="73152" bIns="36576" rtlCol="0" anchor="ctr"/>
          <a:lstStyle/>
          <a:p>
            <a:pPr>
              <a:spcAft>
                <a:spcPts val="200"/>
              </a:spcAft>
            </a:pPr>
            <a:r>
              <a:rPr lang="ja-JP" altLang="en-US" sz="1100" b="1">
                <a:solidFill>
                  <a:srgbClr val="FFFFFF"/>
                </a:solidFill>
                <a:latin typeface="+mj-ea"/>
                <a:ea typeface="+mj-ea"/>
              </a:rPr>
              <a:t>03</a:t>
            </a:r>
          </a:p>
          <a:p>
            <a:r>
              <a:rPr lang="ja-JP" altLang="en-US" sz="1800" b="1">
                <a:solidFill>
                  <a:srgbClr val="FFFFFF"/>
                </a:solidFill>
                <a:latin typeface="+mj-ea"/>
                <a:ea typeface="+mj-ea"/>
              </a:rPr>
              <a:t>9/11版以降の改修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70048" y="4626864"/>
            <a:ext cx="8869680" cy="100583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lang="ja-JP" altLang="en-US" sz="1800" b="1" dirty="0">
                <a:solidFill>
                  <a:srgbClr val="1C1C1E"/>
                </a:solidFill>
                <a:latin typeface="+mj-ea"/>
                <a:ea typeface="+mj-ea"/>
              </a:rPr>
              <a:t>9/11版以降の120点以上のご要望を15項目に集約し、すべて検証環境に反映済み</a:t>
            </a:r>
          </a:p>
          <a:p>
            <a:pPr algn="l">
              <a:lnSpc>
                <a:spcPct val="115000"/>
              </a:lnSpc>
            </a:pPr>
            <a:r>
              <a:rPr lang="ja-JP" altLang="en-US" sz="1200" b="0" dirty="0">
                <a:latin typeface="+mj-ea"/>
                <a:ea typeface="+mj-ea"/>
              </a:rPr>
              <a:t>9/27にはLLMを国内で処理されるClaude Opus 5.5へ切り替えました。残る要望は、経営ナビの出力レポートの内容調整と総会QAの見た目の調整で、いずれも機能追加ではありません。初版公開後、ITEC様の工数見積もりを経て順次、本番アプリへ反映します。</a:t>
            </a:r>
          </a:p>
        </p:txBody>
      </p:sp>
    </p:spTree>
    <p:extLst>
      <p:ext uri="{BB962C8B-B14F-4D97-AF65-F5344CB8AC3E}">
        <p14:creationId xmlns:p14="http://schemas.microsoft.com/office/powerpoint/2010/main" val="1234031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52E02-6136-F336-E97C-B10F91647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cell data - do not delete" hidden="1">
            <a:extLst>
              <a:ext uri="{FF2B5EF4-FFF2-40B4-BE49-F238E27FC236}">
                <a16:creationId xmlns:a16="http://schemas.microsoft.com/office/drawing/2014/main" id="{45FDC2CF-94F5-06E0-058B-AA5FF598B28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4" imgW="639" imgH="639" progId="TCLayout.ActiveDocument.1">
                  <p:embed/>
                </p:oleObj>
              </mc:Choice>
              <mc:Fallback>
                <p:oleObj name="thinkcellスライド" r:id="rId4" imgW="639" imgH="639" progId="TCLayout.ActiveDocument.1">
                  <p:embed/>
                  <p:pic>
                    <p:nvPicPr>
                      <p:cNvPr id="3" name="thinkcell data - do not delete" hidden="1">
                        <a:extLst>
                          <a:ext uri="{FF2B5EF4-FFF2-40B4-BE49-F238E27FC236}">
                            <a16:creationId xmlns:a16="http://schemas.microsoft.com/office/drawing/2014/main" id="{45FDC2CF-94F5-06E0-058B-AA5FF598B28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8569B64-2801-5CAF-2CA4-0C365696730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ja-JP" altLang="en-US"/>
              <a:t>3か月の変遷（2026年6月〜9月）</a:t>
            </a:r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29AC0418-4874-281A-CB95-967790A46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ja-JP" altLang="en-US"/>
              <a:t>7月の雛形から改善サイクルを重ね、経営ナビと総会</a:t>
            </a:r>
            <a:r>
              <a:rPr lang="ja-JP" altLang="ja-JP"/>
              <a:t>QA</a:t>
            </a:r>
            <a:r>
              <a:rPr lang="ja-JP" altLang="en-US"/>
              <a:t>両アプリを統合した10月の公開版に到達しました</a:t>
            </a:r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2F89B437-8F29-ECC1-7D5D-DD922EC427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80000" y="6588000"/>
            <a:ext cx="180000" cy="169200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lang="ja-JP" altLang="en-US"/>
            </a:pPr>
            <a:fld id="{AA5FCFE5-FE56-4EF1-80A8-07776887C2A1}" type="slidenum">
              <a:rPr kumimoji="0" lang="ja-JP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Yu Gothic UI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 lang="ja-JP" altLang="en-US"/>
              </a:pPr>
              <a:t>2</a:t>
            </a:fld>
            <a:endParaRPr kumimoji="0" lang="ja-JP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Yu Gothic UI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75488" y="1591056"/>
            <a:ext cx="1010412" cy="237744"/>
          </a:xfrm>
          <a:prstGeom prst="rect">
            <a:avLst/>
          </a:prstGeom>
          <a:solidFill>
            <a:srgbClr val="F4F5F5"/>
          </a:solidFill>
          <a:ln>
            <a:noFill/>
          </a:ln>
        </p:spPr>
        <p:txBody>
          <a:bodyPr wrap="square" lIns="18288" tIns="0" rIns="18288" bIns="0" rtlCol="0" anchor="ctr"/>
          <a:lstStyle/>
          <a:p>
            <a:pPr algn="ctr"/>
            <a:r>
              <a:rPr lang="ja-JP" altLang="en-US" sz="1050" b="1"/>
              <a:t>Step.0 準備</a:t>
            </a:r>
          </a:p>
        </p:txBody>
      </p:sp>
      <p:sp>
        <p:nvSpPr>
          <p:cNvPr id="9" name="Rectangle 8"/>
          <p:cNvSpPr/>
          <p:nvPr/>
        </p:nvSpPr>
        <p:spPr>
          <a:xfrm>
            <a:off x="1522476" y="1591056"/>
            <a:ext cx="2560320" cy="237744"/>
          </a:xfrm>
          <a:prstGeom prst="rect">
            <a:avLst/>
          </a:prstGeom>
          <a:solidFill>
            <a:srgbClr val="F4F5F5"/>
          </a:solidFill>
          <a:ln>
            <a:noFill/>
          </a:ln>
        </p:spPr>
        <p:txBody>
          <a:bodyPr wrap="square" lIns="18288" tIns="0" rIns="18288" bIns="0" rtlCol="0" anchor="ctr"/>
          <a:lstStyle/>
          <a:p>
            <a:pPr algn="ctr"/>
            <a:r>
              <a:rPr lang="ja-JP" altLang="en-US" sz="1050" b="1"/>
              <a:t>Step.1 MVP構築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55948" y="1591056"/>
            <a:ext cx="3849624" cy="237744"/>
          </a:xfrm>
          <a:prstGeom prst="rect">
            <a:avLst/>
          </a:prstGeom>
          <a:solidFill>
            <a:srgbClr val="F4F5F5"/>
          </a:solidFill>
          <a:ln>
            <a:noFill/>
          </a:ln>
        </p:spPr>
        <p:txBody>
          <a:bodyPr wrap="square" lIns="18288" tIns="0" rIns="18288" bIns="0" rtlCol="0" anchor="ctr"/>
          <a:lstStyle/>
          <a:p>
            <a:pPr algn="ctr"/>
            <a:r>
              <a:rPr lang="ja-JP" altLang="en-US" sz="1050" b="1"/>
              <a:t>Step.2 改善・全機能実装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78723" y="1591056"/>
            <a:ext cx="3598164" cy="237744"/>
          </a:xfrm>
          <a:prstGeom prst="rect">
            <a:avLst/>
          </a:prstGeom>
          <a:solidFill>
            <a:srgbClr val="F4F5F5"/>
          </a:solidFill>
          <a:ln>
            <a:noFill/>
          </a:ln>
        </p:spPr>
        <p:txBody>
          <a:bodyPr wrap="square" lIns="18288" tIns="0" rIns="18288" bIns="0" rtlCol="0" anchor="ctr"/>
          <a:lstStyle/>
          <a:p>
            <a:pPr algn="ctr"/>
            <a:r>
              <a:rPr lang="ja-JP" altLang="en-US" sz="1050" b="1"/>
              <a:t>Step.3 移管（9/11版以降の改修）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2240280"/>
            <a:ext cx="11100815" cy="0"/>
          </a:xfrm>
          <a:prstGeom prst="line">
            <a:avLst/>
          </a:prstGeom>
          <a:ln w="38100">
            <a:solidFill>
              <a:srgbClr val="26890D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3483863" y="2240280"/>
            <a:ext cx="320040" cy="155448"/>
          </a:xfrm>
          <a:prstGeom prst="line">
            <a:avLst/>
          </a:prstGeom>
          <a:ln w="38100">
            <a:solidFill>
              <a:srgbClr val="0D8390"/>
            </a:solidFill>
          </a:ln>
        </p:spPr>
      </p:cxnSp>
      <p:cxnSp>
        <p:nvCxnSpPr>
          <p:cNvPr id="14" name="Connector 13"/>
          <p:cNvCxnSpPr/>
          <p:nvPr/>
        </p:nvCxnSpPr>
        <p:spPr>
          <a:xfrm>
            <a:off x="3803903" y="2395728"/>
            <a:ext cx="7845552" cy="0"/>
          </a:xfrm>
          <a:prstGeom prst="line">
            <a:avLst/>
          </a:prstGeom>
          <a:ln w="38100">
            <a:solidFill>
              <a:srgbClr val="0D8390"/>
            </a:solidFill>
          </a:ln>
        </p:spPr>
      </p:cxnSp>
      <p:sp>
        <p:nvSpPr>
          <p:cNvPr id="15" name="Oval 14"/>
          <p:cNvSpPr/>
          <p:nvPr/>
        </p:nvSpPr>
        <p:spPr>
          <a:xfrm>
            <a:off x="800100" y="2171700"/>
            <a:ext cx="137160" cy="1371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6890D"/>
            </a:solidFill>
          </a:ln>
        </p:spPr>
        <p:txBody>
          <a:bodyPr rtlCol="0" anchor="ctr"/>
          <a:lstStyle/>
          <a:p>
            <a:endParaRPr sz="2800" lang="ja-JP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320040" y="1901952"/>
            <a:ext cx="10972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ja-JP" altLang="en-US" sz="1100" b="1">
                <a:solidFill>
                  <a:srgbClr val="1C1C1E"/>
                </a:solidFill>
              </a:rPr>
              <a:t>6月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" y="2542032"/>
            <a:ext cx="128016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ja-JP" altLang="en-US" sz="1050" b="0" dirty="0"/>
              <a:t>仮説整理・</a:t>
            </a:r>
          </a:p>
          <a:p>
            <a:pPr algn="ctr">
              <a:lnSpc>
                <a:spcPct val="100000"/>
              </a:lnSpc>
            </a:pPr>
            <a:r>
              <a:rPr lang="ja-JP" altLang="en-US" sz="1050" b="1" dirty="0"/>
              <a:t>画面モック</a:t>
            </a:r>
          </a:p>
        </p:txBody>
      </p:sp>
      <p:sp>
        <p:nvSpPr>
          <p:cNvPr id="18" name="Oval 17"/>
          <p:cNvSpPr/>
          <p:nvPr/>
        </p:nvSpPr>
        <p:spPr>
          <a:xfrm>
            <a:off x="2107691" y="2171700"/>
            <a:ext cx="137160" cy="1371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6890D"/>
            </a:solidFill>
          </a:ln>
        </p:spPr>
        <p:txBody>
          <a:bodyPr rtlCol="0" anchor="ctr"/>
          <a:lstStyle/>
          <a:p>
            <a:endParaRPr sz="2800" lang="ja-JP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1627631" y="1901952"/>
            <a:ext cx="10972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ja-JP" altLang="en-US" sz="1100" b="1">
                <a:solidFill>
                  <a:srgbClr val="046A38"/>
                </a:solidFill>
              </a:rPr>
              <a:t>7/24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36192" y="2542032"/>
            <a:ext cx="128016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ja-JP" altLang="en-US" sz="1050" b="0"/>
              <a:t>雛形：</a:t>
            </a:r>
            <a:r>
              <a:rPr lang="ja-JP" altLang="en-US" sz="1050" b="1"/>
              <a:t>Bedrock</a:t>
            </a:r>
          </a:p>
          <a:p>
            <a:pPr algn="ctr">
              <a:lnSpc>
                <a:spcPct val="100000"/>
              </a:lnSpc>
            </a:pPr>
            <a:r>
              <a:rPr lang="ja-JP" altLang="en-US" sz="1050" b="1"/>
              <a:t>接続</a:t>
            </a:r>
            <a:r>
              <a:rPr lang="ja-JP" altLang="en-US" sz="1050" b="0"/>
              <a:t>・センシング</a:t>
            </a:r>
          </a:p>
        </p:txBody>
      </p:sp>
      <p:sp>
        <p:nvSpPr>
          <p:cNvPr id="21" name="Oval 20"/>
          <p:cNvSpPr/>
          <p:nvPr/>
        </p:nvSpPr>
        <p:spPr>
          <a:xfrm>
            <a:off x="3415283" y="2171700"/>
            <a:ext cx="137160" cy="1371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6890D"/>
            </a:solidFill>
          </a:ln>
        </p:spPr>
        <p:txBody>
          <a:bodyPr rtlCol="0" anchor="ctr"/>
          <a:lstStyle/>
          <a:p>
            <a:endParaRPr sz="2800" lang="ja-JP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2935223" y="1901952"/>
            <a:ext cx="10972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ja-JP" altLang="en-US" sz="1100" b="1">
                <a:solidFill>
                  <a:srgbClr val="1C1C1E"/>
                </a:solidFill>
              </a:rPr>
              <a:t>8/04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43783" y="2542032"/>
            <a:ext cx="128016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ja-JP" altLang="en-US" sz="1050" b="1"/>
              <a:t>経営診断・総会Q&amp;A</a:t>
            </a:r>
          </a:p>
          <a:p>
            <a:pPr algn="ctr">
              <a:lnSpc>
                <a:spcPct val="100000"/>
              </a:lnSpc>
            </a:pPr>
            <a:r>
              <a:rPr lang="ja-JP" altLang="en-US" sz="1050" b="0"/>
              <a:t>の2本柱に再編</a:t>
            </a:r>
          </a:p>
        </p:txBody>
      </p:sp>
      <p:sp>
        <p:nvSpPr>
          <p:cNvPr id="24" name="Oval 23"/>
          <p:cNvSpPr/>
          <p:nvPr/>
        </p:nvSpPr>
        <p:spPr>
          <a:xfrm>
            <a:off x="4722876" y="2171700"/>
            <a:ext cx="137160" cy="1371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6890D"/>
            </a:solidFill>
          </a:ln>
        </p:spPr>
        <p:txBody>
          <a:bodyPr rtlCol="0" anchor="ctr"/>
          <a:lstStyle/>
          <a:p>
            <a:endParaRPr sz="2800" lang="ja-JP" altLang="en-US"/>
          </a:p>
        </p:txBody>
      </p:sp>
      <p:sp>
        <p:nvSpPr>
          <p:cNvPr id="25" name="Oval 24"/>
          <p:cNvSpPr/>
          <p:nvPr/>
        </p:nvSpPr>
        <p:spPr>
          <a:xfrm>
            <a:off x="4732020" y="2336292"/>
            <a:ext cx="118872" cy="11887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0D8390"/>
            </a:solidFill>
          </a:ln>
        </p:spPr>
        <p:txBody>
          <a:bodyPr rtlCol="0" anchor="ctr"/>
          <a:lstStyle/>
          <a:p>
            <a:endParaRPr sz="2800" lang="ja-JP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4242816" y="1901952"/>
            <a:ext cx="10972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ja-JP" altLang="en-US" sz="1100" b="1">
                <a:solidFill>
                  <a:srgbClr val="1C1C1E"/>
                </a:solidFill>
              </a:rPr>
              <a:t>8/18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51376" y="2542032"/>
            <a:ext cx="128016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ja-JP" altLang="en-US" sz="1050" b="1"/>
              <a:t>目的別ホーム</a:t>
            </a:r>
            <a:r>
              <a:rPr lang="ja-JP" altLang="en-US" sz="1050" b="0"/>
              <a:t>・</a:t>
            </a:r>
          </a:p>
          <a:p>
            <a:pPr algn="ctr">
              <a:lnSpc>
                <a:spcPct val="100000"/>
              </a:lnSpc>
            </a:pPr>
            <a:r>
              <a:rPr lang="ja-JP" altLang="en-US" sz="1050" b="0"/>
              <a:t>総会の6工程</a:t>
            </a:r>
          </a:p>
        </p:txBody>
      </p:sp>
      <p:sp>
        <p:nvSpPr>
          <p:cNvPr id="28" name="Oval 27"/>
          <p:cNvSpPr/>
          <p:nvPr/>
        </p:nvSpPr>
        <p:spPr>
          <a:xfrm>
            <a:off x="6030468" y="2171700"/>
            <a:ext cx="137160" cy="1371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6890D"/>
            </a:solidFill>
          </a:ln>
        </p:spPr>
        <p:txBody>
          <a:bodyPr rtlCol="0" anchor="ctr"/>
          <a:lstStyle/>
          <a:p>
            <a:endParaRPr sz="2800" lang="ja-JP" altLang="en-US"/>
          </a:p>
        </p:txBody>
      </p:sp>
      <p:sp>
        <p:nvSpPr>
          <p:cNvPr id="29" name="Oval 28"/>
          <p:cNvSpPr/>
          <p:nvPr/>
        </p:nvSpPr>
        <p:spPr>
          <a:xfrm>
            <a:off x="6039612" y="2336292"/>
            <a:ext cx="118872" cy="11887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0D8390"/>
            </a:solidFill>
          </a:ln>
        </p:spPr>
        <p:txBody>
          <a:bodyPr rtlCol="0" anchor="ctr"/>
          <a:lstStyle/>
          <a:p>
            <a:endParaRPr sz="2800" lang="ja-JP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5550408" y="1901952"/>
            <a:ext cx="10972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ja-JP" altLang="en-US" sz="1100" b="1">
                <a:solidFill>
                  <a:srgbClr val="1C1C1E"/>
                </a:solidFill>
              </a:rPr>
              <a:t>8/24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58968" y="2542032"/>
            <a:ext cx="128016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ja-JP" altLang="en-US" sz="1050" b="0"/>
              <a:t>市況バーと</a:t>
            </a:r>
          </a:p>
          <a:p>
            <a:pPr algn="ctr">
              <a:lnSpc>
                <a:spcPct val="100000"/>
              </a:lnSpc>
            </a:pPr>
            <a:r>
              <a:rPr lang="ja-JP" altLang="en-US" sz="1050" b="1"/>
              <a:t>今日のニュース</a:t>
            </a:r>
          </a:p>
        </p:txBody>
      </p:sp>
      <p:sp>
        <p:nvSpPr>
          <p:cNvPr id="32" name="Oval 31"/>
          <p:cNvSpPr/>
          <p:nvPr/>
        </p:nvSpPr>
        <p:spPr>
          <a:xfrm>
            <a:off x="7338060" y="2171700"/>
            <a:ext cx="137160" cy="1371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6890D"/>
            </a:solidFill>
          </a:ln>
        </p:spPr>
        <p:txBody>
          <a:bodyPr rtlCol="0" anchor="ctr"/>
          <a:lstStyle/>
          <a:p>
            <a:endParaRPr sz="2800" lang="ja-JP" altLang="en-US"/>
          </a:p>
        </p:txBody>
      </p:sp>
      <p:sp>
        <p:nvSpPr>
          <p:cNvPr id="33" name="Oval 32"/>
          <p:cNvSpPr/>
          <p:nvPr/>
        </p:nvSpPr>
        <p:spPr>
          <a:xfrm>
            <a:off x="7347204" y="2336292"/>
            <a:ext cx="118872" cy="11887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0D8390"/>
            </a:solidFill>
          </a:ln>
        </p:spPr>
        <p:txBody>
          <a:bodyPr rtlCol="0" anchor="ctr"/>
          <a:lstStyle/>
          <a:p>
            <a:endParaRPr sz="2800" lang="ja-JP" altLang="en-US"/>
          </a:p>
        </p:txBody>
      </p:sp>
      <p:sp>
        <p:nvSpPr>
          <p:cNvPr id="34" name="TextBox 33"/>
          <p:cNvSpPr txBox="1"/>
          <p:nvPr/>
        </p:nvSpPr>
        <p:spPr>
          <a:xfrm>
            <a:off x="6858000" y="1901952"/>
            <a:ext cx="10972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ja-JP" altLang="en-US" sz="1100" b="1">
                <a:solidFill>
                  <a:srgbClr val="1C1C1E"/>
                </a:solidFill>
              </a:rPr>
              <a:t>9/03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59" y="2542032"/>
            <a:ext cx="128016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ja-JP" altLang="en-US" sz="1050" b="1"/>
              <a:t>画面刷新</a:t>
            </a:r>
            <a:r>
              <a:rPr lang="ja-JP" altLang="en-US" sz="1050" b="0"/>
              <a:t>・SNS分析・</a:t>
            </a:r>
          </a:p>
          <a:p>
            <a:pPr algn="ctr">
              <a:lnSpc>
                <a:spcPct val="100000"/>
              </a:lnSpc>
            </a:pPr>
            <a:r>
              <a:rPr lang="ja-JP" altLang="en-US" sz="1050" b="0"/>
              <a:t>管理者機能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31936" y="2148840"/>
            <a:ext cx="164592" cy="338327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046A38"/>
            </a:solidFill>
          </a:ln>
        </p:spPr>
        <p:txBody>
          <a:bodyPr rtlCol="0" anchor="ctr"/>
          <a:lstStyle/>
          <a:p>
            <a:endParaRPr sz="2800" lang="ja-JP" altLang="en-US"/>
          </a:p>
        </p:txBody>
      </p:sp>
      <p:sp>
        <p:nvSpPr>
          <p:cNvPr id="37" name="TextBox 36"/>
          <p:cNvSpPr txBox="1"/>
          <p:nvPr/>
        </p:nvSpPr>
        <p:spPr>
          <a:xfrm>
            <a:off x="8165592" y="1901952"/>
            <a:ext cx="10972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ja-JP" altLang="en-US" sz="1100" b="1">
                <a:solidFill>
                  <a:srgbClr val="046A38"/>
                </a:solidFill>
              </a:rPr>
              <a:t>9/11版（FIX）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74152" y="2542032"/>
            <a:ext cx="128016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ja-JP" altLang="en-US" sz="1050" b="0"/>
              <a:t>総会</a:t>
            </a:r>
            <a:r>
              <a:rPr lang="ja-JP" altLang="ja-JP" sz="1050" b="0"/>
              <a:t>QA</a:t>
            </a:r>
          </a:p>
          <a:p>
            <a:pPr algn="ctr">
              <a:lnSpc>
                <a:spcPct val="100000"/>
              </a:lnSpc>
            </a:pPr>
            <a:r>
              <a:rPr lang="ja-JP" altLang="en-US" sz="1050" b="1"/>
              <a:t>承認フロー</a:t>
            </a:r>
          </a:p>
        </p:txBody>
      </p:sp>
      <p:sp>
        <p:nvSpPr>
          <p:cNvPr id="39" name="Oval 38"/>
          <p:cNvSpPr/>
          <p:nvPr/>
        </p:nvSpPr>
        <p:spPr>
          <a:xfrm>
            <a:off x="9953244" y="2171700"/>
            <a:ext cx="137160" cy="1371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6890D"/>
            </a:solidFill>
          </a:ln>
        </p:spPr>
        <p:txBody>
          <a:bodyPr rtlCol="0" anchor="ctr"/>
          <a:lstStyle/>
          <a:p>
            <a:endParaRPr sz="2800" lang="ja-JP" altLang="en-US"/>
          </a:p>
        </p:txBody>
      </p:sp>
      <p:sp>
        <p:nvSpPr>
          <p:cNvPr id="40" name="Oval 39"/>
          <p:cNvSpPr/>
          <p:nvPr/>
        </p:nvSpPr>
        <p:spPr>
          <a:xfrm>
            <a:off x="9962388" y="2336292"/>
            <a:ext cx="118872" cy="11887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0D8390"/>
            </a:solidFill>
          </a:ln>
        </p:spPr>
        <p:txBody>
          <a:bodyPr rtlCol="0" anchor="ctr"/>
          <a:lstStyle/>
          <a:p>
            <a:endParaRPr sz="2800" lang="ja-JP" altLang="en-US"/>
          </a:p>
        </p:txBody>
      </p:sp>
      <p:sp>
        <p:nvSpPr>
          <p:cNvPr id="41" name="TextBox 40"/>
          <p:cNvSpPr txBox="1"/>
          <p:nvPr/>
        </p:nvSpPr>
        <p:spPr>
          <a:xfrm>
            <a:off x="9473184" y="1901952"/>
            <a:ext cx="10972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ja-JP" altLang="en-US" sz="1100" b="1">
                <a:solidFill>
                  <a:srgbClr val="1C1C1E"/>
                </a:solidFill>
              </a:rPr>
              <a:t>9/18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81744" y="2542032"/>
            <a:ext cx="128016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ja-JP" altLang="en-US" sz="1050" b="1"/>
              <a:t>権限表</a:t>
            </a:r>
            <a:r>
              <a:rPr lang="ja-JP" altLang="en-US" sz="1050" b="0"/>
              <a:t>どおりの</a:t>
            </a:r>
          </a:p>
          <a:p>
            <a:pPr algn="ctr">
              <a:lnSpc>
                <a:spcPct val="100000"/>
              </a:lnSpc>
            </a:pPr>
            <a:r>
              <a:rPr lang="ja-JP" altLang="en-US" sz="1050" b="0"/>
              <a:t>閲覧範囲・深掘り</a:t>
            </a:r>
          </a:p>
        </p:txBody>
      </p:sp>
      <p:sp>
        <p:nvSpPr>
          <p:cNvPr id="43" name="Oval 42"/>
          <p:cNvSpPr/>
          <p:nvPr/>
        </p:nvSpPr>
        <p:spPr>
          <a:xfrm>
            <a:off x="11260836" y="2171700"/>
            <a:ext cx="137160" cy="1371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6890D"/>
            </a:solidFill>
          </a:ln>
        </p:spPr>
        <p:txBody>
          <a:bodyPr rtlCol="0" anchor="ctr"/>
          <a:lstStyle/>
          <a:p>
            <a:endParaRPr sz="2800" lang="ja-JP" altLang="en-US"/>
          </a:p>
        </p:txBody>
      </p:sp>
      <p:sp>
        <p:nvSpPr>
          <p:cNvPr id="44" name="Oval 43"/>
          <p:cNvSpPr/>
          <p:nvPr/>
        </p:nvSpPr>
        <p:spPr>
          <a:xfrm>
            <a:off x="11269980" y="2336292"/>
            <a:ext cx="118872" cy="11887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0D8390"/>
            </a:solidFill>
          </a:ln>
        </p:spPr>
        <p:txBody>
          <a:bodyPr rtlCol="0" anchor="ctr"/>
          <a:lstStyle/>
          <a:p>
            <a:endParaRPr sz="2800" lang="ja-JP" altLang="en-US"/>
          </a:p>
        </p:txBody>
      </p:sp>
      <p:sp>
        <p:nvSpPr>
          <p:cNvPr id="45" name="TextBox 44"/>
          <p:cNvSpPr txBox="1"/>
          <p:nvPr/>
        </p:nvSpPr>
        <p:spPr>
          <a:xfrm>
            <a:off x="10780776" y="1901952"/>
            <a:ext cx="10972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ja-JP" altLang="en-US" sz="1100" b="1">
                <a:solidFill>
                  <a:srgbClr val="046A38"/>
                </a:solidFill>
              </a:rPr>
              <a:t>9/25–27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89336" y="2542032"/>
            <a:ext cx="128016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ja-JP" altLang="en-US" sz="1050" b="0"/>
              <a:t>計画・案件・</a:t>
            </a:r>
            <a:r>
              <a:rPr lang="ja-JP" altLang="en-US" sz="1050" b="1"/>
              <a:t>内容の精緻化・Opus 5.5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0012680" y="1410990"/>
            <a:ext cx="228600" cy="0"/>
          </a:xfrm>
          <a:prstGeom prst="line">
            <a:avLst/>
          </a:prstGeom>
          <a:ln w="31750">
            <a:solidFill>
              <a:srgbClr val="26890D"/>
            </a:solidFill>
          </a:ln>
        </p:spPr>
      </p:cxnSp>
      <p:sp>
        <p:nvSpPr>
          <p:cNvPr id="48" name="TextBox 47"/>
          <p:cNvSpPr txBox="1"/>
          <p:nvPr/>
        </p:nvSpPr>
        <p:spPr>
          <a:xfrm>
            <a:off x="10277856" y="1319550"/>
            <a:ext cx="6400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ja-JP" altLang="en-US" sz="1000" b="0"/>
              <a:t>経営ナビ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0835640" y="1410990"/>
            <a:ext cx="228600" cy="0"/>
          </a:xfrm>
          <a:prstGeom prst="line">
            <a:avLst/>
          </a:prstGeom>
          <a:ln w="31750">
            <a:solidFill>
              <a:srgbClr val="0D8390"/>
            </a:solidFill>
          </a:ln>
        </p:spPr>
      </p:cxnSp>
      <p:sp>
        <p:nvSpPr>
          <p:cNvPr id="50" name="TextBox 49"/>
          <p:cNvSpPr txBox="1"/>
          <p:nvPr/>
        </p:nvSpPr>
        <p:spPr>
          <a:xfrm>
            <a:off x="11100816" y="1319550"/>
            <a:ext cx="64008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ja-JP" altLang="en-US" sz="1000" b="0"/>
              <a:t>総会QA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5488" y="3200400"/>
            <a:ext cx="54864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ja-JP" altLang="en-US" sz="1400" b="1">
                <a:solidFill>
                  <a:srgbClr val="046A38"/>
                </a:solidFill>
              </a:rPr>
              <a:t>出発点と公開版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5488" y="3529584"/>
            <a:ext cx="2542032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ja-JP" altLang="en-US" sz="1050" b="1">
                <a:solidFill>
                  <a:srgbClr val="1C1C1E"/>
                </a:solidFill>
              </a:rPr>
              <a:t>出発点｜7/24の雛形</a:t>
            </a:r>
          </a:p>
        </p:txBody>
      </p:sp>
      <p:pic>
        <p:nvPicPr>
          <p:cNvPr id="53" name="Picture 52" descr="0724_hom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" y="3767328"/>
            <a:ext cx="2542032" cy="1588770"/>
          </a:xfrm>
          <a:prstGeom prst="rect">
            <a:avLst/>
          </a:prstGeom>
          <a:ln w="9525">
            <a:solidFill>
              <a:srgbClr val="C8CACC"/>
            </a:solidFill>
          </a:ln>
        </p:spPr>
      </p:pic>
      <p:sp>
        <p:nvSpPr>
          <p:cNvPr id="54" name="TextBox 53"/>
          <p:cNvSpPr txBox="1"/>
          <p:nvPr/>
        </p:nvSpPr>
        <p:spPr>
          <a:xfrm>
            <a:off x="475488" y="5569926"/>
            <a:ext cx="2542032" cy="520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 algn="l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ja-JP" altLang="en-US" sz="1100" b="0"/>
              <a:t>経営ダッシュボードと</a:t>
            </a:r>
            <a:r>
              <a:rPr lang="ja-JP" altLang="en-US" sz="1100"/>
              <a:t>計画点検の</a:t>
            </a:r>
            <a:r>
              <a:rPr lang="ja-JP" altLang="en-US" sz="1100" b="0"/>
              <a:t>3モード</a:t>
            </a:r>
            <a:endParaRPr lang="ja-JP" altLang="ja-JP" sz="1100" b="0"/>
          </a:p>
          <a:p>
            <a:pPr marL="171450" indent="-171450" algn="l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ja-JP" altLang="ja-JP" sz="1100"/>
              <a:t>LLM</a:t>
            </a:r>
            <a:r>
              <a:rPr lang="ja-JP" altLang="en-US" sz="1100"/>
              <a:t>は</a:t>
            </a:r>
            <a:r>
              <a:rPr lang="ja-JP" altLang="ja-JP" sz="1100"/>
              <a:t>Claude</a:t>
            </a:r>
            <a:r>
              <a:rPr lang="ja-JP" altLang="en-US" sz="1100"/>
              <a:t> </a:t>
            </a:r>
            <a:r>
              <a:rPr lang="ja-JP" altLang="ja-JP" sz="1100"/>
              <a:t>Opus 4.8</a:t>
            </a:r>
            <a:endParaRPr lang="ja-JP" altLang="en-US" sz="1100" b="0"/>
          </a:p>
          <a:p>
            <a:pPr marL="171450" indent="-171450" algn="l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ja-JP" altLang="en-US" sz="1100" b="0"/>
              <a:t>12種の公開データを自動で収集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429000" y="3529584"/>
            <a:ext cx="278892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ja-JP" altLang="en-US" sz="1050" b="1" dirty="0">
                <a:solidFill>
                  <a:srgbClr val="1C1C1E"/>
                </a:solidFill>
              </a:rPr>
              <a:t>公開版｜9/27（9/11版以降の改修を反映）</a:t>
            </a:r>
          </a:p>
        </p:txBody>
      </p:sp>
      <p:pic>
        <p:nvPicPr>
          <p:cNvPr id="56" name="Picture 55" descr="0927_hom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9000" y="3767328"/>
            <a:ext cx="2542032" cy="1588770"/>
          </a:xfrm>
          <a:prstGeom prst="rect">
            <a:avLst/>
          </a:prstGeom>
          <a:ln w="9525">
            <a:solidFill>
              <a:srgbClr val="C8CACC"/>
            </a:solidFill>
          </a:ln>
        </p:spPr>
      </p:pic>
      <p:sp>
        <p:nvSpPr>
          <p:cNvPr id="57" name="TextBox 56"/>
          <p:cNvSpPr txBox="1"/>
          <p:nvPr/>
        </p:nvSpPr>
        <p:spPr>
          <a:xfrm>
            <a:off x="3429000" y="5569926"/>
            <a:ext cx="2542032" cy="5208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 algn="l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ja-JP" altLang="en-US" sz="1100" b="0"/>
              <a:t>経営ナビと総会QAの2アプリ</a:t>
            </a:r>
          </a:p>
          <a:p>
            <a:pPr marL="171450" indent="-171450" algn="l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ja-JP" altLang="en-US" sz="1100" b="0"/>
              <a:t>LLMはClaude Opus 5.5（国内処理）</a:t>
            </a:r>
          </a:p>
          <a:p>
            <a:pPr marL="171450" indent="-171450" algn="l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ja-JP" altLang="en-US" sz="1100" b="0"/>
              <a:t>指定</a:t>
            </a:r>
            <a:r>
              <a:rPr lang="ja-JP" altLang="en-US" sz="1100"/>
              <a:t>外部情報ソース</a:t>
            </a:r>
            <a:r>
              <a:rPr lang="ja-JP" altLang="en-US" sz="1100" b="0"/>
              <a:t>約220サイト</a:t>
            </a:r>
          </a:p>
        </p:txBody>
      </p:sp>
      <p:sp>
        <p:nvSpPr>
          <p:cNvPr id="58" name="Right Arrow 57"/>
          <p:cNvSpPr/>
          <p:nvPr/>
        </p:nvSpPr>
        <p:spPr>
          <a:xfrm>
            <a:off x="3108960" y="4442841"/>
            <a:ext cx="228600" cy="237744"/>
          </a:xfrm>
          <a:prstGeom prst="rightArrow">
            <a:avLst/>
          </a:prstGeom>
          <a:solidFill>
            <a:srgbClr val="26890D"/>
          </a:solidFill>
          <a:ln>
            <a:noFill/>
          </a:ln>
        </p:spPr>
        <p:txBody>
          <a:bodyPr rtlCol="0" anchor="ctr"/>
          <a:lstStyle/>
          <a:p>
            <a:pPr algn="ctr"/>
            <a:endParaRPr sz="2800" lang="ja-JP" altLang="en-US"/>
          </a:p>
        </p:txBody>
      </p:sp>
      <p:sp>
        <p:nvSpPr>
          <p:cNvPr id="59" name="TextBox 58"/>
          <p:cNvSpPr txBox="1"/>
          <p:nvPr/>
        </p:nvSpPr>
        <p:spPr>
          <a:xfrm>
            <a:off x="6263640" y="320040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ja-JP" altLang="en-US" sz="1100" b="1">
                <a:solidFill>
                  <a:srgbClr val="046A38"/>
                </a:solidFill>
              </a:rPr>
              <a:t>数字で見る3か月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263640" y="3712463"/>
            <a:ext cx="1737360" cy="1097280"/>
          </a:xfrm>
          <a:prstGeom prst="rect">
            <a:avLst/>
          </a:prstGeom>
          <a:solidFill>
            <a:srgbClr val="F4F5F5"/>
          </a:solidFill>
          <a:ln>
            <a:noFill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62" name="TextBox 61"/>
          <p:cNvSpPr txBox="1"/>
          <p:nvPr/>
        </p:nvSpPr>
        <p:spPr>
          <a:xfrm>
            <a:off x="6391655" y="3785615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ja-JP" altLang="en-US" sz="2600" b="1">
                <a:solidFill>
                  <a:srgbClr val="046A38"/>
                </a:solidFill>
              </a:rPr>
              <a:t>12</a:t>
            </a:r>
            <a:r>
              <a:rPr lang="ja-JP" altLang="en-US" sz="1100" b="1">
                <a:solidFill>
                  <a:srgbClr val="046A38"/>
                </a:solidFill>
              </a:rPr>
              <a:t> 回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91655" y="4279392"/>
            <a:ext cx="1554480" cy="3119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ja-JP" altLang="en-US" sz="1000" b="0"/>
              <a:t>週次定例</a:t>
            </a:r>
          </a:p>
          <a:p>
            <a:pPr algn="l">
              <a:lnSpc>
                <a:spcPct val="105000"/>
              </a:lnSpc>
            </a:pPr>
            <a:r>
              <a:rPr lang="ja-JP" altLang="en-US" sz="1000" b="0"/>
              <a:t>（9/24の第12回まで）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092440" y="3712463"/>
            <a:ext cx="1737360" cy="1097280"/>
          </a:xfrm>
          <a:prstGeom prst="rect">
            <a:avLst/>
          </a:prstGeom>
          <a:solidFill>
            <a:srgbClr val="F4F5F5"/>
          </a:solidFill>
          <a:ln>
            <a:noFill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65" name="TextBox 64"/>
          <p:cNvSpPr txBox="1"/>
          <p:nvPr/>
        </p:nvSpPr>
        <p:spPr>
          <a:xfrm>
            <a:off x="8220456" y="3785615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ja-JP" altLang="en-US" sz="2600" b="1">
                <a:solidFill>
                  <a:srgbClr val="046A38"/>
                </a:solidFill>
              </a:rPr>
              <a:t>6</a:t>
            </a:r>
            <a:r>
              <a:rPr lang="ja-JP" altLang="en-US" sz="1100" b="1">
                <a:solidFill>
                  <a:srgbClr val="046A38"/>
                </a:solidFill>
              </a:rPr>
              <a:t> 回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20456" y="4279392"/>
            <a:ext cx="1554480" cy="3119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ja-JP" altLang="en-US" sz="1000" b="0"/>
              <a:t>スプリントレビュー</a:t>
            </a:r>
          </a:p>
          <a:p>
            <a:pPr algn="l">
              <a:lnSpc>
                <a:spcPct val="105000"/>
              </a:lnSpc>
            </a:pPr>
            <a:r>
              <a:rPr lang="ja-JP" altLang="en-US" sz="1000" b="0"/>
              <a:t>（隔週・各2時間）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921240" y="3712463"/>
            <a:ext cx="1737360" cy="1097280"/>
          </a:xfrm>
          <a:prstGeom prst="rect">
            <a:avLst/>
          </a:prstGeom>
          <a:solidFill>
            <a:srgbClr val="F4F5F5"/>
          </a:solidFill>
          <a:ln>
            <a:noFill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68" name="TextBox 67"/>
          <p:cNvSpPr txBox="1"/>
          <p:nvPr/>
        </p:nvSpPr>
        <p:spPr>
          <a:xfrm>
            <a:off x="10049256" y="3785615"/>
            <a:ext cx="155448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ja-JP" altLang="ja-JP" sz="2600" b="1">
                <a:solidFill>
                  <a:srgbClr val="046A38"/>
                </a:solidFill>
              </a:rPr>
              <a:t>&gt;60</a:t>
            </a:r>
            <a:r>
              <a:rPr lang="ja-JP" altLang="en-US" sz="2600" b="1">
                <a:solidFill>
                  <a:srgbClr val="046A38"/>
                </a:solidFill>
              </a:rPr>
              <a:t> </a:t>
            </a:r>
            <a:r>
              <a:rPr lang="ja-JP" altLang="en-US" sz="1100" b="1">
                <a:solidFill>
                  <a:srgbClr val="046A38"/>
                </a:solidFill>
              </a:rPr>
              <a:t>時間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049256" y="4279392"/>
            <a:ext cx="1554480" cy="4735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ja-JP" altLang="en-US" sz="1000" b="0"/>
              <a:t>打鍵・レビュー</a:t>
            </a:r>
          </a:p>
          <a:p>
            <a:pPr algn="l">
              <a:lnSpc>
                <a:spcPct val="105000"/>
              </a:lnSpc>
            </a:pPr>
            <a:r>
              <a:rPr lang="ja-JP" altLang="en-US" sz="1000" b="0"/>
              <a:t>（スプリントレビュー・打鍵会）</a:t>
            </a:r>
            <a:endParaRPr lang="ja-JP" altLang="ja-JP" sz="1000" b="0"/>
          </a:p>
          <a:p>
            <a:pPr algn="l">
              <a:lnSpc>
                <a:spcPct val="105000"/>
              </a:lnSpc>
            </a:pPr>
            <a:r>
              <a:rPr lang="ja-JP" altLang="ja-JP" sz="1000"/>
              <a:t>※</a:t>
            </a:r>
            <a:r>
              <a:rPr lang="ja-JP" altLang="en-US" sz="1000"/>
              <a:t>週平均</a:t>
            </a:r>
            <a:r>
              <a:rPr lang="ja-JP" altLang="ja-JP" sz="1000"/>
              <a:t>5</a:t>
            </a:r>
            <a:r>
              <a:rPr lang="ja-JP" altLang="en-US" sz="1000"/>
              <a:t>時間</a:t>
            </a:r>
            <a:endParaRPr lang="ja-JP" altLang="en-US" sz="1000" b="0"/>
          </a:p>
        </p:txBody>
      </p:sp>
      <p:sp>
        <p:nvSpPr>
          <p:cNvPr id="71" name="Rectangle 70"/>
          <p:cNvSpPr/>
          <p:nvPr/>
        </p:nvSpPr>
        <p:spPr>
          <a:xfrm>
            <a:off x="6263640" y="5120640"/>
            <a:ext cx="1737360" cy="1097280"/>
          </a:xfrm>
          <a:prstGeom prst="rect">
            <a:avLst/>
          </a:prstGeom>
          <a:solidFill>
            <a:srgbClr val="F4F5F5"/>
          </a:solidFill>
          <a:ln>
            <a:noFill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72" name="TextBox 71"/>
          <p:cNvSpPr txBox="1"/>
          <p:nvPr/>
        </p:nvSpPr>
        <p:spPr>
          <a:xfrm>
            <a:off x="6391655" y="5193792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ja-JP" altLang="en-US" sz="2600" b="1">
                <a:solidFill>
                  <a:srgbClr val="046A38"/>
                </a:solidFill>
              </a:rPr>
              <a:t>8</a:t>
            </a:r>
            <a:r>
              <a:rPr lang="ja-JP" altLang="en-US" sz="1100" b="1">
                <a:solidFill>
                  <a:srgbClr val="046A38"/>
                </a:solidFill>
              </a:rPr>
              <a:t> 版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391655" y="5687568"/>
            <a:ext cx="1554480" cy="3119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ja-JP" altLang="en-US" sz="1000" b="0"/>
              <a:t>週ごとに更新した</a:t>
            </a:r>
          </a:p>
          <a:p>
            <a:pPr algn="l">
              <a:lnSpc>
                <a:spcPct val="105000"/>
              </a:lnSpc>
            </a:pPr>
            <a:r>
              <a:rPr lang="ja-JP" altLang="en-US" sz="1000" b="0"/>
              <a:t>アプリの断面（7/24〜9/27）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092440" y="5120640"/>
            <a:ext cx="1737360" cy="1097280"/>
          </a:xfrm>
          <a:prstGeom prst="rect">
            <a:avLst/>
          </a:prstGeom>
          <a:solidFill>
            <a:srgbClr val="F4F5F5"/>
          </a:solidFill>
          <a:ln>
            <a:noFill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75" name="TextBox 74"/>
          <p:cNvSpPr txBox="1"/>
          <p:nvPr/>
        </p:nvSpPr>
        <p:spPr>
          <a:xfrm>
            <a:off x="8220456" y="5193792"/>
            <a:ext cx="155448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ja-JP" altLang="ja-JP" sz="2600" b="1">
                <a:solidFill>
                  <a:srgbClr val="046A38"/>
                </a:solidFill>
              </a:rPr>
              <a:t>&gt;</a:t>
            </a:r>
            <a:r>
              <a:rPr lang="ja-JP" altLang="en-US" sz="2600" b="1">
                <a:solidFill>
                  <a:srgbClr val="046A38"/>
                </a:solidFill>
              </a:rPr>
              <a:t>80</a:t>
            </a:r>
            <a:r>
              <a:rPr lang="ja-JP" altLang="en-US" sz="1100" b="1">
                <a:solidFill>
                  <a:srgbClr val="046A38"/>
                </a:solidFill>
              </a:rPr>
              <a:t> 本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220456" y="5687568"/>
            <a:ext cx="1554480" cy="4735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ja-JP" altLang="en-US" sz="1000" b="0"/>
              <a:t>修正案・修正記録</a:t>
            </a:r>
          </a:p>
          <a:p>
            <a:pPr algn="l">
              <a:lnSpc>
                <a:spcPct val="105000"/>
              </a:lnSpc>
            </a:pPr>
            <a:r>
              <a:rPr lang="ja-JP" altLang="en-US" sz="1000" b="0"/>
              <a:t>（改修のたびに残した設計メモ）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921240" y="5120640"/>
            <a:ext cx="1737360" cy="1097280"/>
          </a:xfrm>
          <a:prstGeom prst="rect">
            <a:avLst/>
          </a:prstGeom>
          <a:solidFill>
            <a:srgbClr val="F4F5F5"/>
          </a:solidFill>
          <a:ln>
            <a:noFill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78" name="TextBox 77"/>
          <p:cNvSpPr txBox="1"/>
          <p:nvPr/>
        </p:nvSpPr>
        <p:spPr>
          <a:xfrm>
            <a:off x="10049256" y="5193792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ja-JP" altLang="en-US" sz="2600" b="1">
                <a:solidFill>
                  <a:srgbClr val="046A38"/>
                </a:solidFill>
              </a:rPr>
              <a:t>15</a:t>
            </a:r>
            <a:r>
              <a:rPr lang="ja-JP" altLang="en-US" sz="1100" b="1">
                <a:solidFill>
                  <a:srgbClr val="046A38"/>
                </a:solidFill>
              </a:rPr>
              <a:t> 項目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049256" y="5687568"/>
            <a:ext cx="1554480" cy="4735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lang="ja-JP" altLang="en-US" sz="1000" b="0"/>
              <a:t>9/11版以降の改修</a:t>
            </a:r>
          </a:p>
          <a:p>
            <a:pPr algn="l">
              <a:lnSpc>
                <a:spcPct val="105000"/>
              </a:lnSpc>
            </a:pPr>
            <a:r>
              <a:rPr lang="ja-JP" altLang="en-US" sz="1000" b="0"/>
              <a:t>（ご依頼13・自主改善2、すべて反映）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657F8920-BDAD-D057-5E50-B7D2F2BAD7F4}"/>
              </a:ext>
            </a:extLst>
          </p:cNvPr>
          <p:cNvCxnSpPr>
            <a:cxnSpLocks/>
          </p:cNvCxnSpPr>
          <p:nvPr/>
        </p:nvCxnSpPr>
        <p:spPr bwMode="gray">
          <a:xfrm>
            <a:off x="475488" y="3451013"/>
            <a:ext cx="5495544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コネクタ 79">
            <a:extLst>
              <a:ext uri="{FF2B5EF4-FFF2-40B4-BE49-F238E27FC236}">
                <a16:creationId xmlns:a16="http://schemas.microsoft.com/office/drawing/2014/main" id="{306868DB-6ECC-A6C6-E938-8E2355F66D51}"/>
              </a:ext>
            </a:extLst>
          </p:cNvPr>
          <p:cNvCxnSpPr>
            <a:cxnSpLocks/>
          </p:cNvCxnSpPr>
          <p:nvPr/>
        </p:nvCxnSpPr>
        <p:spPr bwMode="gray">
          <a:xfrm>
            <a:off x="6240194" y="3451013"/>
            <a:ext cx="5495544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4936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19A7D-1460-F220-8BA1-64C38D702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" name="オブジェクト 32" hidden="1">
            <a:extLst>
              <a:ext uri="{FF2B5EF4-FFF2-40B4-BE49-F238E27FC236}">
                <a16:creationId xmlns:a16="http://schemas.microsoft.com/office/drawing/2014/main" id="{067BAB04-3E1B-E09C-FBDE-83739DDC6E4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144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3" imgW="353" imgH="353" progId="TCLayout.ActiveDocument.1">
                  <p:embed/>
                </p:oleObj>
              </mc:Choice>
              <mc:Fallback>
                <p:oleObj name="thinkcellスライド" r:id="rId3" imgW="353" imgH="353" progId="TCLayout.ActiveDocument.1">
                  <p:embed/>
                  <p:pic>
                    <p:nvPicPr>
                      <p:cNvPr id="33" name="オブジェクト 32" hidden="1">
                        <a:extLst>
                          <a:ext uri="{FF2B5EF4-FFF2-40B4-BE49-F238E27FC236}">
                            <a16:creationId xmlns:a16="http://schemas.microsoft.com/office/drawing/2014/main" id="{067BAB04-3E1B-E09C-FBDE-83739DDC6E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44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タイトル 6">
            <a:extLst>
              <a:ext uri="{FF2B5EF4-FFF2-40B4-BE49-F238E27FC236}">
                <a16:creationId xmlns:a16="http://schemas.microsoft.com/office/drawing/2014/main" id="{C6109E1F-0350-382F-B722-0A5ECBF06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20612"/>
            <a:ext cx="12192000" cy="738000"/>
          </a:xfrm>
          <a:solidFill>
            <a:schemeClr val="accent4"/>
          </a:solidFill>
          <a:ln>
            <a:noFill/>
          </a:ln>
        </p:spPr>
        <p:txBody>
          <a:bodyPr vert="horz" rIns="0" anchor="ctr"/>
          <a:lstStyle/>
          <a:p>
            <a:pPr algn="ctr"/>
            <a:r>
              <a:rPr lang="ja-JP" altLang="en-US">
                <a:solidFill>
                  <a:schemeClr val="bg1"/>
                </a:solidFill>
              </a:rPr>
              <a:t>共創の記録（動画・約4分）をご覧いただきます</a:t>
            </a:r>
          </a:p>
        </p:txBody>
      </p:sp>
      <p:sp>
        <p:nvSpPr>
          <p:cNvPr id="2" name="スライド番号プレースホルダー 2">
            <a:extLst>
              <a:ext uri="{FF2B5EF4-FFF2-40B4-BE49-F238E27FC236}">
                <a16:creationId xmlns:a16="http://schemas.microsoft.com/office/drawing/2014/main" id="{7883DD2C-009A-E0C0-0386-74CDAA23DB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80000" y="6588000"/>
            <a:ext cx="180000" cy="169200"/>
          </a:xfrm>
        </p:spPr>
        <p:txBody>
          <a:bodyPr/>
          <a:lstStyle/>
          <a:p>
            <a:fld id="{AA5FCFE5-FE56-4EF1-80A8-07776887C2A1}" type="slidenum">
              <a:rPr lang="ja-JP" altLang="en-US" smtClean="0"/>
              <a:pPr/>
              <a:t>3</a:t>
            </a:fld>
            <a:endParaRPr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BA086C3-5317-FB37-FDC0-309A8E23ABFC}"/>
              </a:ext>
            </a:extLst>
          </p:cNvPr>
          <p:cNvSpPr txBox="1"/>
          <p:nvPr/>
        </p:nvSpPr>
        <p:spPr bwMode="gray">
          <a:xfrm>
            <a:off x="2994210" y="3956588"/>
            <a:ext cx="5576047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90564" fontAlgn="auto"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ja-JP" altLang="ja-JP" sz="1100">
                <a:hlinkClick r:id="rId5"/>
              </a:rPr>
              <a:t>HHHD_AI経営ナビ_共創の記録.html</a:t>
            </a:r>
            <a:endParaRPr kumimoji="1" lang="ja-JP" alt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3155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52E02-6136-F336-E97C-B10F91647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8569B64-2801-5CAF-2CA4-0C365696730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ext cx="11228832" cy="0"/>
          </a:xfrm>
        </p:spPr>
        <p:txBody>
          <a:bodyPr/>
          <a:lstStyle/>
          <a:p>
            <a:r>
              <a:rPr lang="ja-JP" altLang="en-US"/>
              <a:t>ITEC様への引継ぎ状況（引継ぎ物 × 版）</a:t>
            </a:r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29AC0418-4874-281A-CB95-967790A46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ja-JP" altLang="en-US"/>
              <a:t>9/11版の引継ぎはITEC様の統合テストまで完了しています。9/11版以降の改修分も材料を連携済みで、必要なご説明は順次実施します</a:t>
            </a:r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2F89B437-8F29-ECC1-7D5D-DD922EC427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80000" y="6588000"/>
            <a:ext cx="180000" cy="169200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lang="ja-JP" altLang="en-US"/>
            </a:pPr>
            <a:fld id="{AA5FCFE5-FE56-4EF1-80A8-07776887C2A1}" type="slidenum">
              <a:rPr kumimoji="0" lang="ja-JP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Yu Gothic UI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 lang="ja-JP" altLang="en-US"/>
              </a:pPr>
              <a:t>4</a:t>
            </a:fld>
            <a:endParaRPr kumimoji="0" lang="ja-JP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Yu Gothic UI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75488" y="1572768"/>
            <a:ext cx="1600200" cy="566928"/>
          </a:xfrm>
          <a:prstGeom prst="rect">
            <a:avLst/>
          </a:prstGeom>
          <a:solidFill>
            <a:srgbClr val="63666A"/>
          </a:solidFill>
          <a:ln>
            <a:noFill/>
          </a:ln>
        </p:spPr>
        <p:txBody>
          <a:bodyPr rtlCol="0" anchor="ctr" wrap="square" lIns="45720" rIns="45720" tIns="36576" bIns="36576"/>
          <a:lstStyle/>
          <a:p>
            <a:pPr algn="ctr"/>
            <a:r>
              <a:rPr sz="1000" b="1" lang="ja-JP" altLang="en-US">
                <a:solidFill>
                  <a:srgbClr val="FFFFFF"/>
                </a:solidFill>
                <a:latin typeface="+mj-ea"/>
                <a:ea typeface="+mj-ea"/>
              </a:rPr>
              <a:t>引継ぎ物</a:t>
            </a:r>
          </a:p>
        </p:txBody>
      </p:sp>
      <p:sp>
        <p:nvSpPr>
          <p:cNvPr id="9" name="Rectangle 8"/>
          <p:cNvSpPr/>
          <p:nvPr/>
        </p:nvSpPr>
        <p:spPr>
          <a:xfrm>
            <a:off x="2103120" y="1572768"/>
            <a:ext cx="3858768" cy="566928"/>
          </a:xfrm>
          <a:prstGeom prst="rect">
            <a:avLst/>
          </a:prstGeom>
          <a:solidFill>
            <a:srgbClr val="046A38"/>
          </a:solidFill>
          <a:ln>
            <a:noFill/>
          </a:ln>
        </p:spPr>
        <p:txBody>
          <a:bodyPr rtlCol="0" anchor="ctr" wrap="square" lIns="128016" rIns="45720" tIns="36576" bIns="36576"/>
          <a:lstStyle/>
          <a:p>
            <a:pPr algn="l"/>
            <a:r>
              <a:rPr sz="1050" b="1" lang="ja-JP" altLang="en-US">
                <a:solidFill>
                  <a:srgbClr val="FFFFFF"/>
                </a:solidFill>
                <a:latin typeface="+mj-ea"/>
                <a:ea typeface="+mj-ea"/>
              </a:rPr>
              <a:t>9/11版（FIX版）</a:t>
            </a:r>
          </a:p>
          <a:p>
            <a:pPr algn="l">
              <a:spcBef>
                <a:spcPts val="100"/>
              </a:spcBef>
            </a:pPr>
            <a:r>
              <a:rPr sz="850" b="0" lang="ja-JP" altLang="en-US">
                <a:solidFill>
                  <a:srgbClr val="FFFFFF"/>
                </a:solidFill>
                <a:latin typeface="+mj-ea"/>
                <a:ea typeface="+mj-ea"/>
              </a:rPr>
              <a:t>引継ぎ完了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89320" y="1572768"/>
            <a:ext cx="3858768" cy="566928"/>
          </a:xfrm>
          <a:prstGeom prst="rect">
            <a:avLst/>
          </a:prstGeom>
          <a:solidFill>
            <a:srgbClr val="0D8390"/>
          </a:solidFill>
          <a:ln>
            <a:noFill/>
          </a:ln>
        </p:spPr>
        <p:txBody>
          <a:bodyPr rtlCol="0" anchor="ctr" wrap="square" lIns="128016" rIns="45720" tIns="36576" bIns="36576"/>
          <a:lstStyle/>
          <a:p>
            <a:pPr algn="l"/>
            <a:r>
              <a:rPr sz="1050" b="1" lang="ja-JP" altLang="en-US">
                <a:solidFill>
                  <a:srgbClr val="FFFFFF"/>
                </a:solidFill>
                <a:latin typeface="+mj-ea"/>
                <a:ea typeface="+mj-ea"/>
              </a:rPr>
              <a:t>9/11版以降の改修（9/27時点）</a:t>
            </a:r>
          </a:p>
          <a:p>
            <a:pPr algn="l">
              <a:spcBef>
                <a:spcPts val="100"/>
              </a:spcBef>
            </a:pPr>
            <a:r>
              <a:rPr sz="850" b="0" lang="ja-JP" altLang="en-US">
                <a:solidFill>
                  <a:srgbClr val="FFFFFF"/>
                </a:solidFill>
                <a:latin typeface="+mj-ea"/>
                <a:ea typeface="+mj-ea"/>
              </a:rPr>
              <a:t>材料連携済み・ご説明は順次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875519" y="1572768"/>
            <a:ext cx="1837944" cy="566928"/>
          </a:xfrm>
          <a:prstGeom prst="rect">
            <a:avLst/>
          </a:prstGeom>
          <a:solidFill>
            <a:srgbClr val="63666A"/>
          </a:solidFill>
          <a:ln>
            <a:noFill/>
          </a:ln>
        </p:spPr>
        <p:txBody>
          <a:bodyPr rtlCol="0" anchor="ctr" wrap="square" lIns="45720" rIns="45720" tIns="36576" bIns="36576"/>
          <a:lstStyle/>
          <a:p>
            <a:pPr algn="ctr"/>
            <a:r>
              <a:rPr sz="1000" b="1" lang="ja-JP" altLang="en-US">
                <a:solidFill>
                  <a:srgbClr val="FFFFFF"/>
                </a:solidFill>
                <a:latin typeface="+mj-ea"/>
                <a:ea typeface="+mj-ea"/>
              </a:rPr>
              <a:t>格納場所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" y="2185415"/>
            <a:ext cx="11237976" cy="868680"/>
          </a:xfrm>
          <a:prstGeom prst="rect">
            <a:avLst/>
          </a:prstGeom>
          <a:solidFill>
            <a:srgbClr val="F4F5F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03504" y="2185415"/>
            <a:ext cx="14173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 lang="ja-JP" altLang="en-US">
                <a:solidFill>
                  <a:srgbClr val="1C1C1E"/>
                </a:solidFill>
                <a:latin typeface="+mj-ea"/>
                <a:ea typeface="+mj-ea"/>
              </a:rPr>
              <a:t>ソースコード</a:t>
            </a:r>
          </a:p>
          <a:p>
            <a:pPr algn="l"/>
            <a:r>
              <a:rPr sz="800" b="0" lang="ja-JP" altLang="en-US">
                <a:solidFill>
                  <a:srgbClr val="63666A"/>
                </a:solidFill>
                <a:latin typeface="+mj-ea"/>
                <a:ea typeface="+mj-ea"/>
              </a:rPr>
              <a:t>アプリ一式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03704" y="2185415"/>
            <a:ext cx="3630168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lang="ja-JP" altLang="en-US">
                <a:solidFill>
                  <a:srgbClr val="046A38"/>
                </a:solidFill>
                <a:latin typeface="+mj-ea"/>
                <a:ea typeface="+mj-ea"/>
              </a:rPr>
              <a:t>✓ 共有済み</a:t>
            </a:r>
          </a:p>
          <a:p>
            <a:pPr algn="l">
              <a:lnSpc>
                <a:spcPct val="110000"/>
              </a:lnSpc>
            </a:pPr>
            <a:r>
              <a:rPr sz="850" b="0" lang="ja-JP" altLang="en-US">
                <a:solidFill>
                  <a:srgbClr val="1C1C1E"/>
                </a:solidFill>
                <a:latin typeface="+mj-ea"/>
                <a:ea typeface="+mj-ea"/>
              </a:rPr>
              <a:t>9/11版のアプリ一式をITEC様へ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9903" y="2185415"/>
            <a:ext cx="3630168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lang="ja-JP" altLang="en-US">
                <a:solidFill>
                  <a:srgbClr val="0D8390"/>
                </a:solidFill>
                <a:latin typeface="+mj-ea"/>
                <a:ea typeface="+mj-ea"/>
              </a:rPr>
              <a:t>● 連携済み</a:t>
            </a:r>
          </a:p>
          <a:p>
            <a:pPr algn="l">
              <a:lnSpc>
                <a:spcPct val="110000"/>
              </a:lnSpc>
            </a:pPr>
            <a:r>
              <a:rPr sz="850" b="0" lang="ja-JP" altLang="en-US">
                <a:solidFill>
                  <a:srgbClr val="1C1C1E"/>
                </a:solidFill>
                <a:latin typeface="+mj-ea"/>
                <a:ea typeface="+mj-ea"/>
              </a:rPr>
              <a:t>9/27時点の一式（本体・収集処理・総会QA取込、テスト58本、README）。検証環境で稼働中、zipでお渡し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76104" y="2185415"/>
            <a:ext cx="1682496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lang="ja-JP" altLang="en-US">
                <a:solidFill>
                  <a:srgbClr val="1C1C1E"/>
                </a:solidFill>
                <a:latin typeface="+mj-ea"/>
                <a:ea typeface="+mj-ea"/>
              </a:rPr>
              <a:t>検証環境（EC2）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75488" y="3054096"/>
            <a:ext cx="11237975" cy="0"/>
          </a:xfrm>
          <a:prstGeom prst="line">
            <a:avLst/>
          </a:prstGeom>
          <a:ln w="6350">
            <a:solidFill>
              <a:srgbClr val="C8CACC"/>
            </a:solidFill>
          </a:ln>
        </p:spPr>
      </p:cxnSp>
      <p:sp>
        <p:nvSpPr>
          <p:cNvPr id="18" name="Rectangle 17"/>
          <p:cNvSpPr/>
          <p:nvPr/>
        </p:nvSpPr>
        <p:spPr>
          <a:xfrm>
            <a:off x="475488" y="3054096"/>
            <a:ext cx="11237976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03504" y="3054096"/>
            <a:ext cx="141732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 lang="ja-JP" altLang="en-US">
                <a:solidFill>
                  <a:srgbClr val="1C1C1E"/>
                </a:solidFill>
                <a:latin typeface="+mj-ea"/>
                <a:ea typeface="+mj-ea"/>
              </a:rPr>
              <a:t>ドキュメント</a:t>
            </a:r>
          </a:p>
          <a:p>
            <a:pPr algn="l"/>
            <a:r>
              <a:rPr sz="800" b="0" lang="ja-JP" altLang="en-US">
                <a:solidFill>
                  <a:srgbClr val="63666A"/>
                </a:solidFill>
                <a:latin typeface="+mj-ea"/>
                <a:ea typeface="+mj-ea"/>
              </a:rPr>
              <a:t>仕様・構成・マニュアル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03704" y="3054096"/>
            <a:ext cx="363016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lang="ja-JP" altLang="en-US">
                <a:solidFill>
                  <a:srgbClr val="046A38"/>
                </a:solidFill>
                <a:latin typeface="+mj-ea"/>
                <a:ea typeface="+mj-ea"/>
              </a:rPr>
              <a:t>✓ 共有済み</a:t>
            </a:r>
          </a:p>
          <a:p>
            <a:pPr algn="l">
              <a:lnSpc>
                <a:spcPct val="110000"/>
              </a:lnSpc>
            </a:pPr>
            <a:r>
              <a:rPr sz="850" b="0" lang="ja-JP" altLang="en-US">
                <a:solidFill>
                  <a:srgbClr val="1C1C1E"/>
                </a:solidFill>
                <a:latin typeface="+mj-ea"/>
                <a:ea typeface="+mj-ea"/>
              </a:rPr>
              <a:t>9/11断面のドキュメント一覧（仕様・構成・マニュアル）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9903" y="3054096"/>
            <a:ext cx="3630168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lang="ja-JP" altLang="en-US">
                <a:solidFill>
                  <a:srgbClr val="0D8390"/>
                </a:solidFill>
                <a:latin typeface="+mj-ea"/>
                <a:ea typeface="+mj-ea"/>
              </a:rPr>
              <a:t>● 連携済み</a:t>
            </a:r>
          </a:p>
          <a:p>
            <a:pPr algn="l">
              <a:lnSpc>
                <a:spcPct val="110000"/>
              </a:lnSpc>
            </a:pPr>
            <a:r>
              <a:rPr sz="850" b="0" lang="ja-JP" altLang="en-US">
                <a:solidFill>
                  <a:srgbClr val="1C1C1E"/>
                </a:solidFill>
                <a:latin typeface="+mj-ea"/>
                <a:ea typeface="+mj-ea"/>
              </a:rPr>
              <a:t>利用者マニュアル詳細版・開発者マニュアルは9/27の改修まで反映。仕様書・アーキテクチャは9/25以降分を反映した版を移行前に提供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76104" y="3054096"/>
            <a:ext cx="1682496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lang="ja-JP" altLang="en-US">
                <a:solidFill>
                  <a:srgbClr val="1C1C1E"/>
                </a:solidFill>
                <a:latin typeface="+mj-ea"/>
                <a:ea typeface="+mj-ea"/>
              </a:rPr>
              <a:t>BOXフォルダ／</a:t>
            </a:r>
          </a:p>
          <a:p>
            <a:pPr algn="l">
              <a:lnSpc>
                <a:spcPct val="110000"/>
              </a:lnSpc>
            </a:pPr>
            <a:r>
              <a:rPr sz="850" b="0" lang="ja-JP" altLang="en-US">
                <a:solidFill>
                  <a:srgbClr val="1C1C1E"/>
                </a:solidFill>
                <a:latin typeface="+mj-ea"/>
                <a:ea typeface="+mj-ea"/>
              </a:rPr>
              <a:t>ソースコードのdoc/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5488" y="4014215"/>
            <a:ext cx="11237975" cy="0"/>
          </a:xfrm>
          <a:prstGeom prst="line">
            <a:avLst/>
          </a:prstGeom>
          <a:ln w="6350">
            <a:solidFill>
              <a:srgbClr val="C8CACC"/>
            </a:solidFill>
          </a:ln>
        </p:spPr>
      </p:cxnSp>
      <p:sp>
        <p:nvSpPr>
          <p:cNvPr id="24" name="Rectangle 23"/>
          <p:cNvSpPr/>
          <p:nvPr/>
        </p:nvSpPr>
        <p:spPr>
          <a:xfrm>
            <a:off x="475488" y="4014215"/>
            <a:ext cx="11237976" cy="822960"/>
          </a:xfrm>
          <a:prstGeom prst="rect">
            <a:avLst/>
          </a:prstGeom>
          <a:solidFill>
            <a:srgbClr val="F4F5F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03504" y="4014215"/>
            <a:ext cx="14173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 lang="ja-JP" altLang="en-US">
                <a:solidFill>
                  <a:srgbClr val="1C1C1E"/>
                </a:solidFill>
                <a:latin typeface="+mj-ea"/>
                <a:ea typeface="+mj-ea"/>
              </a:rPr>
              <a:t>改修台帳</a:t>
            </a:r>
          </a:p>
          <a:p>
            <a:pPr algn="l"/>
            <a:r>
              <a:rPr sz="800" b="0" lang="ja-JP" altLang="en-US">
                <a:solidFill>
                  <a:srgbClr val="63666A"/>
                </a:solidFill>
                <a:latin typeface="+mj-ea"/>
                <a:ea typeface="+mj-ea"/>
              </a:rPr>
              <a:t>9/11版以降の改修の記録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03704" y="4014215"/>
            <a:ext cx="3630168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lang="ja-JP" altLang="en-US">
                <a:solidFill>
                  <a:srgbClr val="8C8F93"/>
                </a:solidFill>
                <a:latin typeface="+mj-ea"/>
                <a:ea typeface="+mj-ea"/>
              </a:rPr>
              <a:t>—（9/11版では対象なし）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9903" y="4014215"/>
            <a:ext cx="3630168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lang="ja-JP" altLang="en-US">
                <a:solidFill>
                  <a:srgbClr val="0D8390"/>
                </a:solidFill>
                <a:latin typeface="+mj-ea"/>
                <a:ea typeface="+mj-ea"/>
              </a:rPr>
              <a:t>● 連携済み</a:t>
            </a:r>
          </a:p>
          <a:p>
            <a:pPr algn="l">
              <a:lnSpc>
                <a:spcPct val="110000"/>
              </a:lnSpc>
            </a:pPr>
            <a:r>
              <a:rPr sz="850" b="0" lang="ja-JP" altLang="en-US">
                <a:solidFill>
                  <a:srgbClr val="1C1C1E"/>
                </a:solidFill>
                <a:latin typeface="+mj-ea"/>
                <a:ea typeface="+mj-ea"/>
              </a:rPr>
              <a:t>15項目（次ページ）。ご依頼13・自主改善2、各改修の修正案・修正記録つき。今後も同じ台帳で管理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76104" y="4014215"/>
            <a:ext cx="1682496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lang="ja-JP" altLang="en-US">
                <a:solidFill>
                  <a:srgbClr val="1C1C1E"/>
                </a:solidFill>
                <a:latin typeface="+mj-ea"/>
                <a:ea typeface="+mj-ea"/>
              </a:rPr>
              <a:t>本資料／</a:t>
            </a:r>
          </a:p>
          <a:p>
            <a:pPr algn="l">
              <a:lnSpc>
                <a:spcPct val="110000"/>
              </a:lnSpc>
            </a:pPr>
            <a:r>
              <a:rPr sz="850" b="0" lang="ja-JP" altLang="en-US">
                <a:solidFill>
                  <a:srgbClr val="1C1C1E"/>
                </a:solidFill>
                <a:latin typeface="+mj-ea"/>
                <a:ea typeface="+mj-ea"/>
              </a:rPr>
              <a:t>ソースコードのdocs/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75488" y="4837176"/>
            <a:ext cx="11237975" cy="0"/>
          </a:xfrm>
          <a:prstGeom prst="line">
            <a:avLst/>
          </a:prstGeom>
          <a:ln w="6350">
            <a:solidFill>
              <a:srgbClr val="C8CACC"/>
            </a:solidFill>
          </a:ln>
        </p:spPr>
      </p:cxnSp>
      <p:sp>
        <p:nvSpPr>
          <p:cNvPr id="30" name="Rectangle 29"/>
          <p:cNvSpPr/>
          <p:nvPr/>
        </p:nvSpPr>
        <p:spPr>
          <a:xfrm>
            <a:off x="475488" y="4837176"/>
            <a:ext cx="11237976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" y="4837176"/>
            <a:ext cx="14173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 lang="ja-JP" altLang="en-US">
                <a:solidFill>
                  <a:srgbClr val="1C1C1E"/>
                </a:solidFill>
                <a:latin typeface="+mj-ea"/>
                <a:ea typeface="+mj-ea"/>
              </a:rPr>
              <a:t>統合テスト</a:t>
            </a:r>
          </a:p>
          <a:p>
            <a:pPr algn="l"/>
            <a:r>
              <a:rPr sz="800" b="0" lang="ja-JP" altLang="en-US">
                <a:solidFill>
                  <a:srgbClr val="63666A"/>
                </a:solidFill>
                <a:latin typeface="+mj-ea"/>
                <a:ea typeface="+mj-ea"/>
              </a:rPr>
              <a:t>ITEC様にて実施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03704" y="4837176"/>
            <a:ext cx="3630168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lang="ja-JP" altLang="en-US">
                <a:solidFill>
                  <a:srgbClr val="046A38"/>
                </a:solidFill>
                <a:latin typeface="+mj-ea"/>
                <a:ea typeface="+mj-ea"/>
              </a:rPr>
              <a:t>✓ 実施済み</a:t>
            </a:r>
          </a:p>
          <a:p>
            <a:pPr algn="l">
              <a:lnSpc>
                <a:spcPct val="110000"/>
              </a:lnSpc>
            </a:pPr>
            <a:r>
              <a:rPr sz="850" b="0" lang="ja-JP" altLang="en-US">
                <a:solidFill>
                  <a:srgbClr val="1C1C1E"/>
                </a:solidFill>
                <a:latin typeface="+mj-ea"/>
                <a:ea typeface="+mj-ea"/>
              </a:rPr>
              <a:t>認証・ガードレール等のコンポーネントを含む統合テストを完了。9/27にITEC様よりメールでご連絡を受領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9903" y="4837176"/>
            <a:ext cx="3630168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lang="ja-JP" altLang="en-US">
                <a:solidFill>
                  <a:srgbClr val="B26B00"/>
                </a:solidFill>
                <a:latin typeface="+mj-ea"/>
                <a:ea typeface="+mj-ea"/>
              </a:rPr>
              <a:t>▶ 順次</a:t>
            </a:r>
          </a:p>
          <a:p>
            <a:pPr algn="l">
              <a:lnSpc>
                <a:spcPct val="110000"/>
              </a:lnSpc>
            </a:pPr>
            <a:r>
              <a:rPr sz="850" b="0" lang="ja-JP" altLang="en-US">
                <a:solidFill>
                  <a:srgbClr val="1C1C1E"/>
                </a:solidFill>
                <a:latin typeface="+mj-ea"/>
                <a:ea typeface="+mj-ea"/>
              </a:rPr>
              <a:t>初版への取り込み時に、ITEC様の工数見積もりを経て実施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76104" y="4837176"/>
            <a:ext cx="1682496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 lang="ja-JP" altLang="en-US">
                <a:solidFill>
                  <a:srgbClr val="1C1C1E"/>
                </a:solidFill>
                <a:latin typeface="+mj-ea"/>
                <a:ea typeface="+mj-ea"/>
              </a:rPr>
              <a:t>—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75488" y="5705856"/>
            <a:ext cx="11237975" cy="0"/>
          </a:xfrm>
          <a:prstGeom prst="line">
            <a:avLst/>
          </a:prstGeom>
          <a:ln w="6350">
            <a:solidFill>
              <a:srgbClr val="C8CACC"/>
            </a:solidFill>
          </a:ln>
        </p:spPr>
      </p:cxnSp>
      <p:sp>
        <p:nvSpPr>
          <p:cNvPr id="36" name="Rectangle 35"/>
          <p:cNvSpPr/>
          <p:nvPr/>
        </p:nvSpPr>
        <p:spPr>
          <a:xfrm>
            <a:off x="475488" y="5833872"/>
            <a:ext cx="11237976" cy="457200"/>
          </a:xfrm>
          <a:prstGeom prst="rect">
            <a:avLst/>
          </a:prstGeom>
          <a:solidFill>
            <a:srgbClr val="EEF5EA"/>
          </a:solidFill>
          <a:ln>
            <a:noFill/>
          </a:ln>
        </p:spPr>
        <p:txBody>
          <a:bodyPr rtlCol="0" anchor="ctr" wrap="square" lIns="146304" rIns="73152" tIns="36576" bIns="36576"/>
          <a:lstStyle/>
          <a:p>
            <a:pPr algn="l"/>
            <a:r>
              <a:rPr sz="900" b="1" lang="ja-JP" altLang="en-US">
                <a:solidFill>
                  <a:srgbClr val="046A38"/>
                </a:solidFill>
                <a:latin typeface="+mj-ea"/>
                <a:ea typeface="+mj-ea"/>
              </a:rPr>
              <a:t>10月以降の伴走　</a:t>
            </a:r>
            <a:r>
              <a:rPr sz="900" b="0" lang="ja-JP" altLang="en-US">
                <a:solidFill>
                  <a:srgbClr val="1C1C1E"/>
                </a:solidFill>
                <a:latin typeface="+mj-ea"/>
                <a:ea typeface="+mj-ea"/>
              </a:rPr>
              <a:t>セキュア公開の立ち上げはITEC様が主軸。デロイトは技術QA・改修・ドキュメント更新で支援します　／　</a:t>
            </a:r>
            <a:r>
              <a:rPr sz="900" b="1" lang="ja-JP" altLang="en-US">
                <a:solidFill>
                  <a:srgbClr val="046A38"/>
                </a:solidFill>
                <a:latin typeface="+mj-ea"/>
                <a:ea typeface="+mj-ea"/>
              </a:rPr>
              <a:t>BOXフォルダ：</a:t>
            </a:r>
            <a:r>
              <a:rPr sz="900" b="0" lang="ja-JP" altLang="en-US">
                <a:solidFill>
                  <a:srgbClr val="1C1C1E"/>
                </a:solidFill>
                <a:latin typeface="+mj-ea"/>
                <a:ea typeface="+mj-ea"/>
              </a:rPr>
              <a:t>（URLを記載）</a:t>
            </a:r>
          </a:p>
        </p:txBody>
      </p:sp>
    </p:spTree>
    <p:extLst>
      <p:ext uri="{BB962C8B-B14F-4D97-AF65-F5344CB8AC3E}">
        <p14:creationId xmlns:p14="http://schemas.microsoft.com/office/powerpoint/2010/main" val="1469541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52E02-6136-F336-E97C-B10F91647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cell data - do not delete" hidden="1">
            <a:extLst>
              <a:ext uri="{FF2B5EF4-FFF2-40B4-BE49-F238E27FC236}">
                <a16:creationId xmlns:a16="http://schemas.microsoft.com/office/drawing/2014/main" id="{919571D6-E627-AB46-F319-8380AB04AEFB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スライド" r:id="rId4" imgW="639" imgH="639" progId="TCLayout.ActiveDocument.1">
                  <p:embed/>
                </p:oleObj>
              </mc:Choice>
              <mc:Fallback>
                <p:oleObj name="thinkcellスライド" r:id="rId4" imgW="639" imgH="639" progId="TCLayout.ActiveDocument.1">
                  <p:embed/>
                  <p:pic>
                    <p:nvPicPr>
                      <p:cNvPr id="3" name="thinkcell data - do not delete" hidden="1">
                        <a:extLst>
                          <a:ext uri="{FF2B5EF4-FFF2-40B4-BE49-F238E27FC236}">
                            <a16:creationId xmlns:a16="http://schemas.microsoft.com/office/drawing/2014/main" id="{919571D6-E627-AB46-F319-8380AB04AEF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8569B64-2801-5CAF-2CA4-0C365696730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ext cx="11228832" cy="0"/>
          </a:xfrm>
        </p:spPr>
        <p:txBody>
          <a:bodyPr/>
          <a:lstStyle/>
          <a:p>
            <a:r>
              <a:rPr lang="ja-JP" altLang="en-US"/>
              <a:t>9/11版以降の改修台帳（詳細）</a:t>
            </a:r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29AC0418-4874-281A-CB95-967790A46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ja-JP" altLang="en-US"/>
              <a:t>Appendix｜9/11版以降の改修台帳（詳細）：15項目すべてを検証環境に反映済みです</a:t>
            </a:r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2F89B437-8F29-ECC1-7D5D-DD922EC427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80000" y="6588000"/>
            <a:ext cx="180000" cy="169200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lang="ja-JP" altLang="en-US"/>
            </a:pPr>
            <a:fld id="{AA5FCFE5-FE56-4EF1-80A8-07776887C2A1}" type="slidenum">
              <a:rPr kumimoji="0" lang="ja-JP" altLang="en-US" sz="9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Yu Gothic UI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 lang="ja-JP" altLang="en-US"/>
              </a:pPr>
              <a:t>5</a:t>
            </a:fld>
            <a:endParaRPr kumimoji="0" lang="ja-JP" alt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Yu Gothic UI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75488" y="6272784"/>
            <a:ext cx="112379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buNone/>
            </a:pPr>
            <a:r>
              <a:rPr lang="ja-JP" altLang="ja-JP" sz="900" b="0"/>
              <a:t>※区分：ご依頼＝貴社からのご依頼に基づく改修、自主改善＝デロイトからの提案による改修　／　受付：依頼資料・メール・定例でのご意見を受領した日（9/27＝計画前提の追加改修依頼②、画面キャプチャによるご依頼①〜⑭、LLM切替のご指示）　／　セキュア環境（初版）への取り込みは、ITEC様の工数見積もりを経て順次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75488" y="1517904"/>
          <a:ext cx="11237976" cy="47061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4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961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FFFFFF"/>
                          </a:solidFill>
                        </a:rPr>
                        <a:t>No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FFFFFF"/>
                      </a:solidFill>
                    </a:lnL>
                    <a:lnR w="9525" cmpd="sng">
                      <a:solidFill>
                        <a:srgbClr val="FFFFFF"/>
                      </a:solidFill>
                    </a:lnR>
                    <a:lnT w="9525" cmpd="sng">
                      <a:solidFill>
                        <a:srgbClr val="FFFFFF"/>
                      </a:solidFill>
                    </a:lnT>
                    <a:lnB w="9525" cmpd="sng">
                      <a:solidFill>
                        <a:srgbClr val="FFFFFF"/>
                      </a:solidFill>
                    </a:lnB>
                    <a:solidFill>
                      <a:srgbClr val="6366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FFFFFF"/>
                          </a:solidFill>
                        </a:rPr>
                        <a:t>アプリ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FFFFFF"/>
                      </a:solidFill>
                    </a:lnL>
                    <a:lnR w="9525" cmpd="sng">
                      <a:solidFill>
                        <a:srgbClr val="FFFFFF"/>
                      </a:solidFill>
                    </a:lnR>
                    <a:lnT w="9525" cmpd="sng">
                      <a:solidFill>
                        <a:srgbClr val="FFFFFF"/>
                      </a:solidFill>
                    </a:lnT>
                    <a:lnB w="9525" cmpd="sng">
                      <a:solidFill>
                        <a:srgbClr val="FFFFFF"/>
                      </a:solidFill>
                    </a:lnB>
                    <a:solidFill>
                      <a:srgbClr val="6366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FFFFFF"/>
                          </a:solidFill>
                        </a:rPr>
                        <a:t>機能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FFFFFF"/>
                      </a:solidFill>
                    </a:lnL>
                    <a:lnR w="9525" cmpd="sng">
                      <a:solidFill>
                        <a:srgbClr val="FFFFFF"/>
                      </a:solidFill>
                    </a:lnR>
                    <a:lnT w="9525" cmpd="sng">
                      <a:solidFill>
                        <a:srgbClr val="FFFFFF"/>
                      </a:solidFill>
                    </a:lnT>
                    <a:lnB w="9525" cmpd="sng">
                      <a:solidFill>
                        <a:srgbClr val="FFFFFF"/>
                      </a:solidFill>
                    </a:lnB>
                    <a:solidFill>
                      <a:srgbClr val="6366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FFFFFF"/>
                          </a:solidFill>
                        </a:rPr>
                        <a:t>改修内容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FFFFFF"/>
                      </a:solidFill>
                    </a:lnL>
                    <a:lnR w="9525" cmpd="sng">
                      <a:solidFill>
                        <a:srgbClr val="FFFFFF"/>
                      </a:solidFill>
                    </a:lnR>
                    <a:lnT w="9525" cmpd="sng">
                      <a:solidFill>
                        <a:srgbClr val="FFFFFF"/>
                      </a:solidFill>
                    </a:lnT>
                    <a:lnB w="9525" cmpd="sng">
                      <a:solidFill>
                        <a:srgbClr val="FFFFFF"/>
                      </a:solidFill>
                    </a:lnB>
                    <a:solidFill>
                      <a:srgbClr val="6366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FFFFFF"/>
                          </a:solidFill>
                        </a:rPr>
                        <a:t>区分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FFFFFF"/>
                      </a:solidFill>
                    </a:lnL>
                    <a:lnR w="9525" cmpd="sng">
                      <a:solidFill>
                        <a:srgbClr val="FFFFFF"/>
                      </a:solidFill>
                    </a:lnR>
                    <a:lnT w="9525" cmpd="sng">
                      <a:solidFill>
                        <a:srgbClr val="FFFFFF"/>
                      </a:solidFill>
                    </a:lnT>
                    <a:lnB w="9525" cmpd="sng">
                      <a:solidFill>
                        <a:srgbClr val="FFFFFF"/>
                      </a:solidFill>
                    </a:lnB>
                    <a:solidFill>
                      <a:srgbClr val="6366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FFFFFF"/>
                          </a:solidFill>
                        </a:rPr>
                        <a:t>受付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FFFFFF"/>
                      </a:solidFill>
                    </a:lnL>
                    <a:lnR w="9525" cmpd="sng">
                      <a:solidFill>
                        <a:srgbClr val="FFFFFF"/>
                      </a:solidFill>
                    </a:lnR>
                    <a:lnT w="9525" cmpd="sng">
                      <a:solidFill>
                        <a:srgbClr val="FFFFFF"/>
                      </a:solidFill>
                    </a:lnT>
                    <a:lnB w="9525" cmpd="sng">
                      <a:solidFill>
                        <a:srgbClr val="FFFFFF"/>
                      </a:solidFill>
                    </a:lnB>
                    <a:solidFill>
                      <a:srgbClr val="6366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50" b="1">
                          <a:solidFill>
                            <a:srgbClr val="FFFFFF"/>
                          </a:solidFill>
                        </a:rPr>
                        <a:t>検証環境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FFFFFF"/>
                      </a:solidFill>
                    </a:lnL>
                    <a:lnR w="9525" cmpd="sng">
                      <a:solidFill>
                        <a:srgbClr val="FFFFFF"/>
                      </a:solidFill>
                    </a:lnR>
                    <a:lnT w="9525" cmpd="sng">
                      <a:solidFill>
                        <a:srgbClr val="FFFFFF"/>
                      </a:solidFill>
                    </a:lnT>
                    <a:lnB w="9525" cmpd="sng">
                      <a:solidFill>
                        <a:srgbClr val="FFFFFF"/>
                      </a:solidFill>
                    </a:lnB>
                    <a:solidFill>
                      <a:srgbClr val="6366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00" b="0">
                          <a:solidFill>
                            <a:srgbClr val="1C1C1E"/>
                          </a:solidFill>
                        </a:rPr>
                        <a:t>1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tc rowSpan="7">
                  <a:txBody>
                    <a:bodyPr/>
                    <a:lstStyle/>
                    <a:p>
                      <a:pPr algn="ctr"/>
                      <a:r>
                        <a:rPr lang="ja-JP" altLang="en-US" sz="1100" b="1">
                          <a:solidFill>
                            <a:srgbClr val="1C1C1E"/>
                          </a:solidFill>
                        </a:rPr>
                        <a:t>AI経営ナビ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4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000" b="1">
                          <a:solidFill>
                            <a:srgbClr val="1C1C1E"/>
                          </a:solidFill>
                        </a:rPr>
                        <a:t>センシングボード（外部指標・巡回・監視設定・SNS分析）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900" b="0">
                          <a:solidFill>
                            <a:srgbClr val="1C1C1E"/>
                          </a:solidFill>
                        </a:rPr>
                        <a:t>取得可能な外部指標を接続し蓄積型に、競合・グループ会社・官公庁を毎日巡回、監視設定を作り直し。9/27：SNS分析に事業カテゴリの追加と除外語、比較基準の日付を表示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000" b="0">
                          <a:solidFill>
                            <a:srgbClr val="1C1C1E"/>
                          </a:solidFill>
                        </a:rPr>
                        <a:t>ご依頼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000" b="0">
                          <a:solidFill>
                            <a:srgbClr val="1C1C1E"/>
                          </a:solidFill>
                        </a:rPr>
                        <a:t>9/17</a:t>
                      </a:r>
                    </a:p>
                    <a:p>
                      <a:pPr algn="ctr"/>
                      <a:r>
                        <a:rPr lang="ja-JP" altLang="en-US" sz="1000" b="0">
                          <a:solidFill>
                            <a:srgbClr val="1C1C1E"/>
                          </a:solidFill>
                        </a:rPr>
                        <a:t>9/27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000" b="0">
                          <a:solidFill>
                            <a:schemeClr val="tx1"/>
                          </a:solidFill>
                        </a:rPr>
                        <a:t>反映済み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00" b="0">
                          <a:solidFill>
                            <a:srgbClr val="1C1C1E"/>
                          </a:solidFill>
                        </a:rPr>
                        <a:t>2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 lang="ja-JP" altLang="en-US"/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000" b="1">
                          <a:solidFill>
                            <a:srgbClr val="1C1C1E"/>
                          </a:solidFill>
                        </a:rPr>
                        <a:t>計画の前提を洗い直す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900" b="0">
                          <a:solidFill>
                            <a:srgbClr val="1C1C1E"/>
                          </a:solidFill>
                        </a:rPr>
                        <a:t>HD・BUの入力の型と8項目の出力に。9/27の追加依頼②で、用語・資料一覧・8項目の書き方（動く金額・出典）・公表資料の自動取得・印刷/PDFを作り直し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000" b="0">
                          <a:solidFill>
                            <a:srgbClr val="1C1C1E"/>
                          </a:solidFill>
                        </a:rPr>
                        <a:t>ご依頼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000" b="0">
                          <a:solidFill>
                            <a:srgbClr val="1C1C1E"/>
                          </a:solidFill>
                        </a:rPr>
                        <a:t>9/17</a:t>
                      </a:r>
                    </a:p>
                    <a:p>
                      <a:pPr algn="ctr"/>
                      <a:r>
                        <a:rPr lang="ja-JP" altLang="en-US" sz="1000" b="0">
                          <a:solidFill>
                            <a:srgbClr val="1C1C1E"/>
                          </a:solidFill>
                        </a:rPr>
                        <a:t>9/27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000" b="0">
                          <a:solidFill>
                            <a:schemeClr val="tx1"/>
                          </a:solidFill>
                        </a:rPr>
                        <a:t>反映済み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00" b="0">
                          <a:solidFill>
                            <a:srgbClr val="1C1C1E"/>
                          </a:solidFill>
                        </a:rPr>
                        <a:t>3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 lang="ja-JP" altLang="en-US"/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000" b="1">
                          <a:solidFill>
                            <a:srgbClr val="1C1C1E"/>
                          </a:solidFill>
                        </a:rPr>
                        <a:t>戦略・計画を点検する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900" b="0">
                          <a:solidFill>
                            <a:srgbClr val="1C1C1E"/>
                          </a:solidFill>
                        </a:rPr>
                        <a:t>提出前のセルフチェックに位置づけ直し。ドラフト添付だけで前年度計画・編成方針を自動提示し、6項目で出力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000" b="0">
                          <a:solidFill>
                            <a:srgbClr val="1C1C1E"/>
                          </a:solidFill>
                        </a:rPr>
                        <a:t>ご依頼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000" b="0">
                          <a:solidFill>
                            <a:srgbClr val="1C1C1E"/>
                          </a:solidFill>
                        </a:rPr>
                        <a:t>9/21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000" b="0">
                          <a:solidFill>
                            <a:schemeClr val="tx1"/>
                          </a:solidFill>
                        </a:rPr>
                        <a:t>反映済み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00" b="0">
                          <a:solidFill>
                            <a:srgbClr val="1C1C1E"/>
                          </a:solidFill>
                        </a:rPr>
                        <a:t>4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 lang="ja-JP" altLang="en-US"/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000" b="1">
                          <a:solidFill>
                            <a:srgbClr val="1C1C1E"/>
                          </a:solidFill>
                        </a:rPr>
                        <a:t>グループ横断で計画を束ねる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900" b="0">
                          <a:solidFill>
                            <a:srgbClr val="1C1C1E"/>
                          </a:solidFill>
                        </a:rPr>
                        <a:t>コア事業8つの箱に原案を投入し、事業間の食い違い・重なる取り組み・HDが引き取るテーマを抽出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000" b="0">
                          <a:solidFill>
                            <a:srgbClr val="1C1C1E"/>
                          </a:solidFill>
                        </a:rPr>
                        <a:t>ご依頼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000" b="0">
                          <a:solidFill>
                            <a:srgbClr val="1C1C1E"/>
                          </a:solidFill>
                        </a:rPr>
                        <a:t>9/22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000" b="0">
                          <a:solidFill>
                            <a:schemeClr val="tx1"/>
                          </a:solidFill>
                        </a:rPr>
                        <a:t>反映済み</a:t>
                      </a:r>
                      <a:endParaRPr lang="ja-JP" altLang="ja-JP" sz="1000" b="0">
                        <a:solidFill>
                          <a:schemeClr val="tx1"/>
                        </a:solidFill>
                      </a:endParaRP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00" b="0">
                          <a:solidFill>
                            <a:srgbClr val="1C1C1E"/>
                          </a:solidFill>
                        </a:rPr>
                        <a:t>5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 lang="ja-JP" altLang="en-US"/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000" b="1">
                          <a:solidFill>
                            <a:srgbClr val="1C1C1E"/>
                          </a:solidFill>
                        </a:rPr>
                        <a:t>計画・案件の検証（旧：計画と実態の乖離検証）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900" b="0">
                          <a:solidFill>
                            <a:srgbClr val="1C1C1E"/>
                          </a:solidFill>
                        </a:rPr>
                        <a:t>「計画」と「個別案件」の2つに分割し、付議資料から案件の台帳をAIが作成。9/27に改名し、ホームの札・遷移先を整理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000" b="0">
                          <a:solidFill>
                            <a:srgbClr val="1C1C1E"/>
                          </a:solidFill>
                        </a:rPr>
                        <a:t>ご依頼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000" b="0">
                          <a:solidFill>
                            <a:srgbClr val="1C1C1E"/>
                          </a:solidFill>
                        </a:rPr>
                        <a:t>9/24</a:t>
                      </a:r>
                    </a:p>
                    <a:p>
                      <a:pPr algn="ctr"/>
                      <a:r>
                        <a:rPr lang="ja-JP" altLang="en-US" sz="1000" b="0">
                          <a:solidFill>
                            <a:srgbClr val="1C1C1E"/>
                          </a:solidFill>
                        </a:rPr>
                        <a:t>9/27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000" b="0">
                          <a:solidFill>
                            <a:schemeClr val="tx1"/>
                          </a:solidFill>
                        </a:rPr>
                        <a:t>反映済み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00" b="0">
                          <a:solidFill>
                            <a:srgbClr val="1C1C1E"/>
                          </a:solidFill>
                        </a:rPr>
                        <a:t>6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 lang="ja-JP" altLang="en-US"/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000" b="1">
                          <a:solidFill>
                            <a:srgbClr val="1C1C1E"/>
                          </a:solidFill>
                        </a:rPr>
                        <a:t>深掘り・保存した結果（計画支援共通）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900" b="0">
                          <a:solidFill>
                            <a:srgbClr val="1C1C1E"/>
                          </a:solidFill>
                        </a:rPr>
                        <a:t>画面右下に常に追従する深掘りボタン。深掘りの問答を保存した結果に紐づけて保持。9/27：保存一覧を機能で絞り込み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000" b="0">
                          <a:solidFill>
                            <a:srgbClr val="1C1C1E"/>
                          </a:solidFill>
                        </a:rPr>
                        <a:t>ご依頼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000" b="0">
                          <a:solidFill>
                            <a:srgbClr val="1C1C1E"/>
                          </a:solidFill>
                        </a:rPr>
                        <a:t>9/16</a:t>
                      </a:r>
                    </a:p>
                    <a:p>
                      <a:pPr algn="ctr"/>
                      <a:r>
                        <a:rPr lang="ja-JP" altLang="en-US" sz="1000" b="0">
                          <a:solidFill>
                            <a:srgbClr val="1C1C1E"/>
                          </a:solidFill>
                        </a:rPr>
                        <a:t>9/27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000" b="0">
                          <a:solidFill>
                            <a:schemeClr val="tx1"/>
                          </a:solidFill>
                        </a:rPr>
                        <a:t>反映済み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00" b="0">
                          <a:solidFill>
                            <a:srgbClr val="1C1C1E"/>
                          </a:solidFill>
                        </a:rPr>
                        <a:t>7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 lang="ja-JP" altLang="en-US"/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000" b="1">
                          <a:solidFill>
                            <a:srgbClr val="1C1C1E"/>
                          </a:solidFill>
                        </a:rPr>
                        <a:t>AI壁打ち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900" b="0">
                          <a:solidFill>
                            <a:srgbClr val="1C1C1E"/>
                          </a:solidFill>
                        </a:rPr>
                        <a:t>指定サイト約220を読み出典つきで回答、PDF・Word・Excel・PowerPointを作成。9/27：簡易モードのスイッチ、回答を横幅いっぱいに、読み返し中は自動スクロールを止める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900" b="0">
                          <a:solidFill>
                            <a:srgbClr val="0D8390"/>
                          </a:solidFill>
                        </a:rPr>
                        <a:t>自主改善</a:t>
                      </a:r>
                    </a:p>
                    <a:p>
                      <a:pPr algn="ctr"/>
                      <a:r>
                        <a:rPr lang="ja-JP" altLang="en-US" sz="900" b="0">
                          <a:solidFill>
                            <a:srgbClr val="1C1C1E"/>
                          </a:solidFill>
                        </a:rPr>
                        <a:t>＋ご依頼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000" b="0">
                          <a:solidFill>
                            <a:srgbClr val="1C1C1E"/>
                          </a:solidFill>
                        </a:rPr>
                        <a:t>—</a:t>
                      </a:r>
                    </a:p>
                    <a:p>
                      <a:pPr algn="ctr"/>
                      <a:r>
                        <a:rPr lang="ja-JP" altLang="en-US" sz="1000" b="0">
                          <a:solidFill>
                            <a:srgbClr val="1C1C1E"/>
                          </a:solidFill>
                        </a:rPr>
                        <a:t>9/27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000" b="0">
                          <a:solidFill>
                            <a:schemeClr val="tx1"/>
                          </a:solidFill>
                        </a:rPr>
                        <a:t>反映済み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00" b="0">
                          <a:solidFill>
                            <a:srgbClr val="1C1C1E"/>
                          </a:solidFill>
                        </a:rPr>
                        <a:t>8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/>
                      <a:r>
                        <a:rPr lang="ja-JP" altLang="en-US" sz="1100" b="1">
                          <a:solidFill>
                            <a:srgbClr val="1C1C1E"/>
                          </a:solidFill>
                        </a:rPr>
                        <a:t>総会QA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4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000" b="1">
                          <a:solidFill>
                            <a:srgbClr val="1C1C1E"/>
                          </a:solidFill>
                        </a:rPr>
                        <a:t>所属階層と閲覧範囲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900" b="0">
                          <a:solidFill>
                            <a:srgbClr val="1C1C1E"/>
                          </a:solidFill>
                        </a:rPr>
                        <a:t>権限設計一覧どおりのコア→会社→事業部の階層で、閲覧・編集・承認の範囲を制御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000" b="0">
                          <a:solidFill>
                            <a:srgbClr val="1C1C1E"/>
                          </a:solidFill>
                        </a:rPr>
                        <a:t>ご依頼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000" b="0">
                          <a:solidFill>
                            <a:srgbClr val="1C1C1E"/>
                          </a:solidFill>
                        </a:rPr>
                        <a:t>9/16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000" b="0">
                          <a:solidFill>
                            <a:schemeClr val="tx1"/>
                          </a:solidFill>
                        </a:rPr>
                        <a:t>反映済み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00" b="0">
                          <a:solidFill>
                            <a:srgbClr val="1C1C1E"/>
                          </a:solidFill>
                        </a:rPr>
                        <a:t>9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 lang="ja-JP" altLang="en-US"/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000" b="1">
                          <a:solidFill>
                            <a:srgbClr val="1C1C1E"/>
                          </a:solidFill>
                        </a:rPr>
                        <a:t>当日回答作成（新設）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900" b="0">
                          <a:solidFill>
                            <a:srgbClr val="1C1C1E"/>
                          </a:solidFill>
                        </a:rPr>
                        <a:t>開催年度の想定問答だけを参照し、壇上でそのまま読める原稿を約4秒で作成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000" b="0">
                          <a:solidFill>
                            <a:srgbClr val="1C1C1E"/>
                          </a:solidFill>
                        </a:rPr>
                        <a:t>ご依頼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000" b="0">
                          <a:solidFill>
                            <a:srgbClr val="1C1C1E"/>
                          </a:solidFill>
                        </a:rPr>
                        <a:t>9/18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000" b="0">
                          <a:solidFill>
                            <a:schemeClr val="tx1"/>
                          </a:solidFill>
                        </a:rPr>
                        <a:t>反映済み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00" b="0">
                          <a:solidFill>
                            <a:srgbClr val="1C1C1E"/>
                          </a:solidFill>
                        </a:rPr>
                        <a:t>10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 lang="ja-JP" altLang="en-US"/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000" b="1">
                          <a:solidFill>
                            <a:srgbClr val="1C1C1E"/>
                          </a:solidFill>
                        </a:rPr>
                        <a:t>質問作成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900" b="0">
                          <a:solidFill>
                            <a:srgbClr val="1C1C1E"/>
                          </a:solidFill>
                        </a:rPr>
                        <a:t>事業部での絞り込み、前年と今年の質問・回答を左右に並べた差分表示、質問ごとの備忘メモ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000" b="0">
                          <a:solidFill>
                            <a:srgbClr val="1C1C1E"/>
                          </a:solidFill>
                        </a:rPr>
                        <a:t>ご依頼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000" b="0">
                          <a:solidFill>
                            <a:srgbClr val="1C1C1E"/>
                          </a:solidFill>
                        </a:rPr>
                        <a:t>9/18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000" b="0">
                          <a:solidFill>
                            <a:schemeClr val="tx1"/>
                          </a:solidFill>
                        </a:rPr>
                        <a:t>反映済み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00" b="0">
                          <a:solidFill>
                            <a:srgbClr val="1C1C1E"/>
                          </a:solidFill>
                        </a:rPr>
                        <a:t>11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 lang="ja-JP" altLang="en-US"/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000" b="1">
                          <a:solidFill>
                            <a:srgbClr val="1C1C1E"/>
                          </a:solidFill>
                        </a:rPr>
                        <a:t>回答作成・Word出力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900" b="0">
                          <a:solidFill>
                            <a:srgbClr val="1C1C1E"/>
                          </a:solidFill>
                        </a:rPr>
                        <a:t>AI回答案に根拠を明記。編集中・確定の表示、回答の文字色・大きさの保持、Wordの体裁を調整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000" b="0">
                          <a:solidFill>
                            <a:srgbClr val="1C1C1E"/>
                          </a:solidFill>
                        </a:rPr>
                        <a:t>ご依頼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000" b="0">
                          <a:solidFill>
                            <a:srgbClr val="1C1C1E"/>
                          </a:solidFill>
                        </a:rPr>
                        <a:t>9/18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000" b="0">
                          <a:solidFill>
                            <a:schemeClr val="tx1"/>
                          </a:solidFill>
                        </a:rPr>
                        <a:t>反映済み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00" b="0">
                          <a:solidFill>
                            <a:srgbClr val="1C1C1E"/>
                          </a:solidFill>
                        </a:rPr>
                        <a:t>12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 lang="ja-JP" altLang="en-US"/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000" b="1">
                          <a:solidFill>
                            <a:srgbClr val="1C1C1E"/>
                          </a:solidFill>
                        </a:rPr>
                        <a:t>AI壁打ち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900" b="0">
                          <a:solidFill>
                            <a:srgbClr val="1C1C1E"/>
                          </a:solidFill>
                        </a:rPr>
                        <a:t>他社・グループ会社・官公庁の発表まで読み、提出済みQA以外にどんな質疑が来るかを壁打ち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000" b="0">
                          <a:solidFill>
                            <a:srgbClr val="0D8390"/>
                          </a:solidFill>
                        </a:rPr>
                        <a:t>自主改善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000" b="0">
                          <a:solidFill>
                            <a:srgbClr val="1C1C1E"/>
                          </a:solidFill>
                        </a:rPr>
                        <a:t>—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000" b="0">
                          <a:solidFill>
                            <a:schemeClr val="tx1"/>
                          </a:solidFill>
                        </a:rPr>
                        <a:t>反映済み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00" b="0">
                          <a:solidFill>
                            <a:srgbClr val="1C1C1E"/>
                          </a:solidFill>
                        </a:rPr>
                        <a:t>13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ja-JP" altLang="en-US" sz="1100" b="1">
                          <a:solidFill>
                            <a:srgbClr val="1C1C1E"/>
                          </a:solidFill>
                        </a:rPr>
                        <a:t>共通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4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000" b="1">
                          <a:solidFill>
                            <a:srgbClr val="1C1C1E"/>
                          </a:solidFill>
                        </a:rPr>
                        <a:t>機密データ受け渡し箱（新設）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900" b="0">
                          <a:solidFill>
                            <a:srgbClr val="1C1C1E"/>
                          </a:solidFill>
                        </a:rPr>
                        <a:t>経営ナビ用・総会QA用の2つの箱。管理者のみ利用、全操作を記録、AIとは非連動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000" b="0">
                          <a:solidFill>
                            <a:srgbClr val="1C1C1E"/>
                          </a:solidFill>
                        </a:rPr>
                        <a:t>ご依頼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000" b="0">
                          <a:solidFill>
                            <a:srgbClr val="1C1C1E"/>
                          </a:solidFill>
                        </a:rPr>
                        <a:t>9/22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000" b="0">
                          <a:solidFill>
                            <a:schemeClr val="tx1"/>
                          </a:solidFill>
                        </a:rPr>
                        <a:t>反映済み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00" b="0">
                          <a:solidFill>
                            <a:srgbClr val="1C1C1E"/>
                          </a:solidFill>
                        </a:rPr>
                        <a:t>14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 lang="ja-JP" altLang="en-US"/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000" b="1">
                          <a:solidFill>
                            <a:srgbClr val="1C1C1E"/>
                          </a:solidFill>
                        </a:rPr>
                        <a:t>権限の総点検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900" b="0">
                          <a:solidFill>
                            <a:srgbClr val="1C1C1E"/>
                          </a:solidFill>
                        </a:rPr>
                        <a:t>BUコアの閲覧範囲を所属事業に統一（計画系・個別案件・センシングボード）。総会QAに管理者の立場「全体（管理者）」を追加し、システム管理者の全権限を点検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000" b="0">
                          <a:solidFill>
                            <a:srgbClr val="1C1C1E"/>
                          </a:solidFill>
                        </a:rPr>
                        <a:t>ご依頼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000" b="0">
                          <a:solidFill>
                            <a:srgbClr val="1C1C1E"/>
                          </a:solidFill>
                        </a:rPr>
                        <a:t>9/27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000" b="0">
                          <a:solidFill>
                            <a:schemeClr val="tx1"/>
                          </a:solidFill>
                        </a:rPr>
                        <a:t>反映済み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800" b="0">
                          <a:solidFill>
                            <a:srgbClr val="1C1C1E"/>
                          </a:solidFill>
                        </a:rPr>
                        <a:t>15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 lang="ja-JP" altLang="en-US"/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000" b="1">
                          <a:solidFill>
                            <a:srgbClr val="1C1C1E"/>
                          </a:solidFill>
                        </a:rPr>
                        <a:t>LLMの切り替え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900" b="0">
                          <a:solidFill>
                            <a:srgbClr val="1C1C1E"/>
                          </a:solidFill>
                        </a:rPr>
                        <a:t>東京リージョンで使える最上位のClaude Opus 5.5へ（国内の推論プロファイル。国外で処理され得るIDは停止）。機能ごとに思考量と待ち時間を調整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000" b="0">
                          <a:solidFill>
                            <a:srgbClr val="1C1C1E"/>
                          </a:solidFill>
                        </a:rPr>
                        <a:t>ご依頼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000" b="0">
                          <a:solidFill>
                            <a:srgbClr val="1C1C1E"/>
                          </a:solidFill>
                        </a:rPr>
                        <a:t>9/27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000" b="0">
                          <a:solidFill>
                            <a:schemeClr val="tx1"/>
                          </a:solidFill>
                        </a:rPr>
                        <a:t>反映済み</a:t>
                      </a:r>
                    </a:p>
                  </a:txBody>
                  <a:tcPr marL="64008" marR="64008" marT="18288" marB="18288" anchor="ctr">
                    <a:lnL w="9525" cmpd="sng">
                      <a:solidFill>
                        <a:srgbClr val="C8CACC"/>
                      </a:solidFill>
                    </a:lnL>
                    <a:lnR w="9525" cmpd="sng">
                      <a:solidFill>
                        <a:srgbClr val="C8CACC"/>
                      </a:solidFill>
                    </a:lnR>
                    <a:lnT w="9525" cmpd="sng">
                      <a:solidFill>
                        <a:srgbClr val="C8CACC"/>
                      </a:solidFill>
                    </a:lnT>
                    <a:lnB w="9525" cmpd="sng">
                      <a:solidFill>
                        <a:srgbClr val="C8CAC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253325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>
          <a:xfrm>
            <a:ext cx="11228832" cy="0"/>
          </a:xfrm>
        </p:spPr>
        <p:txBody>
          <a:bodyPr/>
          <a:lstStyle/>
          <a:p>
            <a:r>
              <a:rPr lang="ja-JP" altLang="en-US"/>
              <a:t>ご要望の粒度と、改修台帳への集約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9/11版以降にいただいた120点以上のご要望を15項目の改修に集約し、すべて検証環境に反映しました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1572768"/>
            <a:ext cx="3566160" cy="4480560"/>
          </a:xfrm>
          <a:prstGeom prst="rect">
            <a:avLst/>
          </a:prstGeom>
          <a:solidFill>
            <a:srgbClr val="F4F5F5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0080" y="1700784"/>
            <a:ext cx="32369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lang="ja-JP" altLang="en-US">
                <a:solidFill>
                  <a:srgbClr val="046A38"/>
                </a:solidFill>
                <a:latin typeface="+mj-ea"/>
                <a:ea typeface="+mj-ea"/>
              </a:rPr>
              <a:t>いただいたご要望（例）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56816"/>
            <a:ext cx="3236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lang="ja-JP" altLang="en-US">
                <a:solidFill>
                  <a:srgbClr val="63666A"/>
                </a:solidFill>
                <a:latin typeface="+mj-ea"/>
                <a:ea typeface="+mj-ea"/>
              </a:rPr>
              <a:t>メール・定例・打鍵会で、日次でいただいた言葉から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31136"/>
            <a:ext cx="3236976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C8CACC"/>
            </a:solidFill>
          </a:ln>
        </p:spPr>
        <p:txBody>
          <a:bodyPr rtlCol="0" anchor="ctr" wrap="square" rIns="54864" tIns="18288" bIns="18288"/>
          <a:lstStyle/>
          <a:p>
            <a:pPr algn="l"/>
            <a:r>
              <a:rPr sz="850" b="0" lang="ja-JP" altLang="en-US">
                <a:solidFill>
                  <a:srgbClr val="1C1C1E"/>
                </a:solidFill>
                <a:latin typeface="+mj-ea"/>
                <a:ea typeface="+mj-ea"/>
              </a:rPr>
              <a:t>「AIの回答を横いっぱいに」</a:t>
            </a:r>
            <a:r>
              <a:rPr sz="700" b="0" lang="ja-JP" altLang="en-US">
                <a:solidFill>
                  <a:srgbClr val="8C8F93"/>
                </a:solidFill>
                <a:latin typeface="+mj-ea"/>
                <a:ea typeface="+mj-ea"/>
              </a:rPr>
              <a:t>　9/27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24328"/>
            <a:ext cx="3236976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C8CACC"/>
            </a:solidFill>
          </a:ln>
        </p:spPr>
        <p:txBody>
          <a:bodyPr rtlCol="0" anchor="ctr" wrap="square" rIns="54864" tIns="18288" bIns="18288"/>
          <a:lstStyle/>
          <a:p>
            <a:pPr algn="l"/>
            <a:r>
              <a:rPr sz="850" b="0" lang="ja-JP" altLang="en-US">
                <a:solidFill>
                  <a:srgbClr val="1C1C1E"/>
                </a:solidFill>
                <a:latin typeface="+mj-ea"/>
                <a:ea typeface="+mj-ea"/>
              </a:rPr>
              <a:t>「除外したい語を入れたい（久慈第一ホテル など）」</a:t>
            </a:r>
            <a:r>
              <a:rPr sz="700" b="0" lang="ja-JP" altLang="en-US">
                <a:solidFill>
                  <a:srgbClr val="8C8F93"/>
                </a:solidFill>
                <a:latin typeface="+mj-ea"/>
                <a:ea typeface="+mj-ea"/>
              </a:rPr>
              <a:t>　9/27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017520"/>
            <a:ext cx="3236976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C8CACC"/>
            </a:solidFill>
          </a:ln>
        </p:spPr>
        <p:txBody>
          <a:bodyPr rtlCol="0" anchor="ctr" wrap="square" rIns="54864" tIns="18288" bIns="18288"/>
          <a:lstStyle/>
          <a:p>
            <a:pPr algn="l"/>
            <a:r>
              <a:rPr sz="850" b="0" lang="ja-JP" altLang="en-US">
                <a:solidFill>
                  <a:srgbClr val="1C1C1E"/>
                </a:solidFill>
                <a:latin typeface="+mj-ea"/>
                <a:ea typeface="+mj-ea"/>
              </a:rPr>
              <a:t>「事業の札の文字を真ん中に」</a:t>
            </a:r>
            <a:r>
              <a:rPr sz="700" b="0" lang="ja-JP" altLang="en-US">
                <a:solidFill>
                  <a:srgbClr val="8C8F93"/>
                </a:solidFill>
                <a:latin typeface="+mj-ea"/>
                <a:ea typeface="+mj-ea"/>
              </a:rPr>
              <a:t>　9/27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410712"/>
            <a:ext cx="3236976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C8CACC"/>
            </a:solidFill>
          </a:ln>
        </p:spPr>
        <p:txBody>
          <a:bodyPr rtlCol="0" anchor="ctr" wrap="square" rIns="54864" tIns="18288" bIns="18288"/>
          <a:lstStyle/>
          <a:p>
            <a:pPr algn="l"/>
            <a:r>
              <a:rPr sz="850" b="0" lang="ja-JP" altLang="en-US">
                <a:solidFill>
                  <a:srgbClr val="1C1C1E"/>
                </a:solidFill>
                <a:latin typeface="+mj-ea"/>
                <a:ea typeface="+mj-ea"/>
              </a:rPr>
              <a:t>「いつ時点と比べているか分かるように」</a:t>
            </a:r>
            <a:r>
              <a:rPr sz="700" b="0" lang="ja-JP" altLang="en-US">
                <a:solidFill>
                  <a:srgbClr val="8C8F93"/>
                </a:solidFill>
                <a:latin typeface="+mj-ea"/>
                <a:ea typeface="+mj-ea"/>
              </a:rPr>
              <a:t>　9/27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803904"/>
            <a:ext cx="3236976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C8CACC"/>
            </a:solidFill>
          </a:ln>
        </p:spPr>
        <p:txBody>
          <a:bodyPr rtlCol="0" anchor="ctr" wrap="square" rIns="54864" tIns="18288" bIns="18288"/>
          <a:lstStyle/>
          <a:p>
            <a:pPr algn="l"/>
            <a:r>
              <a:rPr sz="850" b="0" lang="ja-JP" altLang="en-US">
                <a:solidFill>
                  <a:srgbClr val="1C1C1E"/>
                </a:solidFill>
                <a:latin typeface="+mj-ea"/>
                <a:ea typeface="+mj-ea"/>
              </a:rPr>
              <a:t>「深掘りボタンが結果の最下部にしかない」</a:t>
            </a:r>
            <a:r>
              <a:rPr sz="700" b="0" lang="ja-JP" altLang="en-US">
                <a:solidFill>
                  <a:srgbClr val="8C8F93"/>
                </a:solidFill>
                <a:latin typeface="+mj-ea"/>
                <a:ea typeface="+mj-ea"/>
              </a:rPr>
              <a:t>　9/16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197096"/>
            <a:ext cx="3236976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C8CACC"/>
            </a:solidFill>
          </a:ln>
        </p:spPr>
        <p:txBody>
          <a:bodyPr rtlCol="0" anchor="ctr" wrap="square" rIns="54864" tIns="18288" bIns="18288"/>
          <a:lstStyle/>
          <a:p>
            <a:pPr algn="l"/>
            <a:r>
              <a:rPr sz="850" b="0" lang="ja-JP" altLang="en-US">
                <a:solidFill>
                  <a:srgbClr val="1C1C1E"/>
                </a:solidFill>
                <a:latin typeface="+mj-ea"/>
                <a:ea typeface="+mj-ea"/>
              </a:rPr>
              <a:t>「Wordの表題が大きい」</a:t>
            </a:r>
            <a:r>
              <a:rPr sz="700" b="0" lang="ja-JP" altLang="en-US">
                <a:solidFill>
                  <a:srgbClr val="8C8F93"/>
                </a:solidFill>
                <a:latin typeface="+mj-ea"/>
                <a:ea typeface="+mj-ea"/>
              </a:rPr>
              <a:t>　9/18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590288"/>
            <a:ext cx="3236976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C8CACC"/>
            </a:solidFill>
          </a:ln>
        </p:spPr>
        <p:txBody>
          <a:bodyPr rtlCol="0" anchor="ctr" wrap="square" rIns="54864" tIns="18288" bIns="18288"/>
          <a:lstStyle/>
          <a:p>
            <a:pPr algn="l"/>
            <a:r>
              <a:rPr sz="850" b="0" lang="ja-JP" altLang="en-US">
                <a:solidFill>
                  <a:srgbClr val="1C1C1E"/>
                </a:solidFill>
                <a:latin typeface="+mj-ea"/>
                <a:ea typeface="+mj-ea"/>
              </a:rPr>
              <a:t>「【微修正】の変更点が分からない」</a:t>
            </a:r>
            <a:r>
              <a:rPr sz="700" b="0" lang="ja-JP" altLang="en-US">
                <a:solidFill>
                  <a:srgbClr val="8C8F93"/>
                </a:solidFill>
                <a:latin typeface="+mj-ea"/>
                <a:ea typeface="+mj-ea"/>
              </a:rPr>
              <a:t>　9/18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983479"/>
            <a:ext cx="3236976" cy="338328"/>
          </a:xfrm>
          <a:prstGeom prst="rect">
            <a:avLst/>
          </a:prstGeom>
          <a:solidFill>
            <a:srgbClr val="FFFFFF"/>
          </a:solidFill>
          <a:ln w="9525">
            <a:solidFill>
              <a:srgbClr val="C8CACC"/>
            </a:solidFill>
          </a:ln>
        </p:spPr>
        <p:txBody>
          <a:bodyPr rtlCol="0" anchor="ctr" wrap="square" rIns="54864" tIns="18288" bIns="18288"/>
          <a:lstStyle/>
          <a:p>
            <a:pPr algn="l"/>
            <a:r>
              <a:rPr sz="850" b="0" lang="ja-JP" altLang="en-US">
                <a:solidFill>
                  <a:srgbClr val="1C1C1E"/>
                </a:solidFill>
                <a:latin typeface="+mj-ea"/>
                <a:ea typeface="+mj-ea"/>
              </a:rPr>
              <a:t>「AI回答案の根拠が分からない」</a:t>
            </a:r>
            <a:r>
              <a:rPr sz="700" b="0" lang="ja-JP" altLang="en-US">
                <a:solidFill>
                  <a:srgbClr val="8C8F93"/>
                </a:solidFill>
                <a:latin typeface="+mj-ea"/>
                <a:ea typeface="+mj-ea"/>
              </a:rPr>
              <a:t>　9/18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431535"/>
            <a:ext cx="323697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lang="ja-JP" altLang="en-US">
                <a:solidFill>
                  <a:srgbClr val="1C1C1E"/>
                </a:solidFill>
                <a:latin typeface="+mj-ea"/>
                <a:ea typeface="+mj-ea"/>
              </a:rPr>
              <a:t>…など </a:t>
            </a:r>
            <a:r>
              <a:rPr sz="2600" b="1" lang="ja-JP" altLang="en-US">
                <a:solidFill>
                  <a:srgbClr val="046A38"/>
                </a:solidFill>
                <a:latin typeface="+mj-ea"/>
                <a:ea typeface="+mj-ea"/>
              </a:rPr>
              <a:t>120</a:t>
            </a:r>
            <a:r>
              <a:rPr sz="1000" b="1" lang="ja-JP" altLang="en-US">
                <a:solidFill>
                  <a:srgbClr val="046A38"/>
                </a:solidFill>
                <a:latin typeface="+mj-ea"/>
                <a:ea typeface="+mj-ea"/>
              </a:rPr>
              <a:t>点以上</a:t>
            </a:r>
          </a:p>
          <a:p>
            <a:pPr algn="l">
              <a:lnSpc>
                <a:spcPct val="110000"/>
              </a:lnSpc>
            </a:pPr>
            <a:r>
              <a:rPr sz="800" b="0" lang="ja-JP" altLang="en-US">
                <a:solidFill>
                  <a:srgbClr val="63666A"/>
                </a:solidFill>
                <a:latin typeface="+mj-ea"/>
                <a:ea typeface="+mj-ea"/>
              </a:rPr>
              <a:t>見た目の微修正まで含めて受け付け、改修に盛り込みました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114800" y="3611880"/>
            <a:ext cx="310896" cy="384048"/>
          </a:xfrm>
          <a:prstGeom prst="rightArrow">
            <a:avLst/>
          </a:prstGeom>
          <a:solidFill>
            <a:srgbClr val="26890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98848" y="1572768"/>
            <a:ext cx="72146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lang="ja-JP" altLang="en-US">
                <a:solidFill>
                  <a:srgbClr val="046A38"/>
                </a:solidFill>
                <a:latin typeface="+mj-ea"/>
                <a:ea typeface="+mj-ea"/>
              </a:rPr>
              <a:t>改修台帳 15項目</a:t>
            </a:r>
            <a:r>
              <a:rPr sz="850" b="0" lang="ja-JP" altLang="en-US">
                <a:solidFill>
                  <a:srgbClr val="63666A"/>
                </a:solidFill>
                <a:latin typeface="+mj-ea"/>
                <a:ea typeface="+mj-ea"/>
              </a:rPr>
              <a:t>　機能単位に集約（詳細は次ページ）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98848" y="1938528"/>
            <a:ext cx="2313432" cy="3749039"/>
          </a:xfrm>
          <a:prstGeom prst="rect">
            <a:avLst/>
          </a:prstGeom>
          <a:solidFill>
            <a:srgbClr val="FFFFFF"/>
          </a:solidFill>
          <a:ln w="9525">
            <a:solidFill>
              <a:srgbClr val="C8CACC"/>
            </a:solidFill>
          </a:ln>
        </p:spPr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4498848" y="1938528"/>
            <a:ext cx="2313432" cy="457200"/>
          </a:xfrm>
          <a:prstGeom prst="rect">
            <a:avLst/>
          </a:prstGeom>
          <a:solidFill>
            <a:srgbClr val="046A38"/>
          </a:solidFill>
          <a:ln>
            <a:noFill/>
          </a:ln>
        </p:spPr>
        <p:txBody>
          <a:bodyPr rtlCol="0" anchor="ctr" wrap="square" lIns="128016" rIns="73152" tIns="36576" bIns="36576"/>
          <a:lstStyle/>
          <a:p>
            <a:pPr algn="l"/>
            <a:r>
              <a:rPr sz="1050" b="1" lang="ja-JP" altLang="en-US">
                <a:solidFill>
                  <a:srgbClr val="FFFFFF"/>
                </a:solidFill>
                <a:latin typeface="+mj-ea"/>
                <a:ea typeface="+mj-ea"/>
              </a:rPr>
              <a:t>AI経営ナビ</a:t>
            </a:r>
            <a:r>
              <a:rPr sz="850" b="0" lang="ja-JP" altLang="en-US">
                <a:solidFill>
                  <a:srgbClr val="FFFFFF"/>
                </a:solidFill>
                <a:latin typeface="+mj-ea"/>
                <a:ea typeface="+mj-ea"/>
              </a:rPr>
              <a:t>　7項目</a:t>
            </a:r>
          </a:p>
        </p:txBody>
      </p:sp>
      <p:sp>
        <p:nvSpPr>
          <p:cNvPr id="20" name="Oval 19"/>
          <p:cNvSpPr/>
          <p:nvPr/>
        </p:nvSpPr>
        <p:spPr>
          <a:xfrm>
            <a:off x="4626864" y="2569464"/>
            <a:ext cx="109728" cy="109728"/>
          </a:xfrm>
          <a:prstGeom prst="ellipse">
            <a:avLst/>
          </a:prstGeom>
          <a:solidFill>
            <a:srgbClr val="26890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809744" y="2505456"/>
            <a:ext cx="191109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lang="ja-JP" altLang="en-US">
                <a:solidFill>
                  <a:srgbClr val="1C1C1E"/>
                </a:solidFill>
                <a:latin typeface="+mj-ea"/>
                <a:ea typeface="+mj-ea"/>
              </a:rPr>
              <a:t>センシングボード：外部指標・巡回・SNS分析</a:t>
            </a:r>
          </a:p>
          <a:p>
            <a:pPr algn="l"/>
            <a:r>
              <a:rPr sz="700" b="0" lang="ja-JP" altLang="en-US">
                <a:solidFill>
                  <a:srgbClr val="8C8F93"/>
                </a:solidFill>
                <a:latin typeface="+mj-ea"/>
                <a:ea typeface="+mj-ea"/>
              </a:rPr>
              <a:t>9/17・9/27</a:t>
            </a:r>
          </a:p>
        </p:txBody>
      </p:sp>
      <p:sp>
        <p:nvSpPr>
          <p:cNvPr id="22" name="Oval 21"/>
          <p:cNvSpPr/>
          <p:nvPr/>
        </p:nvSpPr>
        <p:spPr>
          <a:xfrm>
            <a:off x="4626864" y="3017520"/>
            <a:ext cx="109728" cy="109728"/>
          </a:xfrm>
          <a:prstGeom prst="ellipse">
            <a:avLst/>
          </a:prstGeom>
          <a:solidFill>
            <a:srgbClr val="26890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809744" y="2953512"/>
            <a:ext cx="191109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lang="ja-JP" altLang="en-US">
                <a:solidFill>
                  <a:srgbClr val="1C1C1E"/>
                </a:solidFill>
                <a:latin typeface="+mj-ea"/>
                <a:ea typeface="+mj-ea"/>
              </a:rPr>
              <a:t>計画の前提を洗い直す</a:t>
            </a:r>
          </a:p>
          <a:p>
            <a:pPr algn="l"/>
            <a:r>
              <a:rPr sz="700" b="0" lang="ja-JP" altLang="en-US">
                <a:solidFill>
                  <a:srgbClr val="8C8F93"/>
                </a:solidFill>
                <a:latin typeface="+mj-ea"/>
                <a:ea typeface="+mj-ea"/>
              </a:rPr>
              <a:t>9/17・9/27</a:t>
            </a:r>
          </a:p>
        </p:txBody>
      </p:sp>
      <p:sp>
        <p:nvSpPr>
          <p:cNvPr id="24" name="Oval 23"/>
          <p:cNvSpPr/>
          <p:nvPr/>
        </p:nvSpPr>
        <p:spPr>
          <a:xfrm>
            <a:off x="4626864" y="3465576"/>
            <a:ext cx="109728" cy="109728"/>
          </a:xfrm>
          <a:prstGeom prst="ellipse">
            <a:avLst/>
          </a:prstGeom>
          <a:solidFill>
            <a:srgbClr val="26890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809744" y="3401568"/>
            <a:ext cx="191109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lang="ja-JP" altLang="en-US">
                <a:solidFill>
                  <a:srgbClr val="1C1C1E"/>
                </a:solidFill>
                <a:latin typeface="+mj-ea"/>
                <a:ea typeface="+mj-ea"/>
              </a:rPr>
              <a:t>戦略・計画を点検する</a:t>
            </a:r>
          </a:p>
          <a:p>
            <a:pPr algn="l"/>
            <a:r>
              <a:rPr sz="700" b="0" lang="ja-JP" altLang="en-US">
                <a:solidFill>
                  <a:srgbClr val="8C8F93"/>
                </a:solidFill>
                <a:latin typeface="+mj-ea"/>
                <a:ea typeface="+mj-ea"/>
              </a:rPr>
              <a:t>9/21</a:t>
            </a:r>
          </a:p>
        </p:txBody>
      </p:sp>
      <p:sp>
        <p:nvSpPr>
          <p:cNvPr id="26" name="Oval 25"/>
          <p:cNvSpPr/>
          <p:nvPr/>
        </p:nvSpPr>
        <p:spPr>
          <a:xfrm>
            <a:off x="4626864" y="3913632"/>
            <a:ext cx="109728" cy="109728"/>
          </a:xfrm>
          <a:prstGeom prst="ellipse">
            <a:avLst/>
          </a:prstGeom>
          <a:solidFill>
            <a:srgbClr val="26890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809744" y="3849624"/>
            <a:ext cx="191109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lang="ja-JP" altLang="en-US">
                <a:solidFill>
                  <a:srgbClr val="1C1C1E"/>
                </a:solidFill>
                <a:latin typeface="+mj-ea"/>
                <a:ea typeface="+mj-ea"/>
              </a:rPr>
              <a:t>グループ横断で計画を束ねる</a:t>
            </a:r>
          </a:p>
          <a:p>
            <a:pPr algn="l"/>
            <a:r>
              <a:rPr sz="700" b="0" lang="ja-JP" altLang="en-US">
                <a:solidFill>
                  <a:srgbClr val="8C8F93"/>
                </a:solidFill>
                <a:latin typeface="+mj-ea"/>
                <a:ea typeface="+mj-ea"/>
              </a:rPr>
              <a:t>9/22</a:t>
            </a:r>
          </a:p>
        </p:txBody>
      </p:sp>
      <p:sp>
        <p:nvSpPr>
          <p:cNvPr id="28" name="Oval 27"/>
          <p:cNvSpPr/>
          <p:nvPr/>
        </p:nvSpPr>
        <p:spPr>
          <a:xfrm>
            <a:off x="4626864" y="4361688"/>
            <a:ext cx="109728" cy="109728"/>
          </a:xfrm>
          <a:prstGeom prst="ellipse">
            <a:avLst/>
          </a:prstGeom>
          <a:solidFill>
            <a:srgbClr val="26890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809744" y="4297680"/>
            <a:ext cx="191109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lang="ja-JP" altLang="en-US">
                <a:solidFill>
                  <a:srgbClr val="1C1C1E"/>
                </a:solidFill>
                <a:latin typeface="+mj-ea"/>
                <a:ea typeface="+mj-ea"/>
              </a:rPr>
              <a:t>計画・案件の検証（旧：乖離検証）</a:t>
            </a:r>
          </a:p>
          <a:p>
            <a:pPr algn="l"/>
            <a:r>
              <a:rPr sz="700" b="0" lang="ja-JP" altLang="en-US">
                <a:solidFill>
                  <a:srgbClr val="8C8F93"/>
                </a:solidFill>
                <a:latin typeface="+mj-ea"/>
                <a:ea typeface="+mj-ea"/>
              </a:rPr>
              <a:t>9/24・9/27</a:t>
            </a:r>
          </a:p>
        </p:txBody>
      </p:sp>
      <p:sp>
        <p:nvSpPr>
          <p:cNvPr id="30" name="Oval 29"/>
          <p:cNvSpPr/>
          <p:nvPr/>
        </p:nvSpPr>
        <p:spPr>
          <a:xfrm>
            <a:off x="4626864" y="4809744"/>
            <a:ext cx="109728" cy="109728"/>
          </a:xfrm>
          <a:prstGeom prst="ellipse">
            <a:avLst/>
          </a:prstGeom>
          <a:solidFill>
            <a:srgbClr val="26890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809744" y="4745736"/>
            <a:ext cx="191109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lang="ja-JP" altLang="en-US">
                <a:solidFill>
                  <a:srgbClr val="1C1C1E"/>
                </a:solidFill>
                <a:latin typeface="+mj-ea"/>
                <a:ea typeface="+mj-ea"/>
              </a:rPr>
              <a:t>深掘り・保存した結果</a:t>
            </a:r>
          </a:p>
          <a:p>
            <a:pPr algn="l"/>
            <a:r>
              <a:rPr sz="700" b="0" lang="ja-JP" altLang="en-US">
                <a:solidFill>
                  <a:srgbClr val="8C8F93"/>
                </a:solidFill>
                <a:latin typeface="+mj-ea"/>
                <a:ea typeface="+mj-ea"/>
              </a:rPr>
              <a:t>9/16・9/27</a:t>
            </a:r>
          </a:p>
        </p:txBody>
      </p:sp>
      <p:sp>
        <p:nvSpPr>
          <p:cNvPr id="32" name="Oval 31"/>
          <p:cNvSpPr/>
          <p:nvPr/>
        </p:nvSpPr>
        <p:spPr>
          <a:xfrm>
            <a:off x="4626864" y="5257800"/>
            <a:ext cx="109728" cy="109728"/>
          </a:xfrm>
          <a:prstGeom prst="ellipse">
            <a:avLst/>
          </a:prstGeom>
          <a:solidFill>
            <a:srgbClr val="26890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809744" y="5193792"/>
            <a:ext cx="191109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lang="ja-JP" altLang="en-US">
                <a:solidFill>
                  <a:srgbClr val="1C1C1E"/>
                </a:solidFill>
                <a:latin typeface="+mj-ea"/>
                <a:ea typeface="+mj-ea"/>
              </a:rPr>
              <a:t>AI壁打ち：外部情報・成果物・簡易モード</a:t>
            </a:r>
          </a:p>
          <a:p>
            <a:pPr algn="l"/>
            <a:r>
              <a:rPr sz="700" b="0" lang="ja-JP" altLang="en-US">
                <a:solidFill>
                  <a:srgbClr val="8C8F93"/>
                </a:solidFill>
                <a:latin typeface="+mj-ea"/>
                <a:ea typeface="+mj-ea"/>
              </a:rPr>
              <a:t>自主改善＋9/27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949440" y="1938528"/>
            <a:ext cx="2313432" cy="3749039"/>
          </a:xfrm>
          <a:prstGeom prst="rect">
            <a:avLst/>
          </a:prstGeom>
          <a:solidFill>
            <a:srgbClr val="FFFFFF"/>
          </a:solidFill>
          <a:ln w="9525">
            <a:solidFill>
              <a:srgbClr val="C8CACC"/>
            </a:solidFill>
          </a:ln>
        </p:spPr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6949440" y="1938528"/>
            <a:ext cx="2313432" cy="457200"/>
          </a:xfrm>
          <a:prstGeom prst="rect">
            <a:avLst/>
          </a:prstGeom>
          <a:solidFill>
            <a:srgbClr val="0D8390"/>
          </a:solidFill>
          <a:ln>
            <a:noFill/>
          </a:ln>
        </p:spPr>
        <p:txBody>
          <a:bodyPr rtlCol="0" anchor="ctr" wrap="square" lIns="128016" rIns="73152" tIns="36576" bIns="36576"/>
          <a:lstStyle/>
          <a:p>
            <a:pPr algn="l"/>
            <a:r>
              <a:rPr sz="1050" b="1" lang="ja-JP" altLang="en-US">
                <a:solidFill>
                  <a:srgbClr val="FFFFFF"/>
                </a:solidFill>
                <a:latin typeface="+mj-ea"/>
                <a:ea typeface="+mj-ea"/>
              </a:rPr>
              <a:t>総会QA</a:t>
            </a:r>
            <a:r>
              <a:rPr sz="850" b="0" lang="ja-JP" altLang="en-US">
                <a:solidFill>
                  <a:srgbClr val="FFFFFF"/>
                </a:solidFill>
                <a:latin typeface="+mj-ea"/>
                <a:ea typeface="+mj-ea"/>
              </a:rPr>
              <a:t>　5項目</a:t>
            </a:r>
          </a:p>
        </p:txBody>
      </p:sp>
      <p:sp>
        <p:nvSpPr>
          <p:cNvPr id="36" name="Oval 35"/>
          <p:cNvSpPr/>
          <p:nvPr/>
        </p:nvSpPr>
        <p:spPr>
          <a:xfrm>
            <a:off x="7077455" y="2569464"/>
            <a:ext cx="109728" cy="109728"/>
          </a:xfrm>
          <a:prstGeom prst="ellipse">
            <a:avLst/>
          </a:prstGeom>
          <a:solidFill>
            <a:srgbClr val="26890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260336" y="2505456"/>
            <a:ext cx="191109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lang="ja-JP" altLang="en-US">
                <a:solidFill>
                  <a:srgbClr val="1C1C1E"/>
                </a:solidFill>
                <a:latin typeface="+mj-ea"/>
                <a:ea typeface="+mj-ea"/>
              </a:rPr>
              <a:t>所属階層と閲覧範囲</a:t>
            </a:r>
          </a:p>
          <a:p>
            <a:pPr algn="l"/>
            <a:r>
              <a:rPr sz="700" b="0" lang="ja-JP" altLang="en-US">
                <a:solidFill>
                  <a:srgbClr val="8C8F93"/>
                </a:solidFill>
                <a:latin typeface="+mj-ea"/>
                <a:ea typeface="+mj-ea"/>
              </a:rPr>
              <a:t>9/16</a:t>
            </a:r>
          </a:p>
        </p:txBody>
      </p:sp>
      <p:sp>
        <p:nvSpPr>
          <p:cNvPr id="38" name="Oval 37"/>
          <p:cNvSpPr/>
          <p:nvPr/>
        </p:nvSpPr>
        <p:spPr>
          <a:xfrm>
            <a:off x="7077455" y="3017520"/>
            <a:ext cx="109728" cy="109728"/>
          </a:xfrm>
          <a:prstGeom prst="ellipse">
            <a:avLst/>
          </a:prstGeom>
          <a:solidFill>
            <a:srgbClr val="26890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260336" y="2953512"/>
            <a:ext cx="191109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lang="ja-JP" altLang="en-US">
                <a:solidFill>
                  <a:srgbClr val="1C1C1E"/>
                </a:solidFill>
                <a:latin typeface="+mj-ea"/>
                <a:ea typeface="+mj-ea"/>
              </a:rPr>
              <a:t>当日回答作成（新設）</a:t>
            </a:r>
          </a:p>
          <a:p>
            <a:pPr algn="l"/>
            <a:r>
              <a:rPr sz="700" b="0" lang="ja-JP" altLang="en-US">
                <a:solidFill>
                  <a:srgbClr val="8C8F93"/>
                </a:solidFill>
                <a:latin typeface="+mj-ea"/>
                <a:ea typeface="+mj-ea"/>
              </a:rPr>
              <a:t>9/18</a:t>
            </a:r>
          </a:p>
        </p:txBody>
      </p:sp>
      <p:sp>
        <p:nvSpPr>
          <p:cNvPr id="40" name="Oval 39"/>
          <p:cNvSpPr/>
          <p:nvPr/>
        </p:nvSpPr>
        <p:spPr>
          <a:xfrm>
            <a:off x="7077455" y="3465576"/>
            <a:ext cx="109728" cy="109728"/>
          </a:xfrm>
          <a:prstGeom prst="ellipse">
            <a:avLst/>
          </a:prstGeom>
          <a:solidFill>
            <a:srgbClr val="26890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260336" y="3401568"/>
            <a:ext cx="191109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lang="ja-JP" altLang="en-US">
                <a:solidFill>
                  <a:srgbClr val="1C1C1E"/>
                </a:solidFill>
                <a:latin typeface="+mj-ea"/>
                <a:ea typeface="+mj-ea"/>
              </a:rPr>
              <a:t>質問作成</a:t>
            </a:r>
          </a:p>
          <a:p>
            <a:pPr algn="l"/>
            <a:r>
              <a:rPr sz="700" b="0" lang="ja-JP" altLang="en-US">
                <a:solidFill>
                  <a:srgbClr val="8C8F93"/>
                </a:solidFill>
                <a:latin typeface="+mj-ea"/>
                <a:ea typeface="+mj-ea"/>
              </a:rPr>
              <a:t>9/18</a:t>
            </a:r>
          </a:p>
        </p:txBody>
      </p:sp>
      <p:sp>
        <p:nvSpPr>
          <p:cNvPr id="42" name="Oval 41"/>
          <p:cNvSpPr/>
          <p:nvPr/>
        </p:nvSpPr>
        <p:spPr>
          <a:xfrm>
            <a:off x="7077455" y="3913632"/>
            <a:ext cx="109728" cy="109728"/>
          </a:xfrm>
          <a:prstGeom prst="ellipse">
            <a:avLst/>
          </a:prstGeom>
          <a:solidFill>
            <a:srgbClr val="26890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7260336" y="3849624"/>
            <a:ext cx="191109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lang="ja-JP" altLang="en-US">
                <a:solidFill>
                  <a:srgbClr val="1C1C1E"/>
                </a:solidFill>
                <a:latin typeface="+mj-ea"/>
                <a:ea typeface="+mj-ea"/>
              </a:rPr>
              <a:t>回答作成・Word出力</a:t>
            </a:r>
          </a:p>
          <a:p>
            <a:pPr algn="l"/>
            <a:r>
              <a:rPr sz="700" b="0" lang="ja-JP" altLang="en-US">
                <a:solidFill>
                  <a:srgbClr val="8C8F93"/>
                </a:solidFill>
                <a:latin typeface="+mj-ea"/>
                <a:ea typeface="+mj-ea"/>
              </a:rPr>
              <a:t>9/18</a:t>
            </a:r>
          </a:p>
        </p:txBody>
      </p:sp>
      <p:sp>
        <p:nvSpPr>
          <p:cNvPr id="44" name="Oval 43"/>
          <p:cNvSpPr/>
          <p:nvPr/>
        </p:nvSpPr>
        <p:spPr>
          <a:xfrm>
            <a:off x="7077455" y="4361688"/>
            <a:ext cx="109728" cy="109728"/>
          </a:xfrm>
          <a:prstGeom prst="ellipse">
            <a:avLst/>
          </a:prstGeom>
          <a:solidFill>
            <a:srgbClr val="26890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260336" y="4297680"/>
            <a:ext cx="191109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lang="ja-JP" altLang="en-US">
                <a:solidFill>
                  <a:srgbClr val="1C1C1E"/>
                </a:solidFill>
                <a:latin typeface="+mj-ea"/>
                <a:ea typeface="+mj-ea"/>
              </a:rPr>
              <a:t>AI壁打ち</a:t>
            </a:r>
          </a:p>
          <a:p>
            <a:pPr algn="l"/>
            <a:r>
              <a:rPr sz="700" b="0" lang="ja-JP" altLang="en-US">
                <a:solidFill>
                  <a:srgbClr val="8C8F93"/>
                </a:solidFill>
                <a:latin typeface="+mj-ea"/>
                <a:ea typeface="+mj-ea"/>
              </a:rPr>
              <a:t>自主改善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400032" y="1938528"/>
            <a:ext cx="2313432" cy="3749039"/>
          </a:xfrm>
          <a:prstGeom prst="rect">
            <a:avLst/>
          </a:prstGeom>
          <a:solidFill>
            <a:srgbClr val="FFFFFF"/>
          </a:solidFill>
          <a:ln w="9525">
            <a:solidFill>
              <a:srgbClr val="C8CACC"/>
            </a:solidFill>
          </a:ln>
        </p:spPr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9400032" y="1938528"/>
            <a:ext cx="2313432" cy="457200"/>
          </a:xfrm>
          <a:prstGeom prst="rect">
            <a:avLst/>
          </a:prstGeom>
          <a:solidFill>
            <a:srgbClr val="63666A"/>
          </a:solidFill>
          <a:ln>
            <a:noFill/>
          </a:ln>
        </p:spPr>
        <p:txBody>
          <a:bodyPr rtlCol="0" anchor="ctr" wrap="square" lIns="128016" rIns="73152" tIns="36576" bIns="36576"/>
          <a:lstStyle/>
          <a:p>
            <a:pPr algn="l"/>
            <a:r>
              <a:rPr sz="1050" b="1" lang="ja-JP" altLang="en-US">
                <a:solidFill>
                  <a:srgbClr val="FFFFFF"/>
                </a:solidFill>
                <a:latin typeface="+mj-ea"/>
                <a:ea typeface="+mj-ea"/>
              </a:rPr>
              <a:t>共通</a:t>
            </a:r>
            <a:r>
              <a:rPr sz="850" b="0" lang="ja-JP" altLang="en-US">
                <a:solidFill>
                  <a:srgbClr val="FFFFFF"/>
                </a:solidFill>
                <a:latin typeface="+mj-ea"/>
                <a:ea typeface="+mj-ea"/>
              </a:rPr>
              <a:t>　3項目</a:t>
            </a:r>
          </a:p>
        </p:txBody>
      </p:sp>
      <p:sp>
        <p:nvSpPr>
          <p:cNvPr id="48" name="Oval 47"/>
          <p:cNvSpPr/>
          <p:nvPr/>
        </p:nvSpPr>
        <p:spPr>
          <a:xfrm>
            <a:off x="9528048" y="2569464"/>
            <a:ext cx="109728" cy="109728"/>
          </a:xfrm>
          <a:prstGeom prst="ellipse">
            <a:avLst/>
          </a:prstGeom>
          <a:solidFill>
            <a:srgbClr val="26890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9710928" y="2505456"/>
            <a:ext cx="191109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lang="ja-JP" altLang="en-US">
                <a:solidFill>
                  <a:srgbClr val="1C1C1E"/>
                </a:solidFill>
                <a:latin typeface="+mj-ea"/>
                <a:ea typeface="+mj-ea"/>
              </a:rPr>
              <a:t>機密データ受け渡し箱（新設）</a:t>
            </a:r>
          </a:p>
          <a:p>
            <a:pPr algn="l"/>
            <a:r>
              <a:rPr sz="700" b="0" lang="ja-JP" altLang="en-US">
                <a:solidFill>
                  <a:srgbClr val="8C8F93"/>
                </a:solidFill>
                <a:latin typeface="+mj-ea"/>
                <a:ea typeface="+mj-ea"/>
              </a:rPr>
              <a:t>9/22</a:t>
            </a:r>
          </a:p>
        </p:txBody>
      </p:sp>
      <p:sp>
        <p:nvSpPr>
          <p:cNvPr id="50" name="Oval 49"/>
          <p:cNvSpPr/>
          <p:nvPr/>
        </p:nvSpPr>
        <p:spPr>
          <a:xfrm>
            <a:off x="9528048" y="3017520"/>
            <a:ext cx="109728" cy="109728"/>
          </a:xfrm>
          <a:prstGeom prst="ellipse">
            <a:avLst/>
          </a:prstGeom>
          <a:solidFill>
            <a:srgbClr val="26890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9710928" y="2953512"/>
            <a:ext cx="191109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lang="ja-JP" altLang="en-US">
                <a:solidFill>
                  <a:srgbClr val="1C1C1E"/>
                </a:solidFill>
                <a:latin typeface="+mj-ea"/>
                <a:ea typeface="+mj-ea"/>
              </a:rPr>
              <a:t>権限の総点検</a:t>
            </a:r>
          </a:p>
          <a:p>
            <a:pPr algn="l"/>
            <a:r>
              <a:rPr sz="700" b="0" lang="ja-JP" altLang="en-US">
                <a:solidFill>
                  <a:srgbClr val="8C8F93"/>
                </a:solidFill>
                <a:latin typeface="+mj-ea"/>
                <a:ea typeface="+mj-ea"/>
              </a:rPr>
              <a:t>9/27</a:t>
            </a:r>
          </a:p>
        </p:txBody>
      </p:sp>
      <p:sp>
        <p:nvSpPr>
          <p:cNvPr id="52" name="Oval 51"/>
          <p:cNvSpPr/>
          <p:nvPr/>
        </p:nvSpPr>
        <p:spPr>
          <a:xfrm>
            <a:off x="9528048" y="3465576"/>
            <a:ext cx="109728" cy="109728"/>
          </a:xfrm>
          <a:prstGeom prst="ellipse">
            <a:avLst/>
          </a:prstGeom>
          <a:solidFill>
            <a:srgbClr val="26890D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9710928" y="3401568"/>
            <a:ext cx="191109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lang="ja-JP" altLang="en-US">
                <a:solidFill>
                  <a:srgbClr val="1C1C1E"/>
                </a:solidFill>
                <a:latin typeface="+mj-ea"/>
                <a:ea typeface="+mj-ea"/>
              </a:rPr>
              <a:t>LLMをClaude Opus 5.5へ切替</a:t>
            </a:r>
          </a:p>
          <a:p>
            <a:pPr algn="l"/>
            <a:r>
              <a:rPr sz="700" b="0" lang="ja-JP" altLang="en-US">
                <a:solidFill>
                  <a:srgbClr val="8C8F93"/>
                </a:solidFill>
                <a:latin typeface="+mj-ea"/>
                <a:ea typeface="+mj-ea"/>
              </a:rPr>
              <a:t>9/27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498848" y="5797296"/>
            <a:ext cx="7214616" cy="365760"/>
          </a:xfrm>
          <a:prstGeom prst="rect">
            <a:avLst/>
          </a:prstGeom>
          <a:solidFill>
            <a:srgbClr val="EEF5EA"/>
          </a:solidFill>
          <a:ln>
            <a:noFill/>
          </a:ln>
        </p:spPr>
        <p:txBody>
          <a:bodyPr rtlCol="0" anchor="ctr" wrap="square" lIns="146304" rIns="73152" tIns="36576" bIns="36576"/>
          <a:lstStyle/>
          <a:p>
            <a:pPr algn="l"/>
            <a:r>
              <a:rPr sz="1000" b="1" lang="ja-JP" altLang="en-US">
                <a:solidFill>
                  <a:srgbClr val="046A38"/>
                </a:solidFill>
                <a:latin typeface="+mj-ea"/>
                <a:ea typeface="+mj-ea"/>
              </a:rPr>
              <a:t>15 / 15　検証環境に反映済み</a:t>
            </a:r>
            <a:r>
              <a:rPr sz="850" b="0" lang="ja-JP" altLang="en-US">
                <a:solidFill>
                  <a:srgbClr val="1C1C1E"/>
                </a:solidFill>
                <a:latin typeface="+mj-ea"/>
                <a:ea typeface="+mj-ea"/>
              </a:rPr>
              <a:t>　　初版（セキュア環境）への取り込みは、ITEC様の工数見積もりを経て順次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LANGUAGE_ID" val="1041"/>
  <p:tag name="EE4P_STYLE_ID" val="076a8867-8b72-4914-890a-d2f9a5d03d99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DT Template_16:9_J_202507">
  <a:themeElements>
    <a:clrScheme name="Deloitte2025">
      <a:dk1>
        <a:sysClr val="windowText" lastClr="000000"/>
      </a:dk1>
      <a:lt1>
        <a:sysClr val="window" lastClr="FFFFFF"/>
      </a:lt1>
      <a:dk2>
        <a:srgbClr val="53565A"/>
      </a:dk2>
      <a:lt2>
        <a:srgbClr val="D0D0CE"/>
      </a:lt2>
      <a:accent1>
        <a:srgbClr val="86BC25"/>
      </a:accent1>
      <a:accent2>
        <a:srgbClr val="43B02A"/>
      </a:accent2>
      <a:accent3>
        <a:srgbClr val="26890D"/>
      </a:accent3>
      <a:accent4>
        <a:srgbClr val="046A38"/>
      </a:accent4>
      <a:accent5>
        <a:srgbClr val="0D8390"/>
      </a:accent5>
      <a:accent6>
        <a:srgbClr val="007CB0"/>
      </a:accent6>
      <a:hlink>
        <a:srgbClr val="00A3E0"/>
      </a:hlink>
      <a:folHlink>
        <a:srgbClr val="7F7F7F"/>
      </a:folHlink>
    </a:clrScheme>
    <a:fontScheme name="Deloittefont">
      <a:majorFont>
        <a:latin typeface="Aptos"/>
        <a:ea typeface="Yu Gothic UI"/>
        <a:cs typeface=""/>
      </a:majorFont>
      <a:minorFont>
        <a:latin typeface="Aptos"/>
        <a:ea typeface="Yu Gothic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rgbClr val="BBBCBC"/>
        </a:solidFill>
        <a:ln w="12700" algn="ctr">
          <a:solidFill>
            <a:srgbClr val="BBBCBC"/>
          </a:solidFill>
          <a:miter lim="800000"/>
          <a:headEnd/>
          <a:tailEnd/>
        </a:ln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marL="0" marR="0" indent="0" algn="ctr" defTabSz="990564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Pct val="100000"/>
          <a:buFont typeface="Wingdings" panose="05000000000000000000" pitchFamily="2" charset="2"/>
          <a:buNone/>
          <a:tabLst/>
          <a:defRPr kumimoji="1" sz="1600" b="0" i="0" u="none" strike="noStrike" kern="1200" cap="none" spc="0" normalizeH="0" baseline="0" noProof="0" dirty="0" smtClean="0">
            <a:ln>
              <a:noFill/>
            </a:ln>
            <a:solidFill>
              <a:prstClr val="black"/>
            </a:solidFill>
            <a:effectLst/>
            <a:uLnTx/>
            <a:uFillTx/>
            <a:latin typeface="+mn-lt"/>
            <a:ea typeface="+mn-ea"/>
            <a:cs typeface="+mn-cs"/>
          </a:defRPr>
        </a:defPPr>
      </a:lstStyle>
    </a:spDef>
    <a:lnDef>
      <a:spPr bwMode="gray">
        <a:ln w="1270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none" lIns="0" tIns="0" rIns="0" bIns="0" rtlCol="0">
        <a:spAutoFit/>
      </a:bodyPr>
      <a:lstStyle>
        <a:defPPr marL="0" marR="0" indent="0" algn="l" defTabSz="990564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Pct val="100000"/>
          <a:buFont typeface="Wingdings" panose="05000000000000000000" pitchFamily="2" charset="2"/>
          <a:buNone/>
          <a:tabLst/>
          <a:defRPr kumimoji="1" sz="1600" b="0" i="0" u="none" strike="noStrike" kern="1200" cap="none" spc="0" normalizeH="0" baseline="0" noProof="0" dirty="0" smtClean="0">
            <a:ln>
              <a:noFill/>
            </a:ln>
            <a:solidFill>
              <a:prstClr val="black"/>
            </a:solidFill>
            <a:effectLst/>
            <a:uLnTx/>
            <a:uFillTx/>
            <a:latin typeface="+mn-lt"/>
            <a:ea typeface="+mn-ea"/>
            <a:cs typeface="+mn-cs"/>
          </a:defRPr>
        </a:defPPr>
      </a:lstStyle>
    </a:txDef>
  </a:objectDefaults>
  <a:extraClrSchemeLst/>
  <a:custClrLst>
    <a:custClr name="Green 7">
      <a:srgbClr val="2C5234"/>
    </a:custClr>
    <a:custClr name="Green 6">
      <a:srgbClr val="046A38"/>
    </a:custClr>
    <a:custClr name="Green 5">
      <a:srgbClr val="009A44"/>
    </a:custClr>
    <a:custClr name="Green 4">
      <a:srgbClr val="43B02A"/>
    </a:custClr>
    <a:custClr name="Deloitte Green">
      <a:srgbClr val="86BC25"/>
    </a:custClr>
    <a:custClr name="Green 2">
      <a:srgbClr val="C4D600"/>
    </a:custClr>
    <a:custClr name="Green 1">
      <a:srgbClr val="E3E48D"/>
    </a:custClr>
    <a:custClr name="Teal 7">
      <a:srgbClr val="004F59"/>
    </a:custClr>
    <a:custClr name="Teal 6">
      <a:srgbClr val="007680"/>
    </a:custClr>
    <a:custClr name="Teal 5">
      <a:srgbClr val="0097A9"/>
    </a:custClr>
    <a:custClr name="Teal 4">
      <a:srgbClr val="00ABAB"/>
    </a:custClr>
    <a:custClr name="Teal 3">
      <a:srgbClr val="6FC2B4"/>
    </a:custClr>
    <a:custClr name="Teal 2">
      <a:srgbClr val="9DD4CF"/>
    </a:custClr>
    <a:custClr name="Teal 1">
      <a:srgbClr val="DDEFE8"/>
    </a:custClr>
    <a:custClr name="Blue 7">
      <a:srgbClr val="041E42"/>
    </a:custClr>
    <a:custClr name="Blue 6">
      <a:srgbClr val="012169"/>
    </a:custClr>
    <a:custClr name="Blue 5">
      <a:srgbClr val="005587"/>
    </a:custClr>
    <a:custClr name="Blue 4">
      <a:srgbClr val="0076A8"/>
    </a:custClr>
    <a:custClr name="Blue 3">
      <a:srgbClr val="00A3E0"/>
    </a:custClr>
    <a:custClr name="Blue 2">
      <a:srgbClr val="62B5E5"/>
    </a:custClr>
    <a:custClr name="Blue 1">
      <a:srgbClr val="A0DCFF"/>
    </a:custClr>
    <a:custClr name="Cool Gray 11">
      <a:srgbClr val="53565A"/>
    </a:custClr>
    <a:custClr name="Cool Gray 10">
      <a:srgbClr val="63666A"/>
    </a:custClr>
    <a:custClr name="Cool Gray 9">
      <a:srgbClr val="75787B"/>
    </a:custClr>
    <a:custClr name="Cool Gray 7">
      <a:srgbClr val="97999B"/>
    </a:custClr>
    <a:custClr name="Cool Gray 6">
      <a:srgbClr val="A7A8AA"/>
    </a:custClr>
    <a:custClr name="Cool Gray 4">
      <a:srgbClr val="BBBCBC"/>
    </a:custClr>
    <a:custClr name="Cool Gray 2">
      <a:srgbClr val="D0D0CE"/>
    </a:custClr>
    <a:custClr name="White">
      <a:srgbClr val="FFFFFF"/>
    </a:custClr>
    <a:custClr name="Black">
      <a:srgbClr val="000000"/>
    </a:custClr>
    <a:custClr name="Red">
      <a:srgbClr val="DA291C"/>
    </a:custClr>
    <a:custClr name="Orange">
      <a:srgbClr val="ED8B00"/>
    </a:custClr>
    <a:custClr name="Yellow">
      <a:srgbClr val="FFCD00"/>
    </a:custClr>
  </a:custClrLst>
  <a:extLst>
    <a:ext uri="{05A4C25C-085E-4340-85A3-A5531E510DB2}">
      <thm15:themeFamily xmlns:thm15="http://schemas.microsoft.com/office/thememl/2012/main" name="DT Template_16_9_J_Short.pptx" id="{013DFF10-7174-409E-AC1D-80AE4A6172B2}" vid="{8E462FA6-9B00-4E7F-BFC0-B6BC63B792EF}"/>
    </a:ext>
  </a:extLst>
</a:theme>
</file>

<file path=ppt/theme/theme2.xml><?xml version="1.0" encoding="utf-8"?>
<a:theme xmlns:a="http://schemas.openxmlformats.org/drawingml/2006/main" name="DT Template_16:9_J_202507_基本版②">
  <a:themeElements>
    <a:clrScheme name="DT">
      <a:dk1>
        <a:sysClr val="windowText" lastClr="000000"/>
      </a:dk1>
      <a:lt1>
        <a:sysClr val="window" lastClr="FFFFFF"/>
      </a:lt1>
      <a:dk2>
        <a:srgbClr val="53565A"/>
      </a:dk2>
      <a:lt2>
        <a:srgbClr val="D0D0CE"/>
      </a:lt2>
      <a:accent1>
        <a:srgbClr val="86BC25"/>
      </a:accent1>
      <a:accent2>
        <a:srgbClr val="43B02A"/>
      </a:accent2>
      <a:accent3>
        <a:srgbClr val="26890D"/>
      </a:accent3>
      <a:accent4>
        <a:srgbClr val="046A38"/>
      </a:accent4>
      <a:accent5>
        <a:srgbClr val="0D8390"/>
      </a:accent5>
      <a:accent6>
        <a:srgbClr val="007CB0"/>
      </a:accent6>
      <a:hlink>
        <a:srgbClr val="00A3E0"/>
      </a:hlink>
      <a:folHlink>
        <a:srgbClr val="7F7F7F"/>
      </a:folHlink>
    </a:clrScheme>
    <a:fontScheme name="Deloittefont">
      <a:majorFont>
        <a:latin typeface="Aptos"/>
        <a:ea typeface="Yu Gothic UI"/>
        <a:cs typeface=""/>
      </a:majorFont>
      <a:minorFont>
        <a:latin typeface="Aptos"/>
        <a:ea typeface="Yu Gothic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rgbClr val="BBBCBC"/>
        </a:solidFill>
        <a:ln w="12700" algn="ctr">
          <a:solidFill>
            <a:srgbClr val="BBBCBC"/>
          </a:solidFill>
          <a:miter lim="800000"/>
          <a:headEnd/>
          <a:tailEnd/>
        </a:ln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marL="0" marR="0" indent="0" algn="ctr" defTabSz="990564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Pct val="100000"/>
          <a:buFont typeface="Wingdings" panose="05000000000000000000" pitchFamily="2" charset="2"/>
          <a:buNone/>
          <a:tabLst/>
          <a:defRPr kumimoji="1" sz="1600" b="0" i="0" u="none" strike="noStrike" kern="1200" cap="none" spc="0" normalizeH="0" baseline="0" noProof="0" dirty="0" smtClean="0">
            <a:ln>
              <a:noFill/>
            </a:ln>
            <a:solidFill>
              <a:prstClr val="black"/>
            </a:solidFill>
            <a:effectLst/>
            <a:uLnTx/>
            <a:uFillTx/>
            <a:latin typeface="+mn-lt"/>
            <a:ea typeface="+mn-ea"/>
            <a:cs typeface="+mn-cs"/>
          </a:defRPr>
        </a:defPPr>
      </a:lstStyle>
    </a:spDef>
    <a:lnDef>
      <a:spPr bwMode="gray">
        <a:ln w="12700"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none" lIns="0" tIns="0" rIns="0" bIns="0" rtlCol="0">
        <a:spAutoFit/>
      </a:bodyPr>
      <a:lstStyle>
        <a:defPPr marL="0" marR="0" indent="0" algn="l" defTabSz="990564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Pct val="100000"/>
          <a:buFont typeface="Wingdings" panose="05000000000000000000" pitchFamily="2" charset="2"/>
          <a:buNone/>
          <a:tabLst/>
          <a:defRPr kumimoji="1" sz="1600" b="0" i="0" u="none" strike="noStrike" kern="1200" cap="none" spc="0" normalizeH="0" baseline="0" noProof="0" dirty="0" smtClean="0">
            <a:ln>
              <a:noFill/>
            </a:ln>
            <a:solidFill>
              <a:prstClr val="black"/>
            </a:solidFill>
            <a:effectLst/>
            <a:uLnTx/>
            <a:uFillTx/>
            <a:latin typeface="+mn-lt"/>
            <a:ea typeface="+mn-ea"/>
            <a:cs typeface="+mn-cs"/>
          </a:defRPr>
        </a:defPPr>
      </a:lstStyle>
    </a:txDef>
  </a:objectDefaults>
  <a:extraClrSchemeLst/>
  <a:custClrLst>
    <a:custClr name="Green 7">
      <a:srgbClr val="2C5234"/>
    </a:custClr>
    <a:custClr name="Green 6">
      <a:srgbClr val="046A38"/>
    </a:custClr>
    <a:custClr name="Green 5">
      <a:srgbClr val="009A44"/>
    </a:custClr>
    <a:custClr name="Green 4">
      <a:srgbClr val="43B02A"/>
    </a:custClr>
    <a:custClr name="Deloitte Green">
      <a:srgbClr val="86BC25"/>
    </a:custClr>
    <a:custClr name="Green 2">
      <a:srgbClr val="C4D600"/>
    </a:custClr>
    <a:custClr name="Green 1">
      <a:srgbClr val="E3E48D"/>
    </a:custClr>
    <a:custClr name="Teal 7">
      <a:srgbClr val="004F59"/>
    </a:custClr>
    <a:custClr name="Teal 6">
      <a:srgbClr val="007680"/>
    </a:custClr>
    <a:custClr name="Teal 5">
      <a:srgbClr val="0097A9"/>
    </a:custClr>
    <a:custClr name="Teal 4">
      <a:srgbClr val="00ABAB"/>
    </a:custClr>
    <a:custClr name="Teal 3">
      <a:srgbClr val="6FC2B4"/>
    </a:custClr>
    <a:custClr name="Teal 2">
      <a:srgbClr val="9DD4CF"/>
    </a:custClr>
    <a:custClr name="Teal 1">
      <a:srgbClr val="DDEFE8"/>
    </a:custClr>
    <a:custClr name="Blue 7">
      <a:srgbClr val="041E42"/>
    </a:custClr>
    <a:custClr name="Blue 6">
      <a:srgbClr val="012169"/>
    </a:custClr>
    <a:custClr name="Blue 5">
      <a:srgbClr val="005587"/>
    </a:custClr>
    <a:custClr name="Blue 4">
      <a:srgbClr val="0076A8"/>
    </a:custClr>
    <a:custClr name="Blue 3">
      <a:srgbClr val="00A3E0"/>
    </a:custClr>
    <a:custClr name="Blue 2">
      <a:srgbClr val="62B5E5"/>
    </a:custClr>
    <a:custClr name="Blue 1">
      <a:srgbClr val="A0DCFF"/>
    </a:custClr>
    <a:custClr name="Cool Gray 11">
      <a:srgbClr val="53565A"/>
    </a:custClr>
    <a:custClr name="Cool Gray 10">
      <a:srgbClr val="63666A"/>
    </a:custClr>
    <a:custClr name="Cool Gray 9">
      <a:srgbClr val="75787B"/>
    </a:custClr>
    <a:custClr name="Cool Gray 7">
      <a:srgbClr val="97999B"/>
    </a:custClr>
    <a:custClr name="Cool Gray 6">
      <a:srgbClr val="A7A8AA"/>
    </a:custClr>
    <a:custClr name="Cool Gray 4">
      <a:srgbClr val="BBBCBC"/>
    </a:custClr>
    <a:custClr name="Cool Gray 2">
      <a:srgbClr val="D0D0CE"/>
    </a:custClr>
    <a:custClr name="White">
      <a:srgbClr val="FFFFFF"/>
    </a:custClr>
    <a:custClr name="Black">
      <a:srgbClr val="000000"/>
    </a:custClr>
    <a:custClr name="Red">
      <a:srgbClr val="DA291C"/>
    </a:custClr>
    <a:custClr name="Orange">
      <a:srgbClr val="ED8B00"/>
    </a:custClr>
    <a:custClr name="Yellow">
      <a:srgbClr val="FFCD00"/>
    </a:custClr>
  </a:custClrLst>
  <a:extLst>
    <a:ext uri="{05A4C25C-085E-4340-85A3-A5531E510DB2}">
      <thm15:themeFamily xmlns:thm15="http://schemas.microsoft.com/office/thememl/2012/main" name="DT Template_16_9_J_Short.pptx" id="{013DFF10-7174-409E-AC1D-80AE4A6172B2}" vid="{EC5F9899-8C00-41A7-90E2-1AA9CB841817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CF4429DF024E5448FC59C7B7B43C1AC" ma:contentTypeVersion="11" ma:contentTypeDescription="Create a new document." ma:contentTypeScope="" ma:versionID="acb135f8ac1bd7cde167a21f1321cadb">
  <xsd:schema xmlns:xsd="http://www.w3.org/2001/XMLSchema" xmlns:xs="http://www.w3.org/2001/XMLSchema" xmlns:p="http://schemas.microsoft.com/office/2006/metadata/properties" xmlns:ns2="736c8bd6-b1a7-463d-a242-abcb0c1a3ab7" xmlns:ns3="25a5c49f-f1be-44ee-b7a9-954566e675d2" targetNamespace="http://schemas.microsoft.com/office/2006/metadata/properties" ma:root="true" ma:fieldsID="72c5b997e5e4c90e17cc0c94290d5872" ns2:_="" ns3:_="">
    <xsd:import namespace="736c8bd6-b1a7-463d-a242-abcb0c1a3ab7"/>
    <xsd:import namespace="25a5c49f-f1be-44ee-b7a9-954566e675d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6c8bd6-b1a7-463d-a242-abcb0c1a3ab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798d900d-0589-4081-96eb-513de833a5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a5c49f-f1be-44ee-b7a9-954566e675d2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b8a2c12e-9cd8-4bdc-a214-d5fe3fdc3985}" ma:internalName="TaxCatchAll" ma:showField="CatchAllData" ma:web="25a5c49f-f1be-44ee-b7a9-954566e675d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36c8bd6-b1a7-463d-a242-abcb0c1a3ab7">
      <Terms xmlns="http://schemas.microsoft.com/office/infopath/2007/PartnerControls"/>
    </lcf76f155ced4ddcb4097134ff3c332f>
    <TaxCatchAll xmlns="25a5c49f-f1be-44ee-b7a9-954566e675d2" xsi:nil="true"/>
  </documentManagement>
</p:properties>
</file>

<file path=customXml/itemProps1.xml><?xml version="1.0" encoding="utf-8"?>
<ds:datastoreItem xmlns:ds="http://schemas.openxmlformats.org/officeDocument/2006/customXml" ds:itemID="{D3C562D3-14B2-4A04-B255-084073502BB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F2A2CF3-6367-444C-AA09-0D41A3DD392F}">
  <ds:schemaRefs>
    <ds:schemaRef ds:uri="25a5c49f-f1be-44ee-b7a9-954566e675d2"/>
    <ds:schemaRef ds:uri="736c8bd6-b1a7-463d-a242-abcb0c1a3ab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C8F75EE8-E51D-4422-BE39-CF7C03367777}">
  <ds:schemaRefs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schemas.microsoft.com/office/2006/metadata/properties"/>
    <ds:schemaRef ds:uri="25a5c49f-f1be-44ee-b7a9-954566e675d2"/>
    <ds:schemaRef ds:uri="736c8bd6-b1a7-463d-a242-abcb0c1a3ab7"/>
    <ds:schemaRef ds:uri="http://purl.org/dc/elements/1.1/"/>
    <ds:schemaRef ds:uri="http://schemas.openxmlformats.org/package/2006/metadata/core-properties"/>
    <ds:schemaRef ds:uri="http://purl.org/dc/dcmitype/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285</TotalTime>
  <Words>1895</Words>
  <Application>Microsoft Office PowerPoint</Application>
  <PresentationFormat>ワイド画面</PresentationFormat>
  <Paragraphs>235</Paragraphs>
  <Slides>5</Slides>
  <Notes>4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2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4" baseType="lpstr">
      <vt:lpstr>Yu Gothic UI</vt:lpstr>
      <vt:lpstr>Aptos</vt:lpstr>
      <vt:lpstr>Arial</vt:lpstr>
      <vt:lpstr>Calibri</vt:lpstr>
      <vt:lpstr>Verdana</vt:lpstr>
      <vt:lpstr>Wingdings</vt:lpstr>
      <vt:lpstr>DT Template_16:9_J_202507</vt:lpstr>
      <vt:lpstr>DT Template_16:9_J_202507_基本版②</vt:lpstr>
      <vt:lpstr>thinkcellスライド</vt:lpstr>
      <vt:lpstr>3か月・8つの版を経て2アプリは10月のセキュア公開に到達し、引継ぎの準備が整いました。本日は引継ぎ受領と次フェーズの進め方のご確認をお願いします</vt:lpstr>
      <vt:lpstr>7月の雛形から改善サイクルを重ね、経営ナビと総会QA両アプリを統合した10月の公開版に到達しました</vt:lpstr>
      <vt:lpstr>共創の記録（動画・約4分）をご覧いただきます</vt:lpstr>
      <vt:lpstr>Ｘｘｘ</vt:lpstr>
      <vt:lpstr>9/11のFIX以降、9/27のご依頼分を含む15項目の改修を、すべて検証環境に反映しました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Hu, Xinlong</dc:creator>
  <cp:lastModifiedBy>Hu, Xinlong</cp:lastModifiedBy>
  <cp:revision>3</cp:revision>
  <dcterms:created xsi:type="dcterms:W3CDTF">2026-06-25T23:44:23Z</dcterms:created>
  <dcterms:modified xsi:type="dcterms:W3CDTF">2026-09-28T05:00:59Z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0x0101003CF4429DF024E5448FC59C7B7B43C1AC</vt:lpwstr>
  </property>
  <property fmtid="{D5CDD505-2E9C-101B-9397-08002B2CF9AE}" pid="3" name="MSIP_Label_ea60d57e-af5b-4752-ac57-3e4f28ca11dc_Enabled">
    <vt:lpwstr>true</vt:lpwstr>
  </property>
  <property fmtid="{D5CDD505-2E9C-101B-9397-08002B2CF9AE}" pid="4" name="MSIP_Label_ea60d57e-af5b-4752-ac57-3e4f28ca11dc_SetDate">
    <vt:lpwstr>2021-11-30T06:12:18Z</vt:lpwstr>
  </property>
  <property fmtid="{D5CDD505-2E9C-101B-9397-08002B2CF9AE}" pid="5" name="MSIP_Label_ea60d57e-af5b-4752-ac57-3e4f28ca11dc_Method">
    <vt:lpwstr>Standard</vt:lpwstr>
  </property>
  <property fmtid="{D5CDD505-2E9C-101B-9397-08002B2CF9AE}" pid="6" name="MSIP_Label_ea60d57e-af5b-4752-ac57-3e4f28ca11dc_Name">
    <vt:lpwstr>ea60d57e-af5b-4752-ac57-3e4f28ca11dc</vt:lpwstr>
  </property>
  <property fmtid="{D5CDD505-2E9C-101B-9397-08002B2CF9AE}" pid="7" name="MSIP_Label_ea60d57e-af5b-4752-ac57-3e4f28ca11dc_SiteId">
    <vt:lpwstr>36da45f1-dd2c-4d1f-af13-5abe46b99921</vt:lpwstr>
  </property>
  <property fmtid="{D5CDD505-2E9C-101B-9397-08002B2CF9AE}" pid="8" name="MSIP_Label_ea60d57e-af5b-4752-ac57-3e4f28ca11dc_ActionId">
    <vt:lpwstr>177f38b9-1e8a-4270-81d8-98c657c22e6c</vt:lpwstr>
  </property>
  <property fmtid="{D5CDD505-2E9C-101B-9397-08002B2CF9AE}" pid="9" name="MSIP_Label_ea60d57e-af5b-4752-ac57-3e4f28ca11dc_ContentBits">
    <vt:lpwstr>0</vt:lpwstr>
  </property>
  <property fmtid="{D5CDD505-2E9C-101B-9397-08002B2CF9AE}" pid="10" name="MediaServiceImageTags">
    <vt:lpwstr/>
  </property>
</Properties>
</file>