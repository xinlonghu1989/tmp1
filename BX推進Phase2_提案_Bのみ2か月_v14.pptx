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  <p:sldMasterId id="2147483986" r:id="rId6"/>
    <p:sldMasterId id="2147484012" r:id="rId7"/>
  </p:sldMasterIdLst>
  <p:notesMasterIdLst>
    <p:notesMasterId r:id="rId22"/>
  </p:notesMasterIdLst>
  <p:handoutMasterIdLst>
    <p:handoutMasterId r:id="rId23"/>
  </p:handoutMasterIdLst>
  <p:sldIdLst>
    <p:sldId id="256" r:id="rId18"/>
    <p:sldId id="257" r:id="rId19"/>
    <p:sldId id="258" r:id="rId20"/>
    <p:sldId id="259" r:id="rId21"/>
    <p:sldId id="260" r:id="rId17"/>
  </p:sldIdLst>
  <p:sldSz cx="12192000" cy="6858000"/>
  <p:notesSz cx="6735763" cy="9866313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137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9B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D6A08-FCAC-4358-BAE4-43561AE9EF14}" v="2376" dt="2026-09-15T09:35:23.863"/>
    <p1510:client id="{AB5C4B94-6472-7803-CE20-A7CD06FA2A8B}" v="102" dt="2026-09-15T08:42:14.940"/>
    <p1510:client id="{F245FC92-33F3-4BB8-AB35-C27D90D97766}" v="1" dt="2026-09-15T12:05:2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7" Type="http://schemas.openxmlformats.org/officeDocument/2006/relationships/slide" Target="slides/slide5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2026/9/15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38.bin"/><Relationship Id="rId5" Type="http://schemas.openxmlformats.org/officeDocument/2006/relationships/image" Target="../media/image15.emf"/><Relationship Id="rId6" Type="http://schemas.openxmlformats.org/officeDocument/2006/relationships/oleObject" Target="../embeddings/oleObject39.bin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04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6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17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1478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800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816916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33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600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451464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708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82726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264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05641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18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6995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268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4718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086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2883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418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5051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777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595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2341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6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95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593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299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36365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204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2594888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1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44441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457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326908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5845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203817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64769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20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79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020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95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97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479772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676381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588154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5312935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110189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882777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8070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0532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875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20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062981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5025832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473114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8433350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015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133324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349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1642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ACB6E8B-BDC4-441B-80D9-3D4F1A7191B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10" name="図 9" descr="ロゴ, 会社名&#10;&#10;自動的に生成された説明">
              <a:extLst>
                <a:ext uri="{FF2B5EF4-FFF2-40B4-BE49-F238E27FC236}">
                  <a16:creationId xmlns:a16="http://schemas.microsoft.com/office/drawing/2014/main" id="{58297113-486E-410D-9152-DBAA7813B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1" name="図 10" descr="ロゴ&#10;&#10;自動的に生成された説明">
              <a:extLst>
                <a:ext uri="{FF2B5EF4-FFF2-40B4-BE49-F238E27FC236}">
                  <a16:creationId xmlns:a16="http://schemas.microsoft.com/office/drawing/2014/main" id="{DBB457B8-2E8C-4715-8CE0-9F6911CA7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477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5016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732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208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32278A0-B6A6-4196-A48B-DD36F4F398E7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5" name="図 14" descr="ロゴ, 会社名&#10;&#10;自動的に生成された説明">
              <a:extLst>
                <a:ext uri="{FF2B5EF4-FFF2-40B4-BE49-F238E27FC236}">
                  <a16:creationId xmlns:a16="http://schemas.microsoft.com/office/drawing/2014/main" id="{2395C2A1-39CD-425B-94BE-D67F2CCD8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CC8C78A-26CC-4239-9442-4410264A9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56877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8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400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753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27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04669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3514089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24977924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420106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6711330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711624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1185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29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6133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9023089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0165543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130021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606451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40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3529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4871738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444" imgH="443" progId="TCLayout.ActiveDocument.1">
                  <p:embed/>
                </p:oleObj>
              </mc:Choice>
              <mc:Fallback>
                <p:oleObj name="thinkcellスライド" r:id="rId4" imgW="444" imgH="44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GB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>
          <a:xfrm>
            <a:off x="11458554" y="6588000"/>
            <a:ext cx="221538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A5FCFE5-FE56-4EF1-80A8-07776887C2A1}" type="slidenum">
              <a:rPr lang="ja-JP" altLang="en-US" sz="1200" smtClean="0">
                <a:solidFill>
                  <a:prstClr val="black"/>
                </a:solidFill>
                <a:latin typeface="Arial"/>
                <a:ea typeface="ＭＳ Ｐゴシック"/>
                <a:cs typeface="Arial" pitchFamily="34" charset="0"/>
              </a:rPr>
              <a:pPr>
                <a:defRPr/>
              </a:pPr>
              <a:t>‹#›</a:t>
            </a:fld>
            <a:endParaRPr lang="ja-JP" altLang="en-US" sz="1200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3230" y="136800"/>
            <a:ext cx="11166862" cy="432000"/>
          </a:xfrm>
          <a:prstGeom prst="rect">
            <a:avLst/>
          </a:prstGeom>
        </p:spPr>
        <p:txBody>
          <a:bodyPr wrap="none" lIns="0" t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513231" y="678671"/>
            <a:ext cx="11165538" cy="360000"/>
          </a:xfrm>
        </p:spPr>
        <p:txBody>
          <a:bodyPr vert="horz" lIns="0" tIns="0" anchor="t"/>
          <a:lstStyle>
            <a:lvl1pPr>
              <a:defRPr sz="1800" b="0"/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9526583-8C8E-82A1-8852-F993675C5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898332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6" imgW="444" imgH="443" progId="TCLayout.ActiveDocument.1">
                  <p:embed/>
                </p:oleObj>
              </mc:Choice>
              <mc:Fallback>
                <p:oleObj name="think-cell スライド" r:id="rId6" imgW="444" imgH="443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9526583-8C8E-82A1-8852-F993675C5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5C7EB6A-BE1A-6B26-F25B-752C370BEDF4}"/>
              </a:ext>
            </a:extLst>
          </p:cNvPr>
          <p:cNvCxnSpPr/>
          <p:nvPr userDrawn="1"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270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723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Relationship Id="rId8" Type="http://schemas.openxmlformats.org/officeDocument/2006/relationships/tags" Target="../tags/tag25.xml"/><Relationship Id="rId9" Type="http://schemas.openxmlformats.org/officeDocument/2006/relationships/oleObject" Target="../embeddings/oleObject23.bin"/><Relationship Id="rId10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theme" Target="../theme/theme3.xml"/><Relationship Id="rId27" Type="http://schemas.openxmlformats.org/officeDocument/2006/relationships/tags" Target="../tags/tag32.xml"/><Relationship Id="rId28" Type="http://schemas.openxmlformats.org/officeDocument/2006/relationships/oleObject" Target="../embeddings/oleObject28.bin"/><Relationship Id="rId29" Type="http://schemas.openxmlformats.org/officeDocument/2006/relationships/image" Target="../media/image1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22" Type="http://schemas.openxmlformats.org/officeDocument/2006/relationships/tags" Target="../tags/tag56.xml"/><Relationship Id="rId23" Type="http://schemas.openxmlformats.org/officeDocument/2006/relationships/oleObject" Target="../embeddings/oleObject28.bin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926568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5" imgW="444" imgH="443" progId="TCLayout.ActiveDocument.1">
                  <p:embed/>
                </p:oleObj>
              </mc:Choice>
              <mc:Fallback>
                <p:oleObj name="thinkcellスライド" r:id="rId25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15099" y="6444000"/>
            <a:ext cx="961802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46" r:id="rId3"/>
    <p:sldLayoutId id="2147483947" r:id="rId4"/>
    <p:sldLayoutId id="2147483911" r:id="rId5"/>
    <p:sldLayoutId id="2147483912" r:id="rId6"/>
    <p:sldLayoutId id="2147483934" r:id="rId7"/>
    <p:sldLayoutId id="2147483983" r:id="rId8"/>
    <p:sldLayoutId id="2147483984" r:id="rId9"/>
    <p:sldLayoutId id="2147483985" r:id="rId10"/>
    <p:sldLayoutId id="2147483959" r:id="rId11"/>
    <p:sldLayoutId id="2147483969" r:id="rId12"/>
    <p:sldLayoutId id="2147483960" r:id="rId13"/>
    <p:sldLayoutId id="2147483961" r:id="rId14"/>
    <p:sldLayoutId id="2147483976" r:id="rId15"/>
    <p:sldLayoutId id="2147483977" r:id="rId16"/>
    <p:sldLayoutId id="2147483978" r:id="rId17"/>
    <p:sldLayoutId id="2147483979" r:id="rId18"/>
    <p:sldLayoutId id="2147483952" r:id="rId19"/>
    <p:sldLayoutId id="2147483957" r:id="rId20"/>
    <p:sldLayoutId id="2147483956" r:id="rId21"/>
    <p:sldLayoutId id="2147483958" r:id="rId22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96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302" userDrawn="1">
          <p15:clr>
            <a:srgbClr val="A4A3A4"/>
          </p15:clr>
        </p15:guide>
        <p15:guide id="6" orient="horz" pos="527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  <p15:guide id="11" orient="horz" pos="4269" userDrawn="1">
          <p15:clr>
            <a:srgbClr val="A4A3A4"/>
          </p15:clr>
        </p15:guide>
        <p15:guide id="12" orient="horz" pos="6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710619-D609-4ABA-8EC3-1DBA3A476E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7085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9" imgW="444" imgH="443" progId="TCLayout.ActiveDocument.1">
                  <p:embed/>
                </p:oleObj>
              </mc:Choice>
              <mc:Fallback>
                <p:oleObj name="thinkcellスライド" r:id="rId9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710619-D609-4ABA-8EC3-1DBA3A476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52400"/>
            <a:ext cx="11232000" cy="6477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16:9</a:t>
            </a:r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788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4725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75" r:id="rId2"/>
    <p:sldLayoutId id="2147483970" r:id="rId3"/>
    <p:sldLayoutId id="2147483980" r:id="rId4"/>
    <p:sldLayoutId id="2147483981" r:id="rId5"/>
    <p:sldLayoutId id="2147483982" r:id="rId6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8" imgW="444" imgH="443" progId="TCLayout.ActiveDocument.1">
                  <p:embed/>
                </p:oleObj>
              </mc:Choice>
              <mc:Fallback>
                <p:oleObj name="thinkcellスライド" r:id="rId28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5787B"/>
                </a:solidFill>
                <a:latin typeface="+mn-lt"/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  <p:sldLayoutId id="2147484002" r:id="rId16"/>
    <p:sldLayoutId id="2147484003" r:id="rId17"/>
    <p:sldLayoutId id="2147484004" r:id="rId18"/>
    <p:sldLayoutId id="2147484005" r:id="rId19"/>
    <p:sldLayoutId id="2147484006" r:id="rId20"/>
    <p:sldLayoutId id="2147484007" r:id="rId21"/>
    <p:sldLayoutId id="2147484008" r:id="rId22"/>
    <p:sldLayoutId id="2147484009" r:id="rId23"/>
    <p:sldLayoutId id="2147484011" r:id="rId24"/>
    <p:sldLayoutId id="2147484033" r:id="rId25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3" imgW="444" imgH="443" progId="TCLayout.ActiveDocument.1">
                  <p:embed/>
                </p:oleObj>
              </mc:Choice>
              <mc:Fallback>
                <p:oleObj name="thinkcellスライド" r:id="rId2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3157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949440" cy="466344"/>
          </a:xfrm>
        </p:spPr>
        <p:txBody>
          <a:bodyPr/>
          <a:lstStyle/>
          <a:p>
            <a:r>
              <a:rPr lang="ja-JP" altLang="en-US"/>
              <a:t>既存AIアプリ推進の支援イメージ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BX推進部主導のもとITEC様が主軸で進める既存Quick-Winアプリの公開・定着を、弊社が助言・技術支援と検証環境での改修継続で支えます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572768"/>
            <a:ext cx="5943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10月以降のAIアプリの運用体制※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1856231"/>
            <a:ext cx="594360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406640" y="1572768"/>
            <a:ext cx="3154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支援イメージ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06640" y="1856231"/>
            <a:ext cx="315468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698480" y="1572768"/>
            <a:ext cx="101498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98480" y="1856231"/>
            <a:ext cx="1014983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75488" y="2240280"/>
            <a:ext cx="685800" cy="822960"/>
          </a:xfrm>
          <a:prstGeom prst="rect">
            <a:avLst/>
          </a:prstGeom>
          <a:solidFill>
            <a:srgbClr val="0D8390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第2線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リスク管理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703320"/>
            <a:ext cx="685800" cy="2011680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第1線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AI活用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推進機能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1965960"/>
            <a:ext cx="4526280" cy="3977639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98448" y="1984248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HHHD（株）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2240280"/>
            <a:ext cx="4343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2258568"/>
            <a:ext cx="20116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情報セキュリティ推進部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セキュリティ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審査チーム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社内規程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作成・更改チーム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315468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ティ規程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3154680"/>
            <a:ext cx="8229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社内ルール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として展開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508760" y="3538728"/>
            <a:ext cx="146304" cy="182880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92608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Up Arrow 24"/>
          <p:cNvSpPr/>
          <p:nvPr/>
        </p:nvSpPr>
        <p:spPr>
          <a:xfrm>
            <a:off x="2852928" y="3063240"/>
            <a:ext cx="146304" cy="128016"/>
          </a:xfrm>
          <a:prstGeom prst="up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29184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own Arrow 26"/>
          <p:cNvSpPr/>
          <p:nvPr/>
        </p:nvSpPr>
        <p:spPr>
          <a:xfrm>
            <a:off x="3218688" y="3621024"/>
            <a:ext cx="146304" cy="128016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18288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申請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承認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3749039"/>
            <a:ext cx="2697480" cy="21031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71600" y="3767328"/>
            <a:ext cx="137160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BX推進部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4023360"/>
            <a:ext cx="2423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リスク管理者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4389120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AIリスク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チェックリスト</a:t>
            </a:r>
          </a:p>
        </p:txBody>
      </p:sp>
      <p:sp>
        <p:nvSpPr>
          <p:cNvPr id="34" name="Left-Right Arrow 33"/>
          <p:cNvSpPr/>
          <p:nvPr/>
        </p:nvSpPr>
        <p:spPr>
          <a:xfrm>
            <a:off x="2450592" y="4480560"/>
            <a:ext cx="274320" cy="128016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61488" y="4389120"/>
            <a:ext cx="10972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リスク状況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セルフチェック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4846320"/>
            <a:ext cx="2423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749039"/>
            <a:ext cx="1463040" cy="2103120"/>
          </a:xfrm>
          <a:prstGeom prst="rect">
            <a:avLst/>
          </a:prstGeom>
          <a:solidFill>
            <a:srgbClr val="F3F5F6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3767328"/>
            <a:ext cx="14630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041648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アプリ機能拡張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情報共有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526280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AI開発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担当チーム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5148072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アプリ公開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バックサポート</a:t>
            </a:r>
          </a:p>
        </p:txBody>
      </p:sp>
      <p:sp>
        <p:nvSpPr>
          <p:cNvPr id="42" name="Left-Right Arrow 41"/>
          <p:cNvSpPr/>
          <p:nvPr/>
        </p:nvSpPr>
        <p:spPr>
          <a:xfrm>
            <a:off x="3886200" y="4690872"/>
            <a:ext cx="365760" cy="118872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58768" y="4828032"/>
            <a:ext cx="42062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連携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3520440"/>
            <a:ext cx="1280160" cy="2331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97880" y="3538728"/>
            <a:ext cx="128016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デロイト支援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416052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4434840"/>
            <a:ext cx="1097280" cy="658368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Winアプリの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品質対応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5166360"/>
            <a:ext cx="11887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助言・技術支援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＋検証環境で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の改修継続</a:t>
            </a:r>
          </a:p>
        </p:txBody>
      </p:sp>
      <p:sp>
        <p:nvSpPr>
          <p:cNvPr id="49" name="Left-Right Arrow 48"/>
          <p:cNvSpPr/>
          <p:nvPr/>
        </p:nvSpPr>
        <p:spPr>
          <a:xfrm>
            <a:off x="5650992" y="4709160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06640" y="1965960"/>
            <a:ext cx="31546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77272" y="20391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1965960"/>
            <a:ext cx="2743200" cy="26974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公開後の2か月を「立ち上げ」「定着」の2局面で技術支援し、10月は9/11版以降の改修を検証環境で継続する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立ち上げ（10月）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事象の切り分け・修正案の提供、本番へ取り込む改修の範囲・時期の整理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定着（11月）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回答品質の定点評価、AI回答の粒度・品質のチューニング、利用実態に基づく改修優先順位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改修（10月）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残る改修要望を検証環境で改修し、BX推進部の確認を経てITEC様の本番取り込みへ受け渡し（11月以降の発生分は相談）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11月末の到達点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既存アプリが本番公開され、貴社・ITEC様主体で運用と改善を回せる状態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詳細：次頁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06640" y="4800600"/>
            <a:ext cx="31546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改修の反映の流れ（2環境の使い分け）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5029200"/>
            <a:ext cx="960120" cy="566928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検証環境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PoC環境。弊社が改修・検証</a:t>
            </a:r>
          </a:p>
        </p:txBody>
      </p:sp>
      <p:sp>
        <p:nvSpPr>
          <p:cNvPr id="55" name="Chevron 54"/>
          <p:cNvSpPr/>
          <p:nvPr/>
        </p:nvSpPr>
        <p:spPr>
          <a:xfrm>
            <a:off x="8385048" y="5248656"/>
            <a:ext cx="100584" cy="128016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03919" y="5029200"/>
            <a:ext cx="960120" cy="566928"/>
          </a:xfrm>
          <a:prstGeom prst="rect">
            <a:avLst/>
          </a:prstGeom>
          <a:solidFill>
            <a:srgbClr val="F3F5F6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BX推進部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内容の確認・優先順位</a:t>
            </a:r>
          </a:p>
        </p:txBody>
      </p:sp>
      <p:sp>
        <p:nvSpPr>
          <p:cNvPr id="57" name="Chevron 56"/>
          <p:cNvSpPr/>
          <p:nvPr/>
        </p:nvSpPr>
        <p:spPr>
          <a:xfrm>
            <a:off x="9482328" y="5248656"/>
            <a:ext cx="100584" cy="128016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01200" y="5029200"/>
            <a:ext cx="960120" cy="566928"/>
          </a:xfrm>
          <a:prstGeom prst="rect">
            <a:avLst/>
          </a:prstGeom>
          <a:solidFill>
            <a:srgbClr val="E8EAEC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本番環境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ITEC様が取り込み・公開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5614416"/>
            <a:ext cx="31546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取り込みの単位・頻度は「ITEC様への確認事項」で確認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98480" y="3017520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シンロン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" y="6144768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出所：阪急阪神ホールディングス様提供資料「HHHD_AIガバナンスプロセス_v01_20260826Deloitte初版.pptx」2-2. BX推進部内AIガバナンス体制案より一部改変。弊社支援はITEC様のAI開発担当チームと連携して実施（公開・運用の主体は貴社・ITEC様、弊社は助言・技術支援）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949440" cy="466344"/>
          </a:xfrm>
        </p:spPr>
        <p:txBody>
          <a:bodyPr/>
          <a:lstStyle/>
          <a:p>
            <a:r>
              <a:rPr lang="ja-JP" altLang="en-US"/>
              <a:t>既存Quick-Winアプリ公開に向けた課題と対応内容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公開後2か月の課題は「立ち上げ」と「定着」に集約され、検証環境での改修と引継ぎを並行しつつ、作った側にしか担えない技術支援を提供します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572768"/>
          <a:ext cx="11237976" cy="4398264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3657600"/>
                <a:gridCol w="3657600"/>
                <a:gridCol w="232257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局面（時期）</a:t>
                      </a:r>
                    </a:p>
                  </a:txBody>
                  <a:tcPr marL="91440" marT="73152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貴社の課題・ニーズ</a:t>
                      </a:r>
                    </a:p>
                  </a:txBody>
                  <a:tcPr marL="91440" marT="73152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弊社の実施事項（助言・技術支援）</a:t>
                      </a:r>
                    </a:p>
                  </a:txBody>
                  <a:tcPr marL="91440" marT="73152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付加価値</a:t>
                      </a:r>
                    </a:p>
                  </a:txBody>
                  <a:tcPr marL="91440" marT="73152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5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立ち上げ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10月：移行判定 → 初版セキュア公開 → 初期の安定化</a:t>
                      </a:r>
                    </a:p>
                  </a:txBody>
                  <a:tcPr marL="91440" marT="73152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統合テストで判明する事象のうち、AI固有の挙動（プロンプト・検索・外部取得）の切り分け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9/11版以降の改修（120点超）のうち、本番へ取り込む範囲と時期の判断（ITEC様の工数との調整）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実データ配置と運用ルール（定期取得・受け渡し箱）の確定</a:t>
                      </a:r>
                    </a:p>
                  </a:txBody>
                  <a:tcPr marL="91440" marT="73152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不具合の切り分けと修正案・対策の提供（適用はITEC様）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改修ごとの影響・工数・優先度を整理し、取り込み案を提示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計画書・予算編成方針の実データ配置の伴走と、定期取得・受け渡し箱の運用ルールの設計支援</a:t>
                      </a:r>
                    </a:p>
                  </a:txBody>
                  <a:tcPr marL="91440" marT="73152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公開遅延リスクを最小化</a:t>
                      </a:r>
                    </a:p>
                    <a:p>
                      <a:pPr algn="l">
                        <a:buNone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作った側にしか分からない挙動へ即応し、ITEC様の初動負荷を下げる</a:t>
                      </a:r>
                    </a:p>
                  </a:txBody>
                  <a:tcPr marL="91440" marT="73152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2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5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定着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11月：限定ユーザーでの利用と評価</a:t>
                      </a:r>
                    </a:p>
                  </a:txBody>
                  <a:tcPr marL="91440" marT="73152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役員・経営企画が使い続けるかの見極め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限定ユーザー期は利用が少なく、「実務に足る」品質を判断する材料が集まりにくい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AI回答の粒度・品質（壁打ち・計画点検・総会QAの回答案）を実務に合わせて調整したい</a:t>
                      </a:r>
                    </a:p>
                  </a:txBody>
                  <a:tcPr marL="91440" marT="73152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貴社から受領するログ・利用者評価の分析と、改修バックログの優先順位づけ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回答品質の物差し（10観点・同一質問セット）による定点評価。少ない利用でも評価できる型を提供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評価の低い回答を分析し、プロンプト・根拠の量・出力の型の調整案を検証環境で前後比較のうえ提案</a:t>
                      </a:r>
                    </a:p>
                  </a:txBody>
                  <a:tcPr marL="91440" marT="73152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「使われないPoC」化を回避し、貴社・ITEC様主体で運用できる状態に</a:t>
                      </a:r>
                    </a:p>
                    <a:p>
                      <a:pPr algn="l">
                        <a:buNone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回答の質を作った側が直接調整でき、改修は利用データで選べる</a:t>
                      </a:r>
                    </a:p>
                  </a:txBody>
                  <a:tcPr marL="91440" marT="73152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並行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5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改修と引継ぎ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10月（11月以降の発生分は相談）：検証環境を使った改修と受け渡し</a:t>
                      </a:r>
                    </a:p>
                  </a:txBody>
                  <a:tcPr marL="91440" marT="73152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9/11版以降に受け付けた改修要望（120点超）の残件と、公開後に出る新規要望への対応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検証環境と本番の差分管理、本番へ取り込む単位・時期の判断</a:t>
                      </a:r>
                    </a:p>
                  </a:txBody>
                  <a:tcPr marL="91440" marT="73152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検証環境で改修を継続し、改修台帳で状態（要望・対応・取り込み可否）を管理</a:t>
                      </a:r>
                    </a:p>
                    <a:p>
                      <a:pPr algn="l" marL="109728" indent="-109728">
                        <a:spcAft>
                          <a:spcPts val="4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BX推進部の確認を経て、差分・手順の説明と更新ドキュメントとともにITEC様の本番取り込みへ受け渡し</a:t>
                      </a:r>
                    </a:p>
                  </a:txBody>
                  <a:tcPr marL="91440" marT="73152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公開後も改善が止まらない</a:t>
                      </a:r>
                    </a:p>
                    <a:p>
                      <a:pPr algn="l">
                        <a:buNone/>
                      </a:pPr>
                      <a:r>
                        <a:rPr sz="95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本番の安定（ITEC様）と改善の速度（検証環境）を両立する</a:t>
                      </a:r>
                    </a:p>
                  </a:txBody>
                  <a:tcPr marL="91440" marT="73152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6080760"/>
            <a:ext cx="1123797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課題は第12回週次報告（9/24）時点の「主なリスクと課題」および移行判定に向けた論点を踏まえて整理。12月以降の対象拡大（拡大版）は本支援の範囲外とし、必要に応じて別途ご相談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949440" cy="466344"/>
          </a:xfrm>
        </p:spPr>
        <p:txBody>
          <a:bodyPr/>
          <a:lstStyle/>
          <a:p>
            <a:r>
              <a:rPr lang="ja-JP" altLang="en-US"/>
              <a:t>タスク一覧と役割分担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貴社・ITEC様が主体で公開・運用を進め、弊社は作った側の知見による助言・技術支援と、検証環境での改修継続を担います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572768"/>
          <a:ext cx="11237974" cy="3822192"/>
        </p:xfrm>
        <a:graphic>
          <a:graphicData uri="http://schemas.openxmlformats.org/drawingml/2006/table">
            <a:tbl>
              <a:tblPr firstRow="0" bandRow="0"/>
              <a:tblGrid>
                <a:gridCol w="685800"/>
                <a:gridCol w="1874519"/>
                <a:gridCol w="3977639"/>
                <a:gridCol w="2103120"/>
                <a:gridCol w="1463040"/>
                <a:gridCol w="113385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WS</a:t>
                      </a:r>
                    </a:p>
                  </a:txBody>
                  <a:tcPr marL="73152" marT="36576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タスク</a:t>
                      </a:r>
                    </a:p>
                  </a:txBody>
                  <a:tcPr marL="73152" marT="36576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概要</a:t>
                      </a:r>
                    </a:p>
                  </a:txBody>
                  <a:tcPr marL="73152" marT="36576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想定作成物</a:t>
                      </a:r>
                    </a:p>
                  </a:txBody>
                  <a:tcPr marL="73152" marT="36576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貴社（ITEC様含む）</a:t>
                      </a:r>
                    </a:p>
                  </a:txBody>
                  <a:tcPr marL="73152" marT="36576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弊社</a:t>
                      </a:r>
                    </a:p>
                  </a:txBody>
                  <a:tcPr marL="73152" marT="36576" marR="73152" marB="36576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713232">
                <a:tc rowSpan="4"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  <a:p>
                      <a:pPr algn="ctr">
                        <a:buNone/>
                      </a:pPr>
                      <a:r>
                        <a:rPr sz="7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既存Quick-Win
アプリの品質対応</a:t>
                      </a:r>
                    </a:p>
                  </a:txBody>
                  <a:tcPr marL="73152" marT="36576" marR="73152" marB="36576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B1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公開前支援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10月上旬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初版公開（10/5）に向け、統合テストで判明した事象のうちAI固有の挙動を切り分けて修正案を提示</a:t>
                      </a:r>
                    </a:p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公開前の設定確認（定期取得・外部接続・実データ配置）への助言と、公開後に取り込む改修の範囲・時期の案を提示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事象の切り分け・修正案／取り込み範囲・時期の案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テスト・修正の適用・公開判断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助言・技術支援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56692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36576" marR="73152" marB="36576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B2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初版公開フォロー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公開直後の問合せ・不具合の切り分けと対策・精度改善の助言（利用開始時のつまずきを早期に解消）</a:t>
                      </a:r>
                    </a:p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対応の記録と、改修として扱う事項の整理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課題対応記録／改修候補リスト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運用・問合せ対応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助言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822960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36576" marR="73152" marB="36576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B3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品質評価・定着支援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10〜11月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利用ログ・利用者評価をもとに、回答品質の10観点と同一質問セットで定点評価</a:t>
                      </a:r>
                    </a:p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評価の低い回答を分析し、AI回答の粒度・品質のチューニング案（プロンプト・根拠の量・出力の型）を検証環境で前後比較のうえ提案</a:t>
                      </a:r>
                    </a:p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改修バックログの優先順位案を作成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品質評価レポート／チューニング案（前後比較つき）／改修バックログ（優先順位案）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主体（BX推進部）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利用推進・利用者評価の収集・採否の判断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分析・チューニング案の提案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786384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36576" marR="73152" marB="36576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B4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改修依頼への対応・引継ぎ（検証環境）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10月（11月以降の発生分は相談）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9/11版以降の残要望・新規要望を検証環境で改修し、改修台帳で管理</a:t>
                      </a:r>
                    </a:p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BX推進部の確認後、差分・手順の説明と更新ドキュメントとともにITEC様の本番取り込みへ受け渡し、引継ぎ説明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改修済みアプリ（検証環境）／改修台帳／取り込み用の差分説明／更新ドキュメント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確認（BX推進部）／本番取り込み（ITEC様）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取り込みの単位・時期の決定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検証環境での改修・検証、引継ぎ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900" b="1" i="0" lang="ja-JP" altLang="en-US">
                          <a:solidFill>
                            <a:srgbClr val="53565A"/>
                          </a:solidFill>
                          <a:latin typeface="Yu Gothic"/>
                          <a:ea typeface="Yu Gothic"/>
                        </a:rPr>
                        <a:t>共通</a:t>
                      </a:r>
                    </a:p>
                  </a:txBody>
                  <a:tcPr marL="73152" marT="36576" marR="73152" marB="36576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定例・報告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通期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週次定例（進捗・課題・改修台帳の確認）</a:t>
                      </a:r>
                    </a:p>
                    <a:p>
                      <a:pPr algn="l" marL="109728" indent="-109728">
                        <a:spcAft>
                          <a:spcPts val="1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中間報告（10月末：公開後の状態と課題）・最終報告（11月下旬：利用・品質の評価、改修台帳の残件と以降の改修計画案）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週次報告資料／中間・最終報告書</a:t>
                      </a:r>
                    </a:p>
                  </a:txBody>
                  <a:tcPr marL="73152" marT="36576" marR="73152" marB="36576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運営（BX推進部）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役員報告の日程調整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資料作成・報告</a:t>
                      </a:r>
                    </a:p>
                  </a:txBody>
                  <a:tcPr marL="73152" marT="36576" marR="73152" marB="36576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6172200"/>
            <a:ext cx="1123797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主体＝実施責任を持つ側、助言・技術支援＝作った側の知見で判断材料と修正案を提供する立場。Bの時期は貴社の公開スケジュールに合わせて調整。検証環境での改修は本番に直接反映せず、ITEC様の取り込みを経て公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949440" cy="466344"/>
          </a:xfrm>
        </p:spPr>
        <p:txBody>
          <a:bodyPr/>
          <a:lstStyle/>
          <a:p>
            <a:r>
              <a:rPr lang="ja-JP" altLang="en-US"/>
              <a:t>スケジュール案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前述のスコープを2026/10/1〜11/30の2か月で推進し、11月下旬の最終報告で公開後の状態と以降の改修計画を確認します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8732520" y="1051560"/>
            <a:ext cx="2980944" cy="329184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支援期間：2026/10/1 – 2026/11/30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4368" y="1572768"/>
            <a:ext cx="4871720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8" name="Rectangle 7"/>
          <p:cNvSpPr/>
          <p:nvPr/>
        </p:nvSpPr>
        <p:spPr>
          <a:xfrm>
            <a:off x="3918712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3056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400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1744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5W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6088" y="1572768"/>
            <a:ext cx="3897376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11月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6088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90432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64776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39120" y="1847088"/>
            <a:ext cx="974344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1572768"/>
            <a:ext cx="1463040" cy="52120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ワークストリーム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1572768"/>
            <a:ext cx="1005840" cy="52120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主体／支援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44368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18712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93056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67400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41744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6088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90432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64776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739120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13464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16088" y="2093976"/>
            <a:ext cx="0" cy="3557016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75488" y="2093976"/>
            <a:ext cx="2468880" cy="38404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マイルストーン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488" y="247802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30352" y="3223260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3186684"/>
            <a:ext cx="1042416" cy="36576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5488" y="426110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0352" y="4617720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4581144"/>
            <a:ext cx="1042416" cy="36576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改修と引継ぎ（検証環境）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75488" y="526694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75488" y="5266944"/>
            <a:ext cx="2468880" cy="38404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共通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5488" y="565099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75488" y="2093976"/>
            <a:ext cx="11237976" cy="0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938528" y="2093976"/>
            <a:ext cx="0" cy="355701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3982567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74591" y="2093976"/>
            <a:ext cx="237744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10/5 初版セキュア公開（限定ユーザー）</a:t>
            </a:r>
          </a:p>
        </p:txBody>
      </p:sp>
      <p:sp>
        <p:nvSpPr>
          <p:cNvPr id="44" name="Diamond 43"/>
          <p:cNvSpPr/>
          <p:nvPr/>
        </p:nvSpPr>
        <p:spPr>
          <a:xfrm>
            <a:off x="7636357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28381" y="2093976"/>
            <a:ext cx="237744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中間報告（10月末）</a:t>
            </a:r>
          </a:p>
        </p:txBody>
      </p:sp>
      <p:sp>
        <p:nvSpPr>
          <p:cNvPr id="46" name="Diamond 45"/>
          <p:cNvSpPr/>
          <p:nvPr/>
        </p:nvSpPr>
        <p:spPr>
          <a:xfrm>
            <a:off x="11533733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21469" y="2093976"/>
            <a:ext cx="210312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最終報告（11月下旬）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38528" y="2532888"/>
            <a:ext cx="1005840" cy="52120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貴社・ITEC様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主体</a:t>
            </a:r>
          </a:p>
        </p:txBody>
      </p:sp>
      <p:sp>
        <p:nvSpPr>
          <p:cNvPr id="49" name="Pentagon 48"/>
          <p:cNvSpPr/>
          <p:nvPr/>
        </p:nvSpPr>
        <p:spPr>
          <a:xfrm>
            <a:off x="2971800" y="2532888"/>
            <a:ext cx="1309217" cy="521207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移行判定→公開</a:t>
            </a:r>
          </a:p>
        </p:txBody>
      </p:sp>
      <p:sp>
        <p:nvSpPr>
          <p:cNvPr id="50" name="Pentagon 49"/>
          <p:cNvSpPr/>
          <p:nvPr/>
        </p:nvSpPr>
        <p:spPr>
          <a:xfrm>
            <a:off x="4335881" y="2532888"/>
            <a:ext cx="3452774" cy="521207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初版の運用・問合せ対応（BX推進部・一部役員）</a:t>
            </a:r>
          </a:p>
        </p:txBody>
      </p:sp>
      <p:sp>
        <p:nvSpPr>
          <p:cNvPr id="51" name="Pentagon 50"/>
          <p:cNvSpPr/>
          <p:nvPr/>
        </p:nvSpPr>
        <p:spPr>
          <a:xfrm>
            <a:off x="7843520" y="2532888"/>
            <a:ext cx="3842512" cy="521207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利用推進・利用者評価の収集／権限・運用の設計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38528" y="3108960"/>
            <a:ext cx="1005840" cy="109727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弊社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助言・技術支援</a:t>
            </a:r>
          </a:p>
        </p:txBody>
      </p:sp>
      <p:sp>
        <p:nvSpPr>
          <p:cNvPr id="53" name="Pentagon 52"/>
          <p:cNvSpPr/>
          <p:nvPr/>
        </p:nvSpPr>
        <p:spPr>
          <a:xfrm>
            <a:off x="2971800" y="3108960"/>
            <a:ext cx="1309217" cy="521207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B1 公開前支援</a:t>
            </a:r>
          </a:p>
        </p:txBody>
      </p:sp>
      <p:sp>
        <p:nvSpPr>
          <p:cNvPr id="54" name="Pentagon 53"/>
          <p:cNvSpPr/>
          <p:nvPr/>
        </p:nvSpPr>
        <p:spPr>
          <a:xfrm>
            <a:off x="4335881" y="3108960"/>
            <a:ext cx="3452774" cy="521207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B2 初版公開フォロー</a:t>
            </a:r>
          </a:p>
        </p:txBody>
      </p:sp>
      <p:sp>
        <p:nvSpPr>
          <p:cNvPr id="55" name="Pentagon 54"/>
          <p:cNvSpPr/>
          <p:nvPr/>
        </p:nvSpPr>
        <p:spPr>
          <a:xfrm>
            <a:off x="4920488" y="3685031"/>
            <a:ext cx="6765544" cy="521207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B3 品質評価・定着支援（定点評価、AI回答の粒度・品質のチューニング、改修優先順位）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38528" y="4315968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弊社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主体</a:t>
            </a:r>
          </a:p>
        </p:txBody>
      </p:sp>
      <p:sp>
        <p:nvSpPr>
          <p:cNvPr id="57" name="Pentagon 56"/>
          <p:cNvSpPr/>
          <p:nvPr/>
        </p:nvSpPr>
        <p:spPr>
          <a:xfrm>
            <a:off x="2971800" y="4315968"/>
            <a:ext cx="4816856" cy="42062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B4 検証環境での改修（9/11版以降の残要望・新規要望）と改修台帳の管理・引継ぎ</a:t>
            </a:r>
          </a:p>
        </p:txBody>
      </p:sp>
      <p:sp>
        <p:nvSpPr>
          <p:cNvPr id="58" name="Pentagon 57"/>
          <p:cNvSpPr/>
          <p:nvPr/>
        </p:nvSpPr>
        <p:spPr>
          <a:xfrm>
            <a:off x="7843520" y="4315968"/>
            <a:ext cx="3842512" cy="420624"/>
          </a:xfrm>
          <a:prstGeom prst="homePlate">
            <a:avLst/>
          </a:prstGeom>
          <a:noFill/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11月以降に発生する場合は相談のうえ対応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38528" y="4791456"/>
            <a:ext cx="1005840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貴社・ITEC様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確認・取り込み</a:t>
            </a:r>
          </a:p>
        </p:txBody>
      </p:sp>
      <p:sp>
        <p:nvSpPr>
          <p:cNvPr id="60" name="Diamond 59"/>
          <p:cNvSpPr/>
          <p:nvPr/>
        </p:nvSpPr>
        <p:spPr>
          <a:xfrm>
            <a:off x="5297932" y="4919472"/>
            <a:ext cx="164592" cy="164592"/>
          </a:xfrm>
          <a:prstGeom prst="diamond">
            <a:avLst/>
          </a:prstGeom>
          <a:solidFill>
            <a:srgbClr val="FFFFFF"/>
          </a:solidFill>
          <a:ln w="9525">
            <a:solidFill>
              <a:srgbClr val="5356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Diamond 60"/>
          <p:cNvSpPr/>
          <p:nvPr/>
        </p:nvSpPr>
        <p:spPr>
          <a:xfrm>
            <a:off x="7246620" y="4919472"/>
            <a:ext cx="164592" cy="164592"/>
          </a:xfrm>
          <a:prstGeom prst="diamond">
            <a:avLst/>
          </a:prstGeom>
          <a:solidFill>
            <a:srgbClr val="FFFFFF"/>
          </a:solidFill>
          <a:ln w="9525">
            <a:solidFill>
              <a:srgbClr val="5356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90088" y="4791456"/>
            <a:ext cx="1857248" cy="42062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73152" tIns="0" rIns="18288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◇＝BX推進部の確認 → ITEC様の本番取り込み（隔週を想定。単位・頻度は要確認）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38528" y="5321807"/>
            <a:ext cx="100584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 運営／弊社 資料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71800" y="5321807"/>
            <a:ext cx="871423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週次定例（進捗・課題・改修台帳の確認）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" y="5870447"/>
            <a:ext cx="292608" cy="146304"/>
          </a:xfrm>
          <a:prstGeom prst="rect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5815583"/>
            <a:ext cx="146304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貴社・ITEC様（主体）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58568" y="5870447"/>
            <a:ext cx="292608" cy="146304"/>
          </a:xfrm>
          <a:prstGeom prst="rect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87752" y="5815583"/>
            <a:ext cx="109728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弊社（主体）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84448" y="5870447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13631" y="5815583"/>
            <a:ext cx="146304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弊社（助言・技術支援）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5760720"/>
            <a:ext cx="6592824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貴社主体の公開スケジュールは弊社想定のため、貴社スケジュールに併せて対応します。中間・最終報告は貴社の役員報告・経営会議の日程に合わせて設定。12月以降の対象拡大は本支援の範囲外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949440" cy="466344"/>
          </a:xfrm>
        </p:spPr>
        <p:txBody>
          <a:bodyPr/>
          <a:lstStyle/>
          <a:p>
            <a:r>
              <a:rPr lang="ja-JP" altLang="en-US"/>
              <a:t>Phase2開始時のITEC様への確認事項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Phase2の開始にあたり、弊社が支援を進めるうえで必要な3点（検証環境の継続利用・改修の受け渡し方・情報連携の仕方）をITEC様と確認します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572768"/>
          <a:ext cx="11237976" cy="3895344"/>
        </p:xfrm>
        <a:graphic>
          <a:graphicData uri="http://schemas.openxmlformats.org/drawingml/2006/table">
            <a:tbl>
              <a:tblPr firstRow="0" bandRow="0"/>
              <a:tblGrid>
                <a:gridCol w="411480"/>
                <a:gridCol w="2468880"/>
                <a:gridCol w="5943600"/>
                <a:gridCol w="1325880"/>
                <a:gridCol w="108813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No</a:t>
                      </a:r>
                    </a:p>
                  </a:txBody>
                  <a:tcPr marL="91440" marT="54864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確認事項</a:t>
                      </a:r>
                    </a:p>
                  </a:txBody>
                  <a:tcPr marL="91440" marT="54864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背景・弊社の想定</a:t>
                      </a:r>
                    </a:p>
                  </a:txBody>
                  <a:tcPr marL="91440" marT="54864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確認先</a:t>
                      </a:r>
                    </a:p>
                  </a:txBody>
                  <a:tcPr marL="91440" marT="54864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期限</a:t>
                      </a:r>
                    </a:p>
                  </a:txBody>
                  <a:tcPr marL="91440" marT="54864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L="91440" marT="54864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  <a:buNone/>
                      </a:pPr>
                      <a:r>
                        <a:rPr sz="10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検証環境（PoC環境）の継続利用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期間・アクセス権・費用負担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9/11版以降の改修は検証環境で継続する見込み（10月末まで。11月以降の発生分は相談）のため、少なくとも11月末までの継続利用を確認したい。弊社想定：現行構成のまま継続し、BX推進部・ITEC様のアクセスも維持。以降の扱い（延長・停止・移管）は最終報告で協議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10月上旬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L="91440" marT="54864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  <a:buNone/>
                      </a:pPr>
                      <a:r>
                        <a:rPr sz="10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改修の受け渡し方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取り込みの単位・頻度、添える資料、説明の場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検証環境の改修を本番へ取り込む際に、弊社が受け渡す単位（改修台帳のまとまり）と頻度（隔週を想定）、添える資料の形式（差分説明・更新ドキュメント）、引継ぎ説明の場（週次定例内を想定）を確認したい。第2線（セキュリティ審査）への申請で弊社からの情報提供が必要な場合は、その内容も併せて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ITEC様・BX推進部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10月上旬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3</a:t>
                      </a:r>
                    </a:p>
                  </a:txBody>
                  <a:tcPr marL="91440" marT="54864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300"/>
                        </a:spcAft>
                        <a:buNone/>
                      </a:pPr>
                      <a:r>
                        <a:rPr sz="10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情報連携の仕方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窓口・連絡手段・定例参加、助言に必要な情報の受領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と弊社の窓口、日常の連絡手段、週次定例へのITEC様参加を確認したい。公開後の不具合・問合せで弊社に助言を求める際は、エラーID・伏字化済みログの抜粋・設定値を受領して切り分ける想定（弊社は本番環境を直接操作しない前提）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ITEC様・BX推進部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10/1</a:t>
                      </a:r>
                    </a:p>
                  </a:txBody>
                  <a:tcPr marL="91440" marT="54864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5532120"/>
            <a:ext cx="1123797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期限は10/5の初版公開と週次定例の開始に合わせた目安。本番環境の運用（定期実行・権限・監視等）はITEC様の設計に従い、弊社は求めに応じて設定値・手順を引継ぎ資料で提供する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41"/>
  <p:tag name="EE4P_STYLE_ID" val="076a8867-8b72-4914-890a-d2f9a5d03d99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507">
  <a:themeElements>
    <a:clrScheme name="Deloitte2025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8E462FA6-9B00-4E7F-BFC0-B6BC63B792EF}"/>
    </a:ext>
  </a:extLst>
</a:theme>
</file>

<file path=ppt/theme/theme2.xml><?xml version="1.0" encoding="utf-8"?>
<a:theme xmlns:a="http://schemas.openxmlformats.org/drawingml/2006/main" name="DT Template_16:9_J_202507_基本版②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EC5F9899-8C00-41A7-90E2-1AA9CB841817}"/>
    </a:ext>
  </a:extLst>
</a:theme>
</file>

<file path=ppt/theme/theme3.xml><?xml version="1.0" encoding="utf-8"?>
<a:theme xmlns:a="http://schemas.openxmlformats.org/drawingml/2006/main" name="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4.xml><?xml version="1.0" encoding="utf-8"?>
<a:theme xmlns:a="http://schemas.openxmlformats.org/drawingml/2006/main" name="1_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4429DF024E5448FC59C7B7B43C1AC" ma:contentTypeVersion="11" ma:contentTypeDescription="Create a new document." ma:contentTypeScope="" ma:versionID="acb135f8ac1bd7cde167a21f1321cadb">
  <xsd:schema xmlns:xsd="http://www.w3.org/2001/XMLSchema" xmlns:xs="http://www.w3.org/2001/XMLSchema" xmlns:p="http://schemas.microsoft.com/office/2006/metadata/properties" xmlns:ns2="736c8bd6-b1a7-463d-a242-abcb0c1a3ab7" xmlns:ns3="25a5c49f-f1be-44ee-b7a9-954566e675d2" targetNamespace="http://schemas.microsoft.com/office/2006/metadata/properties" ma:root="true" ma:fieldsID="72c5b997e5e4c90e17cc0c94290d5872" ns2:_="" ns3:_="">
    <xsd:import namespace="736c8bd6-b1a7-463d-a242-abcb0c1a3ab7"/>
    <xsd:import namespace="25a5c49f-f1be-44ee-b7a9-954566e67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c8bd6-b1a7-463d-a242-abcb0c1a3a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5c49f-f1be-44ee-b7a9-954566e675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a2c12e-9cd8-4bdc-a214-d5fe3fdc3985}" ma:internalName="TaxCatchAll" ma:showField="CatchAllData" ma:web="25a5c49f-f1be-44ee-b7a9-954566e67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c8bd6-b1a7-463d-a242-abcb0c1a3ab7">
      <Terms xmlns="http://schemas.microsoft.com/office/infopath/2007/PartnerControls"/>
    </lcf76f155ced4ddcb4097134ff3c332f>
    <TaxCatchAll xmlns="25a5c49f-f1be-44ee-b7a9-954566e675d2" xsi:nil="true"/>
  </documentManagement>
</p:properties>
</file>

<file path=customXml/itemProps1.xml><?xml version="1.0" encoding="utf-8"?>
<ds:datastoreItem xmlns:ds="http://schemas.openxmlformats.org/officeDocument/2006/customXml" ds:itemID="{6F2A2CF3-6367-444C-AA09-0D41A3DD392F}">
  <ds:schemaRefs>
    <ds:schemaRef ds:uri="25a5c49f-f1be-44ee-b7a9-954566e675d2"/>
    <ds:schemaRef ds:uri="736c8bd6-b1a7-463d-a242-abcb0c1a3a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C562D3-14B2-4A04-B255-084073502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75EE8-E51D-4422-BE39-CF7C0336777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25a5c49f-f1be-44ee-b7a9-954566e675d2"/>
    <ds:schemaRef ds:uri="736c8bd6-b1a7-463d-a242-abcb0c1a3ab7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2409</Words>
  <Application>Microsoft Office PowerPoint</Application>
  <PresentationFormat>ワイド画面</PresentationFormat>
  <Paragraphs>351</Paragraphs>
  <Slides>14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Yu Gothic UI</vt:lpstr>
      <vt:lpstr>游ゴシック</vt:lpstr>
      <vt:lpstr>Aptos</vt:lpstr>
      <vt:lpstr>Arial</vt:lpstr>
      <vt:lpstr>Calibri</vt:lpstr>
      <vt:lpstr>Verdana</vt:lpstr>
      <vt:lpstr>Wingdings</vt:lpstr>
      <vt:lpstr>Wingdings 2</vt:lpstr>
      <vt:lpstr>DT Template_16:9_J_202507</vt:lpstr>
      <vt:lpstr>DT Template_16:9_J_202507_基本版②</vt:lpstr>
      <vt:lpstr>DT Template_16:9_J_202401</vt:lpstr>
      <vt:lpstr>1_DT Template_16:9_J_202401</vt:lpstr>
      <vt:lpstr>thinkcellスライド</vt:lpstr>
      <vt:lpstr>think-cell スライド</vt:lpstr>
      <vt:lpstr>PowerPoint プレゼンテーション</vt:lpstr>
      <vt:lpstr>本日のアジェンダ</vt:lpstr>
      <vt:lpstr>本日時点ではスケジュール通りの進捗です</vt:lpstr>
      <vt:lpstr>本日のアジェンダ</vt:lpstr>
      <vt:lpstr>本取り組みはスケジュール通り推進されています</vt:lpstr>
      <vt:lpstr>本日のアジェンダ</vt:lpstr>
      <vt:lpstr>残課題への対応を反映したアプリを9月末までにITEC様へ引き渡し、今後のバージョンアップデートにて順次適応します</vt:lpstr>
      <vt:lpstr>残課題への対応を反映したアプリを9月末までにITEC様へ引き渡し、今後のバージョンアップデートにて順次適応します</vt:lpstr>
      <vt:lpstr>アプリ画面にてご説明いたします</vt:lpstr>
      <vt:lpstr>本日のアジェンダ</vt:lpstr>
      <vt:lpstr>10月セキュア公開に向けて、9/11にリリース対象版をFIXし、以降はITEC様が統合テスト・移行準備を主導、デロイトは引継ぎ資料整備、エラー・質疑対応、バックログ整理に注力します</vt:lpstr>
      <vt:lpstr>各種無料APIの利用にはHHHD側でのアカウント登録およびAPI Keyの新規発行が必要です</vt:lpstr>
      <vt:lpstr>Appendix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Xinlong</dc:creator>
  <cp:lastModifiedBy>Hu, Xinlong</cp:lastModifiedBy>
  <cp:revision>1</cp:revision>
  <dcterms:created xsi:type="dcterms:W3CDTF">2026-06-25T23:44:23Z</dcterms:created>
  <dcterms:modified xsi:type="dcterms:W3CDTF">2026-09-15T12:05:27Z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0x0101003CF4429DF024E5448FC59C7B7B43C1AC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