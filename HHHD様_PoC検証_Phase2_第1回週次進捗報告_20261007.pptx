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8" r:id="rId4"/>
    <p:sldMasterId id="2147483919" r:id="rId5"/>
    <p:sldMasterId id="2147483986" r:id="rId6"/>
    <p:sldMasterId id="2147484012" r:id="rId7"/>
  </p:sldMasterIdLst>
  <p:notesMasterIdLst>
    <p:notesMasterId r:id="rId22"/>
  </p:notesMasterIdLst>
  <p:handoutMasterIdLst>
    <p:handoutMasterId r:id="rId23"/>
  </p:handoutMasterIdLst>
  <p:sldIdLst>
    <p:sldId id="2147483641" r:id="rId8"/>
    <p:sldId id="2147483646" r:id="rId9"/>
    <p:sldId id="276" r:id="rId42"/>
    <p:sldId id="277" r:id="rId43"/>
    <p:sldId id="2147483647" r:id="rId32"/>
    <p:sldId id="278" r:id="rId44"/>
    <p:sldId id="279" r:id="rId45"/>
    <p:sldId id="262" r:id="rId18"/>
    <p:sldId id="280" r:id="rId46"/>
    <p:sldId id="281" r:id="rId47"/>
    <p:sldId id="263" r:id="rId15"/>
    <p:sldId id="266" r:id="rId14"/>
    <p:sldId id="282" r:id="rId48"/>
    <p:sldId id="274" r:id="rId21"/>
  </p:sldIdLst>
  <p:sldSz cx="12192000" cy="6858000"/>
  <p:notesSz cx="6735763" cy="9866313"/>
  <p:custDataLst>
    <p:tags r:id="rId24"/>
  </p:custDataLst>
  <p:defaultTex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3" orient="horz" pos="2137" userDrawn="1">
          <p15:clr>
            <a:srgbClr val="A4A3A4"/>
          </p15:clr>
        </p15:guide>
        <p15:guide id="4"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34F904-F128-8147-A709-5BA0B0EDD907}" name="Kato, Yoshiko 1" initials="K1" userId="S::yoshiko1.kato@tohmatsu.co.jp::0536b235-f5eb-4716-8d5f-c14ea1117cc8" providerId="AD"/>
  <p188:author id="{85B9C713-2719-418F-0DB1-FD33C6FBAE59}" name="Mori, Yukiko" initials="MY" userId="S::yukiko.mori@tohmatsu.co.jp::f6c28165-7909-45e9-8c53-3daca56a9b1c" providerId="AD"/>
  <p188:author id="{1E114F58-398E-C9D2-8536-99ABF1D54C77}" name="DLS" initials="u" userId="DLS" providerId="None"/>
  <p188:author id="{5FF94BAC-1D89-45C0-351C-0BB77D8448C6}" name="Fukushima, Rieko" initials="FR" userId="S::rieko.fukushima@tohmatsu.co.jp::42ea695b-0072-4304-903b-cd25183e2212" providerId="AD"/>
  <p188:author id="{668514CC-2331-AEE1-14A9-653540C09CE5}" name="Ochi, Hana" initials="OH" userId="S::haochi@tohmatsu.co.jp::9fa41629-42c7-428e-8d4f-8f774cfc782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hima, Michiru" initials="TM" lastIdx="16" clrIdx="0">
    <p:extLst>
      <p:ext uri="{19B8F6BF-5375-455C-9EA6-DF929625EA0E}">
        <p15:presenceInfo xmlns:p15="http://schemas.microsoft.com/office/powerpoint/2012/main" userId="S::miteshima@tohmatsu.co.jp::4ce32794-bca9-4413-b02a-c3d46948b27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A38"/>
    <a:srgbClr val="9BE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8D6A08-FCAC-4358-BAE4-43561AE9EF14}" v="2376" dt="2026-09-15T09:35:23.863"/>
    <p1510:client id="{AB5C4B94-6472-7803-CE20-A7CD06FA2A8B}" v="102" dt="2026-09-15T08:42:14.940"/>
    <p1510:client id="{F245FC92-33F3-4BB8-AB35-C27D90D97766}" v="1" dt="2026-09-15T12:05:26.99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132" y="366"/>
      </p:cViewPr>
      <p:guideLst>
        <p:guide orient="horz" pos="2137"/>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4" Type="http://schemas.openxmlformats.org/officeDocument/2006/relationships/slide" Target="slides/slide24.xml"/><Relationship Id="rId15" Type="http://schemas.openxmlformats.org/officeDocument/2006/relationships/slide" Target="slides/slide23.xml"/><Relationship Id="rId18" Type="http://schemas.openxmlformats.org/officeDocument/2006/relationships/slide" Target="slides/slide22.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tags" Target="tags/tag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 Id="rId31" Type="http://schemas.microsoft.com/office/2018/10/relationships/authors" Target="authors.xml"/><Relationship Id="rId32" Type="http://schemas.openxmlformats.org/officeDocument/2006/relationships/slide" Target="slides/slide21.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47" Type="http://schemas.openxmlformats.org/officeDocument/2006/relationships/slide" Target="slides/slide30.xml"/><Relationship Id="rId48" Type="http://schemas.openxmlformats.org/officeDocument/2006/relationships/slide" Target="slides/slide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解消</c:v>
                </c:pt>
              </c:strCache>
            </c:strRef>
          </c:tx>
          <c:spPr>
            <a:solidFill>
              <a:srgbClr val="046A38"/>
            </a:solidFill>
            <a:ln>
              <a:noFill/>
            </a:ln>
          </c:spPr>
          <c:dLbls>
            <c:numFmt formatCode="0;;;" sourceLinked="0"/>
            <c:txPr>
              <a:bodyPr/>
              <a:lstStyle/>
              <a:p>
                <a:pPr>
                  <a:defRPr sz="1100" b="1">
                    <a:solidFill>
                      <a:srgbClr val="FFFFFF"/>
                    </a:solidFill>
                  </a:defRPr>
                </a:pPr>
              </a:p>
            </c:txPr>
            <c:dLblPos val="ctr"/>
            <c:showLegendKey val="0"/>
            <c:showVal val="1"/>
            <c:showCatName val="0"/>
            <c:showSerName val="0"/>
            <c:showPercent val="0"/>
            <c:showBubbleSize val="0"/>
            <c:showLeaderLines val="1"/>
          </c:dLbls>
          <c:cat>
            <c:strRef>
              <c:f>Sheet1!$A$2:$A$4</c:f>
              <c:strCache>
                <c:ptCount val="3"/>
                <c:pt idx="0">
                  <c:v>一部取得済み（26）</c:v>
                </c:pt>
                <c:pt idx="1">
                  <c:v>取得不可（40）</c:v>
                </c:pt>
                <c:pt idx="2">
                  <c:v>未着手（4）</c:v>
                </c:pt>
              </c:strCache>
            </c:strRef>
          </c:cat>
          <c:val>
            <c:numRef>
              <c:f>Sheet1!$B$2:$B$4</c:f>
              <c:numCache>
                <c:formatCode>General</c:formatCode>
                <c:ptCount val="3"/>
                <c:pt idx="0">
                  <c:v>13</c:v>
                </c:pt>
                <c:pt idx="1">
                  <c:v>6</c:v>
                </c:pt>
                <c:pt idx="2">
                  <c:v>2</c:v>
                </c:pt>
              </c:numCache>
            </c:numRef>
          </c:val>
        </c:ser>
        <c:ser>
          <c:idx val="1"/>
          <c:order val="1"/>
          <c:tx>
            <c:strRef>
              <c:f>Sheet1!$C$1</c:f>
              <c:strCache>
                <c:ptCount val="1"/>
                <c:pt idx="0">
                  <c:v>改善</c:v>
                </c:pt>
              </c:strCache>
            </c:strRef>
          </c:tx>
          <c:spPr>
            <a:solidFill>
              <a:srgbClr val="9FB8A8"/>
            </a:solidFill>
            <a:ln>
              <a:noFill/>
            </a:ln>
          </c:spPr>
          <c:dLbls>
            <c:numFmt formatCode="0;;;" sourceLinked="0"/>
            <c:txPr>
              <a:bodyPr/>
              <a:lstStyle/>
              <a:p>
                <a:pPr>
                  <a:defRPr sz="1100" b="1">
                    <a:solidFill>
                      <a:srgbClr val="262626"/>
                    </a:solidFill>
                  </a:defRPr>
                </a:pPr>
              </a:p>
            </c:txPr>
            <c:dLblPos val="ctr"/>
            <c:showLegendKey val="0"/>
            <c:showVal val="1"/>
            <c:showCatName val="0"/>
            <c:showSerName val="0"/>
            <c:showPercent val="0"/>
            <c:showBubbleSize val="0"/>
            <c:showLeaderLines val="1"/>
          </c:dLbls>
          <c:cat>
            <c:strRef>
              <c:f>Sheet1!$A$2:$A$4</c:f>
              <c:strCache>
                <c:ptCount val="3"/>
                <c:pt idx="0">
                  <c:v>一部取得済み（26）</c:v>
                </c:pt>
                <c:pt idx="1">
                  <c:v>取得不可（40）</c:v>
                </c:pt>
                <c:pt idx="2">
                  <c:v>未着手（4）</c:v>
                </c:pt>
              </c:strCache>
            </c:strRef>
          </c:cat>
          <c:val>
            <c:numRef>
              <c:f>Sheet1!$C$2:$C$4</c:f>
              <c:numCache>
                <c:formatCode>General</c:formatCode>
                <c:ptCount val="3"/>
                <c:pt idx="0">
                  <c:v>9</c:v>
                </c:pt>
                <c:pt idx="1">
                  <c:v>25</c:v>
                </c:pt>
                <c:pt idx="2">
                  <c:v>2</c:v>
                </c:pt>
              </c:numCache>
            </c:numRef>
          </c:val>
        </c:ser>
        <c:ser>
          <c:idx val="2"/>
          <c:order val="2"/>
          <c:tx>
            <c:strRef>
              <c:f>Sheet1!$D$1</c:f>
              <c:strCache>
                <c:ptCount val="1"/>
                <c:pt idx="0">
                  <c:v>変化なし</c:v>
                </c:pt>
              </c:strCache>
            </c:strRef>
          </c:tx>
          <c:spPr>
            <a:solidFill>
              <a:srgbClr val="DCDCDC"/>
            </a:solidFill>
            <a:ln>
              <a:noFill/>
            </a:ln>
          </c:spPr>
          <c:dLbls>
            <c:numFmt formatCode="0;;;" sourceLinked="0"/>
            <c:txPr>
              <a:bodyPr/>
              <a:lstStyle/>
              <a:p>
                <a:pPr>
                  <a:defRPr sz="1100" b="1">
                    <a:solidFill>
                      <a:srgbClr val="262626"/>
                    </a:solidFill>
                  </a:defRPr>
                </a:pPr>
              </a:p>
            </c:txPr>
            <c:dLblPos val="ctr"/>
            <c:showLegendKey val="0"/>
            <c:showVal val="1"/>
            <c:showCatName val="0"/>
            <c:showSerName val="0"/>
            <c:showPercent val="0"/>
            <c:showBubbleSize val="0"/>
            <c:showLeaderLines val="1"/>
          </c:dLbls>
          <c:cat>
            <c:strRef>
              <c:f>Sheet1!$A$2:$A$4</c:f>
              <c:strCache>
                <c:ptCount val="3"/>
                <c:pt idx="0">
                  <c:v>一部取得済み（26）</c:v>
                </c:pt>
                <c:pt idx="1">
                  <c:v>取得不可（40）</c:v>
                </c:pt>
                <c:pt idx="2">
                  <c:v>未着手（4）</c:v>
                </c:pt>
              </c:strCache>
            </c:strRef>
          </c:cat>
          <c:val>
            <c:numRef>
              <c:f>Sheet1!$D$2:$D$4</c:f>
              <c:numCache>
                <c:formatCode>General</c:formatCode>
                <c:ptCount val="3"/>
                <c:pt idx="0">
                  <c:v>4</c:v>
                </c:pt>
                <c:pt idx="1">
                  <c:v>9</c:v>
                </c:pt>
                <c:pt idx="2">
                  <c:v>0</c:v>
                </c:pt>
              </c:numCache>
            </c:numRef>
          </c:val>
        </c:ser>
        <c:gapWidth val="45"/>
        <c:overlap val="100"/>
        <c:axId val="-2068027336"/>
        <c:axId val="-2113994440"/>
      </c:barChart>
      <c:catAx>
        <c:axId val="-2068027336"/>
        <c:scaling>
          <c:orientation val="maxMin"/>
        </c:scaling>
        <c:delete val="0"/>
        <c:axPos val="l"/>
        <c:majorTickMark val="out"/>
        <c:minorTickMark val="none"/>
        <c:tickLblPos val="nextTo"/>
        <c:spPr>
          <a:ln>
            <a:solidFill>
              <a:srgbClr val="D0D0CE"/>
            </a:solidFill>
          </a:ln>
        </c:spPr>
        <c:txPr>
          <a:bodyPr/>
          <a:lstStyle/>
          <a:p>
            <a:pPr>
              <a:defRPr sz="1100">
                <a:solidFill>
                  <a:srgbClr val="262626"/>
                </a:solidFill>
              </a:defRPr>
            </a:pPr>
          </a:p>
        </c:txPr>
        <c:crossAx val="-2113994440"/>
        <c:crosses val="autoZero"/>
        <c:auto val="1"/>
        <c:lblAlgn val="ctr"/>
        <c:lblOffset val="100"/>
        <c:noMultiLvlLbl val="0"/>
      </c:catAx>
      <c:valAx>
        <c:axId val="-2113994440"/>
        <c:scaling>
          <c:max val="40.0"/>
          <c:min val="0.0"/>
        </c:scaling>
        <c:delete/>
        <c:axPos val="b"/>
        <c:majorTickMark val="out"/>
        <c:minorTickMark val="none"/>
        <c:tickLblPos val="nextTo"/>
        <c:crossAx val="-2068027336"/>
        <c:crosses val="autoZero"/>
      </c:valAx>
    </c:plotArea>
    <c:legend>
      <c:legendPos val="t"/>
      <c:overlay val="0"/>
      <c:txPr>
        <a:bodyPr/>
        <a:lstStyle/>
        <a:p>
          <a:pPr>
            <a:defRPr sz="1050"/>
          </a:pPr>
        </a:p>
      </c:txPr>
    </c:legend>
    <c:dispBlanksAs val="gap"/>
  </c:chart>
  <c:txPr>
    <a:bodyPr/>
    <a:lstStyle/>
    <a:p>
      <a:pPr>
        <a:defRPr sz="1100">
          <a:solidFill>
            <a:srgbClr val="262626"/>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B2EC3375-25C1-4132-8356-F0254E04DDEC}" type="datetimeFigureOut">
              <a:rPr kumimoji="1" lang="ja-JP" altLang="en-US" smtClean="0"/>
              <a:t>2026/9/15</a:t>
            </a:fld>
            <a:endParaRPr kumimoji="1" lang="ja-JP" altLang="en-US"/>
          </a:p>
        </p:txBody>
      </p:sp>
      <p:sp>
        <p:nvSpPr>
          <p:cNvPr id="4" name="フッター プレースホルダー 3"/>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BC64172F-6366-47B3-B3D8-F99B8E17CF95}" type="slidenum">
              <a:rPr kumimoji="1" lang="ja-JP" altLang="en-US" smtClean="0"/>
              <a:t>‹#›</a:t>
            </a:fld>
            <a:endParaRPr kumimoji="1" lang="ja-JP" altLang="en-US"/>
          </a:p>
        </p:txBody>
      </p:sp>
    </p:spTree>
    <p:extLst>
      <p:ext uri="{BB962C8B-B14F-4D97-AF65-F5344CB8AC3E}">
        <p14:creationId xmlns:p14="http://schemas.microsoft.com/office/powerpoint/2010/main" val="18284794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atin typeface="+mn-lt"/>
                <a:ea typeface="Yu Gothic UI" panose="020B0500000000000000" pitchFamily="50" charset="-128"/>
                <a:cs typeface="+mn-cs"/>
                <a:sym typeface="+mn-lt"/>
              </a:defRPr>
            </a:lvl1pPr>
          </a:lstStyle>
          <a:p>
            <a:endParaRPr kumimoji="1" lang="ja-JP" altLang="en-US">
              <a:latin typeface="Aptos" panose="020B0004020202020204" pitchFamily="34" charset="0"/>
            </a:endParaRPr>
          </a:p>
        </p:txBody>
      </p:sp>
      <p:sp>
        <p:nvSpPr>
          <p:cNvPr id="3" name="日付プレースホルダー 2"/>
          <p:cNvSpPr>
            <a:spLocks noGrp="1"/>
          </p:cNvSpPr>
          <p:nvPr>
            <p:ph type="dt" idx="1"/>
          </p:nvPr>
        </p:nvSpPr>
        <p:spPr>
          <a:xfrm>
            <a:off x="3814763" y="0"/>
            <a:ext cx="2919412" cy="495300"/>
          </a:xfrm>
          <a:prstGeom prst="rect">
            <a:avLst/>
          </a:prstGeom>
        </p:spPr>
        <p:txBody>
          <a:bodyPr vert="horz" lIns="91440" tIns="45720" rIns="91440" bIns="45720" rtlCol="0"/>
          <a:lstStyle>
            <a:lvl1pPr algn="r">
              <a:defRPr sz="1200">
                <a:latin typeface="+mn-lt"/>
                <a:ea typeface="Yu Gothic UI" panose="020B0500000000000000" pitchFamily="50" charset="-128"/>
                <a:cs typeface="+mn-cs"/>
                <a:sym typeface="+mn-lt"/>
              </a:defRPr>
            </a:lvl1pPr>
          </a:lstStyle>
          <a:p>
            <a:fld id="{AAE2C4BB-DD5D-4EF0-8811-528209874544}" type="datetimeFigureOut">
              <a:rPr kumimoji="1" lang="ja-JP" altLang="en-US" smtClean="0">
                <a:latin typeface="Aptos" panose="020B0004020202020204" pitchFamily="34" charset="0"/>
              </a:rPr>
              <a:pPr/>
              <a:t>2026/9/15</a:t>
            </a:fld>
            <a:endParaRPr kumimoji="1" lang="ja-JP" altLang="en-US">
              <a:latin typeface="Aptos" panose="020B0004020202020204" pitchFamily="34" charset="0"/>
            </a:endParaRPr>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latin typeface="Aptos" panose="020B0004020202020204" pitchFamily="34" charset="0"/>
            </a:endParaRPr>
          </a:p>
        </p:txBody>
      </p:sp>
      <p:sp>
        <p:nvSpPr>
          <p:cNvPr id="5" name="ノート プレースホルダー 4"/>
          <p:cNvSpPr>
            <a:spLocks noGrp="1"/>
          </p:cNvSpPr>
          <p:nvPr>
            <p:ph type="body" sz="quarter" idx="3"/>
          </p:nvPr>
        </p:nvSpPr>
        <p:spPr>
          <a:xfrm>
            <a:off x="673100" y="4748213"/>
            <a:ext cx="5389563" cy="3884612"/>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013"/>
            <a:ext cx="2919413" cy="495300"/>
          </a:xfrm>
          <a:prstGeom prst="rect">
            <a:avLst/>
          </a:prstGeom>
        </p:spPr>
        <p:txBody>
          <a:bodyPr vert="horz" lIns="91440" tIns="45720" rIns="91440" bIns="45720" rtlCol="0" anchor="b"/>
          <a:lstStyle>
            <a:lvl1pPr algn="l">
              <a:defRPr sz="1200">
                <a:latin typeface="+mn-lt"/>
                <a:ea typeface="Yu Gothic UI" panose="020B0500000000000000" pitchFamily="50" charset="-128"/>
                <a:cs typeface="+mn-cs"/>
                <a:sym typeface="+mn-lt"/>
              </a:defRPr>
            </a:lvl1pPr>
          </a:lstStyle>
          <a:p>
            <a:endParaRPr kumimoji="1" lang="ja-JP" altLang="en-US">
              <a:latin typeface="Aptos" panose="020B0004020202020204" pitchFamily="34" charset="0"/>
            </a:endParaRPr>
          </a:p>
        </p:txBody>
      </p:sp>
      <p:sp>
        <p:nvSpPr>
          <p:cNvPr id="7" name="スライド番号プレースホルダー 6"/>
          <p:cNvSpPr>
            <a:spLocks noGrp="1"/>
          </p:cNvSpPr>
          <p:nvPr>
            <p:ph type="sldNum" sz="quarter" idx="5"/>
          </p:nvPr>
        </p:nvSpPr>
        <p:spPr>
          <a:xfrm>
            <a:off x="3814763" y="9371013"/>
            <a:ext cx="2919412" cy="495300"/>
          </a:xfrm>
          <a:prstGeom prst="rect">
            <a:avLst/>
          </a:prstGeom>
        </p:spPr>
        <p:txBody>
          <a:bodyPr vert="horz" lIns="91440" tIns="45720" rIns="91440" bIns="45720" rtlCol="0" anchor="b"/>
          <a:lstStyle>
            <a:lvl1pPr algn="r">
              <a:defRPr sz="1200">
                <a:latin typeface="+mn-lt"/>
                <a:ea typeface="Yu Gothic UI" panose="020B0500000000000000" pitchFamily="50" charset="-128"/>
                <a:cs typeface="+mn-cs"/>
                <a:sym typeface="+mn-lt"/>
              </a:defRPr>
            </a:lvl1pPr>
          </a:lstStyle>
          <a:p>
            <a:fld id="{24DE13BB-FCB6-4491-A87D-1E9BA7500F8E}" type="slidenum">
              <a:rPr kumimoji="1" lang="ja-JP" altLang="en-US" smtClean="0">
                <a:latin typeface="Aptos" panose="020B0004020202020204" pitchFamily="34" charset="0"/>
              </a:rPr>
              <a:pPr/>
              <a:t>‹#›</a:t>
            </a:fld>
            <a:endParaRPr kumimoji="1" lang="ja-JP" altLang="en-US">
              <a:latin typeface="Aptos" panose="020B0004020202020204" pitchFamily="34" charset="0"/>
            </a:endParaRPr>
          </a:p>
        </p:txBody>
      </p:sp>
    </p:spTree>
    <p:extLst>
      <p:ext uri="{BB962C8B-B14F-4D97-AF65-F5344CB8AC3E}">
        <p14:creationId xmlns:p14="http://schemas.microsoft.com/office/powerpoint/2010/main" val="9898522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1pPr>
    <a:lvl2pPr marL="4572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2pPr>
    <a:lvl3pPr marL="9144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3pPr>
    <a:lvl4pPr marL="13716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4pPr>
    <a:lvl5pPr marL="18288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88B299-FBEB-47AA-8879-672851374028}" type="slidenum">
              <a:rPr kumimoji="0"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ja-JP"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endParaRPr>
          </a:p>
        </p:txBody>
      </p:sp>
      <p:sp>
        <p:nvSpPr>
          <p:cNvPr id="3243010" name="Rectangle 2"/>
          <p:cNvSpPr>
            <a:spLocks noGrp="1" noRot="1" noChangeAspect="1" noChangeArrowheads="1" noTextEdit="1"/>
          </p:cNvSpPr>
          <p:nvPr>
            <p:ph type="sldImg"/>
          </p:nvPr>
        </p:nvSpPr>
        <p:spPr>
          <a:xfrm>
            <a:off x="106363" y="763588"/>
            <a:ext cx="6675437" cy="3754437"/>
          </a:xfrm>
          <a:ln/>
        </p:spPr>
      </p:sp>
      <p:sp>
        <p:nvSpPr>
          <p:cNvPr id="3243011" name="Rectangle 3"/>
          <p:cNvSpPr>
            <a:spLocks noGrp="1" noChangeArrowheads="1"/>
          </p:cNvSpPr>
          <p:nvPr>
            <p:ph type="body" idx="1"/>
          </p:nvPr>
        </p:nvSpPr>
        <p:spPr/>
        <p:txBody>
          <a:bodyPr/>
          <a:lstStyle/>
          <a:p>
            <a:r>
              <a:t>Phase2（10/1〜11/30）の第1回週次定例。弊社20分・ITEC様20分・アプリを見ながらの議論15分の構成。</a:t>
            </a:r>
          </a:p>
        </p:txBody>
      </p:sp>
    </p:spTree>
    <p:extLst>
      <p:ext uri="{BB962C8B-B14F-4D97-AF65-F5344CB8AC3E}">
        <p14:creationId xmlns:p14="http://schemas.microsoft.com/office/powerpoint/2010/main" val="2394225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FED8E-86F6-B61B-CC4C-78D39634B7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478D34-A1BD-C672-9BC4-87CC1564B06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47265D-B101-2A30-79BD-33710DC48466}"/>
              </a:ext>
            </a:extLst>
          </p:cNvPr>
          <p:cNvSpPr>
            <a:spLocks noGrp="1"/>
          </p:cNvSpPr>
          <p:nvPr>
            <p:ph type="body" idx="1"/>
          </p:nvPr>
        </p:nvSpPr>
        <p:spPr/>
        <p:txBody>
          <a:bodyPr/>
          <a:lstStyle/>
          <a:p>
            <a:r>
              <a:t>アジェンダ。弊社から全体像・改修・タイムラインを20分、続いてITEC様に20分ご報告いただき、最後に最新アプリを見ながら15分議論する。</a:t>
            </a:r>
          </a:p>
        </p:txBody>
      </p:sp>
      <p:sp>
        <p:nvSpPr>
          <p:cNvPr id="4" name="スライド番号プレースホルダー 3">
            <a:extLst>
              <a:ext uri="{FF2B5EF4-FFF2-40B4-BE49-F238E27FC236}">
                <a16:creationId xmlns:a16="http://schemas.microsoft.com/office/drawing/2014/main" id="{EE94A127-E733-011F-639B-1C3FDF8CD2DF}"/>
              </a:ext>
            </a:extLst>
          </p:cNvPr>
          <p:cNvSpPr>
            <a:spLocks noGrp="1"/>
          </p:cNvSpPr>
          <p:nvPr>
            <p:ph type="sldNum" sz="quarter" idx="5"/>
          </p:nvPr>
        </p:nvSpPr>
        <p:spPr/>
        <p:txBody>
          <a:bodyPr/>
          <a:lstStyle/>
          <a:p>
            <a:fld id="{24DE13BB-FCB6-4491-A87D-1E9BA7500F8E}" type="slidenum">
              <a:rPr kumimoji="1" lang="ja-JP" altLang="en-US" smtClean="0"/>
              <a:pPr/>
              <a:t>2</a:t>
            </a:fld>
            <a:endParaRPr kumimoji="1" lang="ja-JP" altLang="en-US"/>
          </a:p>
        </p:txBody>
      </p:sp>
    </p:spTree>
    <p:extLst>
      <p:ext uri="{BB962C8B-B14F-4D97-AF65-F5344CB8AC3E}">
        <p14:creationId xmlns:p14="http://schemas.microsoft.com/office/powerpoint/2010/main" val="2762883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C94BD-B15D-0572-61E9-19C6EEE9E4F9}"/>
            </a:ext>
          </a:extLst>
        </p:cNvPr>
        <p:cNvGrpSpPr/>
        <p:nvPr/>
      </p:nvGrpSpPr>
      <p:grpSpPr>
        <a:xfrm>
          <a:off x="0" y="0"/>
          <a:ext cx="0" cy="0"/>
          <a:chOff x="0" y="0"/>
          <a:chExt cx="0" cy="0"/>
        </a:xfrm>
      </p:grpSpPr>
      <p:sp>
        <p:nvSpPr>
          <p:cNvPr id="2" name="スライド イメージ プレースホルダ 1">
            <a:extLst>
              <a:ext uri="{FF2B5EF4-FFF2-40B4-BE49-F238E27FC236}">
                <a16:creationId xmlns:a16="http://schemas.microsoft.com/office/drawing/2014/main" id="{EC5B7F68-382E-3C62-BBCC-5FFD83DA06B7}"/>
              </a:ext>
            </a:extLst>
          </p:cNvPr>
          <p:cNvSpPr>
            <a:spLocks noGrp="1" noRot="1" noChangeAspect="1"/>
          </p:cNvSpPr>
          <p:nvPr>
            <p:ph type="sldImg"/>
          </p:nvPr>
        </p:nvSpPr>
        <p:spPr>
          <a:xfrm>
            <a:off x="468313" y="1270000"/>
            <a:ext cx="6092825" cy="3427413"/>
          </a:xfrm>
        </p:spPr>
        <p:txBody>
          <a:bodyPr/>
          <a:lstStyle/>
          <a:p>
            <a:endParaRPr lang="ja-JP" altLang="en-US"/>
          </a:p>
        </p:txBody>
      </p:sp>
      <p:sp>
        <p:nvSpPr>
          <p:cNvPr id="3" name="ノート プレースホルダ 2">
            <a:extLst>
              <a:ext uri="{FF2B5EF4-FFF2-40B4-BE49-F238E27FC236}">
                <a16:creationId xmlns:a16="http://schemas.microsoft.com/office/drawing/2014/main" id="{CB319246-651C-8051-478D-CD5ED55D4246}"/>
              </a:ext>
            </a:extLst>
          </p:cNvPr>
          <p:cNvSpPr>
            <a:spLocks noGrp="1"/>
          </p:cNvSpPr>
          <p:nvPr>
            <p:ph type="body" idx="1"/>
          </p:nvPr>
        </p:nvSpPr>
        <p:spPr/>
        <p:txBody>
          <a:bodyPr>
            <a:normAutofit/>
          </a:bodyPr>
          <a:lstStyle/>
          <a:p>
            <a:endParaRPr kumimoji="1" lang="ja-JP" altLang="en-US"/>
          </a:p>
        </p:txBody>
      </p:sp>
      <p:sp>
        <p:nvSpPr>
          <p:cNvPr id="4" name="スライド番号プレースホルダ 3">
            <a:extLst>
              <a:ext uri="{FF2B5EF4-FFF2-40B4-BE49-F238E27FC236}">
                <a16:creationId xmlns:a16="http://schemas.microsoft.com/office/drawing/2014/main" id="{41818E94-EA25-F321-EDFF-7FBCF691C79D}"/>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6A06DAD-44D3-4EA7-8DE4-9E33DC7017BE}" type="slidenum">
              <a:rPr kumimoji="0" lang="ja-JP" altLang="en-US" sz="1200" b="0" i="0" u="none" strike="noStrike" kern="1200" cap="none" spc="0" normalizeH="0" baseline="0" noProof="0" smtClean="0">
                <a:ln>
                  <a:noFill/>
                </a:ln>
                <a:solidFill>
                  <a:prstClr val="black"/>
                </a:solidFill>
                <a:effectLst/>
                <a:uLnTx/>
                <a:uFillTx/>
                <a:latin typeface="Calibri" panose="020F0502020204030204"/>
                <a:ea typeface="Yu Gothic UI" panose="020B0500000000000000" pitchFamily="50" charset="-128"/>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endParaRPr>
          </a:p>
        </p:txBody>
      </p:sp>
    </p:spTree>
    <p:extLst>
      <p:ext uri="{BB962C8B-B14F-4D97-AF65-F5344CB8AC3E}">
        <p14:creationId xmlns:p14="http://schemas.microsoft.com/office/powerpoint/2010/main" val="2875295847"/>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続いて、改修内容と最新アプリの状態をご説明します。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続いて、足元のタイムラインと、ITEC様への引継ぎの進め方です。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ここからはITEC様にご報告をお願いします（ITEC様の資料）。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最後に、最新アプリの画面を見ながらディスカッションをお願いします。終わりに合意事項とアクションを確認します。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2の全体像。B1〜B3は既存Quick-Winアプリの品質対応（公開・運用はITEC様主体、弊社は助言・技術支援）、B4は検証環境での改修と改修台帳の管理・引継ぎ（10月は弊社主体）。本日は10月2週目。緑の◆は足元で合意した予定：10/15頃に最新版（10/7版）の公開とデータ投入、11/10に嶋田社長・野村専務へお渡し。</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振り返り。10/5にITEC様がセキュア公開版（9/11版）をリリースし、ログイン・アクセス確認を開始。弊社は最終報告以降に受けたご依頼・改善62件を、すべて検証環境に反映。外部データは70ソース中57ソースで取得が進んだ。ドキュメントも最新版に合わせて更新済み。次回までに、10/7で改修を一旦Close→10/8からITEC様が反映→10/15頃に公開＋データ投入。</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報告でご報告した15項目（9/27断面）に、9/28〜10/4に受け付けたご依頼・改善62件を重ね、すべて反映済み。色の付いた行が今週更新・新設した項目で、既存の更新は10項目、新設はNo.16（外部データの拡充）とNo.17（読み込みの高速化・全画面の点検）。右の5つのポイントのうち、③外部データは次のページで詳しくご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版の取得状況で「一部取得済み」「取得不可」「未着手」だった70ソースを対象に改善。21ソースは主な項目まで取得（解消）、36ソースは一部・代わりの指標で取得（改善）、13ソースは変化なし。有償データは使っていない。左下はアプリ側の変化：アプリが自動でデータを取りに行く先を59件増やして123件に、センシングボードの監視設定で選べる外部指標は72に。取得のタイミングも、株価は随時・統計は週次や月次と、データの更新頻度に合わせて5つに分けた。残る49ソースは右表の6区分。有償・許諾はBX推進部のご判断、実装はITEC様を想定。</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X推進部・ITEC様・デロイトで合意したタイムライン。10/5にセキュア公開版（9/11版）をリリースし、ログイン・アクセス確認を開始済み。本日10/7午前でアドホック改修を一旦Close。10/8からITEC様が最新版をセキュア環境に反映し、10/15頃に10/7版の公開とデータ投入。大きなマイルストーンは11/10の嶋田社長・野村専務へのお渡し。10/15以降は運用・データ投入・改修ともITEC様主導へ移り、弊社は技術アドバイザリーに切り替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引継ぎは3段階。①10/7で改修を一旦Closeし、ソース一式・改修台帳・ドキュメントを確定してお渡し。②10/8〜14は反映作業に伴走：今週1回は9/11版→10/7版の差分と反映の手順、来週1回は反映結果の確認と不具合の切り分け、データ投入の手順。③10/15頃の公開・データ投入以降は、改修も段階的にITEC様主導。弊社は技術アドバイザリー。実データが入るアプリ・開発環境には弊社は原則触れず、必要時はITEC様がマスキングしたデータを検証環境で扱う。引継ぎ会の日程はITEC様と調整した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本日の合意事項をその場で記入し、次回定例までのアクションを確認する。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jpeg"/><Relationship Id="rId8"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6.jpe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2.xml"/><Relationship Id="rId3" Type="http://schemas.openxmlformats.org/officeDocument/2006/relationships/oleObject" Target="../embeddings/oleObject24.bin"/><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2.xml"/><Relationship Id="rId3" Type="http://schemas.openxmlformats.org/officeDocument/2006/relationships/oleObject" Target="../embeddings/oleObject25.bin"/><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2.xml"/><Relationship Id="rId3" Type="http://schemas.openxmlformats.org/officeDocument/2006/relationships/oleObject" Target="../embeddings/oleObject26.bin"/><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2.xml"/><Relationship Id="rId3" Type="http://schemas.openxmlformats.org/officeDocument/2006/relationships/oleObject" Target="../embeddings/oleObject24.bin"/><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2.xml"/><Relationship Id="rId3" Type="http://schemas.openxmlformats.org/officeDocument/2006/relationships/oleObject" Target="../embeddings/oleObject27.bin"/><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2.xml"/><Relationship Id="rId3" Type="http://schemas.openxmlformats.org/officeDocument/2006/relationships/oleObject" Target="../embeddings/oleObject26.bin"/><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13.pn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3.xml"/><Relationship Id="rId3" Type="http://schemas.openxmlformats.org/officeDocument/2006/relationships/oleObject" Target="../embeddings/oleObject30.bin"/><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47.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slideMaster" Target="../slideMasters/slideMaster3.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jpe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slideMaster" Target="../slideMasters/slideMaster3.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6.jpeg"/></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slideMaster" Target="../slideMasters/slideMaster3.xml"/><Relationship Id="rId3" Type="http://schemas.openxmlformats.org/officeDocument/2006/relationships/oleObject" Target="../embeddings/oleObject35.bin"/><Relationship Id="rId4" Type="http://schemas.openxmlformats.org/officeDocument/2006/relationships/image" Target="../media/image1.emf"/><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slideMaster" Target="../slideMasters/slideMaster3.xml"/><Relationship Id="rId3" Type="http://schemas.openxmlformats.org/officeDocument/2006/relationships/oleObject" Target="../embeddings/oleObject36.bin"/><Relationship Id="rId4" Type="http://schemas.openxmlformats.org/officeDocument/2006/relationships/image" Target="../media/image1.emf"/><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slideMaster" Target="../slideMasters/slideMaster3.xml"/><Relationship Id="rId3" Type="http://schemas.openxmlformats.org/officeDocument/2006/relationships/oleObject" Target="../embeddings/oleObject37.bin"/><Relationship Id="rId4" Type="http://schemas.openxmlformats.org/officeDocument/2006/relationships/image" Target="../media/image14.emf"/></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57.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slideMaster" Target="../slideMasters/slideMaster4.xml"/><Relationship Id="rId3" Type="http://schemas.openxmlformats.org/officeDocument/2006/relationships/oleObject" Target="../embeddings/oleObject30.bin"/><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1" Type="http://schemas.openxmlformats.org/officeDocument/2006/relationships/tags" Target="../tags/tag61.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62.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1" Type="http://schemas.openxmlformats.org/officeDocument/2006/relationships/tags" Target="../tags/tag64.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1" Type="http://schemas.openxmlformats.org/officeDocument/2006/relationships/tags" Target="../tags/tag66.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1" Type="http://schemas.openxmlformats.org/officeDocument/2006/relationships/tags" Target="../tags/tag70.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1" Type="http://schemas.openxmlformats.org/officeDocument/2006/relationships/tags" Target="../tags/tag72.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tags" Target="../tags/tag73.xml"/><Relationship Id="rId2" Type="http://schemas.openxmlformats.org/officeDocument/2006/relationships/tags" Target="../tags/tag74.xml"/><Relationship Id="rId3" Type="http://schemas.openxmlformats.org/officeDocument/2006/relationships/slideMaster" Target="../slideMasters/slideMaster4.xml"/><Relationship Id="rId4" Type="http://schemas.openxmlformats.org/officeDocument/2006/relationships/oleObject" Target="../embeddings/oleObject38.bin"/><Relationship Id="rId5" Type="http://schemas.openxmlformats.org/officeDocument/2006/relationships/image" Target="../media/image15.emf"/><Relationship Id="rId6" Type="http://schemas.openxmlformats.org/officeDocument/2006/relationships/oleObject" Target="../embeddings/oleObject39.bin"/></Relationships>
</file>

<file path=ppt/slideLayouts/_rels/slideLayout73.xml.rels><?xml version='1.0' encoding='UTF-8' standalone='yes'?>
<Relationships xmlns="http://schemas.openxmlformats.org/package/2006/relationships"><Relationship Id="rId1" Type="http://schemas.openxmlformats.org/officeDocument/2006/relationships/tags" Target="../tags/tag75.xml"/><Relationship Id="rId2" Type="http://schemas.openxmlformats.org/officeDocument/2006/relationships/slideMaster" Target="../slideMasters/slideMaster4.xml"/><Relationship Id="rId3" Type="http://schemas.openxmlformats.org/officeDocument/2006/relationships/oleObject" Target="../embeddings/oleObject37.bin"/><Relationship Id="rId4" Type="http://schemas.openxmlformats.org/officeDocument/2006/relationships/image" Target="../media/image1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基本版）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72E5A2AA-8632-4C90-834B-AAF8FA2847A7}"/>
              </a:ext>
            </a:extLst>
          </p:cNvPr>
          <p:cNvGraphicFramePr>
            <a:graphicFrameLocks noChangeAspect="1"/>
          </p:cNvGraphicFramePr>
          <p:nvPr userDrawn="1">
            <p:custDataLst>
              <p:tags r:id="rId1"/>
            </p:custDataLst>
            <p:extLst>
              <p:ext uri="{D42A27DB-BD31-4B8C-83A1-F6EECF244321}">
                <p14:modId xmlns:p14="http://schemas.microsoft.com/office/powerpoint/2010/main" val="2077041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72E5A2AA-8632-4C90-834B-AAF8FA2847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4680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ea typeface="+mn-ea"/>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2000"/>
            <a:ext cx="2016000" cy="633201"/>
          </a:xfrm>
          <a:prstGeom prst="rect">
            <a:avLst/>
          </a:prstGeom>
        </p:spPr>
      </p:pic>
      <p:sp>
        <p:nvSpPr>
          <p:cNvPr id="6" name="日付プレースホルダー 5">
            <a:extLst>
              <a:ext uri="{FF2B5EF4-FFF2-40B4-BE49-F238E27FC236}">
                <a16:creationId xmlns:a16="http://schemas.microsoft.com/office/drawing/2014/main" id="{F26CE00B-EF0F-41D9-B6BD-2D199AF6C07D}"/>
              </a:ext>
            </a:extLst>
          </p:cNvPr>
          <p:cNvSpPr>
            <a:spLocks noGrp="1"/>
          </p:cNvSpPr>
          <p:nvPr>
            <p:ph type="dt" sz="half" idx="13"/>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058155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noChangeAspect="1"/>
          </p:cNvGraphicFramePr>
          <p:nvPr userDrawn="1">
            <p:custDataLst>
              <p:tags r:id="rId1"/>
            </p:custDataLst>
            <p:extLst>
              <p:ext uri="{D42A27DB-BD31-4B8C-83A1-F6EECF244321}">
                <p14:modId xmlns:p14="http://schemas.microsoft.com/office/powerpoint/2010/main" val="29786175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4680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2543739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基本版）黒_タイトル_ ロゴ入り_16:9">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A7976D6E-C49A-4F4A-AE13-FFFBECE61404}"/>
              </a:ext>
            </a:extLst>
          </p:cNvPr>
          <p:cNvGraphicFramePr>
            <a:graphicFrameLocks noChangeAspect="1"/>
          </p:cNvGraphicFramePr>
          <p:nvPr userDrawn="1">
            <p:custDataLst>
              <p:tags r:id="rId1"/>
            </p:custDataLst>
            <p:extLst>
              <p:ext uri="{D42A27DB-BD31-4B8C-83A1-F6EECF244321}">
                <p14:modId xmlns:p14="http://schemas.microsoft.com/office/powerpoint/2010/main" val="52417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A7976D6E-C49A-4F4A-AE13-FFFBECE614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4680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tx1"/>
                </a:solidFill>
                <a:latin typeface="+mn-lt"/>
                <a:ea typeface="+mn-ea"/>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1999"/>
            <a:ext cx="2016000" cy="627200"/>
          </a:xfrm>
          <a:prstGeom prst="rect">
            <a:avLst/>
          </a:prstGeom>
        </p:spPr>
      </p:pic>
      <p:sp>
        <p:nvSpPr>
          <p:cNvPr id="6" name="日付プレースホルダー 5">
            <a:extLst>
              <a:ext uri="{FF2B5EF4-FFF2-40B4-BE49-F238E27FC236}">
                <a16:creationId xmlns:a16="http://schemas.microsoft.com/office/drawing/2014/main" id="{3C714361-BA49-499D-BC89-8E0AF24FD365}"/>
              </a:ext>
            </a:extLst>
          </p:cNvPr>
          <p:cNvSpPr>
            <a:spLocks noGrp="1"/>
          </p:cNvSpPr>
          <p:nvPr>
            <p:ph type="dt" sz="half" idx="13"/>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9147821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noChangeAspect="1"/>
          </p:cNvGraphicFramePr>
          <p:nvPr userDrawn="1">
            <p:custDataLst>
              <p:tags r:id="rId1"/>
            </p:custDataLst>
            <p:extLst>
              <p:ext uri="{D42A27DB-BD31-4B8C-83A1-F6EECF244321}">
                <p14:modId xmlns:p14="http://schemas.microsoft.com/office/powerpoint/2010/main" val="3840800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4680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81691670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noChangeAspect="1"/>
          </p:cNvGraphicFramePr>
          <p:nvPr userDrawn="1">
            <p:custDataLst>
              <p:tags r:id="rId1"/>
            </p:custDataLst>
            <p:extLst>
              <p:ext uri="{D42A27DB-BD31-4B8C-83A1-F6EECF244321}">
                <p14:modId xmlns:p14="http://schemas.microsoft.com/office/powerpoint/2010/main" val="28013388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lnSpc>
                <a:spcPct val="100000"/>
              </a:lnSpc>
              <a:tabLst>
                <a:tab pos="5448101" algn="r"/>
              </a:tabLst>
              <a:defRPr>
                <a:latin typeface="+mn-lt"/>
                <a:ea typeface="+mn-ea"/>
                <a:cs typeface="+mn-cs"/>
              </a:defRPr>
            </a:lvl1pPr>
            <a:lvl2pPr>
              <a:lnSpc>
                <a:spcPct val="100000"/>
              </a:lnSpc>
              <a:tabLst>
                <a:tab pos="5448101" algn="r"/>
              </a:tabLst>
              <a:defRPr>
                <a:latin typeface="+mn-lt"/>
                <a:ea typeface="+mn-ea"/>
                <a:cs typeface="+mn-cs"/>
              </a:defRPr>
            </a:lvl2pPr>
            <a:lvl3pPr>
              <a:lnSpc>
                <a:spcPct val="100000"/>
              </a:lnSpc>
              <a:tabLst>
                <a:tab pos="5448101" algn="r"/>
              </a:tabLst>
              <a:defRPr>
                <a:latin typeface="+mn-lt"/>
                <a:ea typeface="+mn-ea"/>
                <a:cs typeface="+mn-cs"/>
              </a:defRPr>
            </a:lvl3pPr>
            <a:lvl4pPr>
              <a:lnSpc>
                <a:spcPct val="100000"/>
              </a:lnSpc>
              <a:tabLst>
                <a:tab pos="5448101" algn="r"/>
              </a:tabLst>
              <a:defRPr>
                <a:latin typeface="+mn-lt"/>
                <a:ea typeface="+mn-ea"/>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lnSpc>
                <a:spcPct val="100000"/>
              </a:lnSpc>
              <a:tabLst>
                <a:tab pos="5448101" algn="r"/>
              </a:tabLst>
              <a:defRPr>
                <a:latin typeface="+mn-lt"/>
                <a:ea typeface="+mn-ea"/>
                <a:cs typeface="+mn-cs"/>
              </a:defRPr>
            </a:lvl1pPr>
            <a:lvl2pPr>
              <a:lnSpc>
                <a:spcPct val="100000"/>
              </a:lnSpc>
              <a:tabLst>
                <a:tab pos="5448101" algn="r"/>
              </a:tabLst>
              <a:defRPr>
                <a:latin typeface="+mn-lt"/>
                <a:ea typeface="+mn-ea"/>
                <a:cs typeface="+mn-cs"/>
              </a:defRPr>
            </a:lvl2pPr>
            <a:lvl3pPr>
              <a:lnSpc>
                <a:spcPct val="100000"/>
              </a:lnSpc>
              <a:tabLst>
                <a:tab pos="5448101" algn="r"/>
              </a:tabLst>
              <a:defRPr>
                <a:latin typeface="+mn-lt"/>
                <a:ea typeface="+mn-ea"/>
                <a:cs typeface="+mn-cs"/>
              </a:defRPr>
            </a:lvl3pPr>
            <a:lvl4pPr>
              <a:lnSpc>
                <a:spcPct val="100000"/>
              </a:lnSpc>
              <a:tabLst>
                <a:tab pos="5448101" algn="r"/>
              </a:tabLst>
              <a:defRPr>
                <a:latin typeface="+mn-lt"/>
                <a:ea typeface="+mn-ea"/>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982903191"/>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1797872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defRPr>
            </a:lvl1pPr>
          </a:lstStyle>
          <a:p>
            <a:r>
              <a:rPr lang="en-GB" altLang="en-GB"/>
              <a:t>DT Template 16:9</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n-lt"/>
                <a:ea typeface="+mn-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Tree>
    <p:extLst>
      <p:ext uri="{BB962C8B-B14F-4D97-AF65-F5344CB8AC3E}">
        <p14:creationId xmlns:p14="http://schemas.microsoft.com/office/powerpoint/2010/main" val="2894029594"/>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3160910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163326847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662600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3451464051"/>
      </p:ext>
    </p:extLst>
  </p:cSld>
  <p:clrMapOvr>
    <a:overrideClrMapping bg1="dk1" tx1="lt1" bg2="dk2" tx2="lt2" accent1="accent1" accent2="accent2" accent3="accent3" accent4="accent4" accent5="accent5" accent6="accent6" hlink="hlink" folHlink="folHlink"/>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008708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3827265758"/>
      </p:ext>
    </p:extLst>
  </p:cSld>
  <p:clrMapOvr>
    <a:overrideClrMapping bg1="dk1" tx1="lt1" bg2="dk2" tx2="lt2" accent1="accent1" accent2="accent2" accent3="accent3" accent4="accent4" accent5="accent5" accent6="accent6" hlink="hlink" folHlink="folHlink"/>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887264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1056419782"/>
      </p:ext>
    </p:extLst>
  </p:cSld>
  <p:clrMapOvr>
    <a:overrideClrMapping bg1="dk1" tx1="lt1" bg2="dk2" tx2="lt2" accent1="accent1" accent2="accent2" accent3="accent3" accent4="accent4" accent5="accent5" accent6="accent6" hlink="hlink" folHlink="folHlink"/>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385180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3856995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816268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79604718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352086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6275388" y="1008000"/>
            <a:ext cx="5437188" cy="468000"/>
          </a:xfrm>
        </p:spPr>
        <p:txBody>
          <a:bodyPr vert="horz" lIns="0" tIns="0" rIns="0" bIns="0" rtlCol="0" anchor="ctr">
            <a:noAutofit/>
          </a:bodyPr>
          <a:lstStyle>
            <a:lvl1pPr fontAlgn="auto">
              <a:lnSpc>
                <a:spcPct val="100000"/>
              </a:lnSpc>
              <a:spcBef>
                <a:spcPts val="0"/>
              </a:spcBef>
              <a:defRPr lang="ja-JP" altLang="en-US" sz="1800" b="1" baseline="0" dirty="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479425" y="5951022"/>
            <a:ext cx="11232000" cy="360000"/>
          </a:xfrm>
        </p:spPr>
        <p:txBody>
          <a:bodyPr vert="horz" lIns="0" tIns="0" rIns="0" bIns="0" rtlCol="0" anchor="b">
            <a:noAutofit/>
          </a:bodyPr>
          <a:lstStyle>
            <a:lvl1pPr>
              <a:lnSpc>
                <a:spcPct val="100000"/>
              </a:lnSpc>
              <a:spcBef>
                <a:spcPts val="0"/>
              </a:spcBef>
              <a:defRPr lang="ja-JP" altLang="en-US" sz="1200" b="0" dirty="0">
                <a:solidFill>
                  <a:schemeClr val="tx1"/>
                </a:solidFill>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990928838"/>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6341836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00000"/>
              </a:lnSpc>
              <a:spcBef>
                <a:spcPts val="600"/>
              </a:spcBef>
              <a:buNone/>
              <a:defRPr sz="1600" baseline="0">
                <a:latin typeface="+mn-lt"/>
                <a:ea typeface="+mn-ea"/>
                <a:cs typeface="+mn-cs"/>
              </a:defRPr>
            </a:lvl1pPr>
            <a:lvl2pPr marL="252000" indent="-252000">
              <a:lnSpc>
                <a:spcPct val="100000"/>
              </a:lnSpc>
              <a:spcBef>
                <a:spcPts val="600"/>
              </a:spcBef>
              <a:buFont typeface="Wingdings" pitchFamily="2" charset="2"/>
              <a:buChar char="n"/>
              <a:defRPr sz="1600" baseline="0">
                <a:latin typeface="+mn-lt"/>
                <a:ea typeface="+mn-ea"/>
                <a:cs typeface="+mn-cs"/>
              </a:defRPr>
            </a:lvl2pPr>
            <a:lvl3pPr marL="504000" indent="-252000">
              <a:lnSpc>
                <a:spcPct val="10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0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1102250517"/>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17177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393595963"/>
      </p:ext>
    </p:extLst>
  </p:cSld>
  <p:clrMapOvr>
    <a:overrideClrMapping bg1="dk1" tx1="lt1" bg2="dk2" tx2="lt2" accent1="accent1" accent2="accent2" accent3="accent3" accent4="accent4" accent5="accent5" accent6="accent6" hlink="hlink" folHlink="folHlink"/>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3142341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79616805"/>
      </p:ext>
    </p:extLst>
  </p:cSld>
  <p:clrMapOvr>
    <a:overrideClrMapping bg1="dk1" tx1="lt1" bg2="dk2" tx2="lt2" accent1="accent1" accent2="accent2" accent3="accent3" accent4="accent4" accent5="accent5" accent6="accent6" hlink="hlink" folHlink="folHlink"/>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7918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スライド番号プレースホルダ 9"/>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479425" y="5951022"/>
            <a:ext cx="11232000" cy="360000"/>
          </a:xfrm>
        </p:spPr>
        <p:txBody>
          <a:bodyPr vert="horz" lIns="0" tIns="0" rIns="0" bIns="0" rtlCol="0" anchor="b">
            <a:noAutofit/>
          </a:bodyPr>
          <a:lstStyle>
            <a:lvl1pPr>
              <a:lnSpc>
                <a:spcPct val="100000"/>
              </a:lnSpc>
              <a:spcBef>
                <a:spcPts val="0"/>
              </a:spcBef>
              <a:defRPr lang="ja-JP" altLang="en-US" sz="1200" b="0" dirty="0">
                <a:solidFill>
                  <a:schemeClr val="tx1"/>
                </a:solidFill>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3" name="フッター プレースホルダ 10"/>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6275388" y="1008000"/>
            <a:ext cx="5437188" cy="468000"/>
          </a:xfrm>
        </p:spPr>
        <p:txBody>
          <a:bodyPr vert="horz" lIns="0" tIns="0" rIns="0" bIns="0" rtlCol="0" anchor="ctr">
            <a:noAutofit/>
          </a:bodyPr>
          <a:lstStyle>
            <a:lvl1pPr>
              <a:lnSpc>
                <a:spcPct val="100000"/>
              </a:lnSpc>
              <a:spcBef>
                <a:spcPts val="0"/>
              </a:spcBef>
              <a:defRPr lang="ja-JP" altLang="en-US" sz="1800" b="1" baseline="0" dirty="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4117697671"/>
      </p:ext>
    </p:extLst>
  </p:cSld>
  <p:clrMapOvr>
    <a:overrideClrMapping bg1="dk1" tx1="lt1" bg2="dk2" tx2="lt2" accent1="accent1" accent2="accent2" accent3="accent3" accent4="accent4" accent5="accent5" accent6="accent6" hlink="hlink" folHlink="folHlink"/>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5059539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00000"/>
              </a:lnSpc>
              <a:spcBef>
                <a:spcPts val="600"/>
              </a:spcBef>
              <a:buNone/>
              <a:defRPr sz="1600" baseline="0">
                <a:latin typeface="+mn-lt"/>
                <a:ea typeface="+mn-ea"/>
                <a:cs typeface="+mn-cs"/>
              </a:defRPr>
            </a:lvl1pPr>
            <a:lvl2pPr marL="252000" indent="-252000">
              <a:lnSpc>
                <a:spcPct val="100000"/>
              </a:lnSpc>
              <a:spcBef>
                <a:spcPts val="600"/>
              </a:spcBef>
              <a:buFont typeface="Wingdings" pitchFamily="2" charset="2"/>
              <a:buChar char="n"/>
              <a:defRPr sz="1600" baseline="0">
                <a:latin typeface="+mn-lt"/>
                <a:ea typeface="+mn-ea"/>
                <a:cs typeface="+mn-cs"/>
              </a:defRPr>
            </a:lvl2pPr>
            <a:lvl3pPr marL="504000" indent="-252000">
              <a:lnSpc>
                <a:spcPct val="10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0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152593637"/>
      </p:ext>
    </p:extLst>
  </p:cSld>
  <p:clrMapOvr>
    <a:overrideClrMapping bg1="dk1" tx1="lt1" bg2="dk2" tx2="lt2" accent1="accent1" accent2="accent2" accent3="accent3" accent4="accent4" accent5="accent5" accent6="accent6" hlink="hlink" folHlink="folHlink"/>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3793868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367F1314-1825-435D-8B63-69D515D2D346}"/>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2000"/>
            <a:ext cx="2016000" cy="631680"/>
          </a:xfrm>
          <a:prstGeom prst="rect">
            <a:avLst/>
          </a:prstGeom>
        </p:spPr>
      </p:pic>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ea typeface="+mn-ea"/>
                <a:cs typeface="+mn-cs"/>
                <a:sym typeface="+mn-lt"/>
              </a:rPr>
              <a:t>Member of</a:t>
            </a:r>
            <a:br>
              <a:rPr kumimoji="1" lang="en-US" altLang="ja-JP" sz="800">
                <a:solidFill>
                  <a:prstClr val="black"/>
                </a:solidFill>
                <a:latin typeface="+mn-lt"/>
                <a:ea typeface="+mn-ea"/>
                <a:cs typeface="+mn-cs"/>
                <a:sym typeface="+mn-lt"/>
              </a:rPr>
            </a:br>
            <a:r>
              <a:rPr kumimoji="1" lang="en-US" altLang="ja-JP" sz="800" b="1">
                <a:solidFill>
                  <a:prstClr val="black"/>
                </a:solidFill>
                <a:latin typeface="+mn-lt"/>
                <a:ea typeface="+mn-ea"/>
                <a:cs typeface="+mn-cs"/>
                <a:sym typeface="+mn-lt"/>
              </a:rPr>
              <a:t>Deloitte </a:t>
            </a:r>
            <a:r>
              <a:rPr kumimoji="1" lang="en-US" altLang="ja-JP" sz="800" b="1" err="1">
                <a:solidFill>
                  <a:prstClr val="black"/>
                </a:solidFill>
                <a:latin typeface="+mn-lt"/>
                <a:ea typeface="+mn-ea"/>
                <a:cs typeface="+mn-cs"/>
                <a:sym typeface="+mn-lt"/>
              </a:rPr>
              <a:t>Touche</a:t>
            </a:r>
            <a:r>
              <a:rPr kumimoji="1" lang="en-US" altLang="ja-JP" sz="800" b="1">
                <a:solidFill>
                  <a:prstClr val="black"/>
                </a:solidFill>
                <a:latin typeface="+mn-lt"/>
                <a:ea typeface="+mn-ea"/>
                <a:cs typeface="+mn-cs"/>
                <a:sym typeface="+mn-lt"/>
              </a:rPr>
              <a:t> Tohmatsu Limited</a:t>
            </a:r>
            <a:endParaRPr kumimoji="1" lang="ja-JP" altLang="en-US" sz="800" b="1">
              <a:solidFill>
                <a:prstClr val="black"/>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a:extLst>
              <a:ext uri="{FF2B5EF4-FFF2-40B4-BE49-F238E27FC236}">
                <a16:creationId xmlns:a16="http://schemas.microsoft.com/office/drawing/2014/main" id="{6D3A5278-6D4D-48CD-B33F-E16518FBA520}"/>
              </a:ext>
            </a:extLst>
          </p:cNvPr>
          <p:cNvGrpSpPr/>
          <p:nvPr userDrawn="1"/>
        </p:nvGrpSpPr>
        <p:grpSpPr>
          <a:xfrm>
            <a:off x="10270800" y="3222000"/>
            <a:ext cx="1440000" cy="1894801"/>
            <a:chOff x="8050246" y="4451478"/>
            <a:chExt cx="1440000" cy="1894801"/>
          </a:xfrm>
        </p:grpSpPr>
        <p:pic>
          <p:nvPicPr>
            <p:cNvPr id="9" name="図 8" descr="ロゴ, 会社名&#10;&#10;自動的に生成された説明">
              <a:extLst>
                <a:ext uri="{FF2B5EF4-FFF2-40B4-BE49-F238E27FC236}">
                  <a16:creationId xmlns:a16="http://schemas.microsoft.com/office/drawing/2014/main" id="{EE572D97-F5AE-4209-9B5E-6F62708DD6FB}"/>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0" name="図 9" descr="ロゴ&#10;&#10;自動的に生成された説明">
              <a:extLst>
                <a:ext uri="{FF2B5EF4-FFF2-40B4-BE49-F238E27FC236}">
                  <a16:creationId xmlns:a16="http://schemas.microsoft.com/office/drawing/2014/main" id="{174BAC09-EE91-4451-95F8-BA04B238569C}"/>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pic>
        <p:nvPicPr>
          <p:cNvPr id="5" name="Picture 3">
            <a:extLst>
              <a:ext uri="{FF2B5EF4-FFF2-40B4-BE49-F238E27FC236}">
                <a16:creationId xmlns:a16="http://schemas.microsoft.com/office/drawing/2014/main" id="{68101465-63EE-D2BF-35AA-692852B492F9}"/>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1578249305"/>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3795665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ea typeface="+mn-ea"/>
                <a:cs typeface="+mn-cs"/>
                <a:sym typeface="+mn-lt"/>
              </a:rPr>
              <a:t>Member of</a:t>
            </a:r>
            <a:br>
              <a:rPr kumimoji="1" lang="en-US" altLang="ja-JP" sz="800">
                <a:solidFill>
                  <a:prstClr val="black"/>
                </a:solidFill>
                <a:latin typeface="+mn-lt"/>
                <a:ea typeface="+mn-ea"/>
                <a:cs typeface="+mn-cs"/>
                <a:sym typeface="+mn-lt"/>
              </a:rPr>
            </a:br>
            <a:r>
              <a:rPr kumimoji="1" lang="en-US" altLang="ja-JP" sz="800" b="1">
                <a:solidFill>
                  <a:prstClr val="black"/>
                </a:solidFill>
                <a:latin typeface="+mn-lt"/>
                <a:ea typeface="+mn-ea"/>
                <a:cs typeface="+mn-cs"/>
                <a:sym typeface="+mn-lt"/>
              </a:rPr>
              <a:t>Deloitte </a:t>
            </a:r>
            <a:r>
              <a:rPr kumimoji="1" lang="en-US" altLang="ja-JP" sz="800" b="1" err="1">
                <a:solidFill>
                  <a:prstClr val="black"/>
                </a:solidFill>
                <a:latin typeface="+mn-lt"/>
                <a:ea typeface="+mn-ea"/>
                <a:cs typeface="+mn-cs"/>
                <a:sym typeface="+mn-lt"/>
              </a:rPr>
              <a:t>Touche</a:t>
            </a:r>
            <a:r>
              <a:rPr kumimoji="1" lang="en-US" altLang="ja-JP" sz="800" b="1">
                <a:solidFill>
                  <a:prstClr val="black"/>
                </a:solidFill>
                <a:latin typeface="+mn-lt"/>
                <a:ea typeface="+mn-ea"/>
                <a:cs typeface="+mn-cs"/>
                <a:sym typeface="+mn-lt"/>
              </a:rPr>
              <a:t> Tohmatsu Limited</a:t>
            </a:r>
            <a:endParaRPr kumimoji="1" lang="ja-JP" altLang="en-US" sz="800" b="1">
              <a:solidFill>
                <a:prstClr val="black"/>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8" name="図 7">
            <a:extLst>
              <a:ext uri="{FF2B5EF4-FFF2-40B4-BE49-F238E27FC236}">
                <a16:creationId xmlns:a16="http://schemas.microsoft.com/office/drawing/2014/main" id="{501A15D5-7B51-4B9F-8EF0-8D771BACAF70}"/>
              </a:ext>
            </a:extLst>
          </p:cNvPr>
          <p:cNvPicPr>
            <a:picLocks noChangeAspect="1"/>
          </p:cNvPicPr>
          <p:nvPr userDrawn="1"/>
        </p:nvPicPr>
        <p:blipFill rotWithShape="1">
          <a:blip r:embed="rId5">
            <a:extLst>
              <a:ext uri="{28A0092B-C50C-407E-A947-70E740481C1C}">
                <a14:useLocalDpi xmlns:a14="http://schemas.microsoft.com/office/drawing/2010/main"/>
              </a:ext>
            </a:extLst>
          </a:blip>
          <a:srcRect/>
          <a:stretch/>
        </p:blipFill>
        <p:spPr bwMode="gray">
          <a:xfrm>
            <a:off x="478800" y="431005"/>
            <a:ext cx="3721455" cy="632962"/>
          </a:xfrm>
          <a:prstGeom prst="rect">
            <a:avLst/>
          </a:prstGeom>
          <a:noFill/>
          <a:ln>
            <a:noFill/>
          </a:ln>
        </p:spPr>
      </p:pic>
      <p:pic>
        <p:nvPicPr>
          <p:cNvPr id="3" name="Picture 3">
            <a:extLst>
              <a:ext uri="{FF2B5EF4-FFF2-40B4-BE49-F238E27FC236}">
                <a16:creationId xmlns:a16="http://schemas.microsoft.com/office/drawing/2014/main" id="{7AA5F3BE-2C73-21B4-1792-CE7804C9094E}"/>
              </a:ext>
            </a:extLst>
          </p:cNvPr>
          <p:cNvPicPr>
            <a:picLocks noChangeAspect="1"/>
          </p:cNvPicPr>
          <p:nvPr userDrawn="1"/>
        </p:nvPicPr>
        <p:blipFill>
          <a:blip r:embed="rId6"/>
          <a:srcRect/>
          <a:stretch/>
        </p:blipFill>
        <p:spPr>
          <a:xfrm>
            <a:off x="10694852" y="5436000"/>
            <a:ext cx="1198880" cy="1198880"/>
          </a:xfrm>
          <a:prstGeom prst="rect">
            <a:avLst/>
          </a:prstGeom>
        </p:spPr>
      </p:pic>
      <p:grpSp>
        <p:nvGrpSpPr>
          <p:cNvPr id="5" name="グループ化 4">
            <a:extLst>
              <a:ext uri="{FF2B5EF4-FFF2-40B4-BE49-F238E27FC236}">
                <a16:creationId xmlns:a16="http://schemas.microsoft.com/office/drawing/2014/main" id="{E553D118-33B9-8047-F5CF-3B03F130350F}"/>
              </a:ext>
            </a:extLst>
          </p:cNvPr>
          <p:cNvGrpSpPr/>
          <p:nvPr userDrawn="1"/>
        </p:nvGrpSpPr>
        <p:grpSpPr>
          <a:xfrm>
            <a:off x="10270800" y="3222000"/>
            <a:ext cx="1440000" cy="1894801"/>
            <a:chOff x="8050246" y="4451478"/>
            <a:chExt cx="1440000" cy="1894801"/>
          </a:xfrm>
        </p:grpSpPr>
        <p:pic>
          <p:nvPicPr>
            <p:cNvPr id="6" name="図 5" descr="ロゴ, 会社名&#10;&#10;自動的に生成された説明">
              <a:extLst>
                <a:ext uri="{FF2B5EF4-FFF2-40B4-BE49-F238E27FC236}">
                  <a16:creationId xmlns:a16="http://schemas.microsoft.com/office/drawing/2014/main" id="{D2C433B9-83A5-C204-17F5-89F2B1D6A2A6}"/>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7" name="図 6" descr="ロゴ&#10;&#10;自動的に生成された説明">
              <a:extLst>
                <a:ext uri="{FF2B5EF4-FFF2-40B4-BE49-F238E27FC236}">
                  <a16:creationId xmlns:a16="http://schemas.microsoft.com/office/drawing/2014/main" id="{7E3E8DC4-DA86-93F3-32DB-DBD7E5E7F1C4}"/>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2059241581"/>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4244675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schemeClr val="tx1"/>
                </a:solidFill>
                <a:latin typeface="+mn-lt"/>
                <a:ea typeface="+mn-ea"/>
                <a:cs typeface="+mn-cs"/>
                <a:sym typeface="+mn-lt"/>
              </a:rPr>
              <a:t>Member of</a:t>
            </a:r>
            <a:br>
              <a:rPr kumimoji="1" lang="en-US" altLang="ja-JP" sz="800">
                <a:solidFill>
                  <a:schemeClr val="tx1"/>
                </a:solidFill>
                <a:latin typeface="+mn-lt"/>
                <a:ea typeface="+mn-ea"/>
                <a:cs typeface="+mn-cs"/>
                <a:sym typeface="+mn-lt"/>
              </a:rPr>
            </a:br>
            <a:r>
              <a:rPr kumimoji="1" lang="en-US" altLang="ja-JP" sz="800" b="1">
                <a:solidFill>
                  <a:schemeClr val="tx1"/>
                </a:solidFill>
                <a:latin typeface="+mn-lt"/>
                <a:ea typeface="+mn-ea"/>
                <a:cs typeface="+mn-cs"/>
                <a:sym typeface="+mn-lt"/>
              </a:rPr>
              <a:t>Deloitte </a:t>
            </a:r>
            <a:r>
              <a:rPr kumimoji="1" lang="en-US" altLang="ja-JP" sz="800" b="1" err="1">
                <a:solidFill>
                  <a:schemeClr val="tx1"/>
                </a:solidFill>
                <a:latin typeface="+mn-lt"/>
                <a:ea typeface="+mn-ea"/>
                <a:cs typeface="+mn-cs"/>
                <a:sym typeface="+mn-lt"/>
              </a:rPr>
              <a:t>Touche</a:t>
            </a:r>
            <a:r>
              <a:rPr kumimoji="1" lang="en-US" altLang="ja-JP" sz="800" b="1">
                <a:solidFill>
                  <a:schemeClr val="tx1"/>
                </a:solidFill>
                <a:latin typeface="+mn-lt"/>
                <a:ea typeface="+mn-ea"/>
                <a:cs typeface="+mn-cs"/>
                <a:sym typeface="+mn-lt"/>
              </a:rPr>
              <a:t> Tohmatsu Limited</a:t>
            </a:r>
            <a:endParaRPr kumimoji="1" lang="ja-JP" altLang="en-US" sz="800" b="1">
              <a:solidFill>
                <a:schemeClr val="tx1"/>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tx1"/>
                </a:solidFill>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9" name="図 8">
            <a:extLst>
              <a:ext uri="{FF2B5EF4-FFF2-40B4-BE49-F238E27FC236}">
                <a16:creationId xmlns:a16="http://schemas.microsoft.com/office/drawing/2014/main" id="{FE41D69D-2433-4D11-814D-C797F4E5053E}"/>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1999"/>
            <a:ext cx="2016000" cy="627200"/>
          </a:xfrm>
          <a:prstGeom prst="rect">
            <a:avLst/>
          </a:prstGeom>
        </p:spPr>
      </p:pic>
      <p:grpSp>
        <p:nvGrpSpPr>
          <p:cNvPr id="10" name="グループ化 9">
            <a:extLst>
              <a:ext uri="{FF2B5EF4-FFF2-40B4-BE49-F238E27FC236}">
                <a16:creationId xmlns:a16="http://schemas.microsoft.com/office/drawing/2014/main" id="{245A9EC4-0A34-443E-8A5C-E1C41D6E8ECA}"/>
              </a:ext>
            </a:extLst>
          </p:cNvPr>
          <p:cNvGrpSpPr/>
          <p:nvPr userDrawn="1"/>
        </p:nvGrpSpPr>
        <p:grpSpPr>
          <a:xfrm>
            <a:off x="10270800" y="3222000"/>
            <a:ext cx="1440000" cy="1861937"/>
            <a:chOff x="8050925" y="4451478"/>
            <a:chExt cx="1440000" cy="1861937"/>
          </a:xfrm>
        </p:grpSpPr>
        <p:pic>
          <p:nvPicPr>
            <p:cNvPr id="11" name="図 10" descr="ロゴ, 会社名&#10;&#10;自動的に生成された説明">
              <a:extLst>
                <a:ext uri="{FF2B5EF4-FFF2-40B4-BE49-F238E27FC236}">
                  <a16:creationId xmlns:a16="http://schemas.microsoft.com/office/drawing/2014/main" id="{C713905B-35CF-4B24-BCA2-637030354B41}"/>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2" name="図 11">
              <a:extLst>
                <a:ext uri="{FF2B5EF4-FFF2-40B4-BE49-F238E27FC236}">
                  <a16:creationId xmlns:a16="http://schemas.microsoft.com/office/drawing/2014/main" id="{DEA888C4-18A7-4DB2-A911-C4F477C66E70}"/>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pic>
        <p:nvPicPr>
          <p:cNvPr id="3" name="Picture 3">
            <a:extLst>
              <a:ext uri="{FF2B5EF4-FFF2-40B4-BE49-F238E27FC236}">
                <a16:creationId xmlns:a16="http://schemas.microsoft.com/office/drawing/2014/main" id="{B58FE27E-7473-91AD-522F-C6EE7B389FF8}"/>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2146378117"/>
      </p:ext>
    </p:extLst>
  </p:cSld>
  <p:clrMapOvr>
    <a:overrideClrMapping bg1="dk1" tx1="lt1" bg2="dk2" tx2="lt2" accent1="accent1" accent2="accent2" accent3="accent3" accent4="accent4" accent5="accent5" accent6="accent6" hlink="hlink" folHlink="folHlink"/>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521990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schemeClr val="tx1"/>
                </a:solidFill>
                <a:latin typeface="+mn-lt"/>
                <a:ea typeface="+mn-ea"/>
                <a:cs typeface="+mn-cs"/>
                <a:sym typeface="+mn-lt"/>
              </a:rPr>
              <a:t>Member of</a:t>
            </a:r>
            <a:br>
              <a:rPr kumimoji="1" lang="en-US" altLang="ja-JP" sz="800">
                <a:solidFill>
                  <a:schemeClr val="tx1"/>
                </a:solidFill>
                <a:latin typeface="+mn-lt"/>
                <a:ea typeface="+mn-ea"/>
                <a:cs typeface="+mn-cs"/>
                <a:sym typeface="+mn-lt"/>
              </a:rPr>
            </a:br>
            <a:r>
              <a:rPr kumimoji="1" lang="en-US" altLang="ja-JP" sz="800" b="1">
                <a:solidFill>
                  <a:schemeClr val="tx1"/>
                </a:solidFill>
                <a:latin typeface="+mn-lt"/>
                <a:ea typeface="+mn-ea"/>
                <a:cs typeface="+mn-cs"/>
                <a:sym typeface="+mn-lt"/>
              </a:rPr>
              <a:t>Deloitte </a:t>
            </a:r>
            <a:r>
              <a:rPr kumimoji="1" lang="en-US" altLang="ja-JP" sz="800" b="1" err="1">
                <a:solidFill>
                  <a:schemeClr val="tx1"/>
                </a:solidFill>
                <a:latin typeface="+mn-lt"/>
                <a:ea typeface="+mn-ea"/>
                <a:cs typeface="+mn-cs"/>
                <a:sym typeface="+mn-lt"/>
              </a:rPr>
              <a:t>Touche</a:t>
            </a:r>
            <a:r>
              <a:rPr kumimoji="1" lang="en-US" altLang="ja-JP" sz="800" b="1">
                <a:solidFill>
                  <a:schemeClr val="tx1"/>
                </a:solidFill>
                <a:latin typeface="+mn-lt"/>
                <a:ea typeface="+mn-ea"/>
                <a:cs typeface="+mn-cs"/>
                <a:sym typeface="+mn-lt"/>
              </a:rPr>
              <a:t> Tohmatsu Limited</a:t>
            </a:r>
            <a:endParaRPr kumimoji="1" lang="ja-JP" altLang="en-US" sz="800" b="1">
              <a:solidFill>
                <a:schemeClr val="tx1"/>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tx1"/>
                </a:solidFill>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10" name="図 9">
            <a:extLst>
              <a:ext uri="{FF2B5EF4-FFF2-40B4-BE49-F238E27FC236}">
                <a16:creationId xmlns:a16="http://schemas.microsoft.com/office/drawing/2014/main" id="{9C0938ED-B2BE-4693-8FA5-820BAD918B8F}"/>
              </a:ext>
            </a:extLst>
          </p:cNvPr>
          <p:cNvPicPr>
            <a:picLocks noChangeAspect="1"/>
          </p:cNvPicPr>
          <p:nvPr userDrawn="1"/>
        </p:nvPicPr>
        <p:blipFill rotWithShape="1">
          <a:blip r:embed="rId5">
            <a:extLst>
              <a:ext uri="{28A0092B-C50C-407E-A947-70E740481C1C}">
                <a14:useLocalDpi xmlns:a14="http://schemas.microsoft.com/office/drawing/2010/main"/>
              </a:ext>
            </a:extLst>
          </a:blip>
          <a:stretch/>
        </p:blipFill>
        <p:spPr bwMode="gray">
          <a:xfrm>
            <a:off x="478800" y="431997"/>
            <a:ext cx="3722400" cy="632360"/>
          </a:xfrm>
          <a:prstGeom prst="rect">
            <a:avLst/>
          </a:prstGeom>
        </p:spPr>
      </p:pic>
      <p:grpSp>
        <p:nvGrpSpPr>
          <p:cNvPr id="3" name="グループ化 2">
            <a:extLst>
              <a:ext uri="{FF2B5EF4-FFF2-40B4-BE49-F238E27FC236}">
                <a16:creationId xmlns:a16="http://schemas.microsoft.com/office/drawing/2014/main" id="{366F5FD9-1E58-CDA7-CACE-B242EB6B204F}"/>
              </a:ext>
            </a:extLst>
          </p:cNvPr>
          <p:cNvGrpSpPr/>
          <p:nvPr userDrawn="1"/>
        </p:nvGrpSpPr>
        <p:grpSpPr>
          <a:xfrm>
            <a:off x="10270800" y="3222000"/>
            <a:ext cx="1440000" cy="1861937"/>
            <a:chOff x="8050925" y="4451478"/>
            <a:chExt cx="1440000" cy="1861937"/>
          </a:xfrm>
        </p:grpSpPr>
        <p:pic>
          <p:nvPicPr>
            <p:cNvPr id="5" name="図 4" descr="ロゴ, 会社名&#10;&#10;自動的に生成された説明">
              <a:extLst>
                <a:ext uri="{FF2B5EF4-FFF2-40B4-BE49-F238E27FC236}">
                  <a16:creationId xmlns:a16="http://schemas.microsoft.com/office/drawing/2014/main" id="{D73EDECA-A512-7669-1691-62C5E111EAEA}"/>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6" name="図 5">
              <a:extLst>
                <a:ext uri="{FF2B5EF4-FFF2-40B4-BE49-F238E27FC236}">
                  <a16:creationId xmlns:a16="http://schemas.microsoft.com/office/drawing/2014/main" id="{17480D25-DAE4-135D-514C-ADF811A79B23}"/>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pic>
        <p:nvPicPr>
          <p:cNvPr id="7" name="Picture 3">
            <a:extLst>
              <a:ext uri="{FF2B5EF4-FFF2-40B4-BE49-F238E27FC236}">
                <a16:creationId xmlns:a16="http://schemas.microsoft.com/office/drawing/2014/main" id="{7114BB36-8EE5-0472-5190-1AC8C392D5CC}"/>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553231123"/>
      </p:ext>
    </p:extLst>
  </p:cSld>
  <p:clrMapOvr>
    <a:overrideClrMapping bg1="dk1" tx1="lt1" bg2="dk2" tx2="lt2" accent1="accent1" accent2="accent2" accent3="accent3" accent4="accent4" accent5="accent5" accent6="accent6" hlink="hlink" folHlink="folHlink"/>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基本版②） タイトルのみ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5992992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1036365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基本版②）タイトルのみ_出所・脚注なし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042044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2594888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基本版②）小見出しあり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291150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7" name="テキスト プレースホルダー 3">
            <a:extLst>
              <a:ext uri="{FF2B5EF4-FFF2-40B4-BE49-F238E27FC236}">
                <a16:creationId xmlns:a16="http://schemas.microsoft.com/office/drawing/2014/main" id="{22111ABA-B7FF-8C45-F205-C96EDB6F8C54}"/>
              </a:ext>
            </a:extLst>
          </p:cNvPr>
          <p:cNvSpPr>
            <a:spLocks noGrp="1"/>
          </p:cNvSpPr>
          <p:nvPr>
            <p:ph type="body" sz="quarter" idx="18" hasCustomPrompt="1"/>
          </p:nvPr>
        </p:nvSpPr>
        <p:spPr>
          <a:xfrm>
            <a:off x="479425" y="1494000"/>
            <a:ext cx="5437188" cy="468000"/>
          </a:xfrm>
        </p:spPr>
        <p:txBody>
          <a:bodyPr anchor="ctr">
            <a:noAutofit/>
          </a:bodyPr>
          <a:lstStyle>
            <a:lvl1pPr>
              <a:spcBef>
                <a:spcPts val="0"/>
              </a:spcBef>
              <a:defRPr sz="1800" b="1" baseline="0">
                <a:solidFill>
                  <a:schemeClr val="accent3"/>
                </a:solidFill>
                <a:latin typeface="+mn-lt"/>
                <a:ea typeface="+mn-ea"/>
                <a:cs typeface="+mn-cs"/>
              </a:defRPr>
            </a:lvl1pPr>
          </a:lstStyle>
          <a:p>
            <a:pPr lvl="0"/>
            <a:r>
              <a:rPr kumimoji="1" lang="ja-JP" altLang="en-US"/>
              <a:t>小見出し（オプション）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Tree>
    <p:extLst>
      <p:ext uri="{BB962C8B-B14F-4D97-AF65-F5344CB8AC3E}">
        <p14:creationId xmlns:p14="http://schemas.microsoft.com/office/powerpoint/2010/main" val="144441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基本版②）黒_タイトルのみ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435457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baseline="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326908144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基本版②）黒_タイトルのみ_出所・脚注なし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841525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458450368"/>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基本版②）黒_小見出しあり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858825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7" name="テキスト プレースホルダー 3">
            <a:extLst>
              <a:ext uri="{FF2B5EF4-FFF2-40B4-BE49-F238E27FC236}">
                <a16:creationId xmlns:a16="http://schemas.microsoft.com/office/drawing/2014/main" id="{22111ABA-B7FF-8C45-F205-C96EDB6F8C54}"/>
              </a:ext>
            </a:extLst>
          </p:cNvPr>
          <p:cNvSpPr>
            <a:spLocks noGrp="1"/>
          </p:cNvSpPr>
          <p:nvPr>
            <p:ph type="body" sz="quarter" idx="18" hasCustomPrompt="1"/>
          </p:nvPr>
        </p:nvSpPr>
        <p:spPr>
          <a:xfrm>
            <a:off x="479425" y="1494000"/>
            <a:ext cx="5437188" cy="468000"/>
          </a:xfrm>
        </p:spPr>
        <p:txBody>
          <a:bodyPr anchor="ctr">
            <a:noAutofit/>
          </a:bodyPr>
          <a:lstStyle>
            <a:lvl1pPr>
              <a:spcBef>
                <a:spcPts val="0"/>
              </a:spcBef>
              <a:defRPr sz="1800" b="1" baseline="0">
                <a:solidFill>
                  <a:schemeClr val="tx1"/>
                </a:solidFill>
                <a:latin typeface="+mn-lt"/>
                <a:ea typeface="+mn-ea"/>
                <a:cs typeface="+mn-cs"/>
              </a:defRPr>
            </a:lvl1pPr>
          </a:lstStyle>
          <a:p>
            <a:pPr lvl="0"/>
            <a:r>
              <a:rPr kumimoji="1" lang="ja-JP" altLang="en-US"/>
              <a:t>小見出し（オプション）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Tree>
    <p:extLst>
      <p:ext uri="{BB962C8B-B14F-4D97-AF65-F5344CB8AC3E}">
        <p14:creationId xmlns:p14="http://schemas.microsoft.com/office/powerpoint/2010/main" val="2038172172"/>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基本版）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72E5A2AA-8632-4C90-834B-AAF8FA2847A7}"/>
              </a:ext>
            </a:extLst>
          </p:cNvPr>
          <p:cNvGraphicFramePr>
            <a:graphicFrameLocks/>
          </p:cNvGraphicFramePr>
          <p:nvPr userDrawn="1">
            <p:custDataLst>
              <p:tags r:id="rId1"/>
            </p:custDataLst>
            <p:extLst>
              <p:ext uri="{D42A27DB-BD31-4B8C-83A1-F6EECF244321}">
                <p14:modId xmlns:p14="http://schemas.microsoft.com/office/powerpoint/2010/main" val="2656476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72E5A2AA-8632-4C90-834B-AAF8FA2847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a:extLst>
              <a:ext uri="{FF2B5EF4-FFF2-40B4-BE49-F238E27FC236}">
                <a16:creationId xmlns:a16="http://schemas.microsoft.com/office/drawing/2014/main" id="{F26CE00B-EF0F-41D9-B6BD-2D199AF6C07D}"/>
              </a:ext>
            </a:extLst>
          </p:cNvPr>
          <p:cNvSpPr>
            <a:spLocks noGrp="1"/>
          </p:cNvSpPr>
          <p:nvPr>
            <p:ph type="dt" sz="half" idx="13"/>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3517208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p:cNvGraphicFramePr>
          <p:nvPr userDrawn="1">
            <p:custDataLst>
              <p:tags r:id="rId1"/>
            </p:custDataLst>
            <p:extLst>
              <p:ext uri="{D42A27DB-BD31-4B8C-83A1-F6EECF244321}">
                <p14:modId xmlns:p14="http://schemas.microsoft.com/office/powerpoint/2010/main" val="1198766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8940279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基本版）黒_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A7976D6E-C49A-4F4A-AE13-FFFBECE61404}"/>
              </a:ext>
            </a:extLst>
          </p:cNvPr>
          <p:cNvGraphicFramePr>
            <a:graphicFrameLocks/>
          </p:cNvGraphicFramePr>
          <p:nvPr userDrawn="1">
            <p:custDataLst>
              <p:tags r:id="rId1"/>
            </p:custDataLst>
            <p:extLst>
              <p:ext uri="{D42A27DB-BD31-4B8C-83A1-F6EECF244321}">
                <p14:modId xmlns:p14="http://schemas.microsoft.com/office/powerpoint/2010/main" val="850200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A7976D6E-C49A-4F4A-AE13-FFFBECE614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a:extLst>
              <a:ext uri="{FF2B5EF4-FFF2-40B4-BE49-F238E27FC236}">
                <a16:creationId xmlns:a16="http://schemas.microsoft.com/office/drawing/2014/main" id="{3C714361-BA49-499D-BC89-8E0AF24FD365}"/>
              </a:ext>
            </a:extLst>
          </p:cNvPr>
          <p:cNvSpPr>
            <a:spLocks noGrp="1"/>
          </p:cNvSpPr>
          <p:nvPr>
            <p:ph type="dt" sz="half" idx="13"/>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7228955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p:cNvGraphicFramePr>
          <p:nvPr userDrawn="1">
            <p:custDataLst>
              <p:tags r:id="rId1"/>
            </p:custDataLst>
            <p:extLst>
              <p:ext uri="{D42A27DB-BD31-4B8C-83A1-F6EECF244321}">
                <p14:modId xmlns:p14="http://schemas.microsoft.com/office/powerpoint/2010/main" val="1824050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990497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p:cNvGraphicFramePr>
          <p:nvPr userDrawn="1">
            <p:custDataLst>
              <p:tags r:id="rId1"/>
            </p:custDataLst>
            <p:extLst>
              <p:ext uri="{D42A27DB-BD31-4B8C-83A1-F6EECF244321}">
                <p14:modId xmlns:p14="http://schemas.microsoft.com/office/powerpoint/2010/main" val="1312707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9479772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40549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cs typeface="+mn-cs"/>
              </a:defRPr>
            </a:lvl1pPr>
          </a:lstStyle>
          <a:p>
            <a:endParaRPr lang="en-GB" altLang="en-GB"/>
          </a:p>
        </p:txBody>
      </p:sp>
      <p:sp>
        <p:nvSpPr>
          <p:cNvPr id="4" name="スライド番号プレースホルダー 3"/>
          <p:cNvSpPr>
            <a:spLocks noGrp="1"/>
          </p:cNvSpPr>
          <p:nvPr>
            <p:ph type="sldNum" sz="quarter" idx="11"/>
          </p:nvPr>
        </p:nvSpPr>
        <p:spPr bwMode="gray"/>
        <p:txBody>
          <a:bodyPr/>
          <a:lstStyle>
            <a:lvl1pPr>
              <a:defRPr>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Tree>
    <p:extLst>
      <p:ext uri="{BB962C8B-B14F-4D97-AF65-F5344CB8AC3E}">
        <p14:creationId xmlns:p14="http://schemas.microsoft.com/office/powerpoint/2010/main" val="26763812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cs typeface="+mn-cs"/>
              </a:defRPr>
            </a:lvl1pPr>
          </a:lstStyle>
          <a:p>
            <a:endParaRPr lang="en-GB" altLang="en-GB"/>
          </a:p>
        </p:txBody>
      </p:sp>
    </p:spTree>
    <p:extLst>
      <p:ext uri="{BB962C8B-B14F-4D97-AF65-F5344CB8AC3E}">
        <p14:creationId xmlns:p14="http://schemas.microsoft.com/office/powerpoint/2010/main" val="35881547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106074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25312935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41101896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6882777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9938070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31250532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174622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accent3"/>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accent3"/>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12448757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232190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00" indent="-252000">
              <a:lnSpc>
                <a:spcPct val="110000"/>
              </a:lnSpc>
              <a:spcBef>
                <a:spcPts val="600"/>
              </a:spcBef>
              <a:buFont typeface="Wingdings" pitchFamily="2" charset="2"/>
              <a:buChar char="n"/>
              <a:defRPr sz="1600" baseline="0">
                <a:latin typeface="+mn-lt"/>
                <a:ea typeface="+mn-ea"/>
                <a:cs typeface="+mn-cs"/>
              </a:defRPr>
            </a:lvl2pPr>
            <a:lvl3pPr marL="504000" indent="-252000">
              <a:lnSpc>
                <a:spcPct val="11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8906200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7A7FA105-C4A6-DF57-0985-107BF930716D}"/>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2062981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Text Box 37">
            <a:extLst>
              <a:ext uri="{FF2B5EF4-FFF2-40B4-BE49-F238E27FC236}">
                <a16:creationId xmlns:a16="http://schemas.microsoft.com/office/drawing/2014/main" id="{91AFE9C6-AFED-8CEE-9B20-46A57A97A23C}"/>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5025832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938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bg1"/>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bg1"/>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18ADE627-CB4D-1BFB-D115-26ACBCADE3FF}"/>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4731149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26301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solidFill>
                  <a:schemeClr val="bg1"/>
                </a:solidFill>
                <a:latin typeface="+mn-lt"/>
                <a:ea typeface="+mn-ea"/>
                <a:cs typeface="+mn-cs"/>
              </a:defRPr>
            </a:lvl1pPr>
            <a:lvl2pPr marL="252000" indent="-252000">
              <a:lnSpc>
                <a:spcPct val="110000"/>
              </a:lnSpc>
              <a:spcBef>
                <a:spcPts val="600"/>
              </a:spcBef>
              <a:buFont typeface="Wingdings" pitchFamily="2" charset="2"/>
              <a:buChar char="n"/>
              <a:defRPr sz="1600" baseline="0">
                <a:solidFill>
                  <a:schemeClr val="bg1"/>
                </a:solidFill>
                <a:latin typeface="+mn-lt"/>
                <a:ea typeface="+mn-ea"/>
                <a:cs typeface="+mn-cs"/>
              </a:defRPr>
            </a:lvl2pPr>
            <a:lvl3pPr marL="504000" indent="-252000">
              <a:lnSpc>
                <a:spcPct val="110000"/>
              </a:lnSpc>
              <a:spcBef>
                <a:spcPts val="600"/>
              </a:spcBef>
              <a:buFont typeface="Wingdings" pitchFamily="2" charset="2"/>
              <a:buChar char="Ø"/>
              <a:defRPr sz="1600" baseline="0">
                <a:solidFill>
                  <a:schemeClr val="bg1"/>
                </a:solidFill>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solidFill>
                  <a:schemeClr val="bg1"/>
                </a:solidFill>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3F55A360-EB78-06C3-3E59-DD1D2B495269}"/>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8433350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3950152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367F1314-1825-435D-8B63-69D515D2D346}"/>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133324" cy="251544"/>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Tohmatsu Limited</a:t>
            </a:r>
            <a:endParaRPr kumimoji="1" lang="ja-JP" altLang="en-US" sz="800" b="1">
              <a:solidFill>
                <a:prstClr val="black"/>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2026. For information, contact Deloitte Tohmatsu Group.</a:t>
            </a:r>
          </a:p>
        </p:txBody>
      </p:sp>
      <p:grpSp>
        <p:nvGrpSpPr>
          <p:cNvPr id="8" name="グループ化 7">
            <a:extLst>
              <a:ext uri="{FF2B5EF4-FFF2-40B4-BE49-F238E27FC236}">
                <a16:creationId xmlns:a16="http://schemas.microsoft.com/office/drawing/2014/main" id="{6D3A5278-6D4D-48CD-B33F-E16518FBA520}"/>
              </a:ext>
            </a:extLst>
          </p:cNvPr>
          <p:cNvGrpSpPr/>
          <p:nvPr userDrawn="1"/>
        </p:nvGrpSpPr>
        <p:grpSpPr>
          <a:xfrm>
            <a:off x="10270800" y="4114800"/>
            <a:ext cx="1440000" cy="1894801"/>
            <a:chOff x="8050246" y="4451478"/>
            <a:chExt cx="1440000" cy="1894801"/>
          </a:xfrm>
        </p:grpSpPr>
        <p:pic>
          <p:nvPicPr>
            <p:cNvPr id="9" name="図 8" descr="ロゴ, 会社名&#10;&#10;自動的に生成された説明">
              <a:extLst>
                <a:ext uri="{FF2B5EF4-FFF2-40B4-BE49-F238E27FC236}">
                  <a16:creationId xmlns:a16="http://schemas.microsoft.com/office/drawing/2014/main" id="{EE572D97-F5AE-4209-9B5E-6F62708DD6FB}"/>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0" name="図 9" descr="ロゴ&#10;&#10;自動的に生成された説明">
              <a:extLst>
                <a:ext uri="{FF2B5EF4-FFF2-40B4-BE49-F238E27FC236}">
                  <a16:creationId xmlns:a16="http://schemas.microsoft.com/office/drawing/2014/main" id="{174BAC09-EE91-4451-95F8-BA04B238569C}"/>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1191349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1216422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2026. For information, contact Deloitte Tohmatsu Group.</a:t>
            </a:r>
          </a:p>
        </p:txBody>
      </p:sp>
      <p:pic>
        <p:nvPicPr>
          <p:cNvPr id="8" name="図 7">
            <a:extLst>
              <a:ext uri="{FF2B5EF4-FFF2-40B4-BE49-F238E27FC236}">
                <a16:creationId xmlns:a16="http://schemas.microsoft.com/office/drawing/2014/main" id="{501A15D5-7B51-4B9F-8EF0-8D771BACAF70}"/>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bwMode="gray">
          <a:xfrm>
            <a:off x="478800" y="431005"/>
            <a:ext cx="3721455" cy="632962"/>
          </a:xfrm>
          <a:prstGeom prst="rect">
            <a:avLst/>
          </a:prstGeom>
          <a:noFill/>
          <a:ln>
            <a:noFill/>
          </a:ln>
        </p:spPr>
      </p:pic>
      <p:grpSp>
        <p:nvGrpSpPr>
          <p:cNvPr id="9" name="グループ化 8">
            <a:extLst>
              <a:ext uri="{FF2B5EF4-FFF2-40B4-BE49-F238E27FC236}">
                <a16:creationId xmlns:a16="http://schemas.microsoft.com/office/drawing/2014/main" id="{1ACB6E8B-BDC4-441B-80D9-3D4F1A7191BA}"/>
              </a:ext>
            </a:extLst>
          </p:cNvPr>
          <p:cNvGrpSpPr/>
          <p:nvPr userDrawn="1"/>
        </p:nvGrpSpPr>
        <p:grpSpPr>
          <a:xfrm>
            <a:off x="10270800" y="4114800"/>
            <a:ext cx="1440000" cy="1894801"/>
            <a:chOff x="8050246" y="4451478"/>
            <a:chExt cx="1440000" cy="1894801"/>
          </a:xfrm>
        </p:grpSpPr>
        <p:pic>
          <p:nvPicPr>
            <p:cNvPr id="10" name="図 9" descr="ロゴ, 会社名&#10;&#10;自動的に生成された説明">
              <a:extLst>
                <a:ext uri="{FF2B5EF4-FFF2-40B4-BE49-F238E27FC236}">
                  <a16:creationId xmlns:a16="http://schemas.microsoft.com/office/drawing/2014/main" id="{58297113-486E-410D-9152-DBAA7813B43E}"/>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1" name="図 10" descr="ロゴ&#10;&#10;自動的に生成された説明">
              <a:extLst>
                <a:ext uri="{FF2B5EF4-FFF2-40B4-BE49-F238E27FC236}">
                  <a16:creationId xmlns:a16="http://schemas.microsoft.com/office/drawing/2014/main" id="{DBB457B8-2E8C-4715-8CE0-9F6911CA7BA4}"/>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10824777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2735016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bg1"/>
                </a:solidFill>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2026. For information, contact Deloitte Tohmatsu Group.</a:t>
            </a:r>
          </a:p>
        </p:txBody>
      </p:sp>
      <p:pic>
        <p:nvPicPr>
          <p:cNvPr id="9" name="図 8">
            <a:extLst>
              <a:ext uri="{FF2B5EF4-FFF2-40B4-BE49-F238E27FC236}">
                <a16:creationId xmlns:a16="http://schemas.microsoft.com/office/drawing/2014/main" id="{FE41D69D-2433-4D11-814D-C797F4E5053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grpSp>
        <p:nvGrpSpPr>
          <p:cNvPr id="10" name="グループ化 9">
            <a:extLst>
              <a:ext uri="{FF2B5EF4-FFF2-40B4-BE49-F238E27FC236}">
                <a16:creationId xmlns:a16="http://schemas.microsoft.com/office/drawing/2014/main" id="{245A9EC4-0A34-443E-8A5C-E1C41D6E8ECA}"/>
              </a:ext>
            </a:extLst>
          </p:cNvPr>
          <p:cNvGrpSpPr/>
          <p:nvPr userDrawn="1"/>
        </p:nvGrpSpPr>
        <p:grpSpPr>
          <a:xfrm>
            <a:off x="10270800" y="4114800"/>
            <a:ext cx="1440000" cy="1861937"/>
            <a:chOff x="8050925" y="4451478"/>
            <a:chExt cx="1440000" cy="1861937"/>
          </a:xfrm>
        </p:grpSpPr>
        <p:pic>
          <p:nvPicPr>
            <p:cNvPr id="11" name="図 10" descr="ロゴ, 会社名&#10;&#10;自動的に生成された説明">
              <a:extLst>
                <a:ext uri="{FF2B5EF4-FFF2-40B4-BE49-F238E27FC236}">
                  <a16:creationId xmlns:a16="http://schemas.microsoft.com/office/drawing/2014/main" id="{C713905B-35CF-4B24-BCA2-637030354B41}"/>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2" name="図 11">
              <a:extLst>
                <a:ext uri="{FF2B5EF4-FFF2-40B4-BE49-F238E27FC236}">
                  <a16:creationId xmlns:a16="http://schemas.microsoft.com/office/drawing/2014/main" id="{DEA888C4-18A7-4DB2-A911-C4F477C66E70}"/>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spTree>
    <p:extLst>
      <p:ext uri="{BB962C8B-B14F-4D97-AF65-F5344CB8AC3E}">
        <p14:creationId xmlns:p14="http://schemas.microsoft.com/office/powerpoint/2010/main" val="15397325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1075208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bg1"/>
                </a:solidFill>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2026. For information, contact Deloitte Tohmatsu Group.</a:t>
            </a:r>
          </a:p>
        </p:txBody>
      </p:sp>
      <p:pic>
        <p:nvPicPr>
          <p:cNvPr id="10" name="図 9">
            <a:extLst>
              <a:ext uri="{FF2B5EF4-FFF2-40B4-BE49-F238E27FC236}">
                <a16:creationId xmlns:a16="http://schemas.microsoft.com/office/drawing/2014/main" id="{9C0938ED-B2BE-4693-8FA5-820BAD918B8F}"/>
              </a:ext>
            </a:extLst>
          </p:cNvPr>
          <p:cNvPicPr>
            <a:picLocks noChangeAspect="1"/>
          </p:cNvPicPr>
          <p:nvPr userDrawn="1"/>
        </p:nvPicPr>
        <p:blipFill rotWithShape="1">
          <a:blip r:embed="rId5">
            <a:extLst>
              <a:ext uri="{28A0092B-C50C-407E-A947-70E740481C1C}">
                <a14:useLocalDpi xmlns:a14="http://schemas.microsoft.com/office/drawing/2010/main" val="0"/>
              </a:ext>
            </a:extLst>
          </a:blip>
          <a:stretch/>
        </p:blipFill>
        <p:spPr bwMode="gray">
          <a:xfrm>
            <a:off x="478800" y="431997"/>
            <a:ext cx="3722400" cy="632360"/>
          </a:xfrm>
          <a:prstGeom prst="rect">
            <a:avLst/>
          </a:prstGeom>
        </p:spPr>
      </p:pic>
      <p:grpSp>
        <p:nvGrpSpPr>
          <p:cNvPr id="14" name="グループ化 13">
            <a:extLst>
              <a:ext uri="{FF2B5EF4-FFF2-40B4-BE49-F238E27FC236}">
                <a16:creationId xmlns:a16="http://schemas.microsoft.com/office/drawing/2014/main" id="{A32278A0-B6A6-4196-A48B-DD36F4F398E7}"/>
              </a:ext>
            </a:extLst>
          </p:cNvPr>
          <p:cNvGrpSpPr/>
          <p:nvPr userDrawn="1"/>
        </p:nvGrpSpPr>
        <p:grpSpPr>
          <a:xfrm>
            <a:off x="10270800" y="4114800"/>
            <a:ext cx="1440000" cy="1861937"/>
            <a:chOff x="8050925" y="4451478"/>
            <a:chExt cx="1440000" cy="1861937"/>
          </a:xfrm>
        </p:grpSpPr>
        <p:pic>
          <p:nvPicPr>
            <p:cNvPr id="15" name="図 14" descr="ロゴ, 会社名&#10;&#10;自動的に生成された説明">
              <a:extLst>
                <a:ext uri="{FF2B5EF4-FFF2-40B4-BE49-F238E27FC236}">
                  <a16:creationId xmlns:a16="http://schemas.microsoft.com/office/drawing/2014/main" id="{2395C2A1-39CD-425B-94BE-D67F2CCD8D6D}"/>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6" name="図 15">
              <a:extLst>
                <a:ext uri="{FF2B5EF4-FFF2-40B4-BE49-F238E27FC236}">
                  <a16:creationId xmlns:a16="http://schemas.microsoft.com/office/drawing/2014/main" id="{7CC8C78A-26CC-4239-9442-4410264A93E8}"/>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spTree>
    <p:extLst>
      <p:ext uri="{BB962C8B-B14F-4D97-AF65-F5344CB8AC3E}">
        <p14:creationId xmlns:p14="http://schemas.microsoft.com/office/powerpoint/2010/main" val="42756877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3290C-9741-F83F-15FD-B8258A147175}"/>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96AD8C58-AEC9-C643-7C2A-EEB47AFED2A2}"/>
              </a:ext>
            </a:extLst>
          </p:cNvPr>
          <p:cNvSpPr>
            <a:spLocks noGrp="1"/>
          </p:cNvSpPr>
          <p:nvPr>
            <p:ph type="ftr" sz="quarter" idx="10"/>
          </p:nvPr>
        </p:nvSpPr>
        <p:spPr/>
        <p:txBody>
          <a:bodyPr/>
          <a:lstStyle/>
          <a:p>
            <a:pPr fontAlgn="auto">
              <a:spcBef>
                <a:spcPts val="0"/>
              </a:spcBef>
              <a:spcAft>
                <a:spcPts val="0"/>
              </a:spcAft>
            </a:pPr>
            <a:endParaRPr kumimoji="1" lang="en-GB" altLang="en-GB"/>
          </a:p>
        </p:txBody>
      </p:sp>
      <p:sp>
        <p:nvSpPr>
          <p:cNvPr id="4" name="スライド番号プレースホルダー 3">
            <a:extLst>
              <a:ext uri="{FF2B5EF4-FFF2-40B4-BE49-F238E27FC236}">
                <a16:creationId xmlns:a16="http://schemas.microsoft.com/office/drawing/2014/main" id="{69EAEBBD-886B-31F9-5308-01B1A3C7201D}"/>
              </a:ext>
            </a:extLst>
          </p:cNvPr>
          <p:cNvSpPr>
            <a:spLocks noGrp="1"/>
          </p:cNvSpPr>
          <p:nvPr>
            <p:ph type="sldNum" sz="quarter" idx="11"/>
          </p:nvPr>
        </p:nvSpPr>
        <p:spPr/>
        <p:txBody>
          <a:body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5" name="日付プレースホルダー 4">
            <a:extLst>
              <a:ext uri="{FF2B5EF4-FFF2-40B4-BE49-F238E27FC236}">
                <a16:creationId xmlns:a16="http://schemas.microsoft.com/office/drawing/2014/main" id="{B480E722-07C0-6BE3-5FC1-99CE04E80AB6}"/>
              </a:ext>
            </a:extLst>
          </p:cNvPr>
          <p:cNvSpPr>
            <a:spLocks noGrp="1"/>
          </p:cNvSpPr>
          <p:nvPr>
            <p:ph type="dt" sz="half" idx="12"/>
          </p:nvPr>
        </p:nvSpPr>
        <p:spPr/>
        <p:txBody>
          <a:bodyPr/>
          <a:lstStyle/>
          <a:p>
            <a:pPr algn="ctr"/>
            <a:endParaRPr lang="en-US"/>
          </a:p>
        </p:txBody>
      </p:sp>
    </p:spTree>
    <p:extLst>
      <p:ext uri="{BB962C8B-B14F-4D97-AF65-F5344CB8AC3E}">
        <p14:creationId xmlns:p14="http://schemas.microsoft.com/office/powerpoint/2010/main" val="40078382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BC8BF-6A3A-CCD9-795A-5B3D5A0B91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B9E84B-517A-6B7B-7B34-BD2C2E27785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B77A3F-77BB-42EA-F36D-C1B74CADE727}"/>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56E2414-BE63-1FB5-A9C1-EA0A1A73F84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FB8169-85F8-F698-3517-15BC0F564DC0}"/>
              </a:ext>
            </a:extLst>
          </p:cNvPr>
          <p:cNvSpPr>
            <a:spLocks noGrp="1"/>
          </p:cNvSpPr>
          <p:nvPr>
            <p:ph type="sldNum" sz="quarter" idx="12"/>
          </p:nvPr>
        </p:nvSpPr>
        <p:spPr/>
        <p:txBody>
          <a:bodyPr/>
          <a:lstStyle/>
          <a:p>
            <a:fld id="{9F87F2FE-3C3D-4AB2-870D-B4E57AB68CB8}" type="slidenum">
              <a:rPr kumimoji="1" lang="ja-JP" altLang="en-US" smtClean="0"/>
              <a:t>‹#›</a:t>
            </a:fld>
            <a:endParaRPr kumimoji="1" lang="ja-JP" altLang="en-US"/>
          </a:p>
        </p:txBody>
      </p:sp>
    </p:spTree>
    <p:extLst>
      <p:ext uri="{BB962C8B-B14F-4D97-AF65-F5344CB8AC3E}">
        <p14:creationId xmlns:p14="http://schemas.microsoft.com/office/powerpoint/2010/main" val="40184007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030112370"/>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63" imgH="564" progId="TCLayout.ActiveDocument.1">
                  <p:embed/>
                </p:oleObj>
              </mc:Choice>
              <mc:Fallback>
                <p:oleObj name="thinkcellスライド" r:id="rId3" imgW="563" imgH="564"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400" b="1">
                <a:solidFill>
                  <a:schemeClr val="accent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0727535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p:cNvGraphicFramePr>
          <p:nvPr userDrawn="1">
            <p:custDataLst>
              <p:tags r:id="rId1"/>
            </p:custDataLst>
            <p:extLst>
              <p:ext uri="{D42A27DB-BD31-4B8C-83A1-F6EECF244321}">
                <p14:modId xmlns:p14="http://schemas.microsoft.com/office/powerpoint/2010/main" val="1198766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a:xfrm>
            <a:off x="5651167" y="6444000"/>
            <a:ext cx="889666" cy="169277"/>
          </a:xfrm>
          <a:prstGeom prst="rect">
            <a:avLst/>
          </a:prstGeom>
        </p:spPr>
        <p:txBody>
          <a:bodyPr/>
          <a:lstStyle>
            <a:lvl1pPr>
              <a:defRPr>
                <a:cs typeface="+mn-cs"/>
              </a:defRPr>
            </a:lvl1pPr>
          </a:lstStyle>
          <a:p>
            <a:pPr algn="ctr"/>
            <a:endParaRPr lang="en-US"/>
          </a:p>
        </p:txBody>
      </p:sp>
    </p:spTree>
    <p:extLst>
      <p:ext uri="{BB962C8B-B14F-4D97-AF65-F5344CB8AC3E}">
        <p14:creationId xmlns:p14="http://schemas.microsoft.com/office/powerpoint/2010/main" val="21085747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p:cNvGraphicFramePr>
          <p:nvPr userDrawn="1">
            <p:custDataLst>
              <p:tags r:id="rId1"/>
            </p:custDataLst>
            <p:extLst>
              <p:ext uri="{D42A27DB-BD31-4B8C-83A1-F6EECF244321}">
                <p14:modId xmlns:p14="http://schemas.microsoft.com/office/powerpoint/2010/main" val="1824050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a:xfrm>
            <a:off x="5651167" y="6444000"/>
            <a:ext cx="889666" cy="169277"/>
          </a:xfrm>
          <a:prstGeom prst="rect">
            <a:avLst/>
          </a:prstGeom>
        </p:spPr>
        <p:txBody>
          <a:bodyPr/>
          <a:lstStyle>
            <a:lvl1pPr>
              <a:defRPr>
                <a:cs typeface="+mn-cs"/>
              </a:defRPr>
            </a:lvl1pPr>
          </a:lstStyle>
          <a:p>
            <a:pPr algn="ctr"/>
            <a:endParaRPr lang="en-US"/>
          </a:p>
        </p:txBody>
      </p:sp>
    </p:spTree>
    <p:extLst>
      <p:ext uri="{BB962C8B-B14F-4D97-AF65-F5344CB8AC3E}">
        <p14:creationId xmlns:p14="http://schemas.microsoft.com/office/powerpoint/2010/main" val="26281627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p:cNvGraphicFramePr>
          <p:nvPr userDrawn="1">
            <p:custDataLst>
              <p:tags r:id="rId1"/>
            </p:custDataLst>
            <p:extLst>
              <p:ext uri="{D42A27DB-BD31-4B8C-83A1-F6EECF244321}">
                <p14:modId xmlns:p14="http://schemas.microsoft.com/office/powerpoint/2010/main" val="1312707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5046693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40549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cs typeface="+mn-cs"/>
              </a:defRPr>
            </a:lvl1pPr>
          </a:lstStyle>
          <a:p>
            <a:endParaRPr lang="en-GB" altLang="en-GB"/>
          </a:p>
        </p:txBody>
      </p:sp>
      <p:sp>
        <p:nvSpPr>
          <p:cNvPr id="4" name="スライド番号プレースホルダー 3"/>
          <p:cNvSpPr>
            <a:spLocks noGrp="1"/>
          </p:cNvSpPr>
          <p:nvPr>
            <p:ph type="sldNum" sz="quarter" idx="11"/>
          </p:nvPr>
        </p:nvSpPr>
        <p:spPr bwMode="gray"/>
        <p:txBody>
          <a:bodyPr/>
          <a:lstStyle>
            <a:lvl1pPr>
              <a:defRPr>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Tree>
    <p:extLst>
      <p:ext uri="{BB962C8B-B14F-4D97-AF65-F5344CB8AC3E}">
        <p14:creationId xmlns:p14="http://schemas.microsoft.com/office/powerpoint/2010/main" val="23514089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Tree>
    <p:extLst>
      <p:ext uri="{BB962C8B-B14F-4D97-AF65-F5344CB8AC3E}">
        <p14:creationId xmlns:p14="http://schemas.microsoft.com/office/powerpoint/2010/main" val="24977924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106074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5420106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67113303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47116240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9411856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5462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174622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accent3"/>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accent3"/>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4281429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232190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00" indent="-252000">
              <a:lnSpc>
                <a:spcPct val="110000"/>
              </a:lnSpc>
              <a:spcBef>
                <a:spcPts val="600"/>
              </a:spcBef>
              <a:buFont typeface="Wingdings" pitchFamily="2" charset="2"/>
              <a:buChar char="n"/>
              <a:defRPr sz="1600" baseline="0">
                <a:latin typeface="+mn-lt"/>
                <a:ea typeface="+mn-ea"/>
                <a:cs typeface="+mn-cs"/>
              </a:defRPr>
            </a:lvl2pPr>
            <a:lvl3pPr marL="504000" indent="-252000">
              <a:lnSpc>
                <a:spcPct val="11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76261337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7A7FA105-C4A6-DF57-0985-107BF930716D}"/>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90230898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Text Box 37">
            <a:extLst>
              <a:ext uri="{FF2B5EF4-FFF2-40B4-BE49-F238E27FC236}">
                <a16:creationId xmlns:a16="http://schemas.microsoft.com/office/drawing/2014/main" id="{91AFE9C6-AFED-8CEE-9B20-46A57A97A23C}"/>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01655431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938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bg1"/>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bg1"/>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18ADE627-CB4D-1BFB-D115-26ACBCADE3FF}"/>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1300218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26301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solidFill>
                  <a:schemeClr val="bg1"/>
                </a:solidFill>
                <a:latin typeface="+mn-lt"/>
                <a:ea typeface="+mn-ea"/>
                <a:cs typeface="+mn-cs"/>
              </a:defRPr>
            </a:lvl1pPr>
            <a:lvl2pPr marL="252000" indent="-252000">
              <a:lnSpc>
                <a:spcPct val="110000"/>
              </a:lnSpc>
              <a:spcBef>
                <a:spcPts val="600"/>
              </a:spcBef>
              <a:buFont typeface="Wingdings" pitchFamily="2" charset="2"/>
              <a:buChar char="n"/>
              <a:defRPr sz="1600" baseline="0">
                <a:solidFill>
                  <a:schemeClr val="bg1"/>
                </a:solidFill>
                <a:latin typeface="+mn-lt"/>
                <a:ea typeface="+mn-ea"/>
                <a:cs typeface="+mn-cs"/>
              </a:defRPr>
            </a:lvl2pPr>
            <a:lvl3pPr marL="504000" indent="-252000">
              <a:lnSpc>
                <a:spcPct val="110000"/>
              </a:lnSpc>
              <a:spcBef>
                <a:spcPts val="600"/>
              </a:spcBef>
              <a:buFont typeface="Wingdings" pitchFamily="2" charset="2"/>
              <a:buChar char="Ø"/>
              <a:defRPr sz="1600" baseline="0">
                <a:solidFill>
                  <a:schemeClr val="bg1"/>
                </a:solidFill>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solidFill>
                  <a:schemeClr val="bg1"/>
                </a:solidFill>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3F55A360-EB78-06C3-3E59-DD1D2B495269}"/>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56064518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3290C-9741-F83F-15FD-B8258A147175}"/>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96AD8C58-AEC9-C643-7C2A-EEB47AFED2A2}"/>
              </a:ext>
            </a:extLst>
          </p:cNvPr>
          <p:cNvSpPr>
            <a:spLocks noGrp="1"/>
          </p:cNvSpPr>
          <p:nvPr>
            <p:ph type="ftr" sz="quarter" idx="10"/>
          </p:nvPr>
        </p:nvSpPr>
        <p:spPr>
          <a:xfrm>
            <a:off x="730800" y="6588000"/>
            <a:ext cx="5184000" cy="169200"/>
          </a:xfrm>
          <a:prstGeom prst="rect">
            <a:avLst/>
          </a:prstGeom>
        </p:spPr>
        <p:txBody>
          <a:bodyPr/>
          <a:lstStyle/>
          <a:p>
            <a:pPr fontAlgn="auto">
              <a:spcBef>
                <a:spcPts val="0"/>
              </a:spcBef>
              <a:spcAft>
                <a:spcPts val="0"/>
              </a:spcAft>
            </a:pPr>
            <a:endParaRPr kumimoji="1" lang="en-GB" altLang="en-GB"/>
          </a:p>
        </p:txBody>
      </p:sp>
      <p:sp>
        <p:nvSpPr>
          <p:cNvPr id="4" name="スライド番号プレースホルダー 3">
            <a:extLst>
              <a:ext uri="{FF2B5EF4-FFF2-40B4-BE49-F238E27FC236}">
                <a16:creationId xmlns:a16="http://schemas.microsoft.com/office/drawing/2014/main" id="{69EAEBBD-886B-31F9-5308-01B1A3C7201D}"/>
              </a:ext>
            </a:extLst>
          </p:cNvPr>
          <p:cNvSpPr>
            <a:spLocks noGrp="1"/>
          </p:cNvSpPr>
          <p:nvPr>
            <p:ph type="sldNum" sz="quarter" idx="11"/>
          </p:nvPr>
        </p:nvSpPr>
        <p:spPr/>
        <p:txBody>
          <a:body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5" name="日付プレースホルダー 4">
            <a:extLst>
              <a:ext uri="{FF2B5EF4-FFF2-40B4-BE49-F238E27FC236}">
                <a16:creationId xmlns:a16="http://schemas.microsoft.com/office/drawing/2014/main" id="{B480E722-07C0-6BE3-5FC1-99CE04E80AB6}"/>
              </a:ext>
            </a:extLst>
          </p:cNvPr>
          <p:cNvSpPr>
            <a:spLocks noGrp="1"/>
          </p:cNvSpPr>
          <p:nvPr>
            <p:ph type="dt" sz="half" idx="12"/>
          </p:nvPr>
        </p:nvSpPr>
        <p:spPr>
          <a:xfrm>
            <a:off x="5651167" y="6444000"/>
            <a:ext cx="889666" cy="169277"/>
          </a:xfrm>
          <a:prstGeom prst="rect">
            <a:avLst/>
          </a:prstGeom>
        </p:spPr>
        <p:txBody>
          <a:bodyPr/>
          <a:lstStyle/>
          <a:p>
            <a:pPr algn="ctr"/>
            <a:endParaRPr lang="en-US"/>
          </a:p>
        </p:txBody>
      </p:sp>
    </p:spTree>
    <p:extLst>
      <p:ext uri="{BB962C8B-B14F-4D97-AF65-F5344CB8AC3E}">
        <p14:creationId xmlns:p14="http://schemas.microsoft.com/office/powerpoint/2010/main" val="18118140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BC8BF-6A3A-CCD9-795A-5B3D5A0B91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B9E84B-517A-6B7B-7B34-BD2C2E27785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B77A3F-77BB-42EA-F36D-C1B74CADE727}"/>
              </a:ext>
            </a:extLst>
          </p:cNvPr>
          <p:cNvSpPr>
            <a:spLocks noGrp="1"/>
          </p:cNvSpPr>
          <p:nvPr>
            <p:ph type="dt" sz="half" idx="10"/>
          </p:nvPr>
        </p:nvSpPr>
        <p:spPr>
          <a:xfrm>
            <a:off x="5651167" y="6444000"/>
            <a:ext cx="889666" cy="169277"/>
          </a:xfrm>
          <a:prstGeom prst="rect">
            <a:avLst/>
          </a:prstGeom>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56E2414-BE63-1FB5-A9C1-EA0A1A73F84D}"/>
              </a:ext>
            </a:extLst>
          </p:cNvPr>
          <p:cNvSpPr>
            <a:spLocks noGrp="1"/>
          </p:cNvSpPr>
          <p:nvPr>
            <p:ph type="ftr" sz="quarter" idx="11"/>
          </p:nvPr>
        </p:nvSpPr>
        <p:spPr>
          <a:xfrm>
            <a:off x="730800" y="6588000"/>
            <a:ext cx="5184000" cy="169200"/>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FB8169-85F8-F698-3517-15BC0F564DC0}"/>
              </a:ext>
            </a:extLst>
          </p:cNvPr>
          <p:cNvSpPr>
            <a:spLocks noGrp="1"/>
          </p:cNvSpPr>
          <p:nvPr>
            <p:ph type="sldNum" sz="quarter" idx="12"/>
          </p:nvPr>
        </p:nvSpPr>
        <p:spPr/>
        <p:txBody>
          <a:bodyPr/>
          <a:lstStyle/>
          <a:p>
            <a:fld id="{9F87F2FE-3C3D-4AB2-870D-B4E57AB68CB8}" type="slidenum">
              <a:rPr kumimoji="1" lang="ja-JP" altLang="en-US" smtClean="0"/>
              <a:t>‹#›</a:t>
            </a:fld>
            <a:endParaRPr kumimoji="1" lang="ja-JP" altLang="en-US"/>
          </a:p>
        </p:txBody>
      </p:sp>
    </p:spTree>
    <p:extLst>
      <p:ext uri="{BB962C8B-B14F-4D97-AF65-F5344CB8AC3E}">
        <p14:creationId xmlns:p14="http://schemas.microsoft.com/office/powerpoint/2010/main" val="88535297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1_（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extLst>
              <p:ext uri="{D42A27DB-BD31-4B8C-83A1-F6EECF244321}">
                <p14:modId xmlns:p14="http://schemas.microsoft.com/office/powerpoint/2010/main" val="3914871738"/>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スライド" r:id="rId4" imgW="444" imgH="443" progId="TCLayout.ActiveDocument.1">
                  <p:embed/>
                </p:oleObj>
              </mc:Choice>
              <mc:Fallback>
                <p:oleObj name="thinkcellスライド" r:id="rId4" imgW="444" imgH="443" progId="TCLayout.ActiveDocument.1">
                  <p:embed/>
                  <p:pic>
                    <p:nvPicPr>
                      <p:cNvPr id="2" name="オブジェクト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pPr>
              <a:defRPr/>
            </a:pPr>
            <a:endParaRPr lang="en-GB" altLang="en-GB">
              <a:solidFill>
                <a:prstClr val="black"/>
              </a:solidFill>
              <a:latin typeface="Arial"/>
              <a:ea typeface="ＭＳ Ｐゴシック"/>
              <a:cs typeface="Arial" pitchFamily="34" charset="0"/>
            </a:endParaRPr>
          </a:p>
        </p:txBody>
      </p:sp>
      <p:sp>
        <p:nvSpPr>
          <p:cNvPr id="4" name="スライド番号プレースホルダ 3"/>
          <p:cNvSpPr>
            <a:spLocks noGrp="1"/>
          </p:cNvSpPr>
          <p:nvPr>
            <p:ph type="sldNum" sz="quarter" idx="11"/>
          </p:nvPr>
        </p:nvSpPr>
        <p:spPr bwMode="gray">
          <a:xfrm>
            <a:off x="11458554" y="6588000"/>
            <a:ext cx="221538" cy="169200"/>
          </a:xfrm>
        </p:spPr>
        <p:txBody>
          <a:bodyPr/>
          <a:lstStyle>
            <a:lvl1pPr>
              <a:defRPr>
                <a:solidFill>
                  <a:schemeClr val="tx1"/>
                </a:solidFill>
              </a:defRPr>
            </a:lvl1pPr>
          </a:lstStyle>
          <a:p>
            <a:pPr>
              <a:defRPr/>
            </a:pPr>
            <a:fld id="{AA5FCFE5-FE56-4EF1-80A8-07776887C2A1}" type="slidenum">
              <a:rPr lang="ja-JP" altLang="en-US" sz="1200" smtClean="0">
                <a:solidFill>
                  <a:prstClr val="black"/>
                </a:solidFill>
                <a:latin typeface="Arial"/>
                <a:ea typeface="ＭＳ Ｐゴシック"/>
                <a:cs typeface="Arial" pitchFamily="34" charset="0"/>
              </a:rPr>
              <a:pPr>
                <a:defRPr/>
              </a:pPr>
              <a:t>‹#›</a:t>
            </a:fld>
            <a:endParaRPr lang="ja-JP" altLang="en-US" sz="1200">
              <a:solidFill>
                <a:prstClr val="black"/>
              </a:solidFill>
              <a:latin typeface="Arial"/>
              <a:ea typeface="ＭＳ Ｐゴシック"/>
              <a:cs typeface="Arial" pitchFamily="34" charset="0"/>
            </a:endParaRPr>
          </a:p>
        </p:txBody>
      </p:sp>
      <p:sp>
        <p:nvSpPr>
          <p:cNvPr id="9" name="テキスト プレースホルダー 2"/>
          <p:cNvSpPr>
            <a:spLocks noGrp="1"/>
          </p:cNvSpPr>
          <p:nvPr>
            <p:ph type="body" sz="quarter" idx="15" hasCustomPrompt="1"/>
          </p:nvPr>
        </p:nvSpPr>
        <p:spPr bwMode="gray">
          <a:xfrm>
            <a:off x="513230" y="136800"/>
            <a:ext cx="11166862" cy="432000"/>
          </a:xfrm>
          <a:prstGeom prst="rect">
            <a:avLst/>
          </a:prstGeom>
        </p:spPr>
        <p:txBody>
          <a:bodyPr wrap="none" lIns="0" tIns="0" anchor="ctr">
            <a:noAutofit/>
          </a:bodyPr>
          <a:lstStyle>
            <a:lvl1pPr>
              <a:lnSpc>
                <a:spcPct val="100000"/>
              </a:lnSpc>
              <a:spcBef>
                <a:spcPts val="0"/>
              </a:spcBef>
              <a:defRPr sz="2000" b="1">
                <a:solidFill>
                  <a:schemeClr val="tx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3231" y="678671"/>
            <a:ext cx="11165538" cy="360000"/>
          </a:xfrm>
        </p:spPr>
        <p:txBody>
          <a:bodyPr vert="horz" lIns="0" tIns="0" anchor="t"/>
          <a:lstStyle>
            <a:lvl1pPr>
              <a:defRPr sz="1800" b="0"/>
            </a:lvl1pPr>
          </a:lstStyle>
          <a:p>
            <a:r>
              <a:rPr lang="ja-JP" altLang="en-US"/>
              <a:t>キーメッセージを入力（本スライドで一番伝えたいこと＜名詞止め・体言止め不可＞）</a:t>
            </a:r>
            <a:endParaRPr kumimoji="1" lang="ja-JP" altLang="en-US"/>
          </a:p>
        </p:txBody>
      </p:sp>
      <p:cxnSp>
        <p:nvCxnSpPr>
          <p:cNvPr id="7" name="直線コネクタ 6"/>
          <p:cNvCxnSpPr/>
          <p:nvPr/>
        </p:nvCxnSpPr>
        <p:spPr>
          <a:xfrm>
            <a:off x="513231" y="608882"/>
            <a:ext cx="111655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オブジェクト 4" hidden="1">
            <a:extLst>
              <a:ext uri="{FF2B5EF4-FFF2-40B4-BE49-F238E27FC236}">
                <a16:creationId xmlns:a16="http://schemas.microsoft.com/office/drawing/2014/main" id="{D9526583-8C8E-82A1-8852-F993675C587E}"/>
              </a:ext>
            </a:extLst>
          </p:cNvPr>
          <p:cNvGraphicFramePr>
            <a:graphicFrameLocks noChangeAspect="1"/>
          </p:cNvGraphicFramePr>
          <p:nvPr userDrawn="1">
            <p:custDataLst>
              <p:tags r:id="rId2"/>
            </p:custDataLst>
            <p:extLst>
              <p:ext uri="{D42A27DB-BD31-4B8C-83A1-F6EECF244321}">
                <p14:modId xmlns:p14="http://schemas.microsoft.com/office/powerpoint/2010/main" val="2603898332"/>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スライド" r:id="rId6" imgW="444" imgH="443" progId="TCLayout.ActiveDocument.1">
                  <p:embed/>
                </p:oleObj>
              </mc:Choice>
              <mc:Fallback>
                <p:oleObj name="think-cell スライド" r:id="rId6" imgW="444" imgH="443" progId="TCLayout.ActiveDocument.1">
                  <p:embed/>
                  <p:pic>
                    <p:nvPicPr>
                      <p:cNvPr id="5" name="オブジェクト 4" hidden="1">
                        <a:extLst>
                          <a:ext uri="{FF2B5EF4-FFF2-40B4-BE49-F238E27FC236}">
                            <a16:creationId xmlns:a16="http://schemas.microsoft.com/office/drawing/2014/main" id="{D9526583-8C8E-82A1-8852-F993675C587E}"/>
                          </a:ext>
                        </a:extLst>
                      </p:cNvPr>
                      <p:cNvPicPr/>
                      <p:nvPr/>
                    </p:nvPicPr>
                    <p:blipFill>
                      <a:blip r:embed="rId5"/>
                      <a:stretch>
                        <a:fillRect/>
                      </a:stretch>
                    </p:blipFill>
                    <p:spPr>
                      <a:xfrm>
                        <a:off x="1955" y="1589"/>
                        <a:ext cx="1953" cy="1587"/>
                      </a:xfrm>
                      <a:prstGeom prst="rect">
                        <a:avLst/>
                      </a:prstGeom>
                    </p:spPr>
                  </p:pic>
                </p:oleObj>
              </mc:Fallback>
            </mc:AlternateContent>
          </a:graphicData>
        </a:graphic>
      </p:graphicFrame>
      <p:cxnSp>
        <p:nvCxnSpPr>
          <p:cNvPr id="8" name="直線コネクタ 7">
            <a:extLst>
              <a:ext uri="{FF2B5EF4-FFF2-40B4-BE49-F238E27FC236}">
                <a16:creationId xmlns:a16="http://schemas.microsoft.com/office/drawing/2014/main" id="{F5C7EB6A-BE1A-6B26-F25B-752C370BEDF4}"/>
              </a:ext>
            </a:extLst>
          </p:cNvPr>
          <p:cNvCxnSpPr/>
          <p:nvPr userDrawn="1"/>
        </p:nvCxnSpPr>
        <p:spPr>
          <a:xfrm>
            <a:off x="513231" y="608882"/>
            <a:ext cx="111655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1270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030112370"/>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63" imgH="564" progId="TCLayout.ActiveDocument.1">
                  <p:embed/>
                </p:oleObj>
              </mc:Choice>
              <mc:Fallback>
                <p:oleObj name="thinkcellスライド" r:id="rId3" imgW="563" imgH="564"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400" b="1">
                <a:solidFill>
                  <a:schemeClr val="accent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227231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tags" Target="../tags/tag2.xml"/><Relationship Id="rId25" Type="http://schemas.openxmlformats.org/officeDocument/2006/relationships/oleObject" Target="../embeddings/oleObject1.bin"/><Relationship Id="rId26"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theme" Target="../theme/theme2.xml"/><Relationship Id="rId8" Type="http://schemas.openxmlformats.org/officeDocument/2006/relationships/tags" Target="../tags/tag25.xml"/><Relationship Id="rId9" Type="http://schemas.openxmlformats.org/officeDocument/2006/relationships/oleObject" Target="../embeddings/oleObject23.bin"/><Relationship Id="rId10"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slideLayout" Target="../slideLayouts/slideLayout43.xml"/><Relationship Id="rId16" Type="http://schemas.openxmlformats.org/officeDocument/2006/relationships/slideLayout" Target="../slideLayouts/slideLayout44.xml"/><Relationship Id="rId17" Type="http://schemas.openxmlformats.org/officeDocument/2006/relationships/slideLayout" Target="../slideLayouts/slideLayout45.xml"/><Relationship Id="rId18" Type="http://schemas.openxmlformats.org/officeDocument/2006/relationships/slideLayout" Target="../slideLayouts/slideLayout46.xml"/><Relationship Id="rId19" Type="http://schemas.openxmlformats.org/officeDocument/2006/relationships/slideLayout" Target="../slideLayouts/slideLayout47.xml"/><Relationship Id="rId20" Type="http://schemas.openxmlformats.org/officeDocument/2006/relationships/slideLayout" Target="../slideLayouts/slideLayout48.xml"/><Relationship Id="rId21" Type="http://schemas.openxmlformats.org/officeDocument/2006/relationships/slideLayout" Target="../slideLayouts/slideLayout49.xml"/><Relationship Id="rId22" Type="http://schemas.openxmlformats.org/officeDocument/2006/relationships/slideLayout" Target="../slideLayouts/slideLayout50.xml"/><Relationship Id="rId23" Type="http://schemas.openxmlformats.org/officeDocument/2006/relationships/slideLayout" Target="../slideLayouts/slideLayout51.xml"/><Relationship Id="rId24" Type="http://schemas.openxmlformats.org/officeDocument/2006/relationships/slideLayout" Target="../slideLayouts/slideLayout52.xml"/><Relationship Id="rId25" Type="http://schemas.openxmlformats.org/officeDocument/2006/relationships/slideLayout" Target="../slideLayouts/slideLayout53.xml"/><Relationship Id="rId26" Type="http://schemas.openxmlformats.org/officeDocument/2006/relationships/theme" Target="../theme/theme3.xml"/><Relationship Id="rId27" Type="http://schemas.openxmlformats.org/officeDocument/2006/relationships/tags" Target="../tags/tag32.xml"/><Relationship Id="rId28" Type="http://schemas.openxmlformats.org/officeDocument/2006/relationships/oleObject" Target="../embeddings/oleObject28.bin"/><Relationship Id="rId29"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slideLayout" Target="../slideLayouts/slideLayout56.xml"/><Relationship Id="rId4" Type="http://schemas.openxmlformats.org/officeDocument/2006/relationships/slideLayout" Target="../slideLayouts/slideLayout57.xml"/><Relationship Id="rId5" Type="http://schemas.openxmlformats.org/officeDocument/2006/relationships/slideLayout" Target="../slideLayouts/slideLayout58.xml"/><Relationship Id="rId6" Type="http://schemas.openxmlformats.org/officeDocument/2006/relationships/slideLayout" Target="../slideLayouts/slideLayout59.xml"/><Relationship Id="rId7" Type="http://schemas.openxmlformats.org/officeDocument/2006/relationships/slideLayout" Target="../slideLayouts/slideLayout60.xml"/><Relationship Id="rId8" Type="http://schemas.openxmlformats.org/officeDocument/2006/relationships/slideLayout" Target="../slideLayouts/slideLayout61.xml"/><Relationship Id="rId9" Type="http://schemas.openxmlformats.org/officeDocument/2006/relationships/slideLayout" Target="../slideLayouts/slideLayout62.xml"/><Relationship Id="rId10" Type="http://schemas.openxmlformats.org/officeDocument/2006/relationships/slideLayout" Target="../slideLayouts/slideLayout63.xml"/><Relationship Id="rId11" Type="http://schemas.openxmlformats.org/officeDocument/2006/relationships/slideLayout" Target="../slideLayouts/slideLayout64.xml"/><Relationship Id="rId12" Type="http://schemas.openxmlformats.org/officeDocument/2006/relationships/slideLayout" Target="../slideLayouts/slideLayout65.xml"/><Relationship Id="rId13" Type="http://schemas.openxmlformats.org/officeDocument/2006/relationships/slideLayout" Target="../slideLayouts/slideLayout66.xml"/><Relationship Id="rId14" Type="http://schemas.openxmlformats.org/officeDocument/2006/relationships/slideLayout" Target="../slideLayouts/slideLayout67.xml"/><Relationship Id="rId15" Type="http://schemas.openxmlformats.org/officeDocument/2006/relationships/slideLayout" Target="../slideLayouts/slideLayout68.xml"/><Relationship Id="rId16" Type="http://schemas.openxmlformats.org/officeDocument/2006/relationships/slideLayout" Target="../slideLayouts/slideLayout69.xml"/><Relationship Id="rId17" Type="http://schemas.openxmlformats.org/officeDocument/2006/relationships/slideLayout" Target="../slideLayouts/slideLayout70.xml"/><Relationship Id="rId18" Type="http://schemas.openxmlformats.org/officeDocument/2006/relationships/slideLayout" Target="../slideLayouts/slideLayout71.xml"/><Relationship Id="rId19" Type="http://schemas.openxmlformats.org/officeDocument/2006/relationships/slideLayout" Target="../slideLayouts/slideLayout72.xml"/><Relationship Id="rId20" Type="http://schemas.openxmlformats.org/officeDocument/2006/relationships/slideLayout" Target="../slideLayouts/slideLayout73.xml"/><Relationship Id="rId21" Type="http://schemas.openxmlformats.org/officeDocument/2006/relationships/theme" Target="../theme/theme4.xml"/><Relationship Id="rId22" Type="http://schemas.openxmlformats.org/officeDocument/2006/relationships/tags" Target="../tags/tag56.xml"/><Relationship Id="rId23" Type="http://schemas.openxmlformats.org/officeDocument/2006/relationships/oleObject" Target="../embeddings/oleObject28.bin"/><Relationship Id="rId2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4"/>
            </p:custDataLst>
            <p:extLst>
              <p:ext uri="{D42A27DB-BD31-4B8C-83A1-F6EECF244321}">
                <p14:modId xmlns:p14="http://schemas.microsoft.com/office/powerpoint/2010/main" val="30926568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5" imgW="444" imgH="443" progId="TCLayout.ActiveDocument.1">
                  <p:embed/>
                </p:oleObj>
              </mc:Choice>
              <mc:Fallback>
                <p:oleObj name="thinkcellスライド" r:id="rId25"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kumimoji="1" lang="en-US" altLang="ja-JP"/>
              <a:t>DT Template 16:9</a:t>
            </a:r>
            <a:endParaRPr kumimoji="1"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a:extLst>
              <a:ext uri="{FF2B5EF4-FFF2-40B4-BE49-F238E27FC236}">
                <a16:creationId xmlns:a16="http://schemas.microsoft.com/office/drawing/2014/main" id="{E0E64AB6-CEBE-4B69-BA95-262258503BE9}"/>
              </a:ext>
            </a:extLst>
          </p:cNvPr>
          <p:cNvSpPr>
            <a:spLocks noGrp="1"/>
          </p:cNvSpPr>
          <p:nvPr>
            <p:ph type="dt" sz="half" idx="2"/>
          </p:nvPr>
        </p:nvSpPr>
        <p:spPr bwMode="gray">
          <a:xfrm>
            <a:off x="5615099" y="6444000"/>
            <a:ext cx="961802" cy="169277"/>
          </a:xfrm>
          <a:prstGeom prst="rect">
            <a:avLst/>
          </a:prstGeom>
        </p:spPr>
        <p:txBody>
          <a:bodyPr vert="horz" wrap="none" lIns="0" tIns="0" rIns="0" bIns="0" rtlCol="0" anchor="t" anchorCtr="0">
            <a:spAutoFit/>
          </a:bodyPr>
          <a:lstStyle>
            <a:lvl1pPr>
              <a:defRPr kumimoji="1" lang="en-US" altLang="ja-JP" sz="1100" smtClean="0">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977651121"/>
      </p:ext>
    </p:extLst>
  </p:cSld>
  <p:clrMap bg1="lt1" tx1="dk1" bg2="lt2" tx2="dk2" accent1="accent1" accent2="accent2" accent3="accent3" accent4="accent4" accent5="accent5" accent6="accent6" hlink="hlink" folHlink="folHlink"/>
  <p:sldLayoutIdLst>
    <p:sldLayoutId id="2147483935" r:id="rId1"/>
    <p:sldLayoutId id="2147483944" r:id="rId2"/>
    <p:sldLayoutId id="2147483946" r:id="rId3"/>
    <p:sldLayoutId id="2147483947" r:id="rId4"/>
    <p:sldLayoutId id="2147483911" r:id="rId5"/>
    <p:sldLayoutId id="2147483912" r:id="rId6"/>
    <p:sldLayoutId id="2147483934" r:id="rId7"/>
    <p:sldLayoutId id="2147483983" r:id="rId8"/>
    <p:sldLayoutId id="2147483984" r:id="rId9"/>
    <p:sldLayoutId id="2147483985" r:id="rId10"/>
    <p:sldLayoutId id="2147483959" r:id="rId11"/>
    <p:sldLayoutId id="2147483969" r:id="rId12"/>
    <p:sldLayoutId id="2147483960" r:id="rId13"/>
    <p:sldLayoutId id="2147483961" r:id="rId14"/>
    <p:sldLayoutId id="2147483976" r:id="rId15"/>
    <p:sldLayoutId id="2147483977" r:id="rId16"/>
    <p:sldLayoutId id="2147483978" r:id="rId17"/>
    <p:sldLayoutId id="2147483979" r:id="rId18"/>
    <p:sldLayoutId id="2147483952" r:id="rId19"/>
    <p:sldLayoutId id="2147483957" r:id="rId20"/>
    <p:sldLayoutId id="2147483956" r:id="rId21"/>
    <p:sldLayoutId id="2147483958" r:id="rId22"/>
  </p:sldLayoutIdLst>
  <p:hf hdr="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userDrawn="1">
          <p15:clr>
            <a:srgbClr val="A4A3A4"/>
          </p15:clr>
        </p15:guide>
        <p15:guide id="1" orient="horz" pos="96" userDrawn="1">
          <p15:clr>
            <a:srgbClr val="A4A3A4"/>
          </p15:clr>
        </p15:guide>
        <p15:guide id="2" pos="3727" userDrawn="1">
          <p15:clr>
            <a:srgbClr val="A4A3A4"/>
          </p15:clr>
        </p15:guide>
        <p15:guide id="3" pos="3953" userDrawn="1">
          <p15:clr>
            <a:srgbClr val="A4A3A4"/>
          </p15:clr>
        </p15:guide>
        <p15:guide id="4" pos="7378" userDrawn="1">
          <p15:clr>
            <a:srgbClr val="A4A3A4"/>
          </p15:clr>
        </p15:guide>
        <p15:guide id="5" pos="302" userDrawn="1">
          <p15:clr>
            <a:srgbClr val="A4A3A4"/>
          </p15:clr>
        </p15:guide>
        <p15:guide id="6" orient="horz" pos="527" userDrawn="1">
          <p15:clr>
            <a:srgbClr val="A4A3A4"/>
          </p15:clr>
        </p15:guide>
        <p15:guide id="8" orient="horz" pos="935" userDrawn="1">
          <p15:clr>
            <a:srgbClr val="A4A3A4"/>
          </p15:clr>
        </p15:guide>
        <p15:guide id="9" orient="horz" pos="3974" userDrawn="1">
          <p15:clr>
            <a:srgbClr val="A4A3A4"/>
          </p15:clr>
        </p15:guide>
        <p15:guide id="10" orient="horz" pos="4156" userDrawn="1">
          <p15:clr>
            <a:srgbClr val="A4A3A4"/>
          </p15:clr>
        </p15:guide>
        <p15:guide id="11" orient="horz" pos="4269" userDrawn="1">
          <p15:clr>
            <a:srgbClr val="A4A3A4"/>
          </p15:clr>
        </p15:guide>
        <p15:guide id="12" orient="horz" pos="640"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710619-D609-4ABA-8EC3-1DBA3A476E15}"/>
              </a:ext>
            </a:extLst>
          </p:cNvPr>
          <p:cNvGraphicFramePr>
            <a:graphicFrameLocks noChangeAspect="1"/>
          </p:cNvGraphicFramePr>
          <p:nvPr userDrawn="1">
            <p:custDataLst>
              <p:tags r:id="rId8"/>
            </p:custDataLst>
            <p:extLst>
              <p:ext uri="{D42A27DB-BD31-4B8C-83A1-F6EECF244321}">
                <p14:modId xmlns:p14="http://schemas.microsoft.com/office/powerpoint/2010/main" val="1697085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9" imgW="444" imgH="443" progId="TCLayout.ActiveDocument.1">
                  <p:embed/>
                </p:oleObj>
              </mc:Choice>
              <mc:Fallback>
                <p:oleObj name="thinkcellスライド" r:id="rId9" imgW="444" imgH="443" progId="TCLayout.ActiveDocument.1">
                  <p:embed/>
                  <p:pic>
                    <p:nvPicPr>
                      <p:cNvPr id="4" name="オブジェクト 3" hidden="1">
                        <a:extLst>
                          <a:ext uri="{FF2B5EF4-FFF2-40B4-BE49-F238E27FC236}">
                            <a16:creationId xmlns:a16="http://schemas.microsoft.com/office/drawing/2014/main" id="{88710619-D609-4ABA-8EC3-1DBA3A476E1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52400"/>
            <a:ext cx="11232000" cy="647700"/>
          </a:xfrm>
          <a:prstGeom prst="rect">
            <a:avLst/>
          </a:prstGeom>
        </p:spPr>
        <p:txBody>
          <a:bodyPr vert="horz" lIns="0" tIns="0" rIns="0" bIns="0" rtlCol="0" anchor="b" anchorCtr="0">
            <a:noAutofit/>
          </a:bodyPr>
          <a:lstStyle/>
          <a:p>
            <a:r>
              <a:rPr kumimoji="1" lang="ja-JP" altLang="en-US"/>
              <a:t>スライドタイトル</a:t>
            </a:r>
            <a:r>
              <a:rPr lang="ja-JP" altLang="en-US" noProof="0"/>
              <a:t>（入力が必要）</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kumimoji="1" lang="en-GB" altLang="en-GB"/>
              <a:t>DT Template 16:9</a:t>
            </a:r>
          </a:p>
        </p:txBody>
      </p:sp>
      <p:sp>
        <p:nvSpPr>
          <p:cNvPr id="9" name="スライド番号プレースホルダ 9"/>
          <p:cNvSpPr>
            <a:spLocks noGrp="1"/>
          </p:cNvSpPr>
          <p:nvPr>
            <p:ph type="sldNum" sz="quarter" idx="4"/>
          </p:nvPr>
        </p:nvSpPr>
        <p:spPr bwMode="gray">
          <a:xfrm>
            <a:off x="4788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84725"/>
            <a:ext cx="11232000" cy="4824000"/>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53086590"/>
      </p:ext>
    </p:extLst>
  </p:cSld>
  <p:clrMap bg1="lt1" tx1="dk1" bg2="lt2" tx2="dk2" accent1="accent1" accent2="accent2" accent3="accent3" accent4="accent4" accent5="accent5" accent6="accent6" hlink="hlink" folHlink="folHlink"/>
  <p:sldLayoutIdLst>
    <p:sldLayoutId id="2147483950" r:id="rId1"/>
    <p:sldLayoutId id="2147483975" r:id="rId2"/>
    <p:sldLayoutId id="2147483970" r:id="rId3"/>
    <p:sldLayoutId id="2147483980" r:id="rId4"/>
    <p:sldLayoutId id="2147483981" r:id="rId5"/>
    <p:sldLayoutId id="2147483982" r:id="rId6"/>
  </p:sldLayoutIdLst>
  <p:hf hdr="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indent="0" algn="l" defTabSz="990564" rtl="0" eaLnBrk="1" latinLnBrk="0" hangingPunct="1">
        <a:lnSpc>
          <a:spcPct val="100000"/>
        </a:lnSpc>
        <a:spcBef>
          <a:spcPts val="600"/>
        </a:spcBef>
        <a:spcAft>
          <a:spcPts val="0"/>
        </a:spcAft>
        <a:buSzPct val="100000"/>
        <a:buFont typeface="Arial" panose="020B0604020202020204" pitchFamily="34" charset="0"/>
        <a:buNone/>
        <a:defRPr kumimoji="1" sz="1600" b="0" kern="1200" baseline="0">
          <a:solidFill>
            <a:schemeClr val="tx1"/>
          </a:solidFill>
          <a:latin typeface="+mn-lt"/>
          <a:ea typeface="+mn-ea"/>
          <a:cs typeface="+mn-cs"/>
        </a:defRPr>
      </a:lvl1pPr>
      <a:lvl2pPr marL="252000" indent="-252000" algn="l" defTabSz="990564" rtl="0" eaLnBrk="1" latinLnBrk="0" hangingPunct="1">
        <a:lnSpc>
          <a:spcPct val="100000"/>
        </a:lnSpc>
        <a:spcBef>
          <a:spcPts val="600"/>
        </a:spcBef>
        <a:spcAft>
          <a:spcPts val="0"/>
        </a:spcAft>
        <a:buClrTx/>
        <a:buSzPct val="100000"/>
        <a:buFont typeface="Wingdings" panose="05000000000000000000" pitchFamily="2" charset="2"/>
        <a:buChar char="n"/>
        <a:defRPr kumimoji="1" lang="en-US" sz="1600" b="0" kern="1200" baseline="0" dirty="0" smtClean="0">
          <a:solidFill>
            <a:schemeClr val="tx1"/>
          </a:solidFill>
          <a:latin typeface="+mn-lt"/>
          <a:ea typeface="+mn-ea"/>
          <a:cs typeface="+mn-cs"/>
        </a:defRPr>
      </a:lvl2pPr>
      <a:lvl3pPr marL="504000" indent="-252000" algn="l" defTabSz="990564" rtl="0" eaLnBrk="1" latinLnBrk="0" hangingPunct="1">
        <a:lnSpc>
          <a:spcPct val="100000"/>
        </a:lnSpc>
        <a:spcBef>
          <a:spcPts val="600"/>
        </a:spcBef>
        <a:spcAft>
          <a:spcPts val="0"/>
        </a:spcAft>
        <a:buClrTx/>
        <a:buSzPct val="100000"/>
        <a:buFont typeface="Wingdings" panose="05000000000000000000" pitchFamily="2" charset="2"/>
        <a:buChar char="Ø"/>
        <a:defRPr kumimoji="1" lang="en-US" sz="1600" b="0" kern="1200" baseline="0" dirty="0" smtClean="0">
          <a:solidFill>
            <a:schemeClr val="tx1"/>
          </a:solidFill>
          <a:latin typeface="+mn-lt"/>
          <a:ea typeface="+mn-ea"/>
          <a:cs typeface="+mn-cs"/>
        </a:defRPr>
      </a:lvl3pPr>
      <a:lvl4pPr marL="684000" indent="-180000" algn="l" defTabSz="990564" rtl="0" eaLnBrk="1" latinLnBrk="0" hangingPunct="1">
        <a:lnSpc>
          <a:spcPct val="10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A4A3A4"/>
          </p15:clr>
        </p15:guide>
        <p15:guide id="2" orient="horz" pos="96" userDrawn="1">
          <p15:clr>
            <a:srgbClr val="A4A3A4"/>
          </p15:clr>
        </p15:guide>
        <p15:guide id="3" pos="3727" userDrawn="1">
          <p15:clr>
            <a:srgbClr val="A4A3A4"/>
          </p15:clr>
        </p15:guide>
        <p15:guide id="4" pos="3953" userDrawn="1">
          <p15:clr>
            <a:srgbClr val="A4A3A4"/>
          </p15:clr>
        </p15:guide>
        <p15:guide id="5" pos="7378" userDrawn="1">
          <p15:clr>
            <a:srgbClr val="A4A3A4"/>
          </p15:clr>
        </p15:guide>
        <p15:guide id="6" pos="302" userDrawn="1">
          <p15:clr>
            <a:srgbClr val="A4A3A4"/>
          </p15:clr>
        </p15:guide>
        <p15:guide id="7" orient="horz" pos="504" userDrawn="1">
          <p15:clr>
            <a:srgbClr val="A4A3A4"/>
          </p15:clr>
        </p15:guide>
        <p15:guide id="8" orient="horz" pos="527" userDrawn="1">
          <p15:clr>
            <a:srgbClr val="A4A3A4"/>
          </p15:clr>
        </p15:guide>
        <p15:guide id="9" orient="horz" pos="935" userDrawn="1">
          <p15:clr>
            <a:srgbClr val="A4A3A4"/>
          </p15:clr>
        </p15:guide>
        <p15:guide id="10" orient="horz" pos="3974" userDrawn="1">
          <p15:clr>
            <a:srgbClr val="A4A3A4"/>
          </p15:clr>
        </p15:guide>
        <p15:guide id="11" orient="horz" pos="4156" userDrawn="1">
          <p15:clr>
            <a:srgbClr val="A4A3A4"/>
          </p15:clr>
        </p15:guide>
        <p15:guide id="12" orient="horz" pos="4269"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7"/>
            </p:custDataLst>
            <p:extLst>
              <p:ext uri="{D42A27DB-BD31-4B8C-83A1-F6EECF244321}">
                <p14:modId xmlns:p14="http://schemas.microsoft.com/office/powerpoint/2010/main" val="714237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8" imgW="444" imgH="443" progId="TCLayout.ActiveDocument.1">
                  <p:embed/>
                </p:oleObj>
              </mc:Choice>
              <mc:Fallback>
                <p:oleObj name="thinkcellスライド" r:id="rId28"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endParaRPr kumimoji="1"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a:extLst>
              <a:ext uri="{FF2B5EF4-FFF2-40B4-BE49-F238E27FC236}">
                <a16:creationId xmlns:a16="http://schemas.microsoft.com/office/drawing/2014/main" id="{E0E64AB6-CEBE-4B69-BA95-262258503BE9}"/>
              </a:ext>
            </a:extLst>
          </p:cNvPr>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endParaRPr lang="en-US"/>
          </a:p>
        </p:txBody>
      </p:sp>
    </p:spTree>
    <p:extLst>
      <p:ext uri="{BB962C8B-B14F-4D97-AF65-F5344CB8AC3E}">
        <p14:creationId xmlns:p14="http://schemas.microsoft.com/office/powerpoint/2010/main" val="2354391317"/>
      </p:ext>
    </p:extLst>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 id="2147483998" r:id="rId12"/>
    <p:sldLayoutId id="2147483999" r:id="rId13"/>
    <p:sldLayoutId id="2147484000" r:id="rId14"/>
    <p:sldLayoutId id="2147484001" r:id="rId15"/>
    <p:sldLayoutId id="2147484002" r:id="rId16"/>
    <p:sldLayoutId id="2147484003" r:id="rId17"/>
    <p:sldLayoutId id="2147484004" r:id="rId18"/>
    <p:sldLayoutId id="2147484005" r:id="rId19"/>
    <p:sldLayoutId id="2147484006" r:id="rId20"/>
    <p:sldLayoutId id="2147484007" r:id="rId21"/>
    <p:sldLayoutId id="2147484008" r:id="rId22"/>
    <p:sldLayoutId id="2147484009" r:id="rId23"/>
    <p:sldLayoutId id="2147484011" r:id="rId24"/>
    <p:sldLayoutId id="2147484033" r:id="rId25"/>
  </p:sldLayoutIdLst>
  <p:hf hdr="0" ftr="0" dt="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A4A3A4"/>
          </p15:clr>
        </p15:guide>
        <p15:guide id="1" orient="horz" pos="96">
          <p15:clr>
            <a:srgbClr val="A4A3A4"/>
          </p15:clr>
        </p15:guide>
        <p15:guide id="2" pos="3727">
          <p15:clr>
            <a:srgbClr val="A4A3A4"/>
          </p15:clr>
        </p15:guide>
        <p15:guide id="3" pos="3953">
          <p15:clr>
            <a:srgbClr val="A4A3A4"/>
          </p15:clr>
        </p15:guide>
        <p15:guide id="4" pos="7378">
          <p15:clr>
            <a:srgbClr val="A4A3A4"/>
          </p15:clr>
        </p15:guide>
        <p15:guide id="5" pos="302">
          <p15:clr>
            <a:srgbClr val="A4A3A4"/>
          </p15:clr>
        </p15:guide>
        <p15:guide id="6" orient="horz" pos="527">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guide id="12" orient="horz" pos="640">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2"/>
            </p:custDataLst>
            <p:extLst>
              <p:ext uri="{D42A27DB-BD31-4B8C-83A1-F6EECF244321}">
                <p14:modId xmlns:p14="http://schemas.microsoft.com/office/powerpoint/2010/main" val="714237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3" imgW="444" imgH="443" progId="TCLayout.ActiveDocument.1">
                  <p:embed/>
                </p:oleObj>
              </mc:Choice>
              <mc:Fallback>
                <p:oleObj name="thinkcellスライド" r:id="rId23"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631573618"/>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 id="2147484026" r:id="rId14"/>
    <p:sldLayoutId id="2147484027" r:id="rId15"/>
    <p:sldLayoutId id="2147484028" r:id="rId16"/>
    <p:sldLayoutId id="2147484029" r:id="rId17"/>
    <p:sldLayoutId id="2147484030" r:id="rId18"/>
    <p:sldLayoutId id="2147484031" r:id="rId19"/>
    <p:sldLayoutId id="2147484032" r:id="rId20"/>
  </p:sldLayoutIdLst>
  <p:hf hdr="0" ftr="0" dt="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A4A3A4"/>
          </p15:clr>
        </p15:guide>
        <p15:guide id="1" orient="horz" pos="96">
          <p15:clr>
            <a:srgbClr val="A4A3A4"/>
          </p15:clr>
        </p15:guide>
        <p15:guide id="2" pos="3727">
          <p15:clr>
            <a:srgbClr val="A4A3A4"/>
          </p15:clr>
        </p15:guide>
        <p15:guide id="3" pos="3953">
          <p15:clr>
            <a:srgbClr val="A4A3A4"/>
          </p15:clr>
        </p15:guide>
        <p15:guide id="4" pos="7378">
          <p15:clr>
            <a:srgbClr val="A4A3A4"/>
          </p15:clr>
        </p15:guide>
        <p15:guide id="5" pos="302">
          <p15:clr>
            <a:srgbClr val="A4A3A4"/>
          </p15:clr>
        </p15:guide>
        <p15:guide id="6" orient="horz" pos="527">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guide id="12" orient="horz" pos="640">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76.xml"/><Relationship Id="rId2" Type="http://schemas.openxmlformats.org/officeDocument/2006/relationships/slideLayout" Target="../slideLayouts/slideLayout54.xml"/><Relationship Id="rId3" Type="http://schemas.openxmlformats.org/officeDocument/2006/relationships/notesSlide" Target="../notesSlides/notesSlide1.xml"/><Relationship Id="rId4" Type="http://schemas.openxmlformats.org/officeDocument/2006/relationships/oleObject" Target="../embeddings/oleObject40.bin"/><Relationship Id="rId5" Type="http://schemas.openxmlformats.org/officeDocument/2006/relationships/image" Target="../media/image16.emf"/><Relationship Id="rId6" Type="http://schemas.openxmlformats.org/officeDocument/2006/relationships/image" Target="../media/image17.jpeg"/></Relationships>
</file>

<file path=ppt/slides/_rels/slide2.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slideLayout" Target="../slideLayouts/slideLayout53.xml"/><Relationship Id="rId3" Type="http://schemas.openxmlformats.org/officeDocument/2006/relationships/notesSlide" Target="../notesSlides/notesSlide2.xml"/><Relationship Id="rId4" Type="http://schemas.openxmlformats.org/officeDocument/2006/relationships/oleObject" Target="../embeddings/oleObject41.bin"/><Relationship Id="rId5" Type="http://schemas.openxmlformats.org/officeDocument/2006/relationships/image" Target="../media/image18.emf"/><Relationship Id="rId6" Type="http://schemas.openxmlformats.org/officeDocument/2006/relationships/image" Target="../media/image1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 Id="rId3" Type="http://schemas.openxmlformats.org/officeDocument/2006/relationships/hyperlink" Target="http://www.bsigroup.com/clientDirectory" TargetMode="External"/><Relationship Id="rId4" Type="http://schemas.openxmlformats.org/officeDocument/2006/relationships/hyperlink" Target="http://www.deloitte.com/jp" TargetMode="External"/><Relationship Id="rId5" Type="http://schemas.openxmlformats.org/officeDocument/2006/relationships/hyperlink" Target="http://www.deloitte.com/jp/about" TargetMode="External"/><Relationship Id="rId6" Type="http://schemas.openxmlformats.org/officeDocument/2006/relationships/hyperlink" Target="http://www.deloitte.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ags" Target="../tags/tag77.xml"/><Relationship Id="rId3" Type="http://schemas.openxmlformats.org/officeDocument/2006/relationships/oleObject" Target="../embeddings/oleObject41.bin"/><Relationship Id="rId4" Type="http://schemas.openxmlformats.org/officeDocument/2006/relationships/image" Target="../media/image18.emf"/><Relationship Id="rId5" Type="http://schemas.openxmlformats.org/officeDocument/2006/relationships/image" Target="../media/image19.jpeg"/><Relationship Id="rId6"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ags" Target="../tags/tag77.xml"/><Relationship Id="rId3" Type="http://schemas.openxmlformats.org/officeDocument/2006/relationships/oleObject" Target="../embeddings/oleObject41.bin"/><Relationship Id="rId4" Type="http://schemas.openxmlformats.org/officeDocument/2006/relationships/image" Target="../media/image18.emf"/><Relationship Id="rId5" Type="http://schemas.openxmlformats.org/officeDocument/2006/relationships/image" Target="../media/image19.jpeg"/><Relationship Id="rId6"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ags" Target="../tags/tag77.xml"/><Relationship Id="rId3" Type="http://schemas.openxmlformats.org/officeDocument/2006/relationships/oleObject" Target="../embeddings/oleObject41.bin"/><Relationship Id="rId4" Type="http://schemas.openxmlformats.org/officeDocument/2006/relationships/image" Target="../media/image18.emf"/><Relationship Id="rId5" Type="http://schemas.openxmlformats.org/officeDocument/2006/relationships/image" Target="../media/image19.jpeg"/><Relationship Id="rId6"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ags" Target="../tags/tag77.xml"/><Relationship Id="rId3" Type="http://schemas.openxmlformats.org/officeDocument/2006/relationships/oleObject" Target="../embeddings/oleObject41.bin"/><Relationship Id="rId4" Type="http://schemas.openxmlformats.org/officeDocument/2006/relationships/image" Target="../media/image18.emf"/><Relationship Id="rId5" Type="http://schemas.openxmlformats.org/officeDocument/2006/relationships/image" Target="../media/image19.jpeg"/><Relationship Id="rId6"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6.xml"/><Relationship Id="rId3" Type="http://schemas.openxmlformats.org/officeDocument/2006/relationships/chart" Target="../charts/char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FEB6184-41DC-7C82-EBC9-6125A7A9A4E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306" imgH="306" progId="TCLayout.ActiveDocument.1">
                  <p:embed/>
                </p:oleObj>
              </mc:Choice>
              <mc:Fallback>
                <p:oleObj name="thinkcellスライド" r:id="rId4" imgW="306" imgH="306" progId="TCLayout.ActiveDocument.1">
                  <p:embed/>
                  <p:pic>
                    <p:nvPicPr>
                      <p:cNvPr id="2" name="think-cell data - do not delete" hidden="1">
                        <a:extLst>
                          <a:ext uri="{FF2B5EF4-FFF2-40B4-BE49-F238E27FC236}">
                            <a16:creationId xmlns:a16="http://schemas.microsoft.com/office/drawing/2014/main" id="{5FEB6184-41DC-7C82-EBC9-6125A7A9A4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9" name="図 18" descr="夜にライトアップされている&#10;&#10;AI によって生成されたコンテンツは間違っている可能性があります。">
            <a:extLst>
              <a:ext uri="{FF2B5EF4-FFF2-40B4-BE49-F238E27FC236}">
                <a16:creationId xmlns:a16="http://schemas.microsoft.com/office/drawing/2014/main" id="{25F0A911-5C19-2636-0451-C85C33F64643}"/>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0" y="0"/>
            <a:ext cx="3904090" cy="6876138"/>
          </a:xfrm>
          <a:prstGeom prst="rect">
            <a:avLst/>
          </a:prstGeom>
        </p:spPr>
      </p:pic>
      <p:sp>
        <p:nvSpPr>
          <p:cNvPr id="25" name="テキスト ボックス 24">
            <a:extLst>
              <a:ext uri="{FF2B5EF4-FFF2-40B4-BE49-F238E27FC236}">
                <a16:creationId xmlns:a16="http://schemas.microsoft.com/office/drawing/2014/main" id="{63CADF77-D81E-E8E2-9C28-F7386E272BD4}"/>
              </a:ext>
            </a:extLst>
          </p:cNvPr>
          <p:cNvSpPr txBox="1"/>
          <p:nvPr/>
        </p:nvSpPr>
        <p:spPr bwMode="gray">
          <a:xfrm>
            <a:off x="4661598" y="2266047"/>
            <a:ext cx="7223760" cy="492443"/>
          </a:xfrm>
          <a:prstGeom prst="rect">
            <a:avLst/>
          </a:prstGeom>
          <a:noFill/>
        </p:spPr>
        <p:txBody>
          <a:bodyPr wrap="none" lIns="0" tIns="0" rIns="0" bIns="0" rtlCol="0">
            <a:spAutoFit/>
          </a:bodyPr>
          <a:lstStyle/>
          <a:p>
            <a:pPr marL="0" marR="0" lvl="0" indent="0" algn="l" defTabSz="990564" rtl="0" eaLnBrk="1" fontAlgn="auto" latinLnBrk="0" hangingPunct="1">
              <a:lnSpc>
                <a:spcPct val="100000"/>
              </a:lnSpc>
              <a:spcBef>
                <a:spcPts val="0"/>
              </a:spcBef>
              <a:spcAft>
                <a:spcPts val="0"/>
              </a:spcAft>
              <a:buClrTx/>
              <a:buSzPct val="100000"/>
              <a:buFontTx/>
              <a:buNone/>
              <a:tabLst/>
              <a:defRPr lang="ja-JP" altLang="en-US"/>
            </a:pPr>
            <a:r>
              <a:rPr kumimoji="1" lang="ja-JP" altLang="en-US" sz="3200" b="1" i="0" u="sng" strike="noStrike" kern="1200" cap="none" spc="0" normalizeH="0" baseline="0" noProof="0">
                <a:ln>
                  <a:noFill/>
                </a:ln>
                <a:solidFill>
                  <a:prstClr val="black"/>
                </a:solidFill>
                <a:effectLst/>
                <a:uLnTx/>
                <a:uFillTx/>
                <a:latin typeface="Yu Gothic UI"/>
                <a:ea typeface="Yu Gothic UI"/>
                <a:cs typeface="Arial" charset="0"/>
              </a:rPr>
              <a:t>BX取り組み｜Quick-Win施策の推進</a:t>
            </a:r>
          </a:p>
        </p:txBody>
      </p:sp>
      <p:sp>
        <p:nvSpPr>
          <p:cNvPr id="28" name="テキスト ボックス 27">
            <a:extLst>
              <a:ext uri="{FF2B5EF4-FFF2-40B4-BE49-F238E27FC236}">
                <a16:creationId xmlns:a16="http://schemas.microsoft.com/office/drawing/2014/main" id="{81AAFA19-1B8D-A828-A17B-E52449575833}"/>
              </a:ext>
            </a:extLst>
          </p:cNvPr>
          <p:cNvSpPr txBox="1"/>
          <p:nvPr/>
        </p:nvSpPr>
        <p:spPr bwMode="gray">
          <a:xfrm>
            <a:off x="4661598" y="3780005"/>
            <a:ext cx="7223760" cy="615553"/>
          </a:xfrm>
          <a:prstGeom prst="rect">
            <a:avLst/>
          </a:prstGeom>
          <a:noFill/>
        </p:spPr>
        <p:txBody>
          <a:bodyPr wrap="none" lIns="0" tIns="0" rIns="0" bIns="0" rtlCol="0" anchor="t">
            <a:spAutoFit/>
          </a:bodyPr>
          <a:lstStyle/>
          <a:p>
            <a:pPr lvl="0" defTabSz="990564" fontAlgn="auto">
              <a:spcBef>
                <a:spcPts val="0"/>
              </a:spcBef>
              <a:spcAft>
                <a:spcPts val="0"/>
              </a:spcAft>
              <a:buSzPct val="100000"/>
            </a:pPr>
            <a:r>
              <a:rPr kumimoji="0" lang="ja-JP" altLang="en-US" sz="2000" b="0" i="0" u="none" strike="noStrike" kern="1200" cap="none" spc="0" normalizeH="0" baseline="0" noProof="0">
                <a:ln>
                  <a:noFill/>
                </a:ln>
                <a:solidFill>
                  <a:prstClr val="black"/>
                </a:solidFill>
                <a:effectLst/>
                <a:uLnTx/>
                <a:uFillTx/>
                <a:latin typeface="Arial"/>
                <a:ea typeface="Yu Gothic UI"/>
                <a:cs typeface="Arial"/>
                <a:sym typeface="+mj-lt"/>
              </a:rPr>
              <a:t>Phase2 第1回 週次進捗報告資料｜セキュア公開・データ投入</a:t>
            </a:r>
            <a:br>
              <a:rPr lang="ja-JP" altLang="en-US" sz="2000"/>
            </a:br>
            <a:endParaRPr kumimoji="1" lang="ja-JP" altLang="en-US" sz="20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33" name="テキスト ボックス 32">
            <a:extLst>
              <a:ext uri="{FF2B5EF4-FFF2-40B4-BE49-F238E27FC236}">
                <a16:creationId xmlns:a16="http://schemas.microsoft.com/office/drawing/2014/main" id="{844AB2EE-B4B8-DAE9-7E1E-1B71A5C58662}"/>
              </a:ext>
            </a:extLst>
          </p:cNvPr>
          <p:cNvSpPr txBox="1"/>
          <p:nvPr/>
        </p:nvSpPr>
        <p:spPr bwMode="gray">
          <a:xfrm>
            <a:off x="4661598" y="4283964"/>
            <a:ext cx="1678345" cy="307777"/>
          </a:xfrm>
          <a:prstGeom prst="rect">
            <a:avLst/>
          </a:prstGeom>
          <a:noFill/>
        </p:spPr>
        <p:txBody>
          <a:bodyPr wrap="none" lIns="0" tIns="0" rIns="0" bIns="0" rtlCol="0" anchor="t">
            <a:sp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1" lang="ja-JP" altLang="en-US" sz="2000" b="0" i="0" u="none" strike="noStrike" kern="1200" cap="none" spc="0" normalizeH="0" baseline="0" noProof="0">
                <a:ln>
                  <a:noFill/>
                </a:ln>
                <a:solidFill>
                  <a:prstClr val="black"/>
                </a:solidFill>
                <a:effectLst/>
                <a:uLnTx/>
                <a:uFillTx/>
                <a:latin typeface="Calibri"/>
                <a:ea typeface="Yu Gothic UI"/>
                <a:cs typeface="Arial"/>
              </a:rPr>
              <a:t>2026年10月7日</a:t>
            </a:r>
          </a:p>
        </p:txBody>
      </p:sp>
    </p:spTree>
    <p:extLst>
      <p:ext uri="{BB962C8B-B14F-4D97-AF65-F5344CB8AC3E}">
        <p14:creationId xmlns:p14="http://schemas.microsoft.com/office/powerpoint/2010/main" val="801653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16F1-BCEC-2A09-F5ED-3A94ACC2A71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810F7D5-41FB-1DBB-4D86-A56944FC4C8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F810F7D5-41FB-1DBB-4D86-A56944FC4C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pPr/>
              <a:t>2</a:t>
            </a:fld>
            <a:endParaRPr lang="ja-JP" altLang="en-US"/>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9" name="ハイライト"/>
          <p:cNvSpPr/>
          <p:nvPr/>
        </p:nvSpPr>
        <p:spPr>
          <a:xfrm>
            <a:off x="402336" y="1554480"/>
            <a:ext cx="7269480" cy="457200"/>
          </a:xfrm>
          <a:prstGeom prst="rect">
            <a:avLst/>
          </a:prstGeom>
          <a:solidFill>
            <a:srgbClr val="63666A"/>
          </a:solidFill>
          <a:ln>
            <a:noFill/>
          </a:ln>
        </p:spPr>
        <p:txBody>
          <a:bodyPr rtlCol="0" anchor="ctr" wrap="square" lIns="54864" tIns="27432" rIns="54864" bIns="27432">
            <a:noAutofit/>
          </a:bodyPr>
          <a:lstStyle/>
          <a:p>
            <a:pPr algn="ctr"/>
          </a:p>
        </p:txBody>
      </p:sp>
      <p:sp>
        <p:nvSpPr>
          <p:cNvPr id="10" name="TextBox 9"/>
          <p:cNvSpPr txBox="1"/>
          <p:nvPr/>
        </p:nvSpPr>
        <p:spPr>
          <a:xfrm>
            <a:off x="566928" y="1600200"/>
            <a:ext cx="5852160" cy="402336"/>
          </a:xfrm>
          <a:prstGeom prst="rect">
            <a:avLst/>
          </a:prstGeom>
          <a:noFill/>
        </p:spPr>
        <p:txBody>
          <a:bodyPr wrap="square" lIns="0" tIns="0" rIns="0" bIns="0" anchor="ctr">
            <a:noAutofit/>
          </a:bodyPr>
          <a:lstStyle/>
          <a:p>
            <a:pPr algn="l">
              <a:buNone/>
            </a:pPr>
            <a:r>
              <a:rPr sz="1700" b="1">
                <a:solidFill>
                  <a:srgbClr val="FFFFFF"/>
                </a:solidFill>
              </a:rPr>
              <a:t>1．Phase2の全体像と振り返り（10/1〜）</a:t>
            </a:r>
          </a:p>
        </p:txBody>
      </p:sp>
      <p:sp>
        <p:nvSpPr>
          <p:cNvPr id="11" name="TextBox 10"/>
          <p:cNvSpPr txBox="1"/>
          <p:nvPr/>
        </p:nvSpPr>
        <p:spPr>
          <a:xfrm>
            <a:off x="6400800" y="1600200"/>
            <a:ext cx="1143000" cy="402336"/>
          </a:xfrm>
          <a:prstGeom prst="rect">
            <a:avLst/>
          </a:prstGeom>
          <a:noFill/>
        </p:spPr>
        <p:txBody>
          <a:bodyPr wrap="square" lIns="0" tIns="0" rIns="0" bIns="0" anchor="ctr">
            <a:noAutofit/>
          </a:bodyPr>
          <a:lstStyle/>
          <a:p>
            <a:pPr algn="r">
              <a:buNone/>
            </a:pPr>
            <a:r>
              <a:rPr sz="1600" b="1">
                <a:solidFill>
                  <a:srgbClr val="FFFFFF"/>
                </a:solidFill>
              </a:rPr>
              <a:t>5分</a:t>
            </a:r>
          </a:p>
        </p:txBody>
      </p:sp>
      <p:sp>
        <p:nvSpPr>
          <p:cNvPr id="12" name="TextBox 11"/>
          <p:cNvSpPr txBox="1"/>
          <p:nvPr/>
        </p:nvSpPr>
        <p:spPr>
          <a:xfrm>
            <a:off x="566928" y="2276856"/>
            <a:ext cx="5852160" cy="402336"/>
          </a:xfrm>
          <a:prstGeom prst="rect">
            <a:avLst/>
          </a:prstGeom>
          <a:noFill/>
        </p:spPr>
        <p:txBody>
          <a:bodyPr wrap="square" lIns="0" tIns="0" rIns="0" bIns="0" anchor="ctr">
            <a:noAutofit/>
          </a:bodyPr>
          <a:lstStyle/>
          <a:p>
            <a:pPr algn="l">
              <a:buNone/>
            </a:pPr>
            <a:r>
              <a:rPr sz="1700" b="0">
                <a:solidFill>
                  <a:srgbClr val="262626"/>
                </a:solidFill>
              </a:rPr>
              <a:t>2．改修内容と最新アプリの状態</a:t>
            </a:r>
          </a:p>
        </p:txBody>
      </p:sp>
      <p:sp>
        <p:nvSpPr>
          <p:cNvPr id="13" name="TextBox 12"/>
          <p:cNvSpPr txBox="1"/>
          <p:nvPr/>
        </p:nvSpPr>
        <p:spPr>
          <a:xfrm>
            <a:off x="6400800" y="2276856"/>
            <a:ext cx="1143000" cy="402336"/>
          </a:xfrm>
          <a:prstGeom prst="rect">
            <a:avLst/>
          </a:prstGeom>
          <a:noFill/>
        </p:spPr>
        <p:txBody>
          <a:bodyPr wrap="square" lIns="0" tIns="0" rIns="0" bIns="0" anchor="ctr">
            <a:noAutofit/>
          </a:bodyPr>
          <a:lstStyle/>
          <a:p>
            <a:pPr algn="r">
              <a:buNone/>
            </a:pPr>
            <a:r>
              <a:rPr sz="1600" b="0">
                <a:solidFill>
                  <a:srgbClr val="262626"/>
                </a:solidFill>
              </a:rPr>
              <a:t>10分</a:t>
            </a:r>
          </a:p>
        </p:txBody>
      </p:sp>
      <p:sp>
        <p:nvSpPr>
          <p:cNvPr id="14" name="TextBox 13"/>
          <p:cNvSpPr txBox="1"/>
          <p:nvPr/>
        </p:nvSpPr>
        <p:spPr>
          <a:xfrm>
            <a:off x="896112" y="266090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改修台帳（15項目＋Phase2の追加）と今週の改修</a:t>
            </a:r>
          </a:p>
        </p:txBody>
      </p:sp>
      <p:sp>
        <p:nvSpPr>
          <p:cNvPr id="15" name="TextBox 14"/>
          <p:cNvSpPr txBox="1"/>
          <p:nvPr/>
        </p:nvSpPr>
        <p:spPr>
          <a:xfrm>
            <a:off x="896112" y="2990088"/>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外部取得データソースの改善</a:t>
            </a:r>
          </a:p>
        </p:txBody>
      </p:sp>
      <p:sp>
        <p:nvSpPr>
          <p:cNvPr id="16" name="TextBox 15"/>
          <p:cNvSpPr txBox="1"/>
          <p:nvPr/>
        </p:nvSpPr>
        <p:spPr>
          <a:xfrm>
            <a:off x="566928" y="3611880"/>
            <a:ext cx="5852160" cy="402336"/>
          </a:xfrm>
          <a:prstGeom prst="rect">
            <a:avLst/>
          </a:prstGeom>
          <a:noFill/>
        </p:spPr>
        <p:txBody>
          <a:bodyPr wrap="square" lIns="0" tIns="0" rIns="0" bIns="0" anchor="ctr">
            <a:noAutofit/>
          </a:bodyPr>
          <a:lstStyle/>
          <a:p>
            <a:pPr algn="l">
              <a:buNone/>
            </a:pPr>
            <a:r>
              <a:rPr sz="1700" b="0">
                <a:solidFill>
                  <a:srgbClr val="262626"/>
                </a:solidFill>
              </a:rPr>
              <a:t>3．当面のタイムラインとITEC様への引継ぎ</a:t>
            </a:r>
          </a:p>
        </p:txBody>
      </p:sp>
      <p:sp>
        <p:nvSpPr>
          <p:cNvPr id="17" name="TextBox 16"/>
          <p:cNvSpPr txBox="1"/>
          <p:nvPr/>
        </p:nvSpPr>
        <p:spPr>
          <a:xfrm>
            <a:off x="6400800" y="3611880"/>
            <a:ext cx="1143000" cy="402336"/>
          </a:xfrm>
          <a:prstGeom prst="rect">
            <a:avLst/>
          </a:prstGeom>
          <a:noFill/>
        </p:spPr>
        <p:txBody>
          <a:bodyPr wrap="square" lIns="0" tIns="0" rIns="0" bIns="0" anchor="ctr">
            <a:noAutofit/>
          </a:bodyPr>
          <a:lstStyle/>
          <a:p>
            <a:pPr algn="r">
              <a:buNone/>
            </a:pPr>
            <a:r>
              <a:rPr sz="1600" b="0">
                <a:solidFill>
                  <a:srgbClr val="262626"/>
                </a:solidFill>
              </a:rPr>
              <a:t>5分</a:t>
            </a:r>
          </a:p>
        </p:txBody>
      </p:sp>
      <p:sp>
        <p:nvSpPr>
          <p:cNvPr id="18" name="TextBox 17"/>
          <p:cNvSpPr txBox="1"/>
          <p:nvPr/>
        </p:nvSpPr>
        <p:spPr>
          <a:xfrm>
            <a:off x="566928" y="4288536"/>
            <a:ext cx="5852160" cy="402336"/>
          </a:xfrm>
          <a:prstGeom prst="rect">
            <a:avLst/>
          </a:prstGeom>
          <a:noFill/>
        </p:spPr>
        <p:txBody>
          <a:bodyPr wrap="square" lIns="0" tIns="0" rIns="0" bIns="0" anchor="ctr">
            <a:noAutofit/>
          </a:bodyPr>
          <a:lstStyle/>
          <a:p>
            <a:pPr algn="l">
              <a:buNone/>
            </a:pPr>
            <a:r>
              <a:rPr sz="1700" b="0">
                <a:solidFill>
                  <a:srgbClr val="262626"/>
                </a:solidFill>
              </a:rPr>
              <a:t>4．ITEC様からのご報告</a:t>
            </a:r>
          </a:p>
        </p:txBody>
      </p:sp>
      <p:sp>
        <p:nvSpPr>
          <p:cNvPr id="19" name="TextBox 18"/>
          <p:cNvSpPr txBox="1"/>
          <p:nvPr/>
        </p:nvSpPr>
        <p:spPr>
          <a:xfrm>
            <a:off x="6400800" y="4288536"/>
            <a:ext cx="1143000" cy="402336"/>
          </a:xfrm>
          <a:prstGeom prst="rect">
            <a:avLst/>
          </a:prstGeom>
          <a:noFill/>
        </p:spPr>
        <p:txBody>
          <a:bodyPr wrap="square" lIns="0" tIns="0" rIns="0" bIns="0" anchor="ctr">
            <a:noAutofit/>
          </a:bodyPr>
          <a:lstStyle/>
          <a:p>
            <a:pPr algn="r">
              <a:buNone/>
            </a:pPr>
            <a:r>
              <a:rPr sz="1600" b="0">
                <a:solidFill>
                  <a:srgbClr val="262626"/>
                </a:solidFill>
              </a:rPr>
              <a:t>20分</a:t>
            </a:r>
          </a:p>
        </p:txBody>
      </p:sp>
      <p:sp>
        <p:nvSpPr>
          <p:cNvPr id="20" name="TextBox 19"/>
          <p:cNvSpPr txBox="1"/>
          <p:nvPr/>
        </p:nvSpPr>
        <p:spPr>
          <a:xfrm>
            <a:off x="896112" y="467258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セキュア公開版の状況、10/7版の反映・データ投入の計画</a:t>
            </a:r>
          </a:p>
        </p:txBody>
      </p:sp>
      <p:sp>
        <p:nvSpPr>
          <p:cNvPr id="21" name="TextBox 20"/>
          <p:cNvSpPr txBox="1"/>
          <p:nvPr/>
        </p:nvSpPr>
        <p:spPr>
          <a:xfrm>
            <a:off x="566928" y="5294376"/>
            <a:ext cx="5852160" cy="402336"/>
          </a:xfrm>
          <a:prstGeom prst="rect">
            <a:avLst/>
          </a:prstGeom>
          <a:noFill/>
        </p:spPr>
        <p:txBody>
          <a:bodyPr wrap="square" lIns="0" tIns="0" rIns="0" bIns="0" anchor="ctr">
            <a:noAutofit/>
          </a:bodyPr>
          <a:lstStyle/>
          <a:p>
            <a:pPr algn="l">
              <a:buNone/>
            </a:pPr>
            <a:r>
              <a:rPr sz="1700" b="0">
                <a:solidFill>
                  <a:srgbClr val="262626"/>
                </a:solidFill>
              </a:rPr>
              <a:t>5．アプリを見ながらのディスカッション</a:t>
            </a:r>
          </a:p>
        </p:txBody>
      </p:sp>
      <p:sp>
        <p:nvSpPr>
          <p:cNvPr id="22" name="TextBox 21"/>
          <p:cNvSpPr txBox="1"/>
          <p:nvPr/>
        </p:nvSpPr>
        <p:spPr>
          <a:xfrm>
            <a:off x="6400800" y="5294376"/>
            <a:ext cx="1143000" cy="402336"/>
          </a:xfrm>
          <a:prstGeom prst="rect">
            <a:avLst/>
          </a:prstGeom>
          <a:noFill/>
        </p:spPr>
        <p:txBody>
          <a:bodyPr wrap="square" lIns="0" tIns="0" rIns="0" bIns="0" anchor="ctr">
            <a:noAutofit/>
          </a:bodyPr>
          <a:lstStyle/>
          <a:p>
            <a:pPr algn="r">
              <a:buNone/>
            </a:pPr>
            <a:r>
              <a:rPr sz="1600" b="0">
                <a:solidFill>
                  <a:srgbClr val="262626"/>
                </a:solidFill>
              </a:rPr>
              <a:t>15分</a:t>
            </a:r>
          </a:p>
        </p:txBody>
      </p:sp>
      <p:sp>
        <p:nvSpPr>
          <p:cNvPr id="23" name="TextBox 22"/>
          <p:cNvSpPr txBox="1"/>
          <p:nvPr/>
        </p:nvSpPr>
        <p:spPr>
          <a:xfrm>
            <a:off x="896112" y="567842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ラップアップ</a:t>
            </a:r>
          </a:p>
        </p:txBody>
      </p:sp>
    </p:spTree>
    <p:extLst>
      <p:ext uri="{BB962C8B-B14F-4D97-AF65-F5344CB8AC3E}">
        <p14:creationId xmlns:p14="http://schemas.microsoft.com/office/powerpoint/2010/main" val="2642108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775DD-7687-18CD-6477-EC4CB4A915A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F3CE8E-0BEA-B4D6-42CB-E98F95672D8F}"/>
              </a:ext>
            </a:extLst>
          </p:cNvPr>
          <p:cNvSpPr txBox="1"/>
          <p:nvPr/>
        </p:nvSpPr>
        <p:spPr bwMode="gray">
          <a:xfrm>
            <a:off x="9639300" y="6253004"/>
            <a:ext cx="2073275" cy="246221"/>
          </a:xfrm>
          <a:prstGeom prst="rect">
            <a:avLst/>
          </a:prstGeom>
          <a:noFill/>
          <a:ln>
            <a:noFill/>
          </a:ln>
        </p:spPr>
        <p:txBody>
          <a:bodyPr wrap="square" lIns="0" tIns="0" rIns="0" bIns="0" rtlCol="0">
            <a:no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rPr>
              <a:t>IS/BCMSそれぞれの認証範囲はこちらをご覧ください</a:t>
            </a:r>
          </a:p>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0" lang="ja-JP" altLang="en-US" sz="800" b="0" i="0" u="sng" strike="noStrike" kern="1200" cap="none" spc="0" normalizeH="0" baseline="0" noProof="0">
                <a:ln>
                  <a:noFill/>
                </a:ln>
                <a:solidFill>
                  <a:srgbClr val="0563C1"/>
                </a:solidFill>
                <a:effectLst/>
                <a:uLnTx/>
                <a:uFillTx/>
                <a:latin typeface="Yu Gothic UI"/>
                <a:ea typeface="Yu Gothic UI"/>
                <a:cs typeface="Arial" charset="0"/>
                <a:hlinkClick r:id="rId3"/>
              </a:rPr>
              <a:t>http://www.bsigroup.com/clientDirectory</a:t>
            </a:r>
            <a:endPar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3" name="テキスト プレースホルダー 8">
            <a:extLst>
              <a:ext uri="{FF2B5EF4-FFF2-40B4-BE49-F238E27FC236}">
                <a16:creationId xmlns:a16="http://schemas.microsoft.com/office/drawing/2014/main" id="{090CCCCE-6D25-7612-9F7D-A4033FB1AEEC}"/>
              </a:ext>
            </a:extLst>
          </p:cNvPr>
          <p:cNvSpPr txBox="1">
            <a:spLocks/>
          </p:cNvSpPr>
          <p:nvPr/>
        </p:nvSpPr>
        <p:spPr bwMode="gray">
          <a:xfrm>
            <a:off x="358493" y="3470575"/>
            <a:ext cx="8820000" cy="3028650"/>
          </a:xfrm>
          <a:prstGeom prst="rect">
            <a:avLst/>
          </a:prstGeom>
        </p:spPr>
        <p:txBody>
          <a:bodyPr/>
          <a:lst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lang="ja-JP" altLang="en-US">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ja-JP" alt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ja-JP" alt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ja-JP" alt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ja-JP" alt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lang="ja-JP" altLang="en-US">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lang="ja-JP" altLang="en-US">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lang="ja-JP" altLang="en-US">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lang="ja-JP" altLang="en-US">
                <a:solidFill>
                  <a:schemeClr val="tx1"/>
                </a:solidFill>
                <a:latin typeface="+mn-lt"/>
                <a:ea typeface="+mn-ea"/>
                <a:cs typeface="+mn-cs"/>
              </a:defRPr>
            </a:lvl9pPr>
          </a:lstStyle>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 トーマツ グループは、日本におけるデロイト アジア パシフィック リミテッドおよびデロイトネットワークのメンバーである合同会社デロイト トーマツ グループならびにそのグループ法人（有限責任監査法人トーマツ、合同会社デロイト トーマツ、デロイト トーマツ税理士法人およびDT弁護士法人を含む）の総称です。デロイト トーマツ グループは、日本で最大級のプロフェッショナルグループのひとつであり、各法人がそれぞれの適用法令に従いプロフェッショナルサービスを提供しています。また、国内30都市以上に2万人超の専門家を擁し、多国籍企業や主要な日本企業をクライアントとしています。詳細はデロイト トーマツ グループWebサイト、</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4"/>
              </a:rPr>
              <a:t>www.deloitte.com/jp</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Deloitte（デロイト）とは、Deloitte Touche Tohmatsu Limited（“Deloitte Global”）、そのグローバルネットワーク組織を構成するメンバーファームおよびそれらの関係法人（総称して“デロイトネットワーク”）のひとつまたは複数を指します。Deloitte Globalならびに各メンバーファームおよび関係法人はそれぞれ法的に独立した別個の組織体であり、第三者に関して相互に義務を課しまたは拘束させることはありません。Deloitte Globalおよびその各メンバーファームならびに関係法人は、自らの作為および不作為についてのみ責任を負い、互いに他のファームまたは関係法人の作為および不作為について責任を負うものではありません。Deloitte Globalはクライアントへのサービス提供を行いません。詳細は </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5"/>
              </a:rPr>
              <a:t>www.deloitte.com/jp/about</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br>
              <a:rPr kumimoji="1" lang="ja-JP" altLang="en-US" sz="800" b="0" i="0" u="none" strike="noStrike" kern="1200" cap="none" spc="0" normalizeH="0" baseline="0" noProof="0">
                <a:ln>
                  <a:noFill/>
                </a:ln>
                <a:solidFill>
                  <a:prstClr val="black"/>
                </a:solidFill>
                <a:effectLst/>
                <a:uLnTx/>
                <a:uFillTx/>
                <a:latin typeface="Calibri"/>
                <a:ea typeface="Yu Gothic UI"/>
                <a:cs typeface="+mn-cs"/>
              </a:rPr>
            </a:b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 アジア パシフィック リミテッドは保証有限責任会社であり、Deloitte Globalのメンバーファームです。デロイト アジア パシフィック リミテッドのメンバーおよびそれらの関係法人は、それぞれ法的に独立した別個の組織体であり、アジア パシフィックにおける100を超える都市（オークランド、バンコク、北京、ベンガルール、ハノイ、香港、ジャカルタ、クアラルンプール、マニラ、メルボルン、ムンバイ、ニューデリー、大阪、ソウル、上海、シンガポール、シドニー、台北、東京を含む）にてサービスを提供しています。</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Deloitte（デロイト）は、最先端のプロフェッショナルサービスを、Fortune Global 500®の約9割の企業や多数のプライベート（非公開）企業を含むクライアントに提供しています。デロイトは、資本市場に対する社会的な信頼を高め、クライアントの変革と繁栄を促進することで、計測可能で継続性のある成果をもたらすプロフェッショナルの集団です。デロイトは、創設以来180年の歴史を有し、150を超える国・地域にわたって活動を展開しています。 “Making an impact that matters”をパーパス（存在理由）として標榜するデロイトの約46万人の人材の活動の詳細については、</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6"/>
              </a:rPr>
              <a:t>www.deloitte.com</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本資料は皆様への情報提供として一般的な情報を掲載するのみであり、Deloitte Touche Tohmatsu Limited (”Deloitte Global”)、そのグローバルネットワーク組織を構成するメンバーファームおよびそれらの関係法人（総称して“デロイトネットワーク”）が本資料をもって専門的な助言やサービスを提供するものではありません。皆様の財務または事業に影響を与えるような意思決定または行動をされる前に、適切な専門家にご相談ください。本資料における情報の正確性や完全性に関して、いかなる表明、保証または確約（明示・黙示を問いません）をするものではありません。またDeloitte Global、そのメンバーファーム、関係法人、社員・職員または代理人のいずれも、本資料に依拠した人に関係して直接または間接に発生したいかなる損失および損害に対しても責任を負いません。Deloitte Globalならびに各メンバーファームおよび関係法人はそれぞれ法的に独立した別個の組織体です。</a:t>
            </a:r>
          </a:p>
        </p:txBody>
      </p:sp>
    </p:spTree>
    <p:extLst>
      <p:ext uri="{BB962C8B-B14F-4D97-AF65-F5344CB8AC3E}">
        <p14:creationId xmlns:p14="http://schemas.microsoft.com/office/powerpoint/2010/main" val="1475542278"/>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pPr/>
              <a:t>2</a:t>
            </a:fld>
            <a:endParaRPr lang="ja-JP" altLang="en-US"/>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8" name="TextBox 7"/>
          <p:cNvSpPr txBox="1"/>
          <p:nvPr/>
        </p:nvSpPr>
        <p:spPr>
          <a:xfrm>
            <a:off x="566928" y="1600200"/>
            <a:ext cx="5852160" cy="402336"/>
          </a:xfrm>
          <a:prstGeom prst="rect">
            <a:avLst/>
          </a:prstGeom>
          <a:noFill/>
        </p:spPr>
        <p:txBody>
          <a:bodyPr wrap="square" lIns="0" tIns="0" rIns="0" bIns="0" anchor="ctr">
            <a:noAutofit/>
          </a:bodyPr>
          <a:lstStyle/>
          <a:p>
            <a:pPr algn="l">
              <a:buNone/>
            </a:pPr>
            <a:r>
              <a:rPr sz="1700" b="0">
                <a:solidFill>
                  <a:srgbClr val="262626"/>
                </a:solidFill>
              </a:rPr>
              <a:t>1．Phase2の全体像と振り返り（10/1〜）</a:t>
            </a:r>
          </a:p>
        </p:txBody>
      </p:sp>
      <p:sp>
        <p:nvSpPr>
          <p:cNvPr id="9" name="TextBox 8"/>
          <p:cNvSpPr txBox="1"/>
          <p:nvPr/>
        </p:nvSpPr>
        <p:spPr>
          <a:xfrm>
            <a:off x="6400800" y="1600200"/>
            <a:ext cx="1143000" cy="402336"/>
          </a:xfrm>
          <a:prstGeom prst="rect">
            <a:avLst/>
          </a:prstGeom>
          <a:noFill/>
        </p:spPr>
        <p:txBody>
          <a:bodyPr wrap="square" lIns="0" tIns="0" rIns="0" bIns="0" anchor="ctr">
            <a:noAutofit/>
          </a:bodyPr>
          <a:lstStyle/>
          <a:p>
            <a:pPr algn="r">
              <a:buNone/>
            </a:pPr>
            <a:r>
              <a:rPr sz="1600" b="0">
                <a:solidFill>
                  <a:srgbClr val="262626"/>
                </a:solidFill>
              </a:rPr>
              <a:t>5分</a:t>
            </a:r>
          </a:p>
        </p:txBody>
      </p:sp>
      <p:sp>
        <p:nvSpPr>
          <p:cNvPr id="10" name="ハイライト"/>
          <p:cNvSpPr/>
          <p:nvPr/>
        </p:nvSpPr>
        <p:spPr>
          <a:xfrm>
            <a:off x="402336" y="2231136"/>
            <a:ext cx="7269480" cy="1115568"/>
          </a:xfrm>
          <a:prstGeom prst="rect">
            <a:avLst/>
          </a:prstGeom>
          <a:solidFill>
            <a:srgbClr val="63666A"/>
          </a:solidFill>
          <a:ln>
            <a:noFill/>
          </a:ln>
        </p:spPr>
        <p:txBody>
          <a:bodyPr rtlCol="0" anchor="ctr" wrap="square" lIns="54864" tIns="27432" rIns="54864" bIns="27432">
            <a:noAutofit/>
          </a:bodyPr>
          <a:lstStyle/>
          <a:p>
            <a:pPr algn="ctr"/>
          </a:p>
        </p:txBody>
      </p:sp>
      <p:sp>
        <p:nvSpPr>
          <p:cNvPr id="11" name="TextBox 10"/>
          <p:cNvSpPr txBox="1"/>
          <p:nvPr/>
        </p:nvSpPr>
        <p:spPr>
          <a:xfrm>
            <a:off x="566928" y="2276856"/>
            <a:ext cx="5852160" cy="402336"/>
          </a:xfrm>
          <a:prstGeom prst="rect">
            <a:avLst/>
          </a:prstGeom>
          <a:noFill/>
        </p:spPr>
        <p:txBody>
          <a:bodyPr wrap="square" lIns="0" tIns="0" rIns="0" bIns="0" anchor="ctr">
            <a:noAutofit/>
          </a:bodyPr>
          <a:lstStyle/>
          <a:p>
            <a:pPr algn="l">
              <a:buNone/>
            </a:pPr>
            <a:r>
              <a:rPr sz="1700" b="1">
                <a:solidFill>
                  <a:srgbClr val="FFFFFF"/>
                </a:solidFill>
              </a:rPr>
              <a:t>2．改修内容と最新アプリの状態</a:t>
            </a:r>
          </a:p>
        </p:txBody>
      </p:sp>
      <p:sp>
        <p:nvSpPr>
          <p:cNvPr id="12" name="TextBox 11"/>
          <p:cNvSpPr txBox="1"/>
          <p:nvPr/>
        </p:nvSpPr>
        <p:spPr>
          <a:xfrm>
            <a:off x="6400800" y="2276856"/>
            <a:ext cx="1143000" cy="402336"/>
          </a:xfrm>
          <a:prstGeom prst="rect">
            <a:avLst/>
          </a:prstGeom>
          <a:noFill/>
        </p:spPr>
        <p:txBody>
          <a:bodyPr wrap="square" lIns="0" tIns="0" rIns="0" bIns="0" anchor="ctr">
            <a:noAutofit/>
          </a:bodyPr>
          <a:lstStyle/>
          <a:p>
            <a:pPr algn="r">
              <a:buNone/>
            </a:pPr>
            <a:r>
              <a:rPr sz="1600" b="1">
                <a:solidFill>
                  <a:srgbClr val="FFFFFF"/>
                </a:solidFill>
              </a:rPr>
              <a:t>10分</a:t>
            </a:r>
          </a:p>
        </p:txBody>
      </p:sp>
      <p:sp>
        <p:nvSpPr>
          <p:cNvPr id="13" name="TextBox 12"/>
          <p:cNvSpPr txBox="1"/>
          <p:nvPr/>
        </p:nvSpPr>
        <p:spPr>
          <a:xfrm>
            <a:off x="896112" y="2660904"/>
            <a:ext cx="6309360" cy="310896"/>
          </a:xfrm>
          <a:prstGeom prst="rect">
            <a:avLst/>
          </a:prstGeom>
          <a:noFill/>
        </p:spPr>
        <p:txBody>
          <a:bodyPr wrap="square" lIns="0" tIns="0" rIns="0" bIns="0" anchor="ctr">
            <a:noAutofit/>
          </a:bodyPr>
          <a:lstStyle/>
          <a:p>
            <a:pPr algn="l">
              <a:buNone/>
            </a:pPr>
            <a:r>
              <a:rPr sz="1350" b="1">
                <a:solidFill>
                  <a:srgbClr val="FFFFFF"/>
                </a:solidFill>
              </a:rPr>
              <a:t>✓  </a:t>
            </a:r>
            <a:r>
              <a:rPr sz="1350" b="0">
                <a:solidFill>
                  <a:srgbClr val="FFFFFF"/>
                </a:solidFill>
              </a:rPr>
              <a:t>改修台帳（15項目＋Phase2の追加）と今週の改修</a:t>
            </a:r>
          </a:p>
        </p:txBody>
      </p:sp>
      <p:sp>
        <p:nvSpPr>
          <p:cNvPr id="14" name="TextBox 13"/>
          <p:cNvSpPr txBox="1"/>
          <p:nvPr/>
        </p:nvSpPr>
        <p:spPr>
          <a:xfrm>
            <a:off x="896112" y="2990088"/>
            <a:ext cx="6309360" cy="310896"/>
          </a:xfrm>
          <a:prstGeom prst="rect">
            <a:avLst/>
          </a:prstGeom>
          <a:noFill/>
        </p:spPr>
        <p:txBody>
          <a:bodyPr wrap="square" lIns="0" tIns="0" rIns="0" bIns="0" anchor="ctr">
            <a:noAutofit/>
          </a:bodyPr>
          <a:lstStyle/>
          <a:p>
            <a:pPr algn="l">
              <a:buNone/>
            </a:pPr>
            <a:r>
              <a:rPr sz="1350" b="1">
                <a:solidFill>
                  <a:srgbClr val="FFFFFF"/>
                </a:solidFill>
              </a:rPr>
              <a:t>✓  </a:t>
            </a:r>
            <a:r>
              <a:rPr sz="1350" b="0">
                <a:solidFill>
                  <a:srgbClr val="FFFFFF"/>
                </a:solidFill>
              </a:rPr>
              <a:t>外部取得データソースの改善</a:t>
            </a:r>
          </a:p>
        </p:txBody>
      </p:sp>
      <p:sp>
        <p:nvSpPr>
          <p:cNvPr id="15" name="TextBox 14"/>
          <p:cNvSpPr txBox="1"/>
          <p:nvPr/>
        </p:nvSpPr>
        <p:spPr>
          <a:xfrm>
            <a:off x="566928" y="3611880"/>
            <a:ext cx="5852160" cy="402336"/>
          </a:xfrm>
          <a:prstGeom prst="rect">
            <a:avLst/>
          </a:prstGeom>
          <a:noFill/>
        </p:spPr>
        <p:txBody>
          <a:bodyPr wrap="square" lIns="0" tIns="0" rIns="0" bIns="0" anchor="ctr">
            <a:noAutofit/>
          </a:bodyPr>
          <a:lstStyle/>
          <a:p>
            <a:pPr algn="l">
              <a:buNone/>
            </a:pPr>
            <a:r>
              <a:rPr sz="1700" b="0">
                <a:solidFill>
                  <a:srgbClr val="262626"/>
                </a:solidFill>
              </a:rPr>
              <a:t>3．当面のタイムラインとITEC様への引継ぎ</a:t>
            </a:r>
          </a:p>
        </p:txBody>
      </p:sp>
      <p:sp>
        <p:nvSpPr>
          <p:cNvPr id="16" name="TextBox 15"/>
          <p:cNvSpPr txBox="1"/>
          <p:nvPr/>
        </p:nvSpPr>
        <p:spPr>
          <a:xfrm>
            <a:off x="6400800" y="3611880"/>
            <a:ext cx="1143000" cy="402336"/>
          </a:xfrm>
          <a:prstGeom prst="rect">
            <a:avLst/>
          </a:prstGeom>
          <a:noFill/>
        </p:spPr>
        <p:txBody>
          <a:bodyPr wrap="square" lIns="0" tIns="0" rIns="0" bIns="0" anchor="ctr">
            <a:noAutofit/>
          </a:bodyPr>
          <a:lstStyle/>
          <a:p>
            <a:pPr algn="r">
              <a:buNone/>
            </a:pPr>
            <a:r>
              <a:rPr sz="1600" b="0">
                <a:solidFill>
                  <a:srgbClr val="262626"/>
                </a:solidFill>
              </a:rPr>
              <a:t>5分</a:t>
            </a:r>
          </a:p>
        </p:txBody>
      </p:sp>
      <p:sp>
        <p:nvSpPr>
          <p:cNvPr id="17" name="TextBox 16"/>
          <p:cNvSpPr txBox="1"/>
          <p:nvPr/>
        </p:nvSpPr>
        <p:spPr>
          <a:xfrm>
            <a:off x="566928" y="4288536"/>
            <a:ext cx="5852160" cy="402336"/>
          </a:xfrm>
          <a:prstGeom prst="rect">
            <a:avLst/>
          </a:prstGeom>
          <a:noFill/>
        </p:spPr>
        <p:txBody>
          <a:bodyPr wrap="square" lIns="0" tIns="0" rIns="0" bIns="0" anchor="ctr">
            <a:noAutofit/>
          </a:bodyPr>
          <a:lstStyle/>
          <a:p>
            <a:pPr algn="l">
              <a:buNone/>
            </a:pPr>
            <a:r>
              <a:rPr sz="1700" b="0">
                <a:solidFill>
                  <a:srgbClr val="262626"/>
                </a:solidFill>
              </a:rPr>
              <a:t>4．ITEC様からのご報告</a:t>
            </a:r>
          </a:p>
        </p:txBody>
      </p:sp>
      <p:sp>
        <p:nvSpPr>
          <p:cNvPr id="18" name="TextBox 17"/>
          <p:cNvSpPr txBox="1"/>
          <p:nvPr/>
        </p:nvSpPr>
        <p:spPr>
          <a:xfrm>
            <a:off x="6400800" y="4288536"/>
            <a:ext cx="1143000" cy="402336"/>
          </a:xfrm>
          <a:prstGeom prst="rect">
            <a:avLst/>
          </a:prstGeom>
          <a:noFill/>
        </p:spPr>
        <p:txBody>
          <a:bodyPr wrap="square" lIns="0" tIns="0" rIns="0" bIns="0" anchor="ctr">
            <a:noAutofit/>
          </a:bodyPr>
          <a:lstStyle/>
          <a:p>
            <a:pPr algn="r">
              <a:buNone/>
            </a:pPr>
            <a:r>
              <a:rPr sz="1600" b="0">
                <a:solidFill>
                  <a:srgbClr val="262626"/>
                </a:solidFill>
              </a:rPr>
              <a:t>20分</a:t>
            </a:r>
          </a:p>
        </p:txBody>
      </p:sp>
      <p:sp>
        <p:nvSpPr>
          <p:cNvPr id="19" name="TextBox 18"/>
          <p:cNvSpPr txBox="1"/>
          <p:nvPr/>
        </p:nvSpPr>
        <p:spPr>
          <a:xfrm>
            <a:off x="896112" y="467258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セキュア公開版の状況、10/7版の反映・データ投入の計画</a:t>
            </a:r>
          </a:p>
        </p:txBody>
      </p:sp>
      <p:sp>
        <p:nvSpPr>
          <p:cNvPr id="20" name="TextBox 19"/>
          <p:cNvSpPr txBox="1"/>
          <p:nvPr/>
        </p:nvSpPr>
        <p:spPr>
          <a:xfrm>
            <a:off x="566928" y="5294376"/>
            <a:ext cx="5852160" cy="402336"/>
          </a:xfrm>
          <a:prstGeom prst="rect">
            <a:avLst/>
          </a:prstGeom>
          <a:noFill/>
        </p:spPr>
        <p:txBody>
          <a:bodyPr wrap="square" lIns="0" tIns="0" rIns="0" bIns="0" anchor="ctr">
            <a:noAutofit/>
          </a:bodyPr>
          <a:lstStyle/>
          <a:p>
            <a:pPr algn="l">
              <a:buNone/>
            </a:pPr>
            <a:r>
              <a:rPr sz="1700" b="0">
                <a:solidFill>
                  <a:srgbClr val="262626"/>
                </a:solidFill>
              </a:rPr>
              <a:t>5．アプリを見ながらのディスカッション</a:t>
            </a:r>
          </a:p>
        </p:txBody>
      </p:sp>
      <p:sp>
        <p:nvSpPr>
          <p:cNvPr id="21" name="TextBox 20"/>
          <p:cNvSpPr txBox="1"/>
          <p:nvPr/>
        </p:nvSpPr>
        <p:spPr>
          <a:xfrm>
            <a:off x="6400800" y="5294376"/>
            <a:ext cx="1143000" cy="402336"/>
          </a:xfrm>
          <a:prstGeom prst="rect">
            <a:avLst/>
          </a:prstGeom>
          <a:noFill/>
        </p:spPr>
        <p:txBody>
          <a:bodyPr wrap="square" lIns="0" tIns="0" rIns="0" bIns="0" anchor="ctr">
            <a:noAutofit/>
          </a:bodyPr>
          <a:lstStyle/>
          <a:p>
            <a:pPr algn="r">
              <a:buNone/>
            </a:pPr>
            <a:r>
              <a:rPr sz="1600" b="0">
                <a:solidFill>
                  <a:srgbClr val="262626"/>
                </a:solidFill>
              </a:rPr>
              <a:t>15分</a:t>
            </a:r>
          </a:p>
        </p:txBody>
      </p:sp>
      <p:sp>
        <p:nvSpPr>
          <p:cNvPr id="22" name="TextBox 21"/>
          <p:cNvSpPr txBox="1"/>
          <p:nvPr/>
        </p:nvSpPr>
        <p:spPr>
          <a:xfrm>
            <a:off x="896112" y="567842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ラップアップ</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pPr/>
              <a:t>2</a:t>
            </a:fld>
            <a:endParaRPr lang="ja-JP" altLang="en-US"/>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8" name="TextBox 7"/>
          <p:cNvSpPr txBox="1"/>
          <p:nvPr/>
        </p:nvSpPr>
        <p:spPr>
          <a:xfrm>
            <a:off x="566928" y="1600200"/>
            <a:ext cx="5852160" cy="402336"/>
          </a:xfrm>
          <a:prstGeom prst="rect">
            <a:avLst/>
          </a:prstGeom>
          <a:noFill/>
        </p:spPr>
        <p:txBody>
          <a:bodyPr wrap="square" lIns="0" tIns="0" rIns="0" bIns="0" anchor="ctr">
            <a:noAutofit/>
          </a:bodyPr>
          <a:lstStyle/>
          <a:p>
            <a:pPr algn="l">
              <a:buNone/>
            </a:pPr>
            <a:r>
              <a:rPr sz="1700" b="0">
                <a:solidFill>
                  <a:srgbClr val="262626"/>
                </a:solidFill>
              </a:rPr>
              <a:t>1．Phase2の全体像と振り返り（10/1〜）</a:t>
            </a:r>
          </a:p>
        </p:txBody>
      </p:sp>
      <p:sp>
        <p:nvSpPr>
          <p:cNvPr id="9" name="TextBox 8"/>
          <p:cNvSpPr txBox="1"/>
          <p:nvPr/>
        </p:nvSpPr>
        <p:spPr>
          <a:xfrm>
            <a:off x="6400800" y="1600200"/>
            <a:ext cx="1143000" cy="402336"/>
          </a:xfrm>
          <a:prstGeom prst="rect">
            <a:avLst/>
          </a:prstGeom>
          <a:noFill/>
        </p:spPr>
        <p:txBody>
          <a:bodyPr wrap="square" lIns="0" tIns="0" rIns="0" bIns="0" anchor="ctr">
            <a:noAutofit/>
          </a:bodyPr>
          <a:lstStyle/>
          <a:p>
            <a:pPr algn="r">
              <a:buNone/>
            </a:pPr>
            <a:r>
              <a:rPr sz="1600" b="0">
                <a:solidFill>
                  <a:srgbClr val="262626"/>
                </a:solidFill>
              </a:rPr>
              <a:t>5分</a:t>
            </a:r>
          </a:p>
        </p:txBody>
      </p:sp>
      <p:sp>
        <p:nvSpPr>
          <p:cNvPr id="10" name="TextBox 9"/>
          <p:cNvSpPr txBox="1"/>
          <p:nvPr/>
        </p:nvSpPr>
        <p:spPr>
          <a:xfrm>
            <a:off x="566928" y="2276856"/>
            <a:ext cx="5852160" cy="402336"/>
          </a:xfrm>
          <a:prstGeom prst="rect">
            <a:avLst/>
          </a:prstGeom>
          <a:noFill/>
        </p:spPr>
        <p:txBody>
          <a:bodyPr wrap="square" lIns="0" tIns="0" rIns="0" bIns="0" anchor="ctr">
            <a:noAutofit/>
          </a:bodyPr>
          <a:lstStyle/>
          <a:p>
            <a:pPr algn="l">
              <a:buNone/>
            </a:pPr>
            <a:r>
              <a:rPr sz="1700" b="0">
                <a:solidFill>
                  <a:srgbClr val="262626"/>
                </a:solidFill>
              </a:rPr>
              <a:t>2．改修内容と最新アプリの状態</a:t>
            </a:r>
          </a:p>
        </p:txBody>
      </p:sp>
      <p:sp>
        <p:nvSpPr>
          <p:cNvPr id="11" name="TextBox 10"/>
          <p:cNvSpPr txBox="1"/>
          <p:nvPr/>
        </p:nvSpPr>
        <p:spPr>
          <a:xfrm>
            <a:off x="6400800" y="2276856"/>
            <a:ext cx="1143000" cy="402336"/>
          </a:xfrm>
          <a:prstGeom prst="rect">
            <a:avLst/>
          </a:prstGeom>
          <a:noFill/>
        </p:spPr>
        <p:txBody>
          <a:bodyPr wrap="square" lIns="0" tIns="0" rIns="0" bIns="0" anchor="ctr">
            <a:noAutofit/>
          </a:bodyPr>
          <a:lstStyle/>
          <a:p>
            <a:pPr algn="r">
              <a:buNone/>
            </a:pPr>
            <a:r>
              <a:rPr sz="1600" b="0">
                <a:solidFill>
                  <a:srgbClr val="262626"/>
                </a:solidFill>
              </a:rPr>
              <a:t>10分</a:t>
            </a:r>
          </a:p>
        </p:txBody>
      </p:sp>
      <p:sp>
        <p:nvSpPr>
          <p:cNvPr id="12" name="TextBox 11"/>
          <p:cNvSpPr txBox="1"/>
          <p:nvPr/>
        </p:nvSpPr>
        <p:spPr>
          <a:xfrm>
            <a:off x="896112" y="266090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改修台帳（15項目＋Phase2の追加）と今週の改修</a:t>
            </a:r>
          </a:p>
        </p:txBody>
      </p:sp>
      <p:sp>
        <p:nvSpPr>
          <p:cNvPr id="13" name="TextBox 12"/>
          <p:cNvSpPr txBox="1"/>
          <p:nvPr/>
        </p:nvSpPr>
        <p:spPr>
          <a:xfrm>
            <a:off x="896112" y="2990088"/>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外部取得データソースの改善</a:t>
            </a:r>
          </a:p>
        </p:txBody>
      </p:sp>
      <p:sp>
        <p:nvSpPr>
          <p:cNvPr id="14" name="ハイライト"/>
          <p:cNvSpPr/>
          <p:nvPr/>
        </p:nvSpPr>
        <p:spPr>
          <a:xfrm>
            <a:off x="402336" y="3566160"/>
            <a:ext cx="7269480" cy="457200"/>
          </a:xfrm>
          <a:prstGeom prst="rect">
            <a:avLst/>
          </a:prstGeom>
          <a:solidFill>
            <a:srgbClr val="63666A"/>
          </a:solidFill>
          <a:ln>
            <a:noFill/>
          </a:ln>
        </p:spPr>
        <p:txBody>
          <a:bodyPr rtlCol="0" anchor="ctr" wrap="square" lIns="54864" tIns="27432" rIns="54864" bIns="27432">
            <a:noAutofit/>
          </a:bodyPr>
          <a:lstStyle/>
          <a:p>
            <a:pPr algn="ctr"/>
          </a:p>
        </p:txBody>
      </p:sp>
      <p:sp>
        <p:nvSpPr>
          <p:cNvPr id="15" name="TextBox 14"/>
          <p:cNvSpPr txBox="1"/>
          <p:nvPr/>
        </p:nvSpPr>
        <p:spPr>
          <a:xfrm>
            <a:off x="566928" y="3611880"/>
            <a:ext cx="5852160" cy="402336"/>
          </a:xfrm>
          <a:prstGeom prst="rect">
            <a:avLst/>
          </a:prstGeom>
          <a:noFill/>
        </p:spPr>
        <p:txBody>
          <a:bodyPr wrap="square" lIns="0" tIns="0" rIns="0" bIns="0" anchor="ctr">
            <a:noAutofit/>
          </a:bodyPr>
          <a:lstStyle/>
          <a:p>
            <a:pPr algn="l">
              <a:buNone/>
            </a:pPr>
            <a:r>
              <a:rPr sz="1700" b="1">
                <a:solidFill>
                  <a:srgbClr val="FFFFFF"/>
                </a:solidFill>
              </a:rPr>
              <a:t>3．当面のタイムラインとITEC様への引継ぎ</a:t>
            </a:r>
          </a:p>
        </p:txBody>
      </p:sp>
      <p:sp>
        <p:nvSpPr>
          <p:cNvPr id="16" name="TextBox 15"/>
          <p:cNvSpPr txBox="1"/>
          <p:nvPr/>
        </p:nvSpPr>
        <p:spPr>
          <a:xfrm>
            <a:off x="6400800" y="3611880"/>
            <a:ext cx="1143000" cy="402336"/>
          </a:xfrm>
          <a:prstGeom prst="rect">
            <a:avLst/>
          </a:prstGeom>
          <a:noFill/>
        </p:spPr>
        <p:txBody>
          <a:bodyPr wrap="square" lIns="0" tIns="0" rIns="0" bIns="0" anchor="ctr">
            <a:noAutofit/>
          </a:bodyPr>
          <a:lstStyle/>
          <a:p>
            <a:pPr algn="r">
              <a:buNone/>
            </a:pPr>
            <a:r>
              <a:rPr sz="1600" b="1">
                <a:solidFill>
                  <a:srgbClr val="FFFFFF"/>
                </a:solidFill>
              </a:rPr>
              <a:t>5分</a:t>
            </a:r>
          </a:p>
        </p:txBody>
      </p:sp>
      <p:sp>
        <p:nvSpPr>
          <p:cNvPr id="17" name="TextBox 16"/>
          <p:cNvSpPr txBox="1"/>
          <p:nvPr/>
        </p:nvSpPr>
        <p:spPr>
          <a:xfrm>
            <a:off x="566928" y="4288536"/>
            <a:ext cx="5852160" cy="402336"/>
          </a:xfrm>
          <a:prstGeom prst="rect">
            <a:avLst/>
          </a:prstGeom>
          <a:noFill/>
        </p:spPr>
        <p:txBody>
          <a:bodyPr wrap="square" lIns="0" tIns="0" rIns="0" bIns="0" anchor="ctr">
            <a:noAutofit/>
          </a:bodyPr>
          <a:lstStyle/>
          <a:p>
            <a:pPr algn="l">
              <a:buNone/>
            </a:pPr>
            <a:r>
              <a:rPr sz="1700" b="0">
                <a:solidFill>
                  <a:srgbClr val="262626"/>
                </a:solidFill>
              </a:rPr>
              <a:t>4．ITEC様からのご報告</a:t>
            </a:r>
          </a:p>
        </p:txBody>
      </p:sp>
      <p:sp>
        <p:nvSpPr>
          <p:cNvPr id="18" name="TextBox 17"/>
          <p:cNvSpPr txBox="1"/>
          <p:nvPr/>
        </p:nvSpPr>
        <p:spPr>
          <a:xfrm>
            <a:off x="6400800" y="4288536"/>
            <a:ext cx="1143000" cy="402336"/>
          </a:xfrm>
          <a:prstGeom prst="rect">
            <a:avLst/>
          </a:prstGeom>
          <a:noFill/>
        </p:spPr>
        <p:txBody>
          <a:bodyPr wrap="square" lIns="0" tIns="0" rIns="0" bIns="0" anchor="ctr">
            <a:noAutofit/>
          </a:bodyPr>
          <a:lstStyle/>
          <a:p>
            <a:pPr algn="r">
              <a:buNone/>
            </a:pPr>
            <a:r>
              <a:rPr sz="1600" b="0">
                <a:solidFill>
                  <a:srgbClr val="262626"/>
                </a:solidFill>
              </a:rPr>
              <a:t>20分</a:t>
            </a:r>
          </a:p>
        </p:txBody>
      </p:sp>
      <p:sp>
        <p:nvSpPr>
          <p:cNvPr id="19" name="TextBox 18"/>
          <p:cNvSpPr txBox="1"/>
          <p:nvPr/>
        </p:nvSpPr>
        <p:spPr>
          <a:xfrm>
            <a:off x="896112" y="467258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セキュア公開版の状況、10/7版の反映・データ投入の計画</a:t>
            </a:r>
          </a:p>
        </p:txBody>
      </p:sp>
      <p:sp>
        <p:nvSpPr>
          <p:cNvPr id="20" name="TextBox 19"/>
          <p:cNvSpPr txBox="1"/>
          <p:nvPr/>
        </p:nvSpPr>
        <p:spPr>
          <a:xfrm>
            <a:off x="566928" y="5294376"/>
            <a:ext cx="5852160" cy="402336"/>
          </a:xfrm>
          <a:prstGeom prst="rect">
            <a:avLst/>
          </a:prstGeom>
          <a:noFill/>
        </p:spPr>
        <p:txBody>
          <a:bodyPr wrap="square" lIns="0" tIns="0" rIns="0" bIns="0" anchor="ctr">
            <a:noAutofit/>
          </a:bodyPr>
          <a:lstStyle/>
          <a:p>
            <a:pPr algn="l">
              <a:buNone/>
            </a:pPr>
            <a:r>
              <a:rPr sz="1700" b="0">
                <a:solidFill>
                  <a:srgbClr val="262626"/>
                </a:solidFill>
              </a:rPr>
              <a:t>5．アプリを見ながらのディスカッション</a:t>
            </a:r>
          </a:p>
        </p:txBody>
      </p:sp>
      <p:sp>
        <p:nvSpPr>
          <p:cNvPr id="21" name="TextBox 20"/>
          <p:cNvSpPr txBox="1"/>
          <p:nvPr/>
        </p:nvSpPr>
        <p:spPr>
          <a:xfrm>
            <a:off x="6400800" y="5294376"/>
            <a:ext cx="1143000" cy="402336"/>
          </a:xfrm>
          <a:prstGeom prst="rect">
            <a:avLst/>
          </a:prstGeom>
          <a:noFill/>
        </p:spPr>
        <p:txBody>
          <a:bodyPr wrap="square" lIns="0" tIns="0" rIns="0" bIns="0" anchor="ctr">
            <a:noAutofit/>
          </a:bodyPr>
          <a:lstStyle/>
          <a:p>
            <a:pPr algn="r">
              <a:buNone/>
            </a:pPr>
            <a:r>
              <a:rPr sz="1600" b="0">
                <a:solidFill>
                  <a:srgbClr val="262626"/>
                </a:solidFill>
              </a:rPr>
              <a:t>15分</a:t>
            </a:r>
          </a:p>
        </p:txBody>
      </p:sp>
      <p:sp>
        <p:nvSpPr>
          <p:cNvPr id="22" name="TextBox 21"/>
          <p:cNvSpPr txBox="1"/>
          <p:nvPr/>
        </p:nvSpPr>
        <p:spPr>
          <a:xfrm>
            <a:off x="896112" y="567842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ラップアップ</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pPr/>
              <a:t>2</a:t>
            </a:fld>
            <a:endParaRPr lang="ja-JP" altLang="en-US"/>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8" name="TextBox 7"/>
          <p:cNvSpPr txBox="1"/>
          <p:nvPr/>
        </p:nvSpPr>
        <p:spPr>
          <a:xfrm>
            <a:off x="566928" y="1600200"/>
            <a:ext cx="5852160" cy="402336"/>
          </a:xfrm>
          <a:prstGeom prst="rect">
            <a:avLst/>
          </a:prstGeom>
          <a:noFill/>
        </p:spPr>
        <p:txBody>
          <a:bodyPr wrap="square" lIns="0" tIns="0" rIns="0" bIns="0" anchor="ctr">
            <a:noAutofit/>
          </a:bodyPr>
          <a:lstStyle/>
          <a:p>
            <a:pPr algn="l">
              <a:buNone/>
            </a:pPr>
            <a:r>
              <a:rPr sz="1700" b="0">
                <a:solidFill>
                  <a:srgbClr val="262626"/>
                </a:solidFill>
              </a:rPr>
              <a:t>1．Phase2の全体像と振り返り（10/1〜）</a:t>
            </a:r>
          </a:p>
        </p:txBody>
      </p:sp>
      <p:sp>
        <p:nvSpPr>
          <p:cNvPr id="9" name="TextBox 8"/>
          <p:cNvSpPr txBox="1"/>
          <p:nvPr/>
        </p:nvSpPr>
        <p:spPr>
          <a:xfrm>
            <a:off x="6400800" y="1600200"/>
            <a:ext cx="1143000" cy="402336"/>
          </a:xfrm>
          <a:prstGeom prst="rect">
            <a:avLst/>
          </a:prstGeom>
          <a:noFill/>
        </p:spPr>
        <p:txBody>
          <a:bodyPr wrap="square" lIns="0" tIns="0" rIns="0" bIns="0" anchor="ctr">
            <a:noAutofit/>
          </a:bodyPr>
          <a:lstStyle/>
          <a:p>
            <a:pPr algn="r">
              <a:buNone/>
            </a:pPr>
            <a:r>
              <a:rPr sz="1600" b="0">
                <a:solidFill>
                  <a:srgbClr val="262626"/>
                </a:solidFill>
              </a:rPr>
              <a:t>5分</a:t>
            </a:r>
          </a:p>
        </p:txBody>
      </p:sp>
      <p:sp>
        <p:nvSpPr>
          <p:cNvPr id="10" name="TextBox 9"/>
          <p:cNvSpPr txBox="1"/>
          <p:nvPr/>
        </p:nvSpPr>
        <p:spPr>
          <a:xfrm>
            <a:off x="566928" y="2276856"/>
            <a:ext cx="5852160" cy="402336"/>
          </a:xfrm>
          <a:prstGeom prst="rect">
            <a:avLst/>
          </a:prstGeom>
          <a:noFill/>
        </p:spPr>
        <p:txBody>
          <a:bodyPr wrap="square" lIns="0" tIns="0" rIns="0" bIns="0" anchor="ctr">
            <a:noAutofit/>
          </a:bodyPr>
          <a:lstStyle/>
          <a:p>
            <a:pPr algn="l">
              <a:buNone/>
            </a:pPr>
            <a:r>
              <a:rPr sz="1700" b="0">
                <a:solidFill>
                  <a:srgbClr val="262626"/>
                </a:solidFill>
              </a:rPr>
              <a:t>2．改修内容と最新アプリの状態</a:t>
            </a:r>
          </a:p>
        </p:txBody>
      </p:sp>
      <p:sp>
        <p:nvSpPr>
          <p:cNvPr id="11" name="TextBox 10"/>
          <p:cNvSpPr txBox="1"/>
          <p:nvPr/>
        </p:nvSpPr>
        <p:spPr>
          <a:xfrm>
            <a:off x="6400800" y="2276856"/>
            <a:ext cx="1143000" cy="402336"/>
          </a:xfrm>
          <a:prstGeom prst="rect">
            <a:avLst/>
          </a:prstGeom>
          <a:noFill/>
        </p:spPr>
        <p:txBody>
          <a:bodyPr wrap="square" lIns="0" tIns="0" rIns="0" bIns="0" anchor="ctr">
            <a:noAutofit/>
          </a:bodyPr>
          <a:lstStyle/>
          <a:p>
            <a:pPr algn="r">
              <a:buNone/>
            </a:pPr>
            <a:r>
              <a:rPr sz="1600" b="0">
                <a:solidFill>
                  <a:srgbClr val="262626"/>
                </a:solidFill>
              </a:rPr>
              <a:t>10分</a:t>
            </a:r>
          </a:p>
        </p:txBody>
      </p:sp>
      <p:sp>
        <p:nvSpPr>
          <p:cNvPr id="12" name="TextBox 11"/>
          <p:cNvSpPr txBox="1"/>
          <p:nvPr/>
        </p:nvSpPr>
        <p:spPr>
          <a:xfrm>
            <a:off x="896112" y="266090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改修台帳（15項目＋Phase2の追加）と今週の改修</a:t>
            </a:r>
          </a:p>
        </p:txBody>
      </p:sp>
      <p:sp>
        <p:nvSpPr>
          <p:cNvPr id="13" name="TextBox 12"/>
          <p:cNvSpPr txBox="1"/>
          <p:nvPr/>
        </p:nvSpPr>
        <p:spPr>
          <a:xfrm>
            <a:off x="896112" y="2990088"/>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外部取得データソースの改善</a:t>
            </a:r>
          </a:p>
        </p:txBody>
      </p:sp>
      <p:sp>
        <p:nvSpPr>
          <p:cNvPr id="14" name="TextBox 13"/>
          <p:cNvSpPr txBox="1"/>
          <p:nvPr/>
        </p:nvSpPr>
        <p:spPr>
          <a:xfrm>
            <a:off x="566928" y="3611880"/>
            <a:ext cx="5852160" cy="402336"/>
          </a:xfrm>
          <a:prstGeom prst="rect">
            <a:avLst/>
          </a:prstGeom>
          <a:noFill/>
        </p:spPr>
        <p:txBody>
          <a:bodyPr wrap="square" lIns="0" tIns="0" rIns="0" bIns="0" anchor="ctr">
            <a:noAutofit/>
          </a:bodyPr>
          <a:lstStyle/>
          <a:p>
            <a:pPr algn="l">
              <a:buNone/>
            </a:pPr>
            <a:r>
              <a:rPr sz="1700" b="0">
                <a:solidFill>
                  <a:srgbClr val="262626"/>
                </a:solidFill>
              </a:rPr>
              <a:t>3．当面のタイムラインとITEC様への引継ぎ</a:t>
            </a:r>
          </a:p>
        </p:txBody>
      </p:sp>
      <p:sp>
        <p:nvSpPr>
          <p:cNvPr id="15" name="TextBox 14"/>
          <p:cNvSpPr txBox="1"/>
          <p:nvPr/>
        </p:nvSpPr>
        <p:spPr>
          <a:xfrm>
            <a:off x="6400800" y="3611880"/>
            <a:ext cx="1143000" cy="402336"/>
          </a:xfrm>
          <a:prstGeom prst="rect">
            <a:avLst/>
          </a:prstGeom>
          <a:noFill/>
        </p:spPr>
        <p:txBody>
          <a:bodyPr wrap="square" lIns="0" tIns="0" rIns="0" bIns="0" anchor="ctr">
            <a:noAutofit/>
          </a:bodyPr>
          <a:lstStyle/>
          <a:p>
            <a:pPr algn="r">
              <a:buNone/>
            </a:pPr>
            <a:r>
              <a:rPr sz="1600" b="0">
                <a:solidFill>
                  <a:srgbClr val="262626"/>
                </a:solidFill>
              </a:rPr>
              <a:t>5分</a:t>
            </a:r>
          </a:p>
        </p:txBody>
      </p:sp>
      <p:sp>
        <p:nvSpPr>
          <p:cNvPr id="16" name="ハイライト"/>
          <p:cNvSpPr/>
          <p:nvPr/>
        </p:nvSpPr>
        <p:spPr>
          <a:xfrm>
            <a:off x="402336" y="4242816"/>
            <a:ext cx="7269480" cy="786384"/>
          </a:xfrm>
          <a:prstGeom prst="rect">
            <a:avLst/>
          </a:prstGeom>
          <a:solidFill>
            <a:srgbClr val="63666A"/>
          </a:solidFill>
          <a:ln>
            <a:noFill/>
          </a:ln>
        </p:spPr>
        <p:txBody>
          <a:bodyPr rtlCol="0" anchor="ctr" wrap="square" lIns="54864" tIns="27432" rIns="54864" bIns="27432">
            <a:noAutofit/>
          </a:bodyPr>
          <a:lstStyle/>
          <a:p>
            <a:pPr algn="ctr"/>
          </a:p>
        </p:txBody>
      </p:sp>
      <p:sp>
        <p:nvSpPr>
          <p:cNvPr id="17" name="TextBox 16"/>
          <p:cNvSpPr txBox="1"/>
          <p:nvPr/>
        </p:nvSpPr>
        <p:spPr>
          <a:xfrm>
            <a:off x="566928" y="4288536"/>
            <a:ext cx="5852160" cy="402336"/>
          </a:xfrm>
          <a:prstGeom prst="rect">
            <a:avLst/>
          </a:prstGeom>
          <a:noFill/>
        </p:spPr>
        <p:txBody>
          <a:bodyPr wrap="square" lIns="0" tIns="0" rIns="0" bIns="0" anchor="ctr">
            <a:noAutofit/>
          </a:bodyPr>
          <a:lstStyle/>
          <a:p>
            <a:pPr algn="l">
              <a:buNone/>
            </a:pPr>
            <a:r>
              <a:rPr sz="1700" b="1">
                <a:solidFill>
                  <a:srgbClr val="FFFFFF"/>
                </a:solidFill>
              </a:rPr>
              <a:t>4．ITEC様からのご報告</a:t>
            </a:r>
          </a:p>
        </p:txBody>
      </p:sp>
      <p:sp>
        <p:nvSpPr>
          <p:cNvPr id="18" name="TextBox 17"/>
          <p:cNvSpPr txBox="1"/>
          <p:nvPr/>
        </p:nvSpPr>
        <p:spPr>
          <a:xfrm>
            <a:off x="6400800" y="4288536"/>
            <a:ext cx="1143000" cy="402336"/>
          </a:xfrm>
          <a:prstGeom prst="rect">
            <a:avLst/>
          </a:prstGeom>
          <a:noFill/>
        </p:spPr>
        <p:txBody>
          <a:bodyPr wrap="square" lIns="0" tIns="0" rIns="0" bIns="0" anchor="ctr">
            <a:noAutofit/>
          </a:bodyPr>
          <a:lstStyle/>
          <a:p>
            <a:pPr algn="r">
              <a:buNone/>
            </a:pPr>
            <a:r>
              <a:rPr sz="1600" b="1">
                <a:solidFill>
                  <a:srgbClr val="FFFFFF"/>
                </a:solidFill>
              </a:rPr>
              <a:t>20分</a:t>
            </a:r>
          </a:p>
        </p:txBody>
      </p:sp>
      <p:sp>
        <p:nvSpPr>
          <p:cNvPr id="19" name="TextBox 18"/>
          <p:cNvSpPr txBox="1"/>
          <p:nvPr/>
        </p:nvSpPr>
        <p:spPr>
          <a:xfrm>
            <a:off x="896112" y="4672584"/>
            <a:ext cx="6309360" cy="310896"/>
          </a:xfrm>
          <a:prstGeom prst="rect">
            <a:avLst/>
          </a:prstGeom>
          <a:noFill/>
        </p:spPr>
        <p:txBody>
          <a:bodyPr wrap="square" lIns="0" tIns="0" rIns="0" bIns="0" anchor="ctr">
            <a:noAutofit/>
          </a:bodyPr>
          <a:lstStyle/>
          <a:p>
            <a:pPr algn="l">
              <a:buNone/>
            </a:pPr>
            <a:r>
              <a:rPr sz="1350" b="1">
                <a:solidFill>
                  <a:srgbClr val="FFFFFF"/>
                </a:solidFill>
              </a:rPr>
              <a:t>✓  </a:t>
            </a:r>
            <a:r>
              <a:rPr sz="1350" b="0">
                <a:solidFill>
                  <a:srgbClr val="FFFFFF"/>
                </a:solidFill>
              </a:rPr>
              <a:t>セキュア公開版の状況、10/7版の反映・データ投入の計画</a:t>
            </a:r>
          </a:p>
        </p:txBody>
      </p:sp>
      <p:sp>
        <p:nvSpPr>
          <p:cNvPr id="20" name="TextBox 19"/>
          <p:cNvSpPr txBox="1"/>
          <p:nvPr/>
        </p:nvSpPr>
        <p:spPr>
          <a:xfrm>
            <a:off x="566928" y="5294376"/>
            <a:ext cx="5852160" cy="402336"/>
          </a:xfrm>
          <a:prstGeom prst="rect">
            <a:avLst/>
          </a:prstGeom>
          <a:noFill/>
        </p:spPr>
        <p:txBody>
          <a:bodyPr wrap="square" lIns="0" tIns="0" rIns="0" bIns="0" anchor="ctr">
            <a:noAutofit/>
          </a:bodyPr>
          <a:lstStyle/>
          <a:p>
            <a:pPr algn="l">
              <a:buNone/>
            </a:pPr>
            <a:r>
              <a:rPr sz="1700" b="0">
                <a:solidFill>
                  <a:srgbClr val="262626"/>
                </a:solidFill>
              </a:rPr>
              <a:t>5．アプリを見ながらのディスカッション</a:t>
            </a:r>
          </a:p>
        </p:txBody>
      </p:sp>
      <p:sp>
        <p:nvSpPr>
          <p:cNvPr id="21" name="TextBox 20"/>
          <p:cNvSpPr txBox="1"/>
          <p:nvPr/>
        </p:nvSpPr>
        <p:spPr>
          <a:xfrm>
            <a:off x="6400800" y="5294376"/>
            <a:ext cx="1143000" cy="402336"/>
          </a:xfrm>
          <a:prstGeom prst="rect">
            <a:avLst/>
          </a:prstGeom>
          <a:noFill/>
        </p:spPr>
        <p:txBody>
          <a:bodyPr wrap="square" lIns="0" tIns="0" rIns="0" bIns="0" anchor="ctr">
            <a:noAutofit/>
          </a:bodyPr>
          <a:lstStyle/>
          <a:p>
            <a:pPr algn="r">
              <a:buNone/>
            </a:pPr>
            <a:r>
              <a:rPr sz="1600" b="0">
                <a:solidFill>
                  <a:srgbClr val="262626"/>
                </a:solidFill>
              </a:rPr>
              <a:t>15分</a:t>
            </a:r>
          </a:p>
        </p:txBody>
      </p:sp>
      <p:sp>
        <p:nvSpPr>
          <p:cNvPr id="22" name="TextBox 21"/>
          <p:cNvSpPr txBox="1"/>
          <p:nvPr/>
        </p:nvSpPr>
        <p:spPr>
          <a:xfrm>
            <a:off x="896112" y="567842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ラップアップ</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pPr/>
              <a:t>2</a:t>
            </a:fld>
            <a:endParaRPr lang="ja-JP" altLang="en-US"/>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8" name="TextBox 7"/>
          <p:cNvSpPr txBox="1"/>
          <p:nvPr/>
        </p:nvSpPr>
        <p:spPr>
          <a:xfrm>
            <a:off x="566928" y="1600200"/>
            <a:ext cx="5852160" cy="402336"/>
          </a:xfrm>
          <a:prstGeom prst="rect">
            <a:avLst/>
          </a:prstGeom>
          <a:noFill/>
        </p:spPr>
        <p:txBody>
          <a:bodyPr wrap="square" lIns="0" tIns="0" rIns="0" bIns="0" anchor="ctr">
            <a:noAutofit/>
          </a:bodyPr>
          <a:lstStyle/>
          <a:p>
            <a:pPr algn="l">
              <a:buNone/>
            </a:pPr>
            <a:r>
              <a:rPr sz="1700" b="0">
                <a:solidFill>
                  <a:srgbClr val="262626"/>
                </a:solidFill>
              </a:rPr>
              <a:t>1．Phase2の全体像と振り返り（10/1〜）</a:t>
            </a:r>
          </a:p>
        </p:txBody>
      </p:sp>
      <p:sp>
        <p:nvSpPr>
          <p:cNvPr id="9" name="TextBox 8"/>
          <p:cNvSpPr txBox="1"/>
          <p:nvPr/>
        </p:nvSpPr>
        <p:spPr>
          <a:xfrm>
            <a:off x="6400800" y="1600200"/>
            <a:ext cx="1143000" cy="402336"/>
          </a:xfrm>
          <a:prstGeom prst="rect">
            <a:avLst/>
          </a:prstGeom>
          <a:noFill/>
        </p:spPr>
        <p:txBody>
          <a:bodyPr wrap="square" lIns="0" tIns="0" rIns="0" bIns="0" anchor="ctr">
            <a:noAutofit/>
          </a:bodyPr>
          <a:lstStyle/>
          <a:p>
            <a:pPr algn="r">
              <a:buNone/>
            </a:pPr>
            <a:r>
              <a:rPr sz="1600" b="0">
                <a:solidFill>
                  <a:srgbClr val="262626"/>
                </a:solidFill>
              </a:rPr>
              <a:t>5分</a:t>
            </a:r>
          </a:p>
        </p:txBody>
      </p:sp>
      <p:sp>
        <p:nvSpPr>
          <p:cNvPr id="10" name="TextBox 9"/>
          <p:cNvSpPr txBox="1"/>
          <p:nvPr/>
        </p:nvSpPr>
        <p:spPr>
          <a:xfrm>
            <a:off x="566928" y="2276856"/>
            <a:ext cx="5852160" cy="402336"/>
          </a:xfrm>
          <a:prstGeom prst="rect">
            <a:avLst/>
          </a:prstGeom>
          <a:noFill/>
        </p:spPr>
        <p:txBody>
          <a:bodyPr wrap="square" lIns="0" tIns="0" rIns="0" bIns="0" anchor="ctr">
            <a:noAutofit/>
          </a:bodyPr>
          <a:lstStyle/>
          <a:p>
            <a:pPr algn="l">
              <a:buNone/>
            </a:pPr>
            <a:r>
              <a:rPr sz="1700" b="0">
                <a:solidFill>
                  <a:srgbClr val="262626"/>
                </a:solidFill>
              </a:rPr>
              <a:t>2．改修内容と最新アプリの状態</a:t>
            </a:r>
          </a:p>
        </p:txBody>
      </p:sp>
      <p:sp>
        <p:nvSpPr>
          <p:cNvPr id="11" name="TextBox 10"/>
          <p:cNvSpPr txBox="1"/>
          <p:nvPr/>
        </p:nvSpPr>
        <p:spPr>
          <a:xfrm>
            <a:off x="6400800" y="2276856"/>
            <a:ext cx="1143000" cy="402336"/>
          </a:xfrm>
          <a:prstGeom prst="rect">
            <a:avLst/>
          </a:prstGeom>
          <a:noFill/>
        </p:spPr>
        <p:txBody>
          <a:bodyPr wrap="square" lIns="0" tIns="0" rIns="0" bIns="0" anchor="ctr">
            <a:noAutofit/>
          </a:bodyPr>
          <a:lstStyle/>
          <a:p>
            <a:pPr algn="r">
              <a:buNone/>
            </a:pPr>
            <a:r>
              <a:rPr sz="1600" b="0">
                <a:solidFill>
                  <a:srgbClr val="262626"/>
                </a:solidFill>
              </a:rPr>
              <a:t>10分</a:t>
            </a:r>
          </a:p>
        </p:txBody>
      </p:sp>
      <p:sp>
        <p:nvSpPr>
          <p:cNvPr id="12" name="TextBox 11"/>
          <p:cNvSpPr txBox="1"/>
          <p:nvPr/>
        </p:nvSpPr>
        <p:spPr>
          <a:xfrm>
            <a:off x="896112" y="266090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改修台帳（15項目＋Phase2の追加）と今週の改修</a:t>
            </a:r>
          </a:p>
        </p:txBody>
      </p:sp>
      <p:sp>
        <p:nvSpPr>
          <p:cNvPr id="13" name="TextBox 12"/>
          <p:cNvSpPr txBox="1"/>
          <p:nvPr/>
        </p:nvSpPr>
        <p:spPr>
          <a:xfrm>
            <a:off x="896112" y="2990088"/>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外部取得データソースの改善</a:t>
            </a:r>
          </a:p>
        </p:txBody>
      </p:sp>
      <p:sp>
        <p:nvSpPr>
          <p:cNvPr id="14" name="TextBox 13"/>
          <p:cNvSpPr txBox="1"/>
          <p:nvPr/>
        </p:nvSpPr>
        <p:spPr>
          <a:xfrm>
            <a:off x="566928" y="3611880"/>
            <a:ext cx="5852160" cy="402336"/>
          </a:xfrm>
          <a:prstGeom prst="rect">
            <a:avLst/>
          </a:prstGeom>
          <a:noFill/>
        </p:spPr>
        <p:txBody>
          <a:bodyPr wrap="square" lIns="0" tIns="0" rIns="0" bIns="0" anchor="ctr">
            <a:noAutofit/>
          </a:bodyPr>
          <a:lstStyle/>
          <a:p>
            <a:pPr algn="l">
              <a:buNone/>
            </a:pPr>
            <a:r>
              <a:rPr sz="1700" b="0">
                <a:solidFill>
                  <a:srgbClr val="262626"/>
                </a:solidFill>
              </a:rPr>
              <a:t>3．当面のタイムラインとITEC様への引継ぎ</a:t>
            </a:r>
          </a:p>
        </p:txBody>
      </p:sp>
      <p:sp>
        <p:nvSpPr>
          <p:cNvPr id="15" name="TextBox 14"/>
          <p:cNvSpPr txBox="1"/>
          <p:nvPr/>
        </p:nvSpPr>
        <p:spPr>
          <a:xfrm>
            <a:off x="6400800" y="3611880"/>
            <a:ext cx="1143000" cy="402336"/>
          </a:xfrm>
          <a:prstGeom prst="rect">
            <a:avLst/>
          </a:prstGeom>
          <a:noFill/>
        </p:spPr>
        <p:txBody>
          <a:bodyPr wrap="square" lIns="0" tIns="0" rIns="0" bIns="0" anchor="ctr">
            <a:noAutofit/>
          </a:bodyPr>
          <a:lstStyle/>
          <a:p>
            <a:pPr algn="r">
              <a:buNone/>
            </a:pPr>
            <a:r>
              <a:rPr sz="1600" b="0">
                <a:solidFill>
                  <a:srgbClr val="262626"/>
                </a:solidFill>
              </a:rPr>
              <a:t>5分</a:t>
            </a:r>
          </a:p>
        </p:txBody>
      </p:sp>
      <p:sp>
        <p:nvSpPr>
          <p:cNvPr id="16" name="TextBox 15"/>
          <p:cNvSpPr txBox="1"/>
          <p:nvPr/>
        </p:nvSpPr>
        <p:spPr>
          <a:xfrm>
            <a:off x="566928" y="4288536"/>
            <a:ext cx="5852160" cy="402336"/>
          </a:xfrm>
          <a:prstGeom prst="rect">
            <a:avLst/>
          </a:prstGeom>
          <a:noFill/>
        </p:spPr>
        <p:txBody>
          <a:bodyPr wrap="square" lIns="0" tIns="0" rIns="0" bIns="0" anchor="ctr">
            <a:noAutofit/>
          </a:bodyPr>
          <a:lstStyle/>
          <a:p>
            <a:pPr algn="l">
              <a:buNone/>
            </a:pPr>
            <a:r>
              <a:rPr sz="1700" b="0">
                <a:solidFill>
                  <a:srgbClr val="262626"/>
                </a:solidFill>
              </a:rPr>
              <a:t>4．ITEC様からのご報告</a:t>
            </a:r>
          </a:p>
        </p:txBody>
      </p:sp>
      <p:sp>
        <p:nvSpPr>
          <p:cNvPr id="17" name="TextBox 16"/>
          <p:cNvSpPr txBox="1"/>
          <p:nvPr/>
        </p:nvSpPr>
        <p:spPr>
          <a:xfrm>
            <a:off x="6400800" y="4288536"/>
            <a:ext cx="1143000" cy="402336"/>
          </a:xfrm>
          <a:prstGeom prst="rect">
            <a:avLst/>
          </a:prstGeom>
          <a:noFill/>
        </p:spPr>
        <p:txBody>
          <a:bodyPr wrap="square" lIns="0" tIns="0" rIns="0" bIns="0" anchor="ctr">
            <a:noAutofit/>
          </a:bodyPr>
          <a:lstStyle/>
          <a:p>
            <a:pPr algn="r">
              <a:buNone/>
            </a:pPr>
            <a:r>
              <a:rPr sz="1600" b="0">
                <a:solidFill>
                  <a:srgbClr val="262626"/>
                </a:solidFill>
              </a:rPr>
              <a:t>20分</a:t>
            </a:r>
          </a:p>
        </p:txBody>
      </p:sp>
      <p:sp>
        <p:nvSpPr>
          <p:cNvPr id="18" name="TextBox 17"/>
          <p:cNvSpPr txBox="1"/>
          <p:nvPr/>
        </p:nvSpPr>
        <p:spPr>
          <a:xfrm>
            <a:off x="896112" y="4672584"/>
            <a:ext cx="6309360" cy="310896"/>
          </a:xfrm>
          <a:prstGeom prst="rect">
            <a:avLst/>
          </a:prstGeom>
          <a:noFill/>
        </p:spPr>
        <p:txBody>
          <a:bodyPr wrap="square" lIns="0" tIns="0" rIns="0" bIns="0" anchor="ctr">
            <a:noAutofit/>
          </a:bodyPr>
          <a:lstStyle/>
          <a:p>
            <a:pPr algn="l">
              <a:buNone/>
            </a:pPr>
            <a:r>
              <a:rPr sz="1350" b="1">
                <a:solidFill>
                  <a:srgbClr val="8C8C8C"/>
                </a:solidFill>
              </a:rPr>
              <a:t>✓  </a:t>
            </a:r>
            <a:r>
              <a:rPr sz="1350" b="0">
                <a:solidFill>
                  <a:srgbClr val="595959"/>
                </a:solidFill>
              </a:rPr>
              <a:t>セキュア公開版の状況、10/7版の反映・データ投入の計画</a:t>
            </a:r>
          </a:p>
        </p:txBody>
      </p:sp>
      <p:sp>
        <p:nvSpPr>
          <p:cNvPr id="19" name="ハイライト"/>
          <p:cNvSpPr/>
          <p:nvPr/>
        </p:nvSpPr>
        <p:spPr>
          <a:xfrm>
            <a:off x="402336" y="5248656"/>
            <a:ext cx="7269480" cy="786384"/>
          </a:xfrm>
          <a:prstGeom prst="rect">
            <a:avLst/>
          </a:prstGeom>
          <a:solidFill>
            <a:srgbClr val="63666A"/>
          </a:solidFill>
          <a:ln>
            <a:noFill/>
          </a:ln>
        </p:spPr>
        <p:txBody>
          <a:bodyPr rtlCol="0" anchor="ctr" wrap="square" lIns="54864" tIns="27432" rIns="54864" bIns="27432">
            <a:noAutofit/>
          </a:bodyPr>
          <a:lstStyle/>
          <a:p>
            <a:pPr algn="ctr"/>
          </a:p>
        </p:txBody>
      </p:sp>
      <p:sp>
        <p:nvSpPr>
          <p:cNvPr id="20" name="TextBox 19"/>
          <p:cNvSpPr txBox="1"/>
          <p:nvPr/>
        </p:nvSpPr>
        <p:spPr>
          <a:xfrm>
            <a:off x="566928" y="5294376"/>
            <a:ext cx="5852160" cy="402336"/>
          </a:xfrm>
          <a:prstGeom prst="rect">
            <a:avLst/>
          </a:prstGeom>
          <a:noFill/>
        </p:spPr>
        <p:txBody>
          <a:bodyPr wrap="square" lIns="0" tIns="0" rIns="0" bIns="0" anchor="ctr">
            <a:noAutofit/>
          </a:bodyPr>
          <a:lstStyle/>
          <a:p>
            <a:pPr algn="l">
              <a:buNone/>
            </a:pPr>
            <a:r>
              <a:rPr sz="1700" b="1">
                <a:solidFill>
                  <a:srgbClr val="FFFFFF"/>
                </a:solidFill>
              </a:rPr>
              <a:t>5．アプリを見ながらのディスカッション</a:t>
            </a:r>
          </a:p>
        </p:txBody>
      </p:sp>
      <p:sp>
        <p:nvSpPr>
          <p:cNvPr id="21" name="TextBox 20"/>
          <p:cNvSpPr txBox="1"/>
          <p:nvPr/>
        </p:nvSpPr>
        <p:spPr>
          <a:xfrm>
            <a:off x="6400800" y="5294376"/>
            <a:ext cx="1143000" cy="402336"/>
          </a:xfrm>
          <a:prstGeom prst="rect">
            <a:avLst/>
          </a:prstGeom>
          <a:noFill/>
        </p:spPr>
        <p:txBody>
          <a:bodyPr wrap="square" lIns="0" tIns="0" rIns="0" bIns="0" anchor="ctr">
            <a:noAutofit/>
          </a:bodyPr>
          <a:lstStyle/>
          <a:p>
            <a:pPr algn="r">
              <a:buNone/>
            </a:pPr>
            <a:r>
              <a:rPr sz="1600" b="1">
                <a:solidFill>
                  <a:srgbClr val="FFFFFF"/>
                </a:solidFill>
              </a:rPr>
              <a:t>15分</a:t>
            </a:r>
          </a:p>
        </p:txBody>
      </p:sp>
      <p:sp>
        <p:nvSpPr>
          <p:cNvPr id="22" name="TextBox 21"/>
          <p:cNvSpPr txBox="1"/>
          <p:nvPr/>
        </p:nvSpPr>
        <p:spPr>
          <a:xfrm>
            <a:off x="896112" y="5678424"/>
            <a:ext cx="6309360" cy="310896"/>
          </a:xfrm>
          <a:prstGeom prst="rect">
            <a:avLst/>
          </a:prstGeom>
          <a:noFill/>
        </p:spPr>
        <p:txBody>
          <a:bodyPr wrap="square" lIns="0" tIns="0" rIns="0" bIns="0" anchor="ctr">
            <a:noAutofit/>
          </a:bodyPr>
          <a:lstStyle/>
          <a:p>
            <a:pPr algn="l">
              <a:buNone/>
            </a:pPr>
            <a:r>
              <a:rPr sz="1350" b="1">
                <a:solidFill>
                  <a:srgbClr val="FFFFFF"/>
                </a:solidFill>
              </a:rPr>
              <a:t>✓  </a:t>
            </a:r>
            <a:r>
              <a:rPr sz="1350" b="0">
                <a:solidFill>
                  <a:srgbClr val="FFFFFF"/>
                </a:solidFill>
              </a:rPr>
              <a:t>ラップアップ</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r>
              <a:t>Phase2の全体スケジュール</a:t>
            </a:r>
          </a:p>
        </p:txBody>
      </p:sp>
      <p:sp>
        <p:nvSpPr>
          <p:cNvPr id="3" name="Title 2"/>
          <p:cNvSpPr>
            <a:spLocks noGrp="1"/>
          </p:cNvSpPr>
          <p:nvPr>
            <p:ph type="title"/>
          </p:nvPr>
        </p:nvSpPr>
        <p:spPr/>
        <p:txBody>
          <a:bodyPr/>
          <a:lstStyle/>
          <a:p>
            <a:r>
              <a:t>Phase2は10/1〜11/30の2か月。セキュア公開・データ投入はITEC様が主導し、弊社は改修・引継ぎと品質の評価・定着で支援します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5</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7" name="Rectangle 6"/>
          <p:cNvSpPr/>
          <p:nvPr/>
        </p:nvSpPr>
        <p:spPr>
          <a:xfrm>
            <a:off x="9098280" y="1060704"/>
            <a:ext cx="2606040" cy="347472"/>
          </a:xfrm>
          <a:prstGeom prst="rect">
            <a:avLst/>
          </a:prstGeom>
          <a:solidFill>
            <a:srgbClr val="F3F3F3"/>
          </a:solidFill>
          <a:ln>
            <a:noFill/>
          </a:ln>
        </p:spPr>
        <p:txBody>
          <a:bodyPr rtlCol="0" anchor="ctr" wrap="square" lIns="54864" tIns="27432" rIns="54864" bIns="27432">
            <a:noAutofit/>
          </a:bodyPr>
          <a:lstStyle/>
          <a:p>
            <a:pPr algn="ctr">
              <a:buNone/>
            </a:pPr>
            <a:r>
              <a:rPr sz="1200" b="0">
                <a:solidFill>
                  <a:srgbClr val="262626"/>
                </a:solidFill>
              </a:rPr>
              <a:t>支援期間　</a:t>
            </a:r>
            <a:r>
              <a:rPr sz="1200" b="1">
                <a:solidFill>
                  <a:srgbClr val="262626"/>
                </a:solidFill>
              </a:rPr>
              <a:t>2026/10/1 – 11/30</a:t>
            </a:r>
          </a:p>
        </p:txBody>
      </p:sp>
      <p:sp>
        <p:nvSpPr>
          <p:cNvPr id="8" name="Rectangle 7"/>
          <p:cNvSpPr/>
          <p:nvPr/>
        </p:nvSpPr>
        <p:spPr>
          <a:xfrm>
            <a:off x="475488" y="1645920"/>
            <a:ext cx="2011680" cy="502920"/>
          </a:xfrm>
          <a:prstGeom prst="rect">
            <a:avLst/>
          </a:prstGeom>
          <a:solidFill>
            <a:srgbClr val="F3F3F3"/>
          </a:solidFill>
          <a:ln>
            <a:noFill/>
          </a:ln>
        </p:spPr>
        <p:txBody>
          <a:bodyPr rtlCol="0" anchor="ctr" wrap="square" lIns="54864" tIns="27432" rIns="54864" bIns="27432">
            <a:noAutofit/>
          </a:bodyPr>
          <a:lstStyle/>
          <a:p>
            <a:pPr algn="ctr">
              <a:buNone/>
            </a:pPr>
            <a:r>
              <a:rPr sz="1200" b="1">
                <a:solidFill>
                  <a:srgbClr val="595959"/>
                </a:solidFill>
              </a:rPr>
              <a:t>ワークストリーム</a:t>
            </a:r>
          </a:p>
        </p:txBody>
      </p:sp>
      <p:sp>
        <p:nvSpPr>
          <p:cNvPr id="9" name="Rectangle 8"/>
          <p:cNvSpPr/>
          <p:nvPr/>
        </p:nvSpPr>
        <p:spPr>
          <a:xfrm>
            <a:off x="2514600" y="1645920"/>
            <a:ext cx="1389888" cy="502920"/>
          </a:xfrm>
          <a:prstGeom prst="rect">
            <a:avLst/>
          </a:prstGeom>
          <a:solidFill>
            <a:srgbClr val="F3F3F3"/>
          </a:solidFill>
          <a:ln>
            <a:noFill/>
          </a:ln>
        </p:spPr>
        <p:txBody>
          <a:bodyPr rtlCol="0" anchor="ctr" wrap="square" lIns="54864" tIns="27432" rIns="54864" bIns="27432">
            <a:noAutofit/>
          </a:bodyPr>
          <a:lstStyle/>
          <a:p>
            <a:pPr algn="ctr">
              <a:buNone/>
            </a:pPr>
            <a:r>
              <a:rPr sz="1200" b="1">
                <a:solidFill>
                  <a:srgbClr val="595959"/>
                </a:solidFill>
              </a:rPr>
              <a:t>主体／支援</a:t>
            </a:r>
          </a:p>
        </p:txBody>
      </p:sp>
      <p:sp>
        <p:nvSpPr>
          <p:cNvPr id="10" name="Rectangle 9"/>
          <p:cNvSpPr/>
          <p:nvPr/>
        </p:nvSpPr>
        <p:spPr>
          <a:xfrm>
            <a:off x="3931920" y="1645920"/>
            <a:ext cx="4290568" cy="256032"/>
          </a:xfrm>
          <a:prstGeom prst="rect">
            <a:avLst/>
          </a:prstGeom>
          <a:solidFill>
            <a:srgbClr val="63666A"/>
          </a:solidFill>
          <a:ln>
            <a:noFill/>
          </a:ln>
        </p:spPr>
        <p:txBody>
          <a:bodyPr rtlCol="0" anchor="ctr" wrap="square" lIns="54864" tIns="27432" rIns="54864" bIns="27432">
            <a:noAutofit/>
          </a:bodyPr>
          <a:lstStyle/>
          <a:p>
            <a:pPr algn="ctr">
              <a:buNone/>
            </a:pPr>
            <a:r>
              <a:rPr sz="1200" b="1">
                <a:solidFill>
                  <a:srgbClr val="FFFFFF"/>
                </a:solidFill>
              </a:rPr>
              <a:t>10月</a:t>
            </a:r>
          </a:p>
        </p:txBody>
      </p:sp>
      <p:sp>
        <p:nvSpPr>
          <p:cNvPr id="11" name="Rectangle 10"/>
          <p:cNvSpPr/>
          <p:nvPr/>
        </p:nvSpPr>
        <p:spPr>
          <a:xfrm>
            <a:off x="8249920" y="1645920"/>
            <a:ext cx="3454400" cy="256032"/>
          </a:xfrm>
          <a:prstGeom prst="rect">
            <a:avLst/>
          </a:prstGeom>
          <a:solidFill>
            <a:srgbClr val="63666A"/>
          </a:solidFill>
          <a:ln>
            <a:noFill/>
          </a:ln>
        </p:spPr>
        <p:txBody>
          <a:bodyPr rtlCol="0" anchor="ctr" wrap="square" lIns="54864" tIns="27432" rIns="54864" bIns="27432">
            <a:noAutofit/>
          </a:bodyPr>
          <a:lstStyle/>
          <a:p>
            <a:pPr algn="ctr">
              <a:buNone/>
            </a:pPr>
            <a:r>
              <a:rPr sz="1200" b="1">
                <a:solidFill>
                  <a:srgbClr val="FFFFFF"/>
                </a:solidFill>
              </a:rPr>
              <a:t>11月</a:t>
            </a:r>
          </a:p>
        </p:txBody>
      </p:sp>
      <p:cxnSp>
        <p:nvCxnSpPr>
          <p:cNvPr id="12" name="Connector 11"/>
          <p:cNvCxnSpPr/>
          <p:nvPr/>
        </p:nvCxnSpPr>
        <p:spPr>
          <a:xfrm>
            <a:off x="4795520" y="1938528"/>
            <a:ext cx="0" cy="3849624"/>
          </a:xfrm>
          <a:prstGeom prst="line">
            <a:avLst/>
          </a:prstGeom>
          <a:ln w="6350">
            <a:solidFill>
              <a:srgbClr val="E8E8E8"/>
            </a:solidFill>
          </a:ln>
        </p:spPr>
      </p:cxnSp>
      <p:cxnSp>
        <p:nvCxnSpPr>
          <p:cNvPr id="13" name="Connector 12"/>
          <p:cNvCxnSpPr/>
          <p:nvPr/>
        </p:nvCxnSpPr>
        <p:spPr>
          <a:xfrm>
            <a:off x="5659119" y="1938528"/>
            <a:ext cx="0" cy="3849624"/>
          </a:xfrm>
          <a:prstGeom prst="line">
            <a:avLst/>
          </a:prstGeom>
          <a:ln w="6350">
            <a:solidFill>
              <a:srgbClr val="E8E8E8"/>
            </a:solidFill>
          </a:ln>
        </p:spPr>
      </p:cxnSp>
      <p:cxnSp>
        <p:nvCxnSpPr>
          <p:cNvPr id="14" name="Connector 13"/>
          <p:cNvCxnSpPr/>
          <p:nvPr/>
        </p:nvCxnSpPr>
        <p:spPr>
          <a:xfrm>
            <a:off x="6522720" y="1938528"/>
            <a:ext cx="0" cy="3849624"/>
          </a:xfrm>
          <a:prstGeom prst="line">
            <a:avLst/>
          </a:prstGeom>
          <a:ln w="6350">
            <a:solidFill>
              <a:srgbClr val="E8E8E8"/>
            </a:solidFill>
          </a:ln>
        </p:spPr>
      </p:cxnSp>
      <p:cxnSp>
        <p:nvCxnSpPr>
          <p:cNvPr id="15" name="Connector 14"/>
          <p:cNvCxnSpPr/>
          <p:nvPr/>
        </p:nvCxnSpPr>
        <p:spPr>
          <a:xfrm>
            <a:off x="7386320" y="1938528"/>
            <a:ext cx="0" cy="3849624"/>
          </a:xfrm>
          <a:prstGeom prst="line">
            <a:avLst/>
          </a:prstGeom>
          <a:ln w="6350">
            <a:solidFill>
              <a:srgbClr val="E8E8E8"/>
            </a:solidFill>
          </a:ln>
        </p:spPr>
      </p:cxnSp>
      <p:cxnSp>
        <p:nvCxnSpPr>
          <p:cNvPr id="16" name="Connector 15"/>
          <p:cNvCxnSpPr/>
          <p:nvPr/>
        </p:nvCxnSpPr>
        <p:spPr>
          <a:xfrm>
            <a:off x="8249920" y="1938528"/>
            <a:ext cx="0" cy="3849624"/>
          </a:xfrm>
          <a:prstGeom prst="line">
            <a:avLst/>
          </a:prstGeom>
          <a:ln w="6350">
            <a:solidFill>
              <a:srgbClr val="E8E8E8"/>
            </a:solidFill>
          </a:ln>
        </p:spPr>
      </p:cxnSp>
      <p:cxnSp>
        <p:nvCxnSpPr>
          <p:cNvPr id="17" name="Connector 16"/>
          <p:cNvCxnSpPr/>
          <p:nvPr/>
        </p:nvCxnSpPr>
        <p:spPr>
          <a:xfrm>
            <a:off x="9113519" y="1938528"/>
            <a:ext cx="0" cy="3849624"/>
          </a:xfrm>
          <a:prstGeom prst="line">
            <a:avLst/>
          </a:prstGeom>
          <a:ln w="6350">
            <a:solidFill>
              <a:srgbClr val="E8E8E8"/>
            </a:solidFill>
          </a:ln>
        </p:spPr>
      </p:cxnSp>
      <p:cxnSp>
        <p:nvCxnSpPr>
          <p:cNvPr id="18" name="Connector 17"/>
          <p:cNvCxnSpPr/>
          <p:nvPr/>
        </p:nvCxnSpPr>
        <p:spPr>
          <a:xfrm>
            <a:off x="9977120" y="1938528"/>
            <a:ext cx="0" cy="3849624"/>
          </a:xfrm>
          <a:prstGeom prst="line">
            <a:avLst/>
          </a:prstGeom>
          <a:ln w="6350">
            <a:solidFill>
              <a:srgbClr val="E8E8E8"/>
            </a:solidFill>
          </a:ln>
        </p:spPr>
      </p:cxnSp>
      <p:cxnSp>
        <p:nvCxnSpPr>
          <p:cNvPr id="19" name="Connector 18"/>
          <p:cNvCxnSpPr/>
          <p:nvPr/>
        </p:nvCxnSpPr>
        <p:spPr>
          <a:xfrm>
            <a:off x="10840719" y="1938528"/>
            <a:ext cx="0" cy="3849624"/>
          </a:xfrm>
          <a:prstGeom prst="line">
            <a:avLst/>
          </a:prstGeom>
          <a:ln w="6350">
            <a:solidFill>
              <a:srgbClr val="E8E8E8"/>
            </a:solidFill>
          </a:ln>
        </p:spPr>
      </p:cxnSp>
      <p:cxnSp>
        <p:nvCxnSpPr>
          <p:cNvPr id="20" name="Connector 19"/>
          <p:cNvCxnSpPr/>
          <p:nvPr/>
        </p:nvCxnSpPr>
        <p:spPr>
          <a:xfrm>
            <a:off x="8249920" y="1645920"/>
            <a:ext cx="0" cy="4142232"/>
          </a:xfrm>
          <a:prstGeom prst="line">
            <a:avLst/>
          </a:prstGeom>
          <a:ln w="12700">
            <a:solidFill>
              <a:srgbClr val="8C8C8C"/>
            </a:solidFill>
          </a:ln>
        </p:spPr>
      </p:cxnSp>
      <p:cxnSp>
        <p:nvCxnSpPr>
          <p:cNvPr id="21" name="Connector 20"/>
          <p:cNvCxnSpPr/>
          <p:nvPr/>
        </p:nvCxnSpPr>
        <p:spPr>
          <a:xfrm>
            <a:off x="475488" y="2167128"/>
            <a:ext cx="11228832" cy="0"/>
          </a:xfrm>
          <a:prstGeom prst="line">
            <a:avLst/>
          </a:prstGeom>
          <a:ln w="9525">
            <a:solidFill>
              <a:srgbClr val="D0D0CE"/>
            </a:solidFill>
          </a:ln>
        </p:spPr>
      </p:cxnSp>
      <p:cxnSp>
        <p:nvCxnSpPr>
          <p:cNvPr id="22" name="Connector 21"/>
          <p:cNvCxnSpPr/>
          <p:nvPr/>
        </p:nvCxnSpPr>
        <p:spPr>
          <a:xfrm>
            <a:off x="475488" y="2734056"/>
            <a:ext cx="11228832" cy="0"/>
          </a:xfrm>
          <a:prstGeom prst="line">
            <a:avLst/>
          </a:prstGeom>
          <a:ln w="9525">
            <a:solidFill>
              <a:srgbClr val="D0D0CE"/>
            </a:solidFill>
          </a:ln>
        </p:spPr>
      </p:cxnSp>
      <p:cxnSp>
        <p:nvCxnSpPr>
          <p:cNvPr id="23" name="Connector 22"/>
          <p:cNvCxnSpPr/>
          <p:nvPr/>
        </p:nvCxnSpPr>
        <p:spPr>
          <a:xfrm>
            <a:off x="475488" y="4215384"/>
            <a:ext cx="11228832" cy="0"/>
          </a:xfrm>
          <a:prstGeom prst="line">
            <a:avLst/>
          </a:prstGeom>
          <a:ln w="9525">
            <a:solidFill>
              <a:srgbClr val="D0D0CE"/>
            </a:solidFill>
          </a:ln>
        </p:spPr>
      </p:cxnSp>
      <p:cxnSp>
        <p:nvCxnSpPr>
          <p:cNvPr id="24" name="Connector 23"/>
          <p:cNvCxnSpPr/>
          <p:nvPr/>
        </p:nvCxnSpPr>
        <p:spPr>
          <a:xfrm>
            <a:off x="475488" y="5349240"/>
            <a:ext cx="11228832" cy="0"/>
          </a:xfrm>
          <a:prstGeom prst="line">
            <a:avLst/>
          </a:prstGeom>
          <a:ln w="9525">
            <a:solidFill>
              <a:srgbClr val="D0D0CE"/>
            </a:solidFill>
          </a:ln>
        </p:spPr>
      </p:cxnSp>
      <p:cxnSp>
        <p:nvCxnSpPr>
          <p:cNvPr id="25" name="Connector 24"/>
          <p:cNvCxnSpPr/>
          <p:nvPr/>
        </p:nvCxnSpPr>
        <p:spPr>
          <a:xfrm>
            <a:off x="475488" y="5788152"/>
            <a:ext cx="11228832" cy="0"/>
          </a:xfrm>
          <a:prstGeom prst="line">
            <a:avLst/>
          </a:prstGeom>
          <a:ln w="9525">
            <a:solidFill>
              <a:srgbClr val="D0D0CE"/>
            </a:solidFill>
          </a:ln>
        </p:spPr>
      </p:cxnSp>
      <p:cxnSp>
        <p:nvCxnSpPr>
          <p:cNvPr id="26" name="Connector 25"/>
          <p:cNvCxnSpPr/>
          <p:nvPr/>
        </p:nvCxnSpPr>
        <p:spPr>
          <a:xfrm>
            <a:off x="2514600" y="3282696"/>
            <a:ext cx="9189720" cy="0"/>
          </a:xfrm>
          <a:prstGeom prst="line">
            <a:avLst/>
          </a:prstGeom>
          <a:ln w="6350">
            <a:solidFill>
              <a:srgbClr val="E8E8E8"/>
            </a:solidFill>
          </a:ln>
        </p:spPr>
      </p:cxnSp>
      <p:cxnSp>
        <p:nvCxnSpPr>
          <p:cNvPr id="27" name="Connector 26"/>
          <p:cNvCxnSpPr/>
          <p:nvPr/>
        </p:nvCxnSpPr>
        <p:spPr>
          <a:xfrm>
            <a:off x="2514600" y="4782312"/>
            <a:ext cx="9189720" cy="0"/>
          </a:xfrm>
          <a:prstGeom prst="line">
            <a:avLst/>
          </a:prstGeom>
          <a:ln w="6350">
            <a:solidFill>
              <a:srgbClr val="E8E8E8"/>
            </a:solidFill>
          </a:ln>
        </p:spPr>
      </p:cxnSp>
      <p:cxnSp>
        <p:nvCxnSpPr>
          <p:cNvPr id="28" name="Connector 27"/>
          <p:cNvCxnSpPr/>
          <p:nvPr/>
        </p:nvCxnSpPr>
        <p:spPr>
          <a:xfrm>
            <a:off x="5227320" y="1920240"/>
            <a:ext cx="0" cy="3867912"/>
          </a:xfrm>
          <a:prstGeom prst="line">
            <a:avLst/>
          </a:prstGeom>
          <a:ln w="12700">
            <a:solidFill>
              <a:srgbClr val="262626"/>
            </a:solidFill>
            <a:prstDash val="dash"/>
          </a:ln>
        </p:spPr>
      </p:cxnSp>
      <p:sp>
        <p:nvSpPr>
          <p:cNvPr id="29" name="Rounded Rectangle 28"/>
          <p:cNvSpPr/>
          <p:nvPr/>
        </p:nvSpPr>
        <p:spPr>
          <a:xfrm>
            <a:off x="4843272" y="1417320"/>
            <a:ext cx="768096" cy="210312"/>
          </a:xfrm>
          <a:prstGeom prst="roundRect">
            <a:avLst>
              <a:gd name="adj" fmla="val 50000"/>
            </a:avLst>
          </a:prstGeom>
          <a:solidFill>
            <a:srgbClr val="262626"/>
          </a:solidFill>
          <a:ln>
            <a:noFill/>
          </a:ln>
        </p:spPr>
        <p:txBody>
          <a:bodyPr rtlCol="0" anchor="ctr" wrap="square" lIns="36576" tIns="0" rIns="36576" bIns="0">
            <a:noAutofit/>
          </a:bodyPr>
          <a:lstStyle/>
          <a:p>
            <a:pPr algn="ctr">
              <a:buNone/>
            </a:pPr>
            <a:r>
              <a:rPr sz="1000" b="1">
                <a:solidFill>
                  <a:srgbClr val="FFFFFF"/>
                </a:solidFill>
              </a:rPr>
              <a:t>本日 10/7</a:t>
            </a:r>
          </a:p>
        </p:txBody>
      </p:sp>
      <p:sp>
        <p:nvSpPr>
          <p:cNvPr id="30" name="TextBox 29"/>
          <p:cNvSpPr txBox="1"/>
          <p:nvPr/>
        </p:nvSpPr>
        <p:spPr>
          <a:xfrm>
            <a:off x="4162552" y="1938528"/>
            <a:ext cx="402336" cy="210312"/>
          </a:xfrm>
          <a:prstGeom prst="rect">
            <a:avLst/>
          </a:prstGeom>
          <a:solidFill>
            <a:srgbClr val="FFFFFF"/>
          </a:solidFill>
        </p:spPr>
        <p:txBody>
          <a:bodyPr wrap="square" lIns="0" tIns="0" rIns="0" bIns="0" anchor="ctr">
            <a:noAutofit/>
          </a:bodyPr>
          <a:lstStyle/>
          <a:p>
            <a:pPr algn="ctr">
              <a:buNone/>
            </a:pPr>
            <a:r>
              <a:rPr sz="1100" b="0">
                <a:solidFill>
                  <a:srgbClr val="595959"/>
                </a:solidFill>
              </a:rPr>
              <a:t>1W</a:t>
            </a:r>
          </a:p>
        </p:txBody>
      </p:sp>
      <p:sp>
        <p:nvSpPr>
          <p:cNvPr id="31" name="TextBox 30"/>
          <p:cNvSpPr txBox="1"/>
          <p:nvPr/>
        </p:nvSpPr>
        <p:spPr>
          <a:xfrm>
            <a:off x="5026152" y="1938528"/>
            <a:ext cx="402336" cy="210312"/>
          </a:xfrm>
          <a:prstGeom prst="rect">
            <a:avLst/>
          </a:prstGeom>
          <a:solidFill>
            <a:srgbClr val="FFFFFF"/>
          </a:solidFill>
        </p:spPr>
        <p:txBody>
          <a:bodyPr wrap="square" lIns="0" tIns="0" rIns="0" bIns="0" anchor="ctr">
            <a:noAutofit/>
          </a:bodyPr>
          <a:lstStyle/>
          <a:p>
            <a:pPr algn="ctr">
              <a:buNone/>
            </a:pPr>
            <a:r>
              <a:rPr sz="1100" b="0">
                <a:solidFill>
                  <a:srgbClr val="595959"/>
                </a:solidFill>
              </a:rPr>
              <a:t>2W</a:t>
            </a:r>
          </a:p>
        </p:txBody>
      </p:sp>
      <p:sp>
        <p:nvSpPr>
          <p:cNvPr id="32" name="TextBox 31"/>
          <p:cNvSpPr txBox="1"/>
          <p:nvPr/>
        </p:nvSpPr>
        <p:spPr>
          <a:xfrm>
            <a:off x="5889752" y="1938528"/>
            <a:ext cx="402336" cy="210312"/>
          </a:xfrm>
          <a:prstGeom prst="rect">
            <a:avLst/>
          </a:prstGeom>
          <a:solidFill>
            <a:srgbClr val="FFFFFF"/>
          </a:solidFill>
        </p:spPr>
        <p:txBody>
          <a:bodyPr wrap="square" lIns="0" tIns="0" rIns="0" bIns="0" anchor="ctr">
            <a:noAutofit/>
          </a:bodyPr>
          <a:lstStyle/>
          <a:p>
            <a:pPr algn="ctr">
              <a:buNone/>
            </a:pPr>
            <a:r>
              <a:rPr sz="1100" b="0">
                <a:solidFill>
                  <a:srgbClr val="595959"/>
                </a:solidFill>
              </a:rPr>
              <a:t>3W</a:t>
            </a:r>
          </a:p>
        </p:txBody>
      </p:sp>
      <p:sp>
        <p:nvSpPr>
          <p:cNvPr id="33" name="TextBox 32"/>
          <p:cNvSpPr txBox="1"/>
          <p:nvPr/>
        </p:nvSpPr>
        <p:spPr>
          <a:xfrm>
            <a:off x="6753352" y="1938528"/>
            <a:ext cx="402336" cy="210312"/>
          </a:xfrm>
          <a:prstGeom prst="rect">
            <a:avLst/>
          </a:prstGeom>
          <a:solidFill>
            <a:srgbClr val="FFFFFF"/>
          </a:solidFill>
        </p:spPr>
        <p:txBody>
          <a:bodyPr wrap="square" lIns="0" tIns="0" rIns="0" bIns="0" anchor="ctr">
            <a:noAutofit/>
          </a:bodyPr>
          <a:lstStyle/>
          <a:p>
            <a:pPr algn="ctr">
              <a:buNone/>
            </a:pPr>
            <a:r>
              <a:rPr sz="1100" b="0">
                <a:solidFill>
                  <a:srgbClr val="595959"/>
                </a:solidFill>
              </a:rPr>
              <a:t>4W</a:t>
            </a:r>
          </a:p>
        </p:txBody>
      </p:sp>
      <p:sp>
        <p:nvSpPr>
          <p:cNvPr id="34" name="TextBox 33"/>
          <p:cNvSpPr txBox="1"/>
          <p:nvPr/>
        </p:nvSpPr>
        <p:spPr>
          <a:xfrm>
            <a:off x="7616951" y="1938528"/>
            <a:ext cx="402336" cy="210312"/>
          </a:xfrm>
          <a:prstGeom prst="rect">
            <a:avLst/>
          </a:prstGeom>
          <a:solidFill>
            <a:srgbClr val="FFFFFF"/>
          </a:solidFill>
        </p:spPr>
        <p:txBody>
          <a:bodyPr wrap="square" lIns="0" tIns="0" rIns="0" bIns="0" anchor="ctr">
            <a:noAutofit/>
          </a:bodyPr>
          <a:lstStyle/>
          <a:p>
            <a:pPr algn="ctr">
              <a:buNone/>
            </a:pPr>
            <a:r>
              <a:rPr sz="1100" b="0">
                <a:solidFill>
                  <a:srgbClr val="595959"/>
                </a:solidFill>
              </a:rPr>
              <a:t>5W</a:t>
            </a:r>
          </a:p>
        </p:txBody>
      </p:sp>
      <p:sp>
        <p:nvSpPr>
          <p:cNvPr id="35" name="TextBox 34"/>
          <p:cNvSpPr txBox="1"/>
          <p:nvPr/>
        </p:nvSpPr>
        <p:spPr>
          <a:xfrm>
            <a:off x="8480551" y="1938528"/>
            <a:ext cx="402336" cy="210312"/>
          </a:xfrm>
          <a:prstGeom prst="rect">
            <a:avLst/>
          </a:prstGeom>
          <a:solidFill>
            <a:srgbClr val="FFFFFF"/>
          </a:solidFill>
        </p:spPr>
        <p:txBody>
          <a:bodyPr wrap="square" lIns="0" tIns="0" rIns="0" bIns="0" anchor="ctr">
            <a:noAutofit/>
          </a:bodyPr>
          <a:lstStyle/>
          <a:p>
            <a:pPr algn="ctr">
              <a:buNone/>
            </a:pPr>
            <a:r>
              <a:rPr sz="1100" b="0">
                <a:solidFill>
                  <a:srgbClr val="595959"/>
                </a:solidFill>
              </a:rPr>
              <a:t>1W</a:t>
            </a:r>
          </a:p>
        </p:txBody>
      </p:sp>
      <p:sp>
        <p:nvSpPr>
          <p:cNvPr id="36" name="TextBox 35"/>
          <p:cNvSpPr txBox="1"/>
          <p:nvPr/>
        </p:nvSpPr>
        <p:spPr>
          <a:xfrm>
            <a:off x="9344151" y="1938528"/>
            <a:ext cx="402336" cy="210312"/>
          </a:xfrm>
          <a:prstGeom prst="rect">
            <a:avLst/>
          </a:prstGeom>
          <a:solidFill>
            <a:srgbClr val="FFFFFF"/>
          </a:solidFill>
        </p:spPr>
        <p:txBody>
          <a:bodyPr wrap="square" lIns="0" tIns="0" rIns="0" bIns="0" anchor="ctr">
            <a:noAutofit/>
          </a:bodyPr>
          <a:lstStyle/>
          <a:p>
            <a:pPr algn="ctr">
              <a:buNone/>
            </a:pPr>
            <a:r>
              <a:rPr sz="1100" b="0">
                <a:solidFill>
                  <a:srgbClr val="595959"/>
                </a:solidFill>
              </a:rPr>
              <a:t>2W</a:t>
            </a:r>
          </a:p>
        </p:txBody>
      </p:sp>
      <p:sp>
        <p:nvSpPr>
          <p:cNvPr id="37" name="TextBox 36"/>
          <p:cNvSpPr txBox="1"/>
          <p:nvPr/>
        </p:nvSpPr>
        <p:spPr>
          <a:xfrm>
            <a:off x="10207751" y="1938528"/>
            <a:ext cx="402336" cy="210312"/>
          </a:xfrm>
          <a:prstGeom prst="rect">
            <a:avLst/>
          </a:prstGeom>
          <a:solidFill>
            <a:srgbClr val="FFFFFF"/>
          </a:solidFill>
        </p:spPr>
        <p:txBody>
          <a:bodyPr wrap="square" lIns="0" tIns="0" rIns="0" bIns="0" anchor="ctr">
            <a:noAutofit/>
          </a:bodyPr>
          <a:lstStyle/>
          <a:p>
            <a:pPr algn="ctr">
              <a:buNone/>
            </a:pPr>
            <a:r>
              <a:rPr sz="1100" b="0">
                <a:solidFill>
                  <a:srgbClr val="595959"/>
                </a:solidFill>
              </a:rPr>
              <a:t>3W</a:t>
            </a:r>
          </a:p>
        </p:txBody>
      </p:sp>
      <p:sp>
        <p:nvSpPr>
          <p:cNvPr id="38" name="TextBox 37"/>
          <p:cNvSpPr txBox="1"/>
          <p:nvPr/>
        </p:nvSpPr>
        <p:spPr>
          <a:xfrm>
            <a:off x="11071351" y="1938528"/>
            <a:ext cx="402336" cy="210312"/>
          </a:xfrm>
          <a:prstGeom prst="rect">
            <a:avLst/>
          </a:prstGeom>
          <a:solidFill>
            <a:srgbClr val="FFFFFF"/>
          </a:solidFill>
        </p:spPr>
        <p:txBody>
          <a:bodyPr wrap="square" lIns="0" tIns="0" rIns="0" bIns="0" anchor="ctr">
            <a:noAutofit/>
          </a:bodyPr>
          <a:lstStyle/>
          <a:p>
            <a:pPr algn="ctr">
              <a:buNone/>
            </a:pPr>
            <a:r>
              <a:rPr sz="1100" b="0">
                <a:solidFill>
                  <a:srgbClr val="595959"/>
                </a:solidFill>
              </a:rPr>
              <a:t>4W</a:t>
            </a:r>
          </a:p>
        </p:txBody>
      </p:sp>
      <p:sp>
        <p:nvSpPr>
          <p:cNvPr id="39" name="TextBox 38"/>
          <p:cNvSpPr txBox="1"/>
          <p:nvPr/>
        </p:nvSpPr>
        <p:spPr>
          <a:xfrm>
            <a:off x="548640" y="2167128"/>
            <a:ext cx="1920240" cy="566928"/>
          </a:xfrm>
          <a:prstGeom prst="rect">
            <a:avLst/>
          </a:prstGeom>
          <a:noFill/>
        </p:spPr>
        <p:txBody>
          <a:bodyPr wrap="square" lIns="0" tIns="0" rIns="0" bIns="0" anchor="ctr">
            <a:noAutofit/>
          </a:bodyPr>
          <a:lstStyle/>
          <a:p>
            <a:pPr algn="l">
              <a:buNone/>
            </a:pPr>
            <a:r>
              <a:rPr sz="1200" b="1">
                <a:solidFill>
                  <a:srgbClr val="262626"/>
                </a:solidFill>
              </a:rPr>
              <a:t>マイルストーン</a:t>
            </a:r>
          </a:p>
        </p:txBody>
      </p:sp>
      <p:sp>
        <p:nvSpPr>
          <p:cNvPr id="40" name="Rectangle 39"/>
          <p:cNvSpPr/>
          <p:nvPr/>
        </p:nvSpPr>
        <p:spPr>
          <a:xfrm>
            <a:off x="548640" y="2990088"/>
            <a:ext cx="384048" cy="310896"/>
          </a:xfrm>
          <a:prstGeom prst="rect">
            <a:avLst/>
          </a:prstGeom>
          <a:solidFill>
            <a:srgbClr val="404040"/>
          </a:solidFill>
          <a:ln>
            <a:noFill/>
          </a:ln>
        </p:spPr>
        <p:txBody>
          <a:bodyPr rtlCol="0" anchor="ctr" wrap="square" lIns="54864" tIns="27432" rIns="54864" bIns="27432">
            <a:noAutofit/>
          </a:bodyPr>
          <a:lstStyle/>
          <a:p>
            <a:pPr algn="ctr">
              <a:buNone/>
            </a:pPr>
            <a:r>
              <a:rPr sz="1100" b="1">
                <a:solidFill>
                  <a:srgbClr val="FFFFFF"/>
                </a:solidFill>
              </a:rPr>
              <a:t>B1</a:t>
            </a:r>
          </a:p>
        </p:txBody>
      </p:sp>
      <p:sp>
        <p:nvSpPr>
          <p:cNvPr id="41" name="Rectangle 40"/>
          <p:cNvSpPr/>
          <p:nvPr/>
        </p:nvSpPr>
        <p:spPr>
          <a:xfrm>
            <a:off x="548640" y="3355848"/>
            <a:ext cx="384048" cy="310896"/>
          </a:xfrm>
          <a:prstGeom prst="rect">
            <a:avLst/>
          </a:prstGeom>
          <a:solidFill>
            <a:srgbClr val="404040"/>
          </a:solidFill>
          <a:ln>
            <a:noFill/>
          </a:ln>
        </p:spPr>
        <p:txBody>
          <a:bodyPr rtlCol="0" anchor="ctr" wrap="square" lIns="54864" tIns="27432" rIns="54864" bIns="27432">
            <a:noAutofit/>
          </a:bodyPr>
          <a:lstStyle/>
          <a:p>
            <a:pPr algn="ctr">
              <a:buNone/>
            </a:pPr>
            <a:r>
              <a:rPr sz="1100" b="1">
                <a:solidFill>
                  <a:srgbClr val="FFFFFF"/>
                </a:solidFill>
              </a:rPr>
              <a:t>B2</a:t>
            </a:r>
          </a:p>
        </p:txBody>
      </p:sp>
      <p:sp>
        <p:nvSpPr>
          <p:cNvPr id="42" name="Rectangle 41"/>
          <p:cNvSpPr/>
          <p:nvPr/>
        </p:nvSpPr>
        <p:spPr>
          <a:xfrm>
            <a:off x="548640" y="3721608"/>
            <a:ext cx="384048" cy="310896"/>
          </a:xfrm>
          <a:prstGeom prst="rect">
            <a:avLst/>
          </a:prstGeom>
          <a:solidFill>
            <a:srgbClr val="404040"/>
          </a:solidFill>
          <a:ln>
            <a:noFill/>
          </a:ln>
        </p:spPr>
        <p:txBody>
          <a:bodyPr rtlCol="0" anchor="ctr" wrap="square" lIns="54864" tIns="27432" rIns="54864" bIns="27432">
            <a:noAutofit/>
          </a:bodyPr>
          <a:lstStyle/>
          <a:p>
            <a:pPr algn="ctr">
              <a:buNone/>
            </a:pPr>
            <a:r>
              <a:rPr sz="1100" b="1">
                <a:solidFill>
                  <a:srgbClr val="FFFFFF"/>
                </a:solidFill>
              </a:rPr>
              <a:t>B3</a:t>
            </a:r>
          </a:p>
        </p:txBody>
      </p:sp>
      <p:sp>
        <p:nvSpPr>
          <p:cNvPr id="43" name="TextBox 42"/>
          <p:cNvSpPr txBox="1"/>
          <p:nvPr/>
        </p:nvSpPr>
        <p:spPr>
          <a:xfrm>
            <a:off x="1024128" y="2734056"/>
            <a:ext cx="1463040" cy="1481328"/>
          </a:xfrm>
          <a:prstGeom prst="rect">
            <a:avLst/>
          </a:prstGeom>
          <a:noFill/>
        </p:spPr>
        <p:txBody>
          <a:bodyPr wrap="square" lIns="0" tIns="0" rIns="0" bIns="0" anchor="ctr">
            <a:noAutofit/>
          </a:bodyPr>
          <a:lstStyle/>
          <a:p>
            <a:pPr algn="l">
              <a:buNone/>
            </a:pPr>
            <a:r>
              <a:rPr sz="1200" b="1">
                <a:solidFill>
                  <a:srgbClr val="262626"/>
                </a:solidFill>
              </a:rPr>
              <a:t>既存Quick-Win</a:t>
            </a:r>
          </a:p>
          <a:p>
            <a:pPr algn="l">
              <a:buNone/>
            </a:pPr>
            <a:r>
              <a:rPr sz="1200" b="1">
                <a:solidFill>
                  <a:srgbClr val="262626"/>
                </a:solidFill>
              </a:rPr>
              <a:t>アプリの品質対応</a:t>
            </a:r>
          </a:p>
        </p:txBody>
      </p:sp>
      <p:sp>
        <p:nvSpPr>
          <p:cNvPr id="44" name="Rectangle 43"/>
          <p:cNvSpPr/>
          <p:nvPr/>
        </p:nvSpPr>
        <p:spPr>
          <a:xfrm>
            <a:off x="548640" y="4626864"/>
            <a:ext cx="384048" cy="310896"/>
          </a:xfrm>
          <a:prstGeom prst="rect">
            <a:avLst/>
          </a:prstGeom>
          <a:solidFill>
            <a:srgbClr val="404040"/>
          </a:solidFill>
          <a:ln>
            <a:noFill/>
          </a:ln>
        </p:spPr>
        <p:txBody>
          <a:bodyPr rtlCol="0" anchor="ctr" wrap="square" lIns="54864" tIns="27432" rIns="54864" bIns="27432">
            <a:noAutofit/>
          </a:bodyPr>
          <a:lstStyle/>
          <a:p>
            <a:pPr algn="ctr">
              <a:buNone/>
            </a:pPr>
            <a:r>
              <a:rPr sz="1100" b="1">
                <a:solidFill>
                  <a:srgbClr val="FFFFFF"/>
                </a:solidFill>
              </a:rPr>
              <a:t>B4</a:t>
            </a:r>
          </a:p>
        </p:txBody>
      </p:sp>
      <p:sp>
        <p:nvSpPr>
          <p:cNvPr id="45" name="TextBox 44"/>
          <p:cNvSpPr txBox="1"/>
          <p:nvPr/>
        </p:nvSpPr>
        <p:spPr>
          <a:xfrm>
            <a:off x="1024128" y="4215384"/>
            <a:ext cx="1463040" cy="1133855"/>
          </a:xfrm>
          <a:prstGeom prst="rect">
            <a:avLst/>
          </a:prstGeom>
          <a:noFill/>
        </p:spPr>
        <p:txBody>
          <a:bodyPr wrap="square" lIns="0" tIns="0" rIns="0" bIns="0" anchor="ctr">
            <a:noAutofit/>
          </a:bodyPr>
          <a:lstStyle/>
          <a:p>
            <a:pPr algn="l">
              <a:buNone/>
            </a:pPr>
            <a:r>
              <a:rPr sz="1200" b="1">
                <a:solidFill>
                  <a:srgbClr val="262626"/>
                </a:solidFill>
              </a:rPr>
              <a:t>改修と引継ぎ</a:t>
            </a:r>
          </a:p>
          <a:p>
            <a:pPr algn="l">
              <a:buNone/>
            </a:pPr>
            <a:r>
              <a:rPr sz="1200" b="1">
                <a:solidFill>
                  <a:srgbClr val="262626"/>
                </a:solidFill>
              </a:rPr>
              <a:t>（検証環境）</a:t>
            </a:r>
          </a:p>
        </p:txBody>
      </p:sp>
      <p:sp>
        <p:nvSpPr>
          <p:cNvPr id="46" name="TextBox 45"/>
          <p:cNvSpPr txBox="1"/>
          <p:nvPr/>
        </p:nvSpPr>
        <p:spPr>
          <a:xfrm>
            <a:off x="548640" y="5349240"/>
            <a:ext cx="1920240" cy="438912"/>
          </a:xfrm>
          <a:prstGeom prst="rect">
            <a:avLst/>
          </a:prstGeom>
          <a:noFill/>
        </p:spPr>
        <p:txBody>
          <a:bodyPr wrap="square" lIns="0" tIns="0" rIns="0" bIns="0" anchor="ctr">
            <a:noAutofit/>
          </a:bodyPr>
          <a:lstStyle/>
          <a:p>
            <a:pPr algn="l">
              <a:buNone/>
            </a:pPr>
            <a:r>
              <a:rPr sz="1200" b="1">
                <a:solidFill>
                  <a:srgbClr val="262626"/>
                </a:solidFill>
              </a:rPr>
              <a:t>共通</a:t>
            </a:r>
          </a:p>
        </p:txBody>
      </p:sp>
      <p:sp>
        <p:nvSpPr>
          <p:cNvPr id="47" name="TextBox 46"/>
          <p:cNvSpPr txBox="1"/>
          <p:nvPr/>
        </p:nvSpPr>
        <p:spPr>
          <a:xfrm>
            <a:off x="2514600" y="2734056"/>
            <a:ext cx="1389888" cy="548639"/>
          </a:xfrm>
          <a:prstGeom prst="rect">
            <a:avLst/>
          </a:prstGeom>
          <a:noFill/>
        </p:spPr>
        <p:txBody>
          <a:bodyPr wrap="square" lIns="0" tIns="0" rIns="0" bIns="0" anchor="ctr">
            <a:noAutofit/>
          </a:bodyPr>
          <a:lstStyle/>
          <a:p>
            <a:pPr algn="ctr">
              <a:buNone/>
            </a:pPr>
            <a:r>
              <a:rPr sz="1100" b="0">
                <a:solidFill>
                  <a:srgbClr val="595959"/>
                </a:solidFill>
              </a:rPr>
              <a:t>貴社・ITEC様</a:t>
            </a:r>
          </a:p>
          <a:p>
            <a:pPr algn="ctr">
              <a:buNone/>
            </a:pPr>
            <a:r>
              <a:rPr sz="1100" b="0">
                <a:solidFill>
                  <a:srgbClr val="595959"/>
                </a:solidFill>
              </a:rPr>
              <a:t>主体</a:t>
            </a:r>
          </a:p>
        </p:txBody>
      </p:sp>
      <p:sp>
        <p:nvSpPr>
          <p:cNvPr id="48" name="TextBox 47"/>
          <p:cNvSpPr txBox="1"/>
          <p:nvPr/>
        </p:nvSpPr>
        <p:spPr>
          <a:xfrm>
            <a:off x="2514600" y="3282696"/>
            <a:ext cx="1389888" cy="932688"/>
          </a:xfrm>
          <a:prstGeom prst="rect">
            <a:avLst/>
          </a:prstGeom>
          <a:noFill/>
        </p:spPr>
        <p:txBody>
          <a:bodyPr wrap="square" lIns="0" tIns="0" rIns="0" bIns="0" anchor="ctr">
            <a:noAutofit/>
          </a:bodyPr>
          <a:lstStyle/>
          <a:p>
            <a:pPr algn="ctr">
              <a:buNone/>
            </a:pPr>
            <a:r>
              <a:rPr sz="1100" b="0">
                <a:solidFill>
                  <a:srgbClr val="595959"/>
                </a:solidFill>
              </a:rPr>
              <a:t>弊社</a:t>
            </a:r>
          </a:p>
          <a:p>
            <a:pPr algn="ctr">
              <a:buNone/>
            </a:pPr>
            <a:r>
              <a:rPr sz="1100" b="0">
                <a:solidFill>
                  <a:srgbClr val="595959"/>
                </a:solidFill>
              </a:rPr>
              <a:t>助言・技術支援</a:t>
            </a:r>
          </a:p>
        </p:txBody>
      </p:sp>
      <p:sp>
        <p:nvSpPr>
          <p:cNvPr id="49" name="TextBox 48"/>
          <p:cNvSpPr txBox="1"/>
          <p:nvPr/>
        </p:nvSpPr>
        <p:spPr>
          <a:xfrm>
            <a:off x="2514600" y="4215384"/>
            <a:ext cx="1389888" cy="566928"/>
          </a:xfrm>
          <a:prstGeom prst="rect">
            <a:avLst/>
          </a:prstGeom>
          <a:noFill/>
        </p:spPr>
        <p:txBody>
          <a:bodyPr wrap="square" lIns="0" tIns="0" rIns="0" bIns="0" anchor="ctr">
            <a:noAutofit/>
          </a:bodyPr>
          <a:lstStyle/>
          <a:p>
            <a:pPr algn="ctr">
              <a:buNone/>
            </a:pPr>
            <a:r>
              <a:rPr sz="1100" b="0">
                <a:solidFill>
                  <a:srgbClr val="595959"/>
                </a:solidFill>
              </a:rPr>
              <a:t>弊社</a:t>
            </a:r>
          </a:p>
          <a:p>
            <a:pPr algn="ctr">
              <a:buNone/>
            </a:pPr>
            <a:r>
              <a:rPr sz="1100" b="0">
                <a:solidFill>
                  <a:srgbClr val="595959"/>
                </a:solidFill>
              </a:rPr>
              <a:t>主体</a:t>
            </a:r>
          </a:p>
        </p:txBody>
      </p:sp>
      <p:sp>
        <p:nvSpPr>
          <p:cNvPr id="50" name="TextBox 49"/>
          <p:cNvSpPr txBox="1"/>
          <p:nvPr/>
        </p:nvSpPr>
        <p:spPr>
          <a:xfrm>
            <a:off x="2514600" y="4782312"/>
            <a:ext cx="1389888" cy="566927"/>
          </a:xfrm>
          <a:prstGeom prst="rect">
            <a:avLst/>
          </a:prstGeom>
          <a:noFill/>
        </p:spPr>
        <p:txBody>
          <a:bodyPr wrap="square" lIns="0" tIns="0" rIns="0" bIns="0" anchor="ctr">
            <a:noAutofit/>
          </a:bodyPr>
          <a:lstStyle/>
          <a:p>
            <a:pPr algn="ctr">
              <a:buNone/>
            </a:pPr>
            <a:r>
              <a:rPr sz="1100" b="0">
                <a:solidFill>
                  <a:srgbClr val="595959"/>
                </a:solidFill>
              </a:rPr>
              <a:t>貴社・ITEC様</a:t>
            </a:r>
          </a:p>
          <a:p>
            <a:pPr algn="ctr">
              <a:buNone/>
            </a:pPr>
            <a:r>
              <a:rPr sz="1100" b="0">
                <a:solidFill>
                  <a:srgbClr val="595959"/>
                </a:solidFill>
              </a:rPr>
              <a:t>確認・取り込み</a:t>
            </a:r>
          </a:p>
        </p:txBody>
      </p:sp>
      <p:sp>
        <p:nvSpPr>
          <p:cNvPr id="51" name="TextBox 50"/>
          <p:cNvSpPr txBox="1"/>
          <p:nvPr/>
        </p:nvSpPr>
        <p:spPr>
          <a:xfrm>
            <a:off x="2514600" y="5349240"/>
            <a:ext cx="1389888" cy="438912"/>
          </a:xfrm>
          <a:prstGeom prst="rect">
            <a:avLst/>
          </a:prstGeom>
          <a:noFill/>
        </p:spPr>
        <p:txBody>
          <a:bodyPr wrap="square" lIns="0" tIns="0" rIns="0" bIns="0" anchor="ctr">
            <a:noAutofit/>
          </a:bodyPr>
          <a:lstStyle/>
          <a:p>
            <a:pPr algn="ctr">
              <a:buNone/>
            </a:pPr>
            <a:r>
              <a:rPr sz="1100" b="0">
                <a:solidFill>
                  <a:srgbClr val="595959"/>
                </a:solidFill>
              </a:rPr>
              <a:t>貴社 運営／弊社 資料</a:t>
            </a:r>
          </a:p>
        </p:txBody>
      </p:sp>
      <p:sp>
        <p:nvSpPr>
          <p:cNvPr id="52" name="Pentagon 51"/>
          <p:cNvSpPr/>
          <p:nvPr/>
        </p:nvSpPr>
        <p:spPr>
          <a:xfrm>
            <a:off x="3959352" y="2807208"/>
            <a:ext cx="808735" cy="402336"/>
          </a:xfrm>
          <a:prstGeom prst="homePlate">
            <a:avLst>
              <a:gd name="adj" fmla="val 15909"/>
            </a:avLst>
          </a:prstGeom>
          <a:solidFill>
            <a:srgbClr val="E6E6E6"/>
          </a:solidFill>
          <a:ln>
            <a:noFill/>
          </a:ln>
        </p:spPr>
        <p:txBody>
          <a:bodyPr rtlCol="0" anchor="ctr" wrap="square" lIns="27432" tIns="9144" rIns="36576" bIns="9144">
            <a:noAutofit/>
          </a:bodyPr>
          <a:lstStyle/>
          <a:p>
            <a:pPr algn="ctr">
              <a:buNone/>
            </a:pPr>
            <a:r>
              <a:rPr sz="1050" b="0">
                <a:solidFill>
                  <a:srgbClr val="262626"/>
                </a:solidFill>
              </a:rPr>
              <a:t>移行判定</a:t>
            </a:r>
          </a:p>
          <a:p>
            <a:pPr algn="ctr">
              <a:buNone/>
            </a:pPr>
            <a:r>
              <a:rPr sz="1050" b="0">
                <a:solidFill>
                  <a:srgbClr val="262626"/>
                </a:solidFill>
              </a:rPr>
              <a:t>→公開</a:t>
            </a:r>
          </a:p>
        </p:txBody>
      </p:sp>
      <p:sp>
        <p:nvSpPr>
          <p:cNvPr id="53" name="Pentagon 52"/>
          <p:cNvSpPr/>
          <p:nvPr/>
        </p:nvSpPr>
        <p:spPr>
          <a:xfrm>
            <a:off x="4822952" y="2807208"/>
            <a:ext cx="3399536" cy="402336"/>
          </a:xfrm>
          <a:prstGeom prst="homePlate">
            <a:avLst>
              <a:gd name="adj" fmla="val 35000"/>
            </a:avLst>
          </a:prstGeom>
          <a:solidFill>
            <a:srgbClr val="E6E6E6"/>
          </a:solidFill>
          <a:ln>
            <a:noFill/>
          </a:ln>
        </p:spPr>
        <p:txBody>
          <a:bodyPr rtlCol="0" anchor="ctr" wrap="square" lIns="54864" tIns="18288" rIns="109728" bIns="18288">
            <a:noAutofit/>
          </a:bodyPr>
          <a:lstStyle/>
          <a:p>
            <a:pPr algn="ctr">
              <a:buNone/>
            </a:pPr>
            <a:r>
              <a:rPr sz="1100" b="0">
                <a:solidFill>
                  <a:srgbClr val="262626"/>
                </a:solidFill>
              </a:rPr>
              <a:t>初版の運用・問合せ対応（BX推進部・一部役員）</a:t>
            </a:r>
          </a:p>
        </p:txBody>
      </p:sp>
      <p:sp>
        <p:nvSpPr>
          <p:cNvPr id="54" name="Pentagon 53"/>
          <p:cNvSpPr/>
          <p:nvPr/>
        </p:nvSpPr>
        <p:spPr>
          <a:xfrm>
            <a:off x="8277351" y="2807208"/>
            <a:ext cx="3399536" cy="402336"/>
          </a:xfrm>
          <a:prstGeom prst="homePlate">
            <a:avLst>
              <a:gd name="adj" fmla="val 35000"/>
            </a:avLst>
          </a:prstGeom>
          <a:solidFill>
            <a:srgbClr val="E6E6E6"/>
          </a:solidFill>
          <a:ln>
            <a:noFill/>
          </a:ln>
        </p:spPr>
        <p:txBody>
          <a:bodyPr rtlCol="0" anchor="ctr" wrap="square" lIns="54864" tIns="18288" rIns="109728" bIns="18288">
            <a:noAutofit/>
          </a:bodyPr>
          <a:lstStyle/>
          <a:p>
            <a:pPr algn="ctr">
              <a:buNone/>
            </a:pPr>
            <a:r>
              <a:rPr sz="1100" b="0">
                <a:solidFill>
                  <a:srgbClr val="262626"/>
                </a:solidFill>
              </a:rPr>
              <a:t>利用推進・利用者評価の収集／権限・運用の設計</a:t>
            </a:r>
          </a:p>
        </p:txBody>
      </p:sp>
      <p:sp>
        <p:nvSpPr>
          <p:cNvPr id="55" name="Pentagon 54"/>
          <p:cNvSpPr/>
          <p:nvPr/>
        </p:nvSpPr>
        <p:spPr>
          <a:xfrm>
            <a:off x="3959352" y="3337560"/>
            <a:ext cx="808735" cy="384048"/>
          </a:xfrm>
          <a:prstGeom prst="homePlate">
            <a:avLst>
              <a:gd name="adj" fmla="val 16666"/>
            </a:avLst>
          </a:prstGeom>
          <a:solidFill>
            <a:srgbClr val="FFFFFF"/>
          </a:solidFill>
          <a:ln w="12700">
            <a:solidFill>
              <a:srgbClr val="7F7F7F"/>
            </a:solidFill>
            <a:prstDash val="dash"/>
          </a:ln>
        </p:spPr>
        <p:txBody>
          <a:bodyPr rtlCol="0" anchor="ctr" wrap="square" lIns="18288" tIns="9144" rIns="27432" bIns="9144">
            <a:noAutofit/>
          </a:bodyPr>
          <a:lstStyle/>
          <a:p>
            <a:pPr algn="ctr">
              <a:buNone/>
            </a:pPr>
            <a:r>
              <a:rPr sz="950" b="1">
                <a:solidFill>
                  <a:srgbClr val="404040"/>
                </a:solidFill>
              </a:rPr>
              <a:t>B1</a:t>
            </a:r>
          </a:p>
          <a:p>
            <a:pPr algn="ctr">
              <a:buNone/>
            </a:pPr>
            <a:r>
              <a:rPr sz="950" b="1">
                <a:solidFill>
                  <a:srgbClr val="404040"/>
                </a:solidFill>
              </a:rPr>
              <a:t>公開前支援</a:t>
            </a:r>
          </a:p>
        </p:txBody>
      </p:sp>
      <p:sp>
        <p:nvSpPr>
          <p:cNvPr id="56" name="Pentagon 55"/>
          <p:cNvSpPr/>
          <p:nvPr/>
        </p:nvSpPr>
        <p:spPr>
          <a:xfrm>
            <a:off x="4822952" y="3337560"/>
            <a:ext cx="3399536" cy="384048"/>
          </a:xfrm>
          <a:prstGeom prst="homePlate">
            <a:avLst>
              <a:gd name="adj" fmla="val 35000"/>
            </a:avLst>
          </a:prstGeom>
          <a:solidFill>
            <a:srgbClr val="FFFFFF"/>
          </a:solidFill>
          <a:ln w="12700">
            <a:solidFill>
              <a:srgbClr val="7F7F7F"/>
            </a:solidFill>
            <a:prstDash val="dash"/>
          </a:ln>
        </p:spPr>
        <p:txBody>
          <a:bodyPr rtlCol="0" anchor="ctr" wrap="square" lIns="54864" tIns="18288" rIns="109728" bIns="18288">
            <a:noAutofit/>
          </a:bodyPr>
          <a:lstStyle/>
          <a:p>
            <a:pPr algn="ctr">
              <a:buNone/>
            </a:pPr>
            <a:r>
              <a:rPr sz="1100" b="1">
                <a:solidFill>
                  <a:srgbClr val="404040"/>
                </a:solidFill>
              </a:rPr>
              <a:t>B2 初版公開フォロー</a:t>
            </a:r>
          </a:p>
        </p:txBody>
      </p:sp>
      <p:sp>
        <p:nvSpPr>
          <p:cNvPr id="57" name="Pentagon 56"/>
          <p:cNvSpPr/>
          <p:nvPr/>
        </p:nvSpPr>
        <p:spPr>
          <a:xfrm>
            <a:off x="5686552" y="3776472"/>
            <a:ext cx="5990336" cy="384048"/>
          </a:xfrm>
          <a:prstGeom prst="homePlate">
            <a:avLst>
              <a:gd name="adj" fmla="val 35000"/>
            </a:avLst>
          </a:prstGeom>
          <a:solidFill>
            <a:srgbClr val="FFFFFF"/>
          </a:solidFill>
          <a:ln w="12700">
            <a:solidFill>
              <a:srgbClr val="7F7F7F"/>
            </a:solidFill>
            <a:prstDash val="dash"/>
          </a:ln>
        </p:spPr>
        <p:txBody>
          <a:bodyPr rtlCol="0" anchor="ctr" wrap="square" lIns="54864" tIns="18288" rIns="109728" bIns="18288">
            <a:noAutofit/>
          </a:bodyPr>
          <a:lstStyle/>
          <a:p>
            <a:pPr algn="ctr">
              <a:buNone/>
            </a:pPr>
            <a:r>
              <a:rPr sz="1100" b="1">
                <a:solidFill>
                  <a:srgbClr val="404040"/>
                </a:solidFill>
              </a:rPr>
              <a:t>B3 品質評価・定着支援（定点評価、AI回答の粒度・品質のチューニング、改修優先順位）</a:t>
            </a:r>
          </a:p>
        </p:txBody>
      </p:sp>
      <p:sp>
        <p:nvSpPr>
          <p:cNvPr id="58" name="Pentagon 57"/>
          <p:cNvSpPr/>
          <p:nvPr/>
        </p:nvSpPr>
        <p:spPr>
          <a:xfrm>
            <a:off x="3959352" y="4279392"/>
            <a:ext cx="4263136" cy="438912"/>
          </a:xfrm>
          <a:prstGeom prst="homePlate">
            <a:avLst>
              <a:gd name="adj" fmla="val 35000"/>
            </a:avLst>
          </a:prstGeom>
          <a:solidFill>
            <a:srgbClr val="046A38"/>
          </a:solidFill>
          <a:ln>
            <a:noFill/>
          </a:ln>
        </p:spPr>
        <p:txBody>
          <a:bodyPr rtlCol="0" anchor="ctr" wrap="square" lIns="54864" tIns="18288" rIns="109728" bIns="18288">
            <a:noAutofit/>
          </a:bodyPr>
          <a:lstStyle/>
          <a:p>
            <a:pPr algn="ctr">
              <a:buNone/>
            </a:pPr>
            <a:r>
              <a:rPr sz="1100" b="1">
                <a:solidFill>
                  <a:srgbClr val="FFFFFF"/>
                </a:solidFill>
              </a:rPr>
              <a:t>B4 検証環境での改修（9/11版以降の残要望・新規要望）</a:t>
            </a:r>
          </a:p>
          <a:p>
            <a:pPr algn="ctr">
              <a:buNone/>
            </a:pPr>
            <a:r>
              <a:rPr sz="1100" b="1">
                <a:solidFill>
                  <a:srgbClr val="FFFFFF"/>
                </a:solidFill>
              </a:rPr>
              <a:t>と改修台帳の管理・引継ぎ</a:t>
            </a:r>
          </a:p>
        </p:txBody>
      </p:sp>
      <p:sp>
        <p:nvSpPr>
          <p:cNvPr id="59" name="Pentagon 58"/>
          <p:cNvSpPr/>
          <p:nvPr/>
        </p:nvSpPr>
        <p:spPr>
          <a:xfrm>
            <a:off x="8277351" y="4306824"/>
            <a:ext cx="3399536" cy="384048"/>
          </a:xfrm>
          <a:prstGeom prst="homePlate">
            <a:avLst>
              <a:gd name="adj" fmla="val 35000"/>
            </a:avLst>
          </a:prstGeom>
          <a:solidFill>
            <a:srgbClr val="FFFFFF"/>
          </a:solidFill>
          <a:ln w="12700">
            <a:solidFill>
              <a:srgbClr val="BFBFBF"/>
            </a:solidFill>
            <a:prstDash val="dash"/>
          </a:ln>
        </p:spPr>
        <p:txBody>
          <a:bodyPr rtlCol="0" anchor="ctr" wrap="square" lIns="54864" tIns="18288" rIns="109728" bIns="18288">
            <a:noAutofit/>
          </a:bodyPr>
          <a:lstStyle/>
          <a:p>
            <a:pPr algn="ctr">
              <a:buNone/>
            </a:pPr>
            <a:r>
              <a:rPr sz="1100" b="0">
                <a:solidFill>
                  <a:srgbClr val="595959"/>
                </a:solidFill>
              </a:rPr>
              <a:t>11月以降に発生する場合は相談のうえ対応</a:t>
            </a:r>
          </a:p>
        </p:txBody>
      </p:sp>
      <p:sp>
        <p:nvSpPr>
          <p:cNvPr id="60" name="Pentagon 59"/>
          <p:cNvSpPr/>
          <p:nvPr/>
        </p:nvSpPr>
        <p:spPr>
          <a:xfrm>
            <a:off x="3959352" y="5413248"/>
            <a:ext cx="7717536" cy="310896"/>
          </a:xfrm>
          <a:prstGeom prst="homePlate">
            <a:avLst>
              <a:gd name="adj" fmla="val 35000"/>
            </a:avLst>
          </a:prstGeom>
          <a:solidFill>
            <a:srgbClr val="FFFFFF"/>
          </a:solidFill>
          <a:ln w="12700">
            <a:solidFill>
              <a:srgbClr val="BFBFBF"/>
            </a:solidFill>
            <a:prstDash val="dash"/>
          </a:ln>
        </p:spPr>
        <p:txBody>
          <a:bodyPr rtlCol="0" anchor="ctr" wrap="square" lIns="54864" tIns="18288" rIns="109728" bIns="18288">
            <a:noAutofit/>
          </a:bodyPr>
          <a:lstStyle/>
          <a:p>
            <a:pPr algn="ctr">
              <a:buNone/>
            </a:pPr>
            <a:r>
              <a:rPr sz="1100" b="0">
                <a:solidFill>
                  <a:srgbClr val="595959"/>
                </a:solidFill>
              </a:rPr>
              <a:t>週次定例（進捗・課題・改修台帳の確認）</a:t>
            </a:r>
          </a:p>
        </p:txBody>
      </p:sp>
      <p:sp>
        <p:nvSpPr>
          <p:cNvPr id="61" name="Diamond 60"/>
          <p:cNvSpPr/>
          <p:nvPr/>
        </p:nvSpPr>
        <p:spPr>
          <a:xfrm>
            <a:off x="5972048" y="4946904"/>
            <a:ext cx="237744" cy="237744"/>
          </a:xfrm>
          <a:prstGeom prst="diamond">
            <a:avLst/>
          </a:prstGeom>
          <a:solidFill>
            <a:srgbClr val="FFFFFF"/>
          </a:solidFill>
          <a:ln w="15875">
            <a:solidFill>
              <a:srgbClr val="404040"/>
            </a:solidFill>
          </a:ln>
        </p:spPr>
        <p:txBody>
          <a:bodyPr rtlCol="0" anchor="ctr" wrap="square" lIns="54864" tIns="27432" rIns="54864" bIns="27432">
            <a:noAutofit/>
          </a:bodyPr>
          <a:lstStyle/>
          <a:p>
            <a:pPr algn="ctr"/>
          </a:p>
        </p:txBody>
      </p:sp>
      <p:sp>
        <p:nvSpPr>
          <p:cNvPr id="62" name="Diamond 61"/>
          <p:cNvSpPr/>
          <p:nvPr/>
        </p:nvSpPr>
        <p:spPr>
          <a:xfrm>
            <a:off x="7699248" y="4946904"/>
            <a:ext cx="237744" cy="237744"/>
          </a:xfrm>
          <a:prstGeom prst="diamond">
            <a:avLst/>
          </a:prstGeom>
          <a:solidFill>
            <a:srgbClr val="FFFFFF"/>
          </a:solidFill>
          <a:ln w="15875">
            <a:solidFill>
              <a:srgbClr val="404040"/>
            </a:solidFill>
          </a:ln>
        </p:spPr>
        <p:txBody>
          <a:bodyPr rtlCol="0" anchor="ctr" wrap="square" lIns="54864" tIns="27432" rIns="54864" bIns="27432">
            <a:noAutofit/>
          </a:bodyPr>
          <a:lstStyle/>
          <a:p>
            <a:pPr algn="ctr"/>
          </a:p>
        </p:txBody>
      </p:sp>
      <p:sp>
        <p:nvSpPr>
          <p:cNvPr id="63" name="Diamond 62"/>
          <p:cNvSpPr/>
          <p:nvPr/>
        </p:nvSpPr>
        <p:spPr>
          <a:xfrm>
            <a:off x="4704080" y="2231136"/>
            <a:ext cx="182880" cy="182880"/>
          </a:xfrm>
          <a:prstGeom prst="diamond">
            <a:avLst/>
          </a:prstGeom>
          <a:solidFill>
            <a:srgbClr val="404040"/>
          </a:solidFill>
          <a:ln>
            <a:noFill/>
          </a:ln>
        </p:spPr>
        <p:txBody>
          <a:bodyPr rtlCol="0" anchor="ctr" wrap="square" lIns="54864" tIns="27432" rIns="54864" bIns="27432">
            <a:noAutofit/>
          </a:bodyPr>
          <a:lstStyle/>
          <a:p>
            <a:pPr algn="ctr"/>
          </a:p>
        </p:txBody>
      </p:sp>
      <p:sp>
        <p:nvSpPr>
          <p:cNvPr id="64" name="TextBox 63"/>
          <p:cNvSpPr txBox="1"/>
          <p:nvPr/>
        </p:nvSpPr>
        <p:spPr>
          <a:xfrm>
            <a:off x="4923536" y="2203704"/>
            <a:ext cx="1638934" cy="237744"/>
          </a:xfrm>
          <a:prstGeom prst="rect">
            <a:avLst/>
          </a:prstGeom>
          <a:solidFill>
            <a:srgbClr val="FFFFFF"/>
          </a:solidFill>
        </p:spPr>
        <p:txBody>
          <a:bodyPr wrap="square" lIns="0" tIns="0" rIns="0" bIns="0" anchor="ctr">
            <a:noAutofit/>
          </a:bodyPr>
          <a:lstStyle/>
          <a:p>
            <a:pPr algn="l">
              <a:buNone/>
            </a:pPr>
            <a:r>
              <a:rPr sz="1100" b="1">
                <a:solidFill>
                  <a:srgbClr val="404040"/>
                </a:solidFill>
              </a:rPr>
              <a:t>10/5 初版セキュア公開</a:t>
            </a:r>
          </a:p>
        </p:txBody>
      </p:sp>
      <p:sp>
        <p:nvSpPr>
          <p:cNvPr id="65" name="Diamond 64"/>
          <p:cNvSpPr/>
          <p:nvPr/>
        </p:nvSpPr>
        <p:spPr>
          <a:xfrm>
            <a:off x="8158480" y="2231136"/>
            <a:ext cx="182880" cy="182880"/>
          </a:xfrm>
          <a:prstGeom prst="diamond">
            <a:avLst/>
          </a:prstGeom>
          <a:solidFill>
            <a:srgbClr val="404040"/>
          </a:solidFill>
          <a:ln>
            <a:noFill/>
          </a:ln>
        </p:spPr>
        <p:txBody>
          <a:bodyPr rtlCol="0" anchor="ctr" wrap="square" lIns="54864" tIns="27432" rIns="54864" bIns="27432">
            <a:noAutofit/>
          </a:bodyPr>
          <a:lstStyle/>
          <a:p>
            <a:pPr algn="ctr"/>
          </a:p>
        </p:txBody>
      </p:sp>
      <p:sp>
        <p:nvSpPr>
          <p:cNvPr id="66" name="TextBox 65"/>
          <p:cNvSpPr txBox="1"/>
          <p:nvPr/>
        </p:nvSpPr>
        <p:spPr>
          <a:xfrm>
            <a:off x="8377936" y="2203704"/>
            <a:ext cx="1408430" cy="237744"/>
          </a:xfrm>
          <a:prstGeom prst="rect">
            <a:avLst/>
          </a:prstGeom>
          <a:solidFill>
            <a:srgbClr val="FFFFFF"/>
          </a:solidFill>
        </p:spPr>
        <p:txBody>
          <a:bodyPr wrap="square" lIns="0" tIns="0" rIns="0" bIns="0" anchor="ctr">
            <a:noAutofit/>
          </a:bodyPr>
          <a:lstStyle/>
          <a:p>
            <a:pPr algn="l">
              <a:buNone/>
            </a:pPr>
            <a:r>
              <a:rPr sz="1100" b="1">
                <a:solidFill>
                  <a:srgbClr val="404040"/>
                </a:solidFill>
              </a:rPr>
              <a:t>中間報告（10月末）</a:t>
            </a:r>
          </a:p>
        </p:txBody>
      </p:sp>
      <p:sp>
        <p:nvSpPr>
          <p:cNvPr id="67" name="Diamond 66"/>
          <p:cNvSpPr/>
          <p:nvPr/>
        </p:nvSpPr>
        <p:spPr>
          <a:xfrm>
            <a:off x="11483339" y="2231136"/>
            <a:ext cx="182880" cy="182880"/>
          </a:xfrm>
          <a:prstGeom prst="diamond">
            <a:avLst/>
          </a:prstGeom>
          <a:solidFill>
            <a:srgbClr val="404040"/>
          </a:solidFill>
          <a:ln>
            <a:noFill/>
          </a:ln>
        </p:spPr>
        <p:txBody>
          <a:bodyPr rtlCol="0" anchor="ctr" wrap="square" lIns="54864" tIns="27432" rIns="54864" bIns="27432">
            <a:noAutofit/>
          </a:bodyPr>
          <a:lstStyle/>
          <a:p>
            <a:pPr algn="ctr"/>
          </a:p>
        </p:txBody>
      </p:sp>
      <p:sp>
        <p:nvSpPr>
          <p:cNvPr id="68" name="TextBox 67"/>
          <p:cNvSpPr txBox="1"/>
          <p:nvPr/>
        </p:nvSpPr>
        <p:spPr>
          <a:xfrm>
            <a:off x="9898633" y="2203704"/>
            <a:ext cx="1548130" cy="237744"/>
          </a:xfrm>
          <a:prstGeom prst="rect">
            <a:avLst/>
          </a:prstGeom>
          <a:solidFill>
            <a:srgbClr val="FFFFFF"/>
          </a:solidFill>
        </p:spPr>
        <p:txBody>
          <a:bodyPr wrap="square" lIns="0" tIns="0" rIns="0" bIns="0" anchor="ctr">
            <a:noAutofit/>
          </a:bodyPr>
          <a:lstStyle/>
          <a:p>
            <a:pPr algn="r">
              <a:buNone/>
            </a:pPr>
            <a:r>
              <a:rPr sz="1100" b="1">
                <a:solidFill>
                  <a:srgbClr val="404040"/>
                </a:solidFill>
              </a:rPr>
              <a:t>最終報告（11月下旬）</a:t>
            </a:r>
          </a:p>
        </p:txBody>
      </p:sp>
      <p:sp>
        <p:nvSpPr>
          <p:cNvPr id="69" name="Diamond 68"/>
          <p:cNvSpPr/>
          <p:nvPr/>
        </p:nvSpPr>
        <p:spPr>
          <a:xfrm>
            <a:off x="6172200" y="2487168"/>
            <a:ext cx="182880" cy="182880"/>
          </a:xfrm>
          <a:prstGeom prst="diamond">
            <a:avLst/>
          </a:prstGeom>
          <a:solidFill>
            <a:srgbClr val="046A38"/>
          </a:solidFill>
          <a:ln>
            <a:noFill/>
          </a:ln>
        </p:spPr>
        <p:txBody>
          <a:bodyPr rtlCol="0" anchor="ctr" wrap="square" lIns="54864" tIns="27432" rIns="54864" bIns="27432">
            <a:noAutofit/>
          </a:bodyPr>
          <a:lstStyle/>
          <a:p>
            <a:pPr algn="ctr"/>
          </a:p>
        </p:txBody>
      </p:sp>
      <p:sp>
        <p:nvSpPr>
          <p:cNvPr id="70" name="TextBox 69"/>
          <p:cNvSpPr txBox="1"/>
          <p:nvPr/>
        </p:nvSpPr>
        <p:spPr>
          <a:xfrm>
            <a:off x="6391655" y="2459736"/>
            <a:ext cx="2442209" cy="237744"/>
          </a:xfrm>
          <a:prstGeom prst="rect">
            <a:avLst/>
          </a:prstGeom>
          <a:solidFill>
            <a:srgbClr val="FFFFFF"/>
          </a:solidFill>
        </p:spPr>
        <p:txBody>
          <a:bodyPr wrap="square" lIns="0" tIns="0" rIns="0" bIns="0" anchor="ctr">
            <a:noAutofit/>
          </a:bodyPr>
          <a:lstStyle/>
          <a:p>
            <a:pPr algn="l">
              <a:buNone/>
            </a:pPr>
            <a:r>
              <a:rPr sz="1100" b="1">
                <a:solidFill>
                  <a:srgbClr val="046A38"/>
                </a:solidFill>
              </a:rPr>
              <a:t>10/15頃 10/7版を公開＋データ投入</a:t>
            </a:r>
          </a:p>
        </p:txBody>
      </p:sp>
      <p:sp>
        <p:nvSpPr>
          <p:cNvPr id="71" name="Diamond 70"/>
          <p:cNvSpPr/>
          <p:nvPr/>
        </p:nvSpPr>
        <p:spPr>
          <a:xfrm>
            <a:off x="9281160" y="2487168"/>
            <a:ext cx="182880" cy="182880"/>
          </a:xfrm>
          <a:prstGeom prst="diamond">
            <a:avLst/>
          </a:prstGeom>
          <a:solidFill>
            <a:srgbClr val="046A38"/>
          </a:solidFill>
          <a:ln>
            <a:noFill/>
          </a:ln>
        </p:spPr>
        <p:txBody>
          <a:bodyPr rtlCol="0" anchor="ctr" wrap="square" lIns="54864" tIns="27432" rIns="54864" bIns="27432">
            <a:noAutofit/>
          </a:bodyPr>
          <a:lstStyle/>
          <a:p>
            <a:pPr algn="ctr"/>
          </a:p>
        </p:txBody>
      </p:sp>
      <p:sp>
        <p:nvSpPr>
          <p:cNvPr id="72" name="TextBox 71"/>
          <p:cNvSpPr txBox="1"/>
          <p:nvPr/>
        </p:nvSpPr>
        <p:spPr>
          <a:xfrm>
            <a:off x="9500616" y="2459736"/>
            <a:ext cx="1995169" cy="237744"/>
          </a:xfrm>
          <a:prstGeom prst="rect">
            <a:avLst/>
          </a:prstGeom>
          <a:solidFill>
            <a:srgbClr val="FFFFFF"/>
          </a:solidFill>
        </p:spPr>
        <p:txBody>
          <a:bodyPr wrap="square" lIns="0" tIns="0" rIns="0" bIns="0" anchor="ctr">
            <a:noAutofit/>
          </a:bodyPr>
          <a:lstStyle/>
          <a:p>
            <a:pPr algn="l">
              <a:buNone/>
            </a:pPr>
            <a:r>
              <a:rPr sz="1100" b="1">
                <a:solidFill>
                  <a:srgbClr val="046A38"/>
                </a:solidFill>
              </a:rPr>
              <a:t>11/10 嶋田社長・野村専務へ</a:t>
            </a:r>
          </a:p>
        </p:txBody>
      </p:sp>
      <p:sp>
        <p:nvSpPr>
          <p:cNvPr id="73" name="Rectangle 72"/>
          <p:cNvSpPr/>
          <p:nvPr/>
        </p:nvSpPr>
        <p:spPr>
          <a:xfrm>
            <a:off x="475488" y="5961888"/>
            <a:ext cx="310896" cy="182880"/>
          </a:xfrm>
          <a:prstGeom prst="rect">
            <a:avLst/>
          </a:prstGeom>
          <a:solidFill>
            <a:srgbClr val="E6E6E6"/>
          </a:solidFill>
          <a:ln>
            <a:noFill/>
          </a:ln>
        </p:spPr>
        <p:txBody>
          <a:bodyPr rtlCol="0" anchor="ctr" wrap="square" lIns="54864" tIns="27432" rIns="54864" bIns="27432">
            <a:noAutofit/>
          </a:bodyPr>
          <a:lstStyle/>
          <a:p>
            <a:pPr algn="ctr"/>
          </a:p>
        </p:txBody>
      </p:sp>
      <p:sp>
        <p:nvSpPr>
          <p:cNvPr id="74" name="TextBox 73"/>
          <p:cNvSpPr txBox="1"/>
          <p:nvPr/>
        </p:nvSpPr>
        <p:spPr>
          <a:xfrm>
            <a:off x="841248" y="5916168"/>
            <a:ext cx="1386839" cy="274320"/>
          </a:xfrm>
          <a:prstGeom prst="rect">
            <a:avLst/>
          </a:prstGeom>
          <a:noFill/>
        </p:spPr>
        <p:txBody>
          <a:bodyPr wrap="square" lIns="0" tIns="0" rIns="0" bIns="0" anchor="ctr">
            <a:noAutofit/>
          </a:bodyPr>
          <a:lstStyle/>
          <a:p>
            <a:pPr algn="l">
              <a:buNone/>
            </a:pPr>
            <a:r>
              <a:rPr sz="1000" b="0">
                <a:solidFill>
                  <a:srgbClr val="595959"/>
                </a:solidFill>
              </a:rPr>
              <a:t>貴社・ITEC様（主体）</a:t>
            </a:r>
          </a:p>
        </p:txBody>
      </p:sp>
      <p:sp>
        <p:nvSpPr>
          <p:cNvPr id="75" name="Rectangle 74"/>
          <p:cNvSpPr/>
          <p:nvPr/>
        </p:nvSpPr>
        <p:spPr>
          <a:xfrm>
            <a:off x="2374392" y="5961888"/>
            <a:ext cx="310896" cy="182880"/>
          </a:xfrm>
          <a:prstGeom prst="rect">
            <a:avLst/>
          </a:prstGeom>
          <a:solidFill>
            <a:srgbClr val="046A38"/>
          </a:solidFill>
          <a:ln>
            <a:noFill/>
          </a:ln>
        </p:spPr>
        <p:txBody>
          <a:bodyPr rtlCol="0" anchor="ctr" wrap="square" lIns="54864" tIns="27432" rIns="54864" bIns="27432">
            <a:noAutofit/>
          </a:bodyPr>
          <a:lstStyle/>
          <a:p>
            <a:pPr algn="ctr"/>
          </a:p>
        </p:txBody>
      </p:sp>
      <p:sp>
        <p:nvSpPr>
          <p:cNvPr id="76" name="TextBox 75"/>
          <p:cNvSpPr txBox="1"/>
          <p:nvPr/>
        </p:nvSpPr>
        <p:spPr>
          <a:xfrm>
            <a:off x="2740152" y="5916168"/>
            <a:ext cx="853439" cy="274320"/>
          </a:xfrm>
          <a:prstGeom prst="rect">
            <a:avLst/>
          </a:prstGeom>
          <a:noFill/>
        </p:spPr>
        <p:txBody>
          <a:bodyPr wrap="square" lIns="0" tIns="0" rIns="0" bIns="0" anchor="ctr">
            <a:noAutofit/>
          </a:bodyPr>
          <a:lstStyle/>
          <a:p>
            <a:pPr algn="l">
              <a:buNone/>
            </a:pPr>
            <a:r>
              <a:rPr sz="1000" b="0">
                <a:solidFill>
                  <a:srgbClr val="595959"/>
                </a:solidFill>
              </a:rPr>
              <a:t>弊社（主体）</a:t>
            </a:r>
          </a:p>
        </p:txBody>
      </p:sp>
      <p:sp>
        <p:nvSpPr>
          <p:cNvPr id="77" name="Rectangle 76"/>
          <p:cNvSpPr/>
          <p:nvPr/>
        </p:nvSpPr>
        <p:spPr>
          <a:xfrm>
            <a:off x="3739896" y="5961888"/>
            <a:ext cx="310896" cy="182880"/>
          </a:xfrm>
          <a:prstGeom prst="rect">
            <a:avLst/>
          </a:prstGeom>
          <a:solidFill>
            <a:srgbClr val="FFFFFF"/>
          </a:solidFill>
          <a:ln w="9525">
            <a:solidFill>
              <a:srgbClr val="7F7F7F"/>
            </a:solidFill>
            <a:prstDash val="dash"/>
          </a:ln>
        </p:spPr>
        <p:txBody>
          <a:bodyPr rtlCol="0" anchor="ctr" wrap="square" lIns="54864" tIns="27432" rIns="54864" bIns="27432">
            <a:noAutofit/>
          </a:bodyPr>
          <a:lstStyle/>
          <a:p>
            <a:pPr algn="ctr"/>
          </a:p>
        </p:txBody>
      </p:sp>
      <p:sp>
        <p:nvSpPr>
          <p:cNvPr id="78" name="TextBox 77"/>
          <p:cNvSpPr txBox="1"/>
          <p:nvPr/>
        </p:nvSpPr>
        <p:spPr>
          <a:xfrm>
            <a:off x="4105656" y="5916168"/>
            <a:ext cx="1488439" cy="274320"/>
          </a:xfrm>
          <a:prstGeom prst="rect">
            <a:avLst/>
          </a:prstGeom>
          <a:noFill/>
        </p:spPr>
        <p:txBody>
          <a:bodyPr wrap="square" lIns="0" tIns="0" rIns="0" bIns="0" anchor="ctr">
            <a:noAutofit/>
          </a:bodyPr>
          <a:lstStyle/>
          <a:p>
            <a:pPr algn="l">
              <a:buNone/>
            </a:pPr>
            <a:r>
              <a:rPr sz="1000" b="0">
                <a:solidFill>
                  <a:srgbClr val="595959"/>
                </a:solidFill>
              </a:rPr>
              <a:t>弊社（助言・技術支援）</a:t>
            </a:r>
          </a:p>
        </p:txBody>
      </p:sp>
      <p:sp>
        <p:nvSpPr>
          <p:cNvPr id="79" name="Diamond 78"/>
          <p:cNvSpPr/>
          <p:nvPr/>
        </p:nvSpPr>
        <p:spPr>
          <a:xfrm>
            <a:off x="5813552" y="5961888"/>
            <a:ext cx="182880" cy="182880"/>
          </a:xfrm>
          <a:prstGeom prst="diamond">
            <a:avLst/>
          </a:prstGeom>
          <a:solidFill>
            <a:srgbClr val="404040"/>
          </a:solidFill>
          <a:ln>
            <a:noFill/>
          </a:ln>
        </p:spPr>
        <p:txBody>
          <a:bodyPr rtlCol="0" anchor="ctr" wrap="square" lIns="54864" tIns="27432" rIns="54864" bIns="27432">
            <a:noAutofit/>
          </a:bodyPr>
          <a:lstStyle/>
          <a:p>
            <a:pPr algn="ctr"/>
          </a:p>
        </p:txBody>
      </p:sp>
      <p:sp>
        <p:nvSpPr>
          <p:cNvPr id="80" name="TextBox 79"/>
          <p:cNvSpPr txBox="1"/>
          <p:nvPr/>
        </p:nvSpPr>
        <p:spPr>
          <a:xfrm>
            <a:off x="6106160" y="5916168"/>
            <a:ext cx="980440" cy="274320"/>
          </a:xfrm>
          <a:prstGeom prst="rect">
            <a:avLst/>
          </a:prstGeom>
          <a:noFill/>
        </p:spPr>
        <p:txBody>
          <a:bodyPr wrap="square" lIns="0" tIns="0" rIns="0" bIns="0" anchor="ctr">
            <a:noAutofit/>
          </a:bodyPr>
          <a:lstStyle/>
          <a:p>
            <a:pPr algn="l">
              <a:buNone/>
            </a:pPr>
            <a:r>
              <a:rPr sz="1000" b="0">
                <a:solidFill>
                  <a:srgbClr val="595959"/>
                </a:solidFill>
              </a:rPr>
              <a:t>マイルストーン</a:t>
            </a:r>
          </a:p>
        </p:txBody>
      </p:sp>
      <p:sp>
        <p:nvSpPr>
          <p:cNvPr id="81" name="Diamond 80"/>
          <p:cNvSpPr/>
          <p:nvPr/>
        </p:nvSpPr>
        <p:spPr>
          <a:xfrm>
            <a:off x="7306056" y="5961888"/>
            <a:ext cx="182880" cy="182880"/>
          </a:xfrm>
          <a:prstGeom prst="diamond">
            <a:avLst/>
          </a:prstGeom>
          <a:solidFill>
            <a:srgbClr val="046A38"/>
          </a:solidFill>
          <a:ln>
            <a:noFill/>
          </a:ln>
        </p:spPr>
        <p:txBody>
          <a:bodyPr rtlCol="0" anchor="ctr" wrap="square" lIns="54864" tIns="27432" rIns="54864" bIns="27432">
            <a:noAutofit/>
          </a:bodyPr>
          <a:lstStyle/>
          <a:p>
            <a:pPr algn="ctr"/>
          </a:p>
        </p:txBody>
      </p:sp>
      <p:sp>
        <p:nvSpPr>
          <p:cNvPr id="82" name="TextBox 81"/>
          <p:cNvSpPr txBox="1"/>
          <p:nvPr/>
        </p:nvSpPr>
        <p:spPr>
          <a:xfrm>
            <a:off x="7598664" y="5916168"/>
            <a:ext cx="1234439" cy="274320"/>
          </a:xfrm>
          <a:prstGeom prst="rect">
            <a:avLst/>
          </a:prstGeom>
          <a:noFill/>
        </p:spPr>
        <p:txBody>
          <a:bodyPr wrap="square" lIns="0" tIns="0" rIns="0" bIns="0" anchor="ctr">
            <a:noAutofit/>
          </a:bodyPr>
          <a:lstStyle/>
          <a:p>
            <a:pPr algn="l">
              <a:buNone/>
            </a:pPr>
            <a:r>
              <a:rPr sz="1000" b="0">
                <a:solidFill>
                  <a:srgbClr val="595959"/>
                </a:solidFill>
              </a:rPr>
              <a:t>足元で合意した予定</a:t>
            </a:r>
          </a:p>
        </p:txBody>
      </p:sp>
      <p:sp>
        <p:nvSpPr>
          <p:cNvPr id="83" name="Diamond 82"/>
          <p:cNvSpPr/>
          <p:nvPr/>
        </p:nvSpPr>
        <p:spPr>
          <a:xfrm>
            <a:off x="9052560" y="5961888"/>
            <a:ext cx="182880" cy="182880"/>
          </a:xfrm>
          <a:prstGeom prst="diamond">
            <a:avLst/>
          </a:prstGeom>
          <a:solidFill>
            <a:srgbClr val="FFFFFF"/>
          </a:solidFill>
          <a:ln w="15875">
            <a:solidFill>
              <a:srgbClr val="404040"/>
            </a:solidFill>
          </a:ln>
        </p:spPr>
        <p:txBody>
          <a:bodyPr rtlCol="0" anchor="ctr" wrap="square" lIns="54864" tIns="27432" rIns="54864" bIns="27432">
            <a:noAutofit/>
          </a:bodyPr>
          <a:lstStyle/>
          <a:p>
            <a:pPr algn="ctr"/>
          </a:p>
        </p:txBody>
      </p:sp>
      <p:sp>
        <p:nvSpPr>
          <p:cNvPr id="84" name="TextBox 83"/>
          <p:cNvSpPr txBox="1"/>
          <p:nvPr/>
        </p:nvSpPr>
        <p:spPr>
          <a:xfrm>
            <a:off x="9345168" y="5916168"/>
            <a:ext cx="1824989" cy="274320"/>
          </a:xfrm>
          <a:prstGeom prst="rect">
            <a:avLst/>
          </a:prstGeom>
          <a:noFill/>
        </p:spPr>
        <p:txBody>
          <a:bodyPr wrap="square" lIns="0" tIns="0" rIns="0" bIns="0" anchor="ctr">
            <a:noAutofit/>
          </a:bodyPr>
          <a:lstStyle/>
          <a:p>
            <a:pPr algn="l">
              <a:buNone/>
            </a:pPr>
            <a:r>
              <a:rPr sz="1000" b="0">
                <a:solidFill>
                  <a:srgbClr val="595959"/>
                </a:solidFill>
              </a:rPr>
              <a:t>BX推進部の確認→本番取り込み</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r>
              <a:t>プロジェクトステータス概要（10/1〜10/6）</a:t>
            </a:r>
          </a:p>
        </p:txBody>
      </p:sp>
      <p:sp>
        <p:nvSpPr>
          <p:cNvPr id="3" name="Title 2"/>
          <p:cNvSpPr>
            <a:spLocks noGrp="1"/>
          </p:cNvSpPr>
          <p:nvPr>
            <p:ph type="title"/>
          </p:nvPr>
        </p:nvSpPr>
        <p:spPr/>
        <p:txBody>
          <a:bodyPr/>
          <a:lstStyle/>
          <a:p>
            <a:r>
              <a:t>Phase2初週は予定通りの進捗です。10/5にセキュア公開版（9/11版）がリリースされ、最新版を早期に反映するための準備を進めています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5</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7" name="Oval 6"/>
          <p:cNvSpPr/>
          <p:nvPr/>
        </p:nvSpPr>
        <p:spPr>
          <a:xfrm>
            <a:off x="9098280" y="1069848"/>
            <a:ext cx="237744" cy="146304"/>
          </a:xfrm>
          <a:prstGeom prst="ellipse">
            <a:avLst/>
          </a:prstGeom>
          <a:solidFill>
            <a:srgbClr val="046A38"/>
          </a:solidFill>
          <a:ln>
            <a:noFill/>
          </a:ln>
        </p:spPr>
        <p:txBody>
          <a:bodyPr rtlCol="0" anchor="ctr" wrap="square" lIns="54864" tIns="27432" rIns="54864" bIns="27432">
            <a:noAutofit/>
          </a:bodyPr>
          <a:lstStyle/>
          <a:p>
            <a:pPr algn="ctr"/>
          </a:p>
        </p:txBody>
      </p:sp>
      <p:sp>
        <p:nvSpPr>
          <p:cNvPr id="8" name="TextBox 7"/>
          <p:cNvSpPr txBox="1"/>
          <p:nvPr/>
        </p:nvSpPr>
        <p:spPr>
          <a:xfrm>
            <a:off x="8732520" y="1234440"/>
            <a:ext cx="969264" cy="182880"/>
          </a:xfrm>
          <a:prstGeom prst="rect">
            <a:avLst/>
          </a:prstGeom>
          <a:noFill/>
        </p:spPr>
        <p:txBody>
          <a:bodyPr wrap="square" lIns="0" tIns="0" rIns="0" bIns="0" anchor="ctr">
            <a:noAutofit/>
          </a:bodyPr>
          <a:lstStyle/>
          <a:p>
            <a:pPr algn="ctr">
              <a:buNone/>
            </a:pPr>
            <a:r>
              <a:rPr sz="950" b="1">
                <a:solidFill>
                  <a:srgbClr val="262626"/>
                </a:solidFill>
              </a:rPr>
              <a:t>予定通り</a:t>
            </a:r>
          </a:p>
        </p:txBody>
      </p:sp>
      <p:sp>
        <p:nvSpPr>
          <p:cNvPr id="9" name="Oval 8"/>
          <p:cNvSpPr/>
          <p:nvPr/>
        </p:nvSpPr>
        <p:spPr>
          <a:xfrm>
            <a:off x="10104120" y="1069848"/>
            <a:ext cx="237744" cy="146304"/>
          </a:xfrm>
          <a:prstGeom prst="ellipse">
            <a:avLst/>
          </a:prstGeom>
          <a:solidFill>
            <a:srgbClr val="D9D9D9"/>
          </a:solidFill>
          <a:ln>
            <a:noFill/>
          </a:ln>
        </p:spPr>
        <p:txBody>
          <a:bodyPr rtlCol="0" anchor="ctr" wrap="square" lIns="54864" tIns="27432" rIns="54864" bIns="27432">
            <a:noAutofit/>
          </a:bodyPr>
          <a:lstStyle/>
          <a:p>
            <a:pPr algn="ctr"/>
          </a:p>
        </p:txBody>
      </p:sp>
      <p:sp>
        <p:nvSpPr>
          <p:cNvPr id="10" name="TextBox 9"/>
          <p:cNvSpPr txBox="1"/>
          <p:nvPr/>
        </p:nvSpPr>
        <p:spPr>
          <a:xfrm>
            <a:off x="9738360" y="1234440"/>
            <a:ext cx="969264" cy="182880"/>
          </a:xfrm>
          <a:prstGeom prst="rect">
            <a:avLst/>
          </a:prstGeom>
          <a:noFill/>
        </p:spPr>
        <p:txBody>
          <a:bodyPr wrap="square" lIns="0" tIns="0" rIns="0" bIns="0" anchor="ctr">
            <a:noAutofit/>
          </a:bodyPr>
          <a:lstStyle/>
          <a:p>
            <a:pPr algn="ctr">
              <a:buNone/>
            </a:pPr>
            <a:r>
              <a:rPr sz="950" b="0">
                <a:solidFill>
                  <a:srgbClr val="8C8C8C"/>
                </a:solidFill>
              </a:rPr>
              <a:t>遅延（挽回可）</a:t>
            </a:r>
          </a:p>
        </p:txBody>
      </p:sp>
      <p:sp>
        <p:nvSpPr>
          <p:cNvPr id="11" name="Oval 10"/>
          <p:cNvSpPr/>
          <p:nvPr/>
        </p:nvSpPr>
        <p:spPr>
          <a:xfrm>
            <a:off x="11109960" y="1069848"/>
            <a:ext cx="237744" cy="146304"/>
          </a:xfrm>
          <a:prstGeom prst="ellipse">
            <a:avLst/>
          </a:prstGeom>
          <a:solidFill>
            <a:srgbClr val="D9D9D9"/>
          </a:solidFill>
          <a:ln>
            <a:noFill/>
          </a:ln>
        </p:spPr>
        <p:txBody>
          <a:bodyPr rtlCol="0" anchor="ctr" wrap="square" lIns="54864" tIns="27432" rIns="54864" bIns="27432">
            <a:noAutofit/>
          </a:bodyPr>
          <a:lstStyle/>
          <a:p>
            <a:pPr algn="ctr"/>
          </a:p>
        </p:txBody>
      </p:sp>
      <p:sp>
        <p:nvSpPr>
          <p:cNvPr id="12" name="TextBox 11"/>
          <p:cNvSpPr txBox="1"/>
          <p:nvPr/>
        </p:nvSpPr>
        <p:spPr>
          <a:xfrm>
            <a:off x="10744200" y="1234440"/>
            <a:ext cx="969264" cy="182880"/>
          </a:xfrm>
          <a:prstGeom prst="rect">
            <a:avLst/>
          </a:prstGeom>
          <a:noFill/>
        </p:spPr>
        <p:txBody>
          <a:bodyPr wrap="square" lIns="0" tIns="0" rIns="0" bIns="0" anchor="ctr">
            <a:noAutofit/>
          </a:bodyPr>
          <a:lstStyle/>
          <a:p>
            <a:pPr algn="ctr">
              <a:buNone/>
            </a:pPr>
            <a:r>
              <a:rPr sz="950" b="0">
                <a:solidFill>
                  <a:srgbClr val="8C8C8C"/>
                </a:solidFill>
              </a:rPr>
              <a:t>遅延（見直し要）</a:t>
            </a:r>
          </a:p>
        </p:txBody>
      </p:sp>
      <p:sp>
        <p:nvSpPr>
          <p:cNvPr id="13" name="Oval 12"/>
          <p:cNvSpPr/>
          <p:nvPr/>
        </p:nvSpPr>
        <p:spPr>
          <a:xfrm>
            <a:off x="8769096" y="987552"/>
            <a:ext cx="896112" cy="475488"/>
          </a:xfrm>
          <a:prstGeom prst="ellipse">
            <a:avLst/>
          </a:prstGeom>
          <a:noFill/>
          <a:ln w="12700">
            <a:solidFill>
              <a:srgbClr val="262626"/>
            </a:solidFill>
          </a:ln>
        </p:spPr>
        <p:txBody>
          <a:bodyPr rtlCol="0" anchor="ctr" wrap="square" lIns="54864" tIns="27432" rIns="54864" bIns="27432">
            <a:noAutofit/>
          </a:bodyPr>
          <a:lstStyle/>
          <a:p>
            <a:pPr algn="ctr"/>
          </a:p>
        </p:txBody>
      </p:sp>
      <p:sp>
        <p:nvSpPr>
          <p:cNvPr id="14" name="Rectangle 13"/>
          <p:cNvSpPr/>
          <p:nvPr/>
        </p:nvSpPr>
        <p:spPr>
          <a:xfrm>
            <a:off x="475488" y="1600200"/>
            <a:ext cx="5486400" cy="347472"/>
          </a:xfrm>
          <a:prstGeom prst="rect">
            <a:avLst/>
          </a:prstGeom>
          <a:solidFill>
            <a:srgbClr val="63666A"/>
          </a:solidFill>
          <a:ln>
            <a:noFill/>
          </a:ln>
        </p:spPr>
        <p:txBody>
          <a:bodyPr rtlCol="0" anchor="ctr" wrap="square" lIns="54864" tIns="27432" rIns="54864" bIns="27432">
            <a:noAutofit/>
          </a:bodyPr>
          <a:lstStyle/>
          <a:p>
            <a:pPr algn="ctr">
              <a:buNone/>
            </a:pPr>
            <a:r>
              <a:rPr sz="1300" b="1">
                <a:solidFill>
                  <a:srgbClr val="FFFFFF"/>
                </a:solidFill>
              </a:rPr>
              <a:t>今週までの実施事項（実績）</a:t>
            </a:r>
          </a:p>
        </p:txBody>
      </p:sp>
      <p:sp>
        <p:nvSpPr>
          <p:cNvPr id="15" name="Rectangle 14"/>
          <p:cNvSpPr/>
          <p:nvPr/>
        </p:nvSpPr>
        <p:spPr>
          <a:xfrm>
            <a:off x="475488" y="1947672"/>
            <a:ext cx="5486400" cy="2487168"/>
          </a:xfrm>
          <a:prstGeom prst="rect">
            <a:avLst/>
          </a:prstGeom>
          <a:solidFill>
            <a:srgbClr val="FFFFFF"/>
          </a:solidFill>
          <a:ln w="9525">
            <a:solidFill>
              <a:srgbClr val="D0D0CE"/>
            </a:solidFill>
          </a:ln>
        </p:spPr>
        <p:txBody>
          <a:bodyPr rtlCol="0" anchor="ctr" wrap="square" lIns="54864" tIns="27432" rIns="54864" bIns="27432">
            <a:noAutofit/>
          </a:bodyPr>
          <a:lstStyle/>
          <a:p>
            <a:pPr algn="ctr"/>
          </a:p>
        </p:txBody>
      </p:sp>
      <p:sp>
        <p:nvSpPr>
          <p:cNvPr id="16" name="TextBox 15"/>
          <p:cNvSpPr txBox="1"/>
          <p:nvPr/>
        </p:nvSpPr>
        <p:spPr>
          <a:xfrm>
            <a:off x="640080" y="2048256"/>
            <a:ext cx="5175504" cy="2331720"/>
          </a:xfrm>
          <a:prstGeom prst="rect">
            <a:avLst/>
          </a:prstGeom>
          <a:noFill/>
        </p:spPr>
        <p:txBody>
          <a:bodyPr wrap="square" lIns="0" tIns="0" rIns="0" bIns="0" anchor="t">
            <a:noAutofit/>
          </a:bodyPr>
          <a:lstStyle/>
          <a:p>
            <a:pPr algn="l" marL="146304" indent="-146304">
              <a:lnSpc>
                <a:spcPct val="105000"/>
              </a:lnSpc>
              <a:spcBef>
                <a:spcPts val="500"/>
              </a:spcBef>
              <a:buClr>
                <a:srgbClr val="8C8C8C"/>
              </a:buClr>
              <a:buFont typeface="Arial"/>
              <a:buChar char="•"/>
            </a:pPr>
            <a:r>
              <a:rPr sz="1200" b="1">
                <a:solidFill>
                  <a:srgbClr val="262626"/>
                </a:solidFill>
              </a:rPr>
              <a:t>10/5 </a:t>
            </a:r>
            <a:r>
              <a:rPr sz="1200" b="0">
                <a:solidFill>
                  <a:srgbClr val="262626"/>
                </a:solidFill>
              </a:rPr>
              <a:t>セキュア公開版（9/11版）のリリースと、ログイン・アクセス確認の開始（ITEC様→BX推進部）</a:t>
            </a:r>
          </a:p>
          <a:p>
            <a:pPr algn="l" marL="146304" indent="-146304">
              <a:lnSpc>
                <a:spcPct val="105000"/>
              </a:lnSpc>
              <a:spcBef>
                <a:spcPts val="500"/>
              </a:spcBef>
              <a:buClr>
                <a:srgbClr val="8C8C8C"/>
              </a:buClr>
              <a:buFont typeface="Arial"/>
              <a:buChar char="•"/>
            </a:pPr>
            <a:r>
              <a:rPr sz="1200" b="1">
                <a:solidFill>
                  <a:srgbClr val="262626"/>
                </a:solidFill>
              </a:rPr>
              <a:t>改修 </a:t>
            </a:r>
            <a:r>
              <a:rPr sz="1200" b="0">
                <a:solidFill>
                  <a:srgbClr val="262626"/>
                </a:solidFill>
              </a:rPr>
              <a:t>最終報告以降のご依頼・改善62件を、すべて検証環境に反映（計画系3機能の追加改修①ほか）</a:t>
            </a:r>
          </a:p>
          <a:p>
            <a:pPr algn="l" marL="146304" indent="-146304">
              <a:lnSpc>
                <a:spcPct val="105000"/>
              </a:lnSpc>
              <a:spcBef>
                <a:spcPts val="500"/>
              </a:spcBef>
              <a:buClr>
                <a:srgbClr val="8C8C8C"/>
              </a:buClr>
              <a:buFont typeface="Arial"/>
              <a:buChar char="•"/>
            </a:pPr>
            <a:r>
              <a:rPr sz="1200" b="1">
                <a:solidFill>
                  <a:srgbClr val="262626"/>
                </a:solidFill>
              </a:rPr>
              <a:t>外部データ </a:t>
            </a:r>
            <a:r>
              <a:rPr sz="1200" b="0">
                <a:solidFill>
                  <a:srgbClr val="262626"/>
                </a:solidFill>
              </a:rPr>
              <a:t>10/2時点で取れていなかった70ソースのうち57ソースで取得が進んだ</a:t>
            </a:r>
          </a:p>
          <a:p>
            <a:pPr algn="l" marL="146304" indent="-146304">
              <a:lnSpc>
                <a:spcPct val="105000"/>
              </a:lnSpc>
              <a:spcBef>
                <a:spcPts val="500"/>
              </a:spcBef>
              <a:buClr>
                <a:srgbClr val="8C8C8C"/>
              </a:buClr>
              <a:buFont typeface="Arial"/>
              <a:buChar char="•"/>
            </a:pPr>
            <a:r>
              <a:rPr sz="1200" b="1">
                <a:solidFill>
                  <a:srgbClr val="262626"/>
                </a:solidFill>
              </a:rPr>
              <a:t>品質 </a:t>
            </a:r>
            <a:r>
              <a:rPr sz="1200" b="0">
                <a:solidFill>
                  <a:srgbClr val="262626"/>
                </a:solidFill>
              </a:rPr>
              <a:t>ログイン直後の読み込みの高速化、全画面の点検とコード整理</a:t>
            </a:r>
          </a:p>
          <a:p>
            <a:pPr algn="l" marL="146304" indent="-146304">
              <a:lnSpc>
                <a:spcPct val="105000"/>
              </a:lnSpc>
              <a:spcBef>
                <a:spcPts val="500"/>
              </a:spcBef>
              <a:buClr>
                <a:srgbClr val="8C8C8C"/>
              </a:buClr>
              <a:buFont typeface="Arial"/>
              <a:buChar char="•"/>
            </a:pPr>
            <a:r>
              <a:rPr sz="1200" b="1">
                <a:solidFill>
                  <a:srgbClr val="262626"/>
                </a:solidFill>
              </a:rPr>
              <a:t>ドキュメント </a:t>
            </a:r>
            <a:r>
              <a:rPr sz="1200" b="0">
                <a:solidFill>
                  <a:srgbClr val="262626"/>
                </a:solidFill>
              </a:rPr>
              <a:t>アプリ仕様書・利用者マニュアル・開発者マニュアルを最新版に合わせて更新</a:t>
            </a:r>
          </a:p>
        </p:txBody>
      </p:sp>
      <p:sp>
        <p:nvSpPr>
          <p:cNvPr id="17" name="Rectangle 16"/>
          <p:cNvSpPr/>
          <p:nvPr/>
        </p:nvSpPr>
        <p:spPr>
          <a:xfrm>
            <a:off x="6217920" y="1600200"/>
            <a:ext cx="5486400" cy="347472"/>
          </a:xfrm>
          <a:prstGeom prst="rect">
            <a:avLst/>
          </a:prstGeom>
          <a:solidFill>
            <a:srgbClr val="63666A"/>
          </a:solidFill>
          <a:ln>
            <a:noFill/>
          </a:ln>
        </p:spPr>
        <p:txBody>
          <a:bodyPr rtlCol="0" anchor="ctr" wrap="square" lIns="54864" tIns="27432" rIns="54864" bIns="27432">
            <a:noAutofit/>
          </a:bodyPr>
          <a:lstStyle/>
          <a:p>
            <a:pPr algn="ctr">
              <a:buNone/>
            </a:pPr>
            <a:r>
              <a:rPr sz="1300" b="1">
                <a:solidFill>
                  <a:srgbClr val="FFFFFF"/>
                </a:solidFill>
              </a:rPr>
              <a:t>次回定例までの実施事項（予定）</a:t>
            </a:r>
          </a:p>
        </p:txBody>
      </p:sp>
      <p:sp>
        <p:nvSpPr>
          <p:cNvPr id="18" name="Rectangle 17"/>
          <p:cNvSpPr/>
          <p:nvPr/>
        </p:nvSpPr>
        <p:spPr>
          <a:xfrm>
            <a:off x="6217920" y="1947672"/>
            <a:ext cx="5486400" cy="2487168"/>
          </a:xfrm>
          <a:prstGeom prst="rect">
            <a:avLst/>
          </a:prstGeom>
          <a:solidFill>
            <a:srgbClr val="FFFFFF"/>
          </a:solidFill>
          <a:ln w="9525">
            <a:solidFill>
              <a:srgbClr val="D0D0CE"/>
            </a:solidFill>
          </a:ln>
        </p:spPr>
        <p:txBody>
          <a:bodyPr rtlCol="0" anchor="ctr" wrap="square" lIns="54864" tIns="27432" rIns="54864" bIns="27432">
            <a:noAutofit/>
          </a:bodyPr>
          <a:lstStyle/>
          <a:p>
            <a:pPr algn="ctr"/>
          </a:p>
        </p:txBody>
      </p:sp>
      <p:sp>
        <p:nvSpPr>
          <p:cNvPr id="19" name="TextBox 18"/>
          <p:cNvSpPr txBox="1"/>
          <p:nvPr/>
        </p:nvSpPr>
        <p:spPr>
          <a:xfrm>
            <a:off x="6382512" y="2048256"/>
            <a:ext cx="5175504" cy="2331720"/>
          </a:xfrm>
          <a:prstGeom prst="rect">
            <a:avLst/>
          </a:prstGeom>
          <a:noFill/>
        </p:spPr>
        <p:txBody>
          <a:bodyPr wrap="square" lIns="0" tIns="0" rIns="0" bIns="0" anchor="t">
            <a:noAutofit/>
          </a:bodyPr>
          <a:lstStyle/>
          <a:p>
            <a:pPr algn="l" marL="146304" indent="-146304">
              <a:lnSpc>
                <a:spcPct val="105000"/>
              </a:lnSpc>
              <a:spcBef>
                <a:spcPts val="500"/>
              </a:spcBef>
              <a:buClr>
                <a:srgbClr val="8C8C8C"/>
              </a:buClr>
              <a:buFont typeface="Arial"/>
              <a:buChar char="•"/>
            </a:pPr>
            <a:r>
              <a:rPr sz="1200" b="1">
                <a:solidFill>
                  <a:srgbClr val="262626"/>
                </a:solidFill>
              </a:rPr>
              <a:t>10/7 </a:t>
            </a:r>
            <a:r>
              <a:rPr sz="1200" b="0">
                <a:solidFill>
                  <a:srgbClr val="262626"/>
                </a:solidFill>
              </a:rPr>
              <a:t>午前にアドホック改修を一旦Close（10/7版として確定）</a:t>
            </a:r>
          </a:p>
          <a:p>
            <a:pPr algn="l" marL="146304" indent="-146304">
              <a:lnSpc>
                <a:spcPct val="105000"/>
              </a:lnSpc>
              <a:spcBef>
                <a:spcPts val="500"/>
              </a:spcBef>
              <a:buClr>
                <a:srgbClr val="8C8C8C"/>
              </a:buClr>
              <a:buFont typeface="Arial"/>
              <a:buChar char="•"/>
            </a:pPr>
            <a:r>
              <a:rPr sz="1200" b="1">
                <a:solidFill>
                  <a:srgbClr val="262626"/>
                </a:solidFill>
              </a:rPr>
              <a:t>10/8〜 </a:t>
            </a:r>
            <a:r>
              <a:rPr sz="1200" b="0">
                <a:solidFill>
                  <a:srgbClr val="262626"/>
                </a:solidFill>
              </a:rPr>
              <a:t>ITEC様による10/7版のセキュア環境への反映</a:t>
            </a:r>
          </a:p>
          <a:p>
            <a:pPr algn="l" marL="146304" indent="-146304">
              <a:lnSpc>
                <a:spcPct val="105000"/>
              </a:lnSpc>
              <a:spcBef>
                <a:spcPts val="500"/>
              </a:spcBef>
              <a:buClr>
                <a:srgbClr val="8C8C8C"/>
              </a:buClr>
              <a:buFont typeface="Arial"/>
              <a:buChar char="•"/>
            </a:pPr>
            <a:r>
              <a:rPr sz="1200" b="1">
                <a:solidFill>
                  <a:srgbClr val="262626"/>
                </a:solidFill>
              </a:rPr>
              <a:t>引継ぎ </a:t>
            </a:r>
            <a:r>
              <a:rPr sz="1200" b="0">
                <a:solidFill>
                  <a:srgbClr val="262626"/>
                </a:solidFill>
              </a:rPr>
              <a:t>今週1回・来週1回の引継ぎ会で、差分と反映の手順をご説明（弊社）</a:t>
            </a:r>
          </a:p>
          <a:p>
            <a:pPr algn="l" marL="146304" indent="-146304">
              <a:lnSpc>
                <a:spcPct val="105000"/>
              </a:lnSpc>
              <a:spcBef>
                <a:spcPts val="500"/>
              </a:spcBef>
              <a:buClr>
                <a:srgbClr val="8C8C8C"/>
              </a:buClr>
              <a:buFont typeface="Arial"/>
              <a:buChar char="•"/>
            </a:pPr>
            <a:r>
              <a:rPr sz="1200" b="1">
                <a:solidFill>
                  <a:srgbClr val="262626"/>
                </a:solidFill>
              </a:rPr>
              <a:t>10/15頃 </a:t>
            </a:r>
            <a:r>
              <a:rPr sz="1200" b="0">
                <a:solidFill>
                  <a:srgbClr val="262626"/>
                </a:solidFill>
              </a:rPr>
              <a:t>セキュア環境に10/7版を公開＋本番データ投入（ITEC様・BX推進部）</a:t>
            </a:r>
          </a:p>
          <a:p>
            <a:pPr algn="l" marL="146304" indent="-146304">
              <a:lnSpc>
                <a:spcPct val="105000"/>
              </a:lnSpc>
              <a:spcBef>
                <a:spcPts val="500"/>
              </a:spcBef>
              <a:buClr>
                <a:srgbClr val="8C8C8C"/>
              </a:buClr>
              <a:buFont typeface="Arial"/>
              <a:buChar char="•"/>
            </a:pPr>
            <a:r>
              <a:rPr sz="1200" b="1">
                <a:solidFill>
                  <a:srgbClr val="262626"/>
                </a:solidFill>
              </a:rPr>
              <a:t>外部データ </a:t>
            </a:r>
            <a:r>
              <a:rPr sz="1200" b="0">
                <a:solidFill>
                  <a:srgbClr val="262626"/>
                </a:solidFill>
              </a:rPr>
              <a:t>残課題の担い手と優先度の整理（有償・許諾はBX推進部でご判断）</a:t>
            </a:r>
          </a:p>
        </p:txBody>
      </p:sp>
      <p:sp>
        <p:nvSpPr>
          <p:cNvPr id="20" name="Rectangle 19"/>
          <p:cNvSpPr/>
          <p:nvPr/>
        </p:nvSpPr>
        <p:spPr>
          <a:xfrm>
            <a:off x="475488" y="4590288"/>
            <a:ext cx="11228832" cy="310896"/>
          </a:xfrm>
          <a:prstGeom prst="rect">
            <a:avLst/>
          </a:prstGeom>
          <a:solidFill>
            <a:srgbClr val="63666A"/>
          </a:solidFill>
          <a:ln>
            <a:noFill/>
          </a:ln>
        </p:spPr>
        <p:txBody>
          <a:bodyPr rtlCol="0" anchor="ctr" wrap="square" lIns="54864" tIns="27432" rIns="54864" bIns="27432">
            <a:noAutofit/>
          </a:bodyPr>
          <a:lstStyle/>
          <a:p>
            <a:pPr algn="ctr">
              <a:buNone/>
            </a:pPr>
            <a:r>
              <a:rPr sz="1250" b="1">
                <a:solidFill>
                  <a:srgbClr val="FFFFFF"/>
                </a:solidFill>
              </a:rPr>
              <a:t>主なリスクと課題</a:t>
            </a:r>
          </a:p>
        </p:txBody>
      </p:sp>
      <p:graphicFrame>
        <p:nvGraphicFramePr>
          <p:cNvPr id="21" name="Table 20"/>
          <p:cNvGraphicFramePr>
            <a:graphicFrameLocks noGrp="1"/>
          </p:cNvGraphicFramePr>
          <p:nvPr/>
        </p:nvGraphicFramePr>
        <p:xfrm>
          <a:off x="475488" y="4901184"/>
          <a:ext cx="11228832" cy="1408176"/>
        </p:xfrm>
        <a:graphic>
          <a:graphicData uri="http://schemas.openxmlformats.org/drawingml/2006/table">
            <a:tbl>
              <a:tblPr firstRow="0" bandRow="0" firstCol="0" lastRow="0" lastCol="0" bandCol="0">
                <a:tableStyleId>{2D5ABB26-0587-4C30-8999-92F81FD0307C}</a:tableStyleId>
              </a:tblPr>
              <a:tblGrid>
                <a:gridCol w="731520"/>
                <a:gridCol w="457200"/>
                <a:gridCol w="2606040"/>
                <a:gridCol w="6382512"/>
                <a:gridCol w="1051560"/>
              </a:tblGrid>
              <a:tr h="256032">
                <a:tc>
                  <a:txBody>
                    <a:bodyPr wrap="square"/>
                    <a:lstStyle/>
                    <a:p>
                      <a:pPr algn="ctr">
                        <a:lnSpc>
                          <a:spcPts val="1350"/>
                        </a:lnSpc>
                        <a:buNone/>
                      </a:pPr>
                      <a:r>
                        <a:rPr sz="1100" b="1">
                          <a:solidFill>
                            <a:srgbClr val="595959"/>
                          </a:solidFill>
                        </a:rPr>
                        <a:t>区分</a:t>
                      </a:r>
                    </a:p>
                  </a:txBody>
                  <a:tcPr marL="73152" marT="27432" marR="73152" marB="27432"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1">
                          <a:solidFill>
                            <a:srgbClr val="595959"/>
                          </a:solidFill>
                        </a:rPr>
                        <a:t>No</a:t>
                      </a:r>
                    </a:p>
                  </a:txBody>
                  <a:tcPr marL="73152" marT="27432" marR="73152" marB="27432" anchor="ctr">
                    <a:lnL w="0">
                      <a:noFill/>
                    </a:lnL>
                    <a:lnR w="0">
                      <a:noFill/>
                    </a:lnR>
                    <a:lnT w="0">
                      <a:noFill/>
                    </a:lnT>
                    <a:lnB w="9525">
                      <a:solidFill>
                        <a:srgbClr val="E3E3E3"/>
                      </a:solidFill>
                    </a:lnB>
                    <a:solidFill>
                      <a:srgbClr val="F3F3F3"/>
                    </a:solidFill>
                  </a:tcPr>
                </a:tc>
                <a:tc>
                  <a:txBody>
                    <a:bodyPr wrap="square"/>
                    <a:lstStyle/>
                    <a:p>
                      <a:pPr algn="l">
                        <a:lnSpc>
                          <a:spcPts val="1350"/>
                        </a:lnSpc>
                        <a:buNone/>
                      </a:pPr>
                      <a:r>
                        <a:rPr sz="1100" b="1">
                          <a:solidFill>
                            <a:srgbClr val="595959"/>
                          </a:solidFill>
                        </a:rPr>
                        <a:t>リスク／課題</a:t>
                      </a:r>
                    </a:p>
                  </a:txBody>
                  <a:tcPr marL="73152" marT="27432" marR="73152" marB="27432" anchor="ctr">
                    <a:lnL w="0">
                      <a:noFill/>
                    </a:lnL>
                    <a:lnR w="0">
                      <a:noFill/>
                    </a:lnR>
                    <a:lnT w="0">
                      <a:noFill/>
                    </a:lnT>
                    <a:lnB w="9525">
                      <a:solidFill>
                        <a:srgbClr val="E3E3E3"/>
                      </a:solidFill>
                    </a:lnB>
                    <a:solidFill>
                      <a:srgbClr val="F3F3F3"/>
                    </a:solidFill>
                  </a:tcPr>
                </a:tc>
                <a:tc>
                  <a:txBody>
                    <a:bodyPr wrap="square"/>
                    <a:lstStyle/>
                    <a:p>
                      <a:pPr algn="l">
                        <a:lnSpc>
                          <a:spcPts val="1350"/>
                        </a:lnSpc>
                        <a:buNone/>
                      </a:pPr>
                      <a:r>
                        <a:rPr sz="1100" b="1">
                          <a:solidFill>
                            <a:srgbClr val="595959"/>
                          </a:solidFill>
                        </a:rPr>
                        <a:t>概要</a:t>
                      </a:r>
                    </a:p>
                  </a:txBody>
                  <a:tcPr marL="73152" marT="27432" marR="73152" marB="27432"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1">
                          <a:solidFill>
                            <a:srgbClr val="595959"/>
                          </a:solidFill>
                        </a:rPr>
                        <a:t>対応期限</a:t>
                      </a:r>
                    </a:p>
                  </a:txBody>
                  <a:tcPr marL="73152" marT="27432" marR="73152" marB="27432" anchor="ctr">
                    <a:lnL w="0">
                      <a:noFill/>
                    </a:lnL>
                    <a:lnR w="0">
                      <a:noFill/>
                    </a:lnR>
                    <a:lnT w="0">
                      <a:noFill/>
                    </a:lnT>
                    <a:lnB w="9525">
                      <a:solidFill>
                        <a:srgbClr val="E3E3E3"/>
                      </a:solidFill>
                    </a:lnB>
                    <a:solidFill>
                      <a:srgbClr val="F3F3F3"/>
                    </a:solidFill>
                  </a:tcPr>
                </a:tc>
              </a:tr>
              <a:tr h="384048">
                <a:tc>
                  <a:txBody>
                    <a:bodyPr wrap="square"/>
                    <a:lstStyle/>
                    <a:p>
                      <a:pPr algn="ctr">
                        <a:lnSpc>
                          <a:spcPts val="1350"/>
                        </a:lnSpc>
                        <a:buNone/>
                      </a:pPr>
                      <a:r>
                        <a:rPr sz="1100" b="0">
                          <a:solidFill>
                            <a:srgbClr val="1A1A1A"/>
                          </a:solidFill>
                        </a:rPr>
                        <a:t>課題</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350"/>
                        </a:lnSpc>
                        <a:buNone/>
                      </a:pPr>
                      <a:r>
                        <a:rPr sz="1100" b="0">
                          <a:solidFill>
                            <a:srgbClr val="1A1A1A"/>
                          </a:solidFill>
                        </a:rPr>
                        <a:t>1</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1">
                          <a:solidFill>
                            <a:srgbClr val="1A1A1A"/>
                          </a:solidFill>
                        </a:rPr>
                        <a:t>10/7版への切り替え</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9/11版からの改修の差分が大きい（台帳17項目）。反映の手順と確認の観点を、ITEC様と早期に共有する必要</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350"/>
                        </a:lnSpc>
                        <a:buNone/>
                      </a:pPr>
                      <a:r>
                        <a:rPr sz="1100" b="0">
                          <a:solidFill>
                            <a:srgbClr val="1A1A1A"/>
                          </a:solidFill>
                        </a:rPr>
                        <a:t>10/14</a:t>
                      </a:r>
                    </a:p>
                  </a:txBody>
                  <a:tcPr marL="73152" marT="27432" marR="73152" marB="27432" anchor="ctr">
                    <a:lnL w="0">
                      <a:noFill/>
                    </a:lnL>
                    <a:lnR w="0">
                      <a:noFill/>
                    </a:lnR>
                    <a:lnT w="0">
                      <a:noFill/>
                    </a:lnT>
                    <a:lnB w="9525">
                      <a:solidFill>
                        <a:srgbClr val="E3E3E3"/>
                      </a:solidFill>
                    </a:lnB>
                    <a:noFill/>
                  </a:tcPr>
                </a:tc>
              </a:tr>
              <a:tr h="384048">
                <a:tc>
                  <a:txBody>
                    <a:bodyPr wrap="square"/>
                    <a:lstStyle/>
                    <a:p>
                      <a:pPr algn="ctr">
                        <a:lnSpc>
                          <a:spcPts val="1350"/>
                        </a:lnSpc>
                        <a:buNone/>
                      </a:pPr>
                      <a:r>
                        <a:rPr sz="1100" b="0">
                          <a:solidFill>
                            <a:srgbClr val="1A1A1A"/>
                          </a:solidFill>
                        </a:rPr>
                        <a:t>課題</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350"/>
                        </a:lnSpc>
                        <a:buNone/>
                      </a:pPr>
                      <a:r>
                        <a:rPr sz="1100" b="0">
                          <a:solidFill>
                            <a:srgbClr val="1A1A1A"/>
                          </a:solidFill>
                        </a:rPr>
                        <a:t>2</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1">
                          <a:solidFill>
                            <a:srgbClr val="1A1A1A"/>
                          </a:solidFill>
                        </a:rPr>
                        <a:t>本番データ投入の段取り</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投入するデータの範囲と時期、取り込み後の確認の方法を、ITEC様・BX推進部で合意する必要</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350"/>
                        </a:lnSpc>
                        <a:buNone/>
                      </a:pPr>
                      <a:r>
                        <a:rPr sz="1100" b="0">
                          <a:solidFill>
                            <a:srgbClr val="1A1A1A"/>
                          </a:solidFill>
                        </a:rPr>
                        <a:t>10/14</a:t>
                      </a:r>
                    </a:p>
                  </a:txBody>
                  <a:tcPr marL="73152" marT="27432" marR="73152" marB="27432" anchor="ctr">
                    <a:lnL w="0">
                      <a:noFill/>
                    </a:lnL>
                    <a:lnR w="0">
                      <a:noFill/>
                    </a:lnR>
                    <a:lnT w="0">
                      <a:noFill/>
                    </a:lnT>
                    <a:lnB w="9525">
                      <a:solidFill>
                        <a:srgbClr val="E3E3E3"/>
                      </a:solidFill>
                    </a:lnB>
                    <a:noFill/>
                  </a:tcPr>
                </a:tc>
              </a:tr>
              <a:tr h="384048">
                <a:tc>
                  <a:txBody>
                    <a:bodyPr wrap="square"/>
                    <a:lstStyle/>
                    <a:p>
                      <a:pPr algn="ctr">
                        <a:lnSpc>
                          <a:spcPts val="1350"/>
                        </a:lnSpc>
                        <a:buNone/>
                      </a:pPr>
                      <a:r>
                        <a:rPr sz="1100" b="1">
                          <a:solidFill>
                            <a:srgbClr val="1A1A1A"/>
                          </a:solidFill>
                        </a:rPr>
                        <a:t>リスク</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350"/>
                        </a:lnSpc>
                        <a:buNone/>
                      </a:pPr>
                      <a:r>
                        <a:rPr sz="1100" b="0">
                          <a:solidFill>
                            <a:srgbClr val="1A1A1A"/>
                          </a:solidFill>
                        </a:rPr>
                        <a:t>3</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1">
                          <a:solidFill>
                            <a:srgbClr val="1A1A1A"/>
                          </a:solidFill>
                        </a:rPr>
                        <a:t>実データに触れない体制での不具合の切り分け</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公開後の不具合は、ITEC様がマスキングしたデータを検証環境で再現して解析する。手順を事前に整える必要</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350"/>
                        </a:lnSpc>
                        <a:buNone/>
                      </a:pPr>
                      <a:r>
                        <a:rPr sz="1100" b="0">
                          <a:solidFill>
                            <a:srgbClr val="1A1A1A"/>
                          </a:solidFill>
                        </a:rPr>
                        <a:t>10/15以降</a:t>
                      </a:r>
                    </a:p>
                  </a:txBody>
                  <a:tcPr marL="73152" marT="27432" marR="73152" marB="27432" anchor="ctr">
                    <a:lnL w="0">
                      <a:noFill/>
                    </a:lnL>
                    <a:lnR w="0">
                      <a:noFill/>
                    </a:lnR>
                    <a:lnT w="0">
                      <a:noFill/>
                    </a:lnT>
                    <a:lnB w="9525">
                      <a:solidFill>
                        <a:srgbClr val="E3E3E3"/>
                      </a:solidFill>
                    </a:lnB>
                    <a:no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r>
              <a:t>改修台帳（Phase1の15項目＋Phase2の追加）と今週の改修</a:t>
            </a:r>
          </a:p>
        </p:txBody>
      </p:sp>
      <p:sp>
        <p:nvSpPr>
          <p:cNvPr id="3" name="Title 2"/>
          <p:cNvSpPr>
            <a:spLocks noGrp="1"/>
          </p:cNvSpPr>
          <p:nvPr>
            <p:ph type="title"/>
          </p:nvPr>
        </p:nvSpPr>
        <p:spPr/>
        <p:txBody>
          <a:bodyPr/>
          <a:lstStyle/>
          <a:p>
            <a:r>
              <a:t>最終報告以降も62件のご依頼・改善をすべて検証環境に反映し、改修台帳は17項目になりました。この断面を10/7版としてITEC様へ引き継ぎます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5</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graphicFrame>
        <p:nvGraphicFramePr>
          <p:cNvPr id="7" name="Table 6"/>
          <p:cNvGraphicFramePr>
            <a:graphicFrameLocks noGrp="1"/>
          </p:cNvGraphicFramePr>
          <p:nvPr/>
        </p:nvGraphicFramePr>
        <p:xfrm>
          <a:off x="475488" y="1627632"/>
          <a:ext cx="6766560" cy="4347044"/>
        </p:xfrm>
        <a:graphic>
          <a:graphicData uri="http://schemas.openxmlformats.org/drawingml/2006/table">
            <a:tbl>
              <a:tblPr firstRow="0" bandRow="0" firstCol="0" lastRow="0" lastCol="0" bandCol="0">
                <a:tableStyleId>{2D5ABB26-0587-4C30-8999-92F81FD0307C}</a:tableStyleId>
              </a:tblPr>
              <a:tblGrid>
                <a:gridCol w="914400"/>
                <a:gridCol w="384048"/>
                <a:gridCol w="2852928"/>
                <a:gridCol w="2615184"/>
              </a:tblGrid>
              <a:tr h="274320">
                <a:tc>
                  <a:txBody>
                    <a:bodyPr wrap="square"/>
                    <a:lstStyle/>
                    <a:p>
                      <a:pPr algn="ctr">
                        <a:lnSpc>
                          <a:spcPts val="1350"/>
                        </a:lnSpc>
                        <a:buNone/>
                      </a:pPr>
                      <a:r>
                        <a:rPr sz="1150" b="1">
                          <a:solidFill>
                            <a:srgbClr val="FFFFFF"/>
                          </a:solidFill>
                        </a:rPr>
                        <a:t>アプリ</a:t>
                      </a:r>
                    </a:p>
                  </a:txBody>
                  <a:tcPr marL="73152" marT="27432" marR="73152" marB="27432" anchor="ctr">
                    <a:lnL w="0">
                      <a:noFill/>
                    </a:lnL>
                    <a:lnR w="0">
                      <a:noFill/>
                    </a:lnR>
                    <a:lnT w="0">
                      <a:noFill/>
                    </a:lnT>
                    <a:lnB w="9525">
                      <a:solidFill>
                        <a:srgbClr val="E3E3E3"/>
                      </a:solidFill>
                    </a:lnB>
                    <a:solidFill>
                      <a:srgbClr val="63666A"/>
                    </a:solidFill>
                  </a:tcPr>
                </a:tc>
                <a:tc>
                  <a:txBody>
                    <a:bodyPr wrap="square"/>
                    <a:lstStyle/>
                    <a:p>
                      <a:pPr algn="ctr">
                        <a:lnSpc>
                          <a:spcPts val="1350"/>
                        </a:lnSpc>
                        <a:buNone/>
                      </a:pPr>
                      <a:r>
                        <a:rPr sz="1150" b="1">
                          <a:solidFill>
                            <a:srgbClr val="FFFFFF"/>
                          </a:solidFill>
                        </a:rPr>
                        <a:t>No</a:t>
                      </a:r>
                    </a:p>
                  </a:txBody>
                  <a:tcPr marL="73152" marT="27432" marR="73152" marB="27432" anchor="ctr">
                    <a:lnL w="0">
                      <a:noFill/>
                    </a:lnL>
                    <a:lnR w="0">
                      <a:noFill/>
                    </a:lnR>
                    <a:lnT w="0">
                      <a:noFill/>
                    </a:lnT>
                    <a:lnB w="9525">
                      <a:solidFill>
                        <a:srgbClr val="E3E3E3"/>
                      </a:solidFill>
                    </a:lnB>
                    <a:solidFill>
                      <a:srgbClr val="63666A"/>
                    </a:solidFill>
                  </a:tcPr>
                </a:tc>
                <a:tc>
                  <a:txBody>
                    <a:bodyPr wrap="square"/>
                    <a:lstStyle/>
                    <a:p>
                      <a:pPr algn="ctr">
                        <a:lnSpc>
                          <a:spcPts val="1350"/>
                        </a:lnSpc>
                        <a:buNone/>
                      </a:pPr>
                      <a:r>
                        <a:rPr sz="1150" b="1">
                          <a:solidFill>
                            <a:srgbClr val="FFFFFF"/>
                          </a:solidFill>
                        </a:rPr>
                        <a:t>機能</a:t>
                      </a:r>
                    </a:p>
                  </a:txBody>
                  <a:tcPr marL="73152" marT="27432" marR="73152" marB="27432" anchor="ctr">
                    <a:lnL w="0">
                      <a:noFill/>
                    </a:lnL>
                    <a:lnR w="0">
                      <a:noFill/>
                    </a:lnR>
                    <a:lnT w="0">
                      <a:noFill/>
                    </a:lnT>
                    <a:lnB w="9525">
                      <a:solidFill>
                        <a:srgbClr val="E3E3E3"/>
                      </a:solidFill>
                    </a:lnB>
                    <a:solidFill>
                      <a:srgbClr val="63666A"/>
                    </a:solidFill>
                  </a:tcPr>
                </a:tc>
                <a:tc>
                  <a:txBody>
                    <a:bodyPr wrap="square"/>
                    <a:lstStyle/>
                    <a:p>
                      <a:pPr algn="ctr">
                        <a:lnSpc>
                          <a:spcPts val="1350"/>
                        </a:lnSpc>
                        <a:buNone/>
                      </a:pPr>
                      <a:r>
                        <a:rPr sz="1150" b="1">
                          <a:solidFill>
                            <a:srgbClr val="FFFFFF"/>
                          </a:solidFill>
                        </a:rPr>
                        <a:t>今週（9/28〜10/6）の改修</a:t>
                      </a:r>
                    </a:p>
                  </a:txBody>
                  <a:tcPr marL="73152" marT="27432" marR="73152" marB="27432" anchor="ctr">
                    <a:lnL w="0">
                      <a:noFill/>
                    </a:lnL>
                    <a:lnR w="0">
                      <a:noFill/>
                    </a:lnR>
                    <a:lnT w="0">
                      <a:noFill/>
                    </a:lnT>
                    <a:lnB w="9525">
                      <a:solidFill>
                        <a:srgbClr val="E3E3E3"/>
                      </a:solidFill>
                    </a:lnB>
                    <a:solidFill>
                      <a:srgbClr val="63666A"/>
                    </a:solidFill>
                  </a:tcPr>
                </a:tc>
              </a:tr>
              <a:tr h="239572">
                <a:tc rowSpan="7">
                  <a:txBody>
                    <a:bodyPr wrap="square"/>
                    <a:lstStyle/>
                    <a:p>
                      <a:pPr algn="ctr">
                        <a:lnSpc>
                          <a:spcPts val="1350"/>
                        </a:lnSpc>
                        <a:buNone/>
                      </a:pPr>
                      <a:r>
                        <a:rPr sz="1100" b="1">
                          <a:solidFill>
                            <a:srgbClr val="262626"/>
                          </a:solidFill>
                        </a:rPr>
                        <a:t>AI経営ナビ</a:t>
                      </a:r>
                    </a:p>
                  </a:txBody>
                  <a:tcPr marL="27432" marT="18288" marR="27432" marB="18288" anchor="ctr">
                    <a:lnL w="0">
                      <a:noFill/>
                    </a:lnL>
                    <a:lnR w="0">
                      <a:noFill/>
                    </a:lnR>
                    <a:lnT w="0">
                      <a:noFill/>
                    </a:lnT>
                    <a:lnB w="25400">
                      <a:solidFill>
                        <a:srgbClr val="FFFFFF"/>
                      </a:solidFill>
                    </a:lnB>
                    <a:solidFill>
                      <a:srgbClr val="F3F3F3"/>
                    </a:solidFill>
                  </a:tcPr>
                </a:tc>
                <a:tc>
                  <a:txBody>
                    <a:bodyPr wrap="square"/>
                    <a:lstStyle/>
                    <a:p>
                      <a:pPr algn="ctr">
                        <a:lnSpc>
                          <a:spcPts val="1350"/>
                        </a:lnSpc>
                        <a:buNone/>
                      </a:pPr>
                      <a:r>
                        <a:rPr sz="1100" b="0">
                          <a:solidFill>
                            <a:srgbClr val="262626"/>
                          </a:solidFill>
                        </a:rPr>
                        <a:t>1</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センシングボード・SNS分析</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火種の倍率順・参照時点の表示</a:t>
                      </a:r>
                    </a:p>
                  </a:txBody>
                  <a:tcPr marL="73152" marT="27432" marR="73152" marB="27432" anchor="ctr">
                    <a:lnL w="0">
                      <a:noFill/>
                    </a:lnL>
                    <a:lnR w="0">
                      <a:noFill/>
                    </a:lnR>
                    <a:lnT w="0">
                      <a:noFill/>
                    </a:lnT>
                    <a:lnB w="9525">
                      <a:solidFill>
                        <a:srgbClr val="E3E3E3"/>
                      </a:solidFill>
                    </a:lnB>
                    <a:solidFill>
                      <a:srgbClr val="EEF3EF"/>
                    </a:solid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2</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計画の前提を洗い直す</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レポートの文字サイズ・行間</a:t>
                      </a:r>
                    </a:p>
                  </a:txBody>
                  <a:tcPr marL="73152" marT="27432" marR="73152" marB="27432" anchor="ctr">
                    <a:lnL w="0">
                      <a:noFill/>
                    </a:lnL>
                    <a:lnR w="0">
                      <a:noFill/>
                    </a:lnR>
                    <a:lnT w="0">
                      <a:noFill/>
                    </a:lnT>
                    <a:lnB w="9525">
                      <a:solidFill>
                        <a:srgbClr val="E3E3E3"/>
                      </a:solidFill>
                    </a:lnB>
                    <a:solidFill>
                      <a:srgbClr val="EEF3EF"/>
                    </a:solid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3</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戦略・計画を点検する</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追加改修①を反映（12件）</a:t>
                      </a:r>
                    </a:p>
                  </a:txBody>
                  <a:tcPr marL="73152" marT="27432" marR="73152" marB="27432" anchor="ctr">
                    <a:lnL w="0">
                      <a:noFill/>
                    </a:lnL>
                    <a:lnR w="0">
                      <a:noFill/>
                    </a:lnR>
                    <a:lnT w="0">
                      <a:noFill/>
                    </a:lnT>
                    <a:lnB w="9525">
                      <a:solidFill>
                        <a:srgbClr val="E3E3E3"/>
                      </a:solidFill>
                    </a:lnB>
                    <a:solidFill>
                      <a:srgbClr val="EEF3EF"/>
                    </a:solid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4</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グループ横断で計画を束ねる</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追加改修①を反映（12件）</a:t>
                      </a:r>
                    </a:p>
                  </a:txBody>
                  <a:tcPr marL="73152" marT="27432" marR="73152" marB="27432" anchor="ctr">
                    <a:lnL w="0">
                      <a:noFill/>
                    </a:lnL>
                    <a:lnR w="0">
                      <a:noFill/>
                    </a:lnR>
                    <a:lnT w="0">
                      <a:noFill/>
                    </a:lnT>
                    <a:lnB w="9525">
                      <a:solidFill>
                        <a:srgbClr val="E3E3E3"/>
                      </a:solidFill>
                    </a:lnB>
                    <a:solidFill>
                      <a:srgbClr val="EEF3EF"/>
                    </a:solid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5</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計画・案件の検証</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追加改修①を反映（21件）</a:t>
                      </a:r>
                    </a:p>
                  </a:txBody>
                  <a:tcPr marL="73152" marT="27432" marR="73152" marB="27432" anchor="ctr">
                    <a:lnL w="0">
                      <a:noFill/>
                    </a:lnL>
                    <a:lnR w="0">
                      <a:noFill/>
                    </a:lnR>
                    <a:lnT w="0">
                      <a:noFill/>
                    </a:lnT>
                    <a:lnB w="9525">
                      <a:solidFill>
                        <a:srgbClr val="E3E3E3"/>
                      </a:solidFill>
                    </a:lnB>
                    <a:solidFill>
                      <a:srgbClr val="EEF3EF"/>
                    </a:solid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6</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深掘り・保存した結果（計画支援共通）</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時期の目安の表記を調整</a:t>
                      </a:r>
                    </a:p>
                  </a:txBody>
                  <a:tcPr marL="73152" marT="27432" marR="73152" marB="27432" anchor="ctr">
                    <a:lnL w="0">
                      <a:noFill/>
                    </a:lnL>
                    <a:lnR w="0">
                      <a:noFill/>
                    </a:lnR>
                    <a:lnT w="0">
                      <a:noFill/>
                    </a:lnT>
                    <a:lnB w="9525">
                      <a:solidFill>
                        <a:srgbClr val="E3E3E3"/>
                      </a:solidFill>
                    </a:lnB>
                    <a:solidFill>
                      <a:srgbClr val="EEF3EF"/>
                    </a:solid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7</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AI壁打ち（外部情報・成果物）</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回答完了の表示・評価・コピー</a:t>
                      </a:r>
                    </a:p>
                  </a:txBody>
                  <a:tcPr marL="73152" marT="27432" marR="73152" marB="27432" anchor="ctr">
                    <a:lnL w="0">
                      <a:noFill/>
                    </a:lnL>
                    <a:lnR w="0">
                      <a:noFill/>
                    </a:lnR>
                    <a:lnT w="0">
                      <a:noFill/>
                    </a:lnT>
                    <a:lnB w="9525">
                      <a:solidFill>
                        <a:srgbClr val="E3E3E3"/>
                      </a:solidFill>
                    </a:lnB>
                    <a:solidFill>
                      <a:srgbClr val="EEF3EF"/>
                    </a:solidFill>
                  </a:tcPr>
                </a:tc>
              </a:tr>
              <a:tr h="239572">
                <a:tc rowSpan="5">
                  <a:txBody>
                    <a:bodyPr wrap="square"/>
                    <a:lstStyle/>
                    <a:p>
                      <a:pPr algn="ctr">
                        <a:lnSpc>
                          <a:spcPts val="1350"/>
                        </a:lnSpc>
                        <a:buNone/>
                      </a:pPr>
                      <a:r>
                        <a:rPr sz="1100" b="1">
                          <a:solidFill>
                            <a:srgbClr val="262626"/>
                          </a:solidFill>
                        </a:rPr>
                        <a:t>総会QA</a:t>
                      </a:r>
                    </a:p>
                  </a:txBody>
                  <a:tcPr marL="27432" marT="18288" marR="27432" marB="18288" anchor="ctr">
                    <a:lnL w="0">
                      <a:noFill/>
                    </a:lnL>
                    <a:lnR w="0">
                      <a:noFill/>
                    </a:lnR>
                    <a:lnT w="0">
                      <a:noFill/>
                    </a:lnT>
                    <a:lnB w="25400">
                      <a:solidFill>
                        <a:srgbClr val="FFFFFF"/>
                      </a:solidFill>
                    </a:lnB>
                    <a:solidFill>
                      <a:srgbClr val="F3F3F3"/>
                    </a:solidFill>
                  </a:tcPr>
                </a:tc>
                <a:tc>
                  <a:txBody>
                    <a:bodyPr wrap="square"/>
                    <a:lstStyle/>
                    <a:p>
                      <a:pPr algn="ctr">
                        <a:lnSpc>
                          <a:spcPts val="1350"/>
                        </a:lnSpc>
                        <a:buNone/>
                      </a:pPr>
                      <a:r>
                        <a:rPr sz="1100" b="0">
                          <a:solidFill>
                            <a:srgbClr val="262626"/>
                          </a:solidFill>
                        </a:rPr>
                        <a:t>8</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所属階層と閲覧範囲</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350"/>
                        </a:lnSpc>
                        <a:buNone/>
                      </a:pPr>
                      <a:r>
                        <a:rPr sz="1100" b="0">
                          <a:solidFill>
                            <a:srgbClr val="8C8C8C"/>
                          </a:solidFill>
                        </a:rPr>
                        <a:t>—</a:t>
                      </a:r>
                    </a:p>
                  </a:txBody>
                  <a:tcPr marL="73152" marT="27432" marR="73152" marB="27432" anchor="ctr">
                    <a:lnL w="0">
                      <a:noFill/>
                    </a:lnL>
                    <a:lnR w="0">
                      <a:noFill/>
                    </a:lnR>
                    <a:lnT w="0">
                      <a:noFill/>
                    </a:lnT>
                    <a:lnB w="9525">
                      <a:solidFill>
                        <a:srgbClr val="E3E3E3"/>
                      </a:solidFill>
                    </a:lnB>
                    <a:no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9</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当日回答作成（新設）</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350"/>
                        </a:lnSpc>
                        <a:buNone/>
                      </a:pPr>
                      <a:r>
                        <a:rPr sz="1100" b="0">
                          <a:solidFill>
                            <a:srgbClr val="8C8C8C"/>
                          </a:solidFill>
                        </a:rPr>
                        <a:t>—</a:t>
                      </a:r>
                    </a:p>
                  </a:txBody>
                  <a:tcPr marL="73152" marT="27432" marR="73152" marB="27432" anchor="ctr">
                    <a:lnL w="0">
                      <a:noFill/>
                    </a:lnL>
                    <a:lnR w="0">
                      <a:noFill/>
                    </a:lnR>
                    <a:lnT w="0">
                      <a:noFill/>
                    </a:lnT>
                    <a:lnB w="9525">
                      <a:solidFill>
                        <a:srgbClr val="E3E3E3"/>
                      </a:solidFill>
                    </a:lnB>
                    <a:no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10</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質問作成</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今年度QAの取り込み</a:t>
                      </a:r>
                    </a:p>
                  </a:txBody>
                  <a:tcPr marL="73152" marT="27432" marR="73152" marB="27432" anchor="ctr">
                    <a:lnL w="0">
                      <a:noFill/>
                    </a:lnL>
                    <a:lnR w="0">
                      <a:noFill/>
                    </a:lnR>
                    <a:lnT w="0">
                      <a:noFill/>
                    </a:lnT>
                    <a:lnB w="9525">
                      <a:solidFill>
                        <a:srgbClr val="E3E3E3"/>
                      </a:solidFill>
                    </a:lnB>
                    <a:solidFill>
                      <a:srgbClr val="EEF3EF"/>
                    </a:solid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11</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回答作成・Word出力</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今年度QAの取り込み</a:t>
                      </a:r>
                    </a:p>
                  </a:txBody>
                  <a:tcPr marL="73152" marT="27432" marR="73152" marB="27432" anchor="ctr">
                    <a:lnL w="0">
                      <a:noFill/>
                    </a:lnL>
                    <a:lnR w="0">
                      <a:noFill/>
                    </a:lnR>
                    <a:lnT w="0">
                      <a:noFill/>
                    </a:lnT>
                    <a:lnB w="9525">
                      <a:solidFill>
                        <a:srgbClr val="E3E3E3"/>
                      </a:solidFill>
                    </a:lnB>
                    <a:solidFill>
                      <a:srgbClr val="EEF3EF"/>
                    </a:solid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12</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AI壁打ち</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回答完了の表示・評価・コピー</a:t>
                      </a:r>
                    </a:p>
                  </a:txBody>
                  <a:tcPr marL="73152" marT="27432" marR="73152" marB="27432" anchor="ctr">
                    <a:lnL w="0">
                      <a:noFill/>
                    </a:lnL>
                    <a:lnR w="0">
                      <a:noFill/>
                    </a:lnR>
                    <a:lnT w="0">
                      <a:noFill/>
                    </a:lnT>
                    <a:lnB w="9525">
                      <a:solidFill>
                        <a:srgbClr val="E3E3E3"/>
                      </a:solidFill>
                    </a:lnB>
                    <a:solidFill>
                      <a:srgbClr val="EEF3EF"/>
                    </a:solidFill>
                  </a:tcPr>
                </a:tc>
              </a:tr>
              <a:tr h="239572">
                <a:tc rowSpan="3">
                  <a:txBody>
                    <a:bodyPr wrap="square"/>
                    <a:lstStyle/>
                    <a:p>
                      <a:pPr algn="ctr">
                        <a:lnSpc>
                          <a:spcPts val="1350"/>
                        </a:lnSpc>
                        <a:buNone/>
                      </a:pPr>
                      <a:r>
                        <a:rPr sz="1100" b="1">
                          <a:solidFill>
                            <a:srgbClr val="262626"/>
                          </a:solidFill>
                        </a:rPr>
                        <a:t>共通</a:t>
                      </a:r>
                    </a:p>
                  </a:txBody>
                  <a:tcPr marL="27432" marT="18288" marR="27432" marB="18288" anchor="ctr">
                    <a:lnL w="0">
                      <a:noFill/>
                    </a:lnL>
                    <a:lnR w="0">
                      <a:noFill/>
                    </a:lnR>
                    <a:lnT w="0">
                      <a:noFill/>
                    </a:lnT>
                    <a:lnB w="25400">
                      <a:solidFill>
                        <a:srgbClr val="FFFFFF"/>
                      </a:solidFill>
                    </a:lnB>
                    <a:solidFill>
                      <a:srgbClr val="F3F3F3"/>
                    </a:solidFill>
                  </a:tcPr>
                </a:tc>
                <a:tc>
                  <a:txBody>
                    <a:bodyPr wrap="square"/>
                    <a:lstStyle/>
                    <a:p>
                      <a:pPr algn="ctr">
                        <a:lnSpc>
                          <a:spcPts val="1350"/>
                        </a:lnSpc>
                        <a:buNone/>
                      </a:pPr>
                      <a:r>
                        <a:rPr sz="1100" b="0">
                          <a:solidFill>
                            <a:srgbClr val="262626"/>
                          </a:solidFill>
                        </a:rPr>
                        <a:t>13</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機密データ受け渡し箱（新設）</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350"/>
                        </a:lnSpc>
                        <a:buNone/>
                      </a:pPr>
                      <a:r>
                        <a:rPr sz="1100" b="0">
                          <a:solidFill>
                            <a:srgbClr val="8C8C8C"/>
                          </a:solidFill>
                        </a:rPr>
                        <a:t>—</a:t>
                      </a:r>
                    </a:p>
                  </a:txBody>
                  <a:tcPr marL="73152" marT="27432" marR="73152" marB="27432" anchor="ctr">
                    <a:lnL w="0">
                      <a:noFill/>
                    </a:lnL>
                    <a:lnR w="0">
                      <a:noFill/>
                    </a:lnR>
                    <a:lnT w="0">
                      <a:noFill/>
                    </a:lnT>
                    <a:lnB w="9525">
                      <a:solidFill>
                        <a:srgbClr val="E3E3E3"/>
                      </a:solidFill>
                    </a:lnB>
                    <a:no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14</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権限の総点検</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350"/>
                        </a:lnSpc>
                        <a:buNone/>
                      </a:pPr>
                      <a:r>
                        <a:rPr sz="1100" b="0">
                          <a:solidFill>
                            <a:srgbClr val="8C8C8C"/>
                          </a:solidFill>
                        </a:rPr>
                        <a:t>—</a:t>
                      </a:r>
                    </a:p>
                  </a:txBody>
                  <a:tcPr marL="73152" marT="27432" marR="73152" marB="27432" anchor="ctr">
                    <a:lnL w="0">
                      <a:noFill/>
                    </a:lnL>
                    <a:lnR w="0">
                      <a:noFill/>
                    </a:lnR>
                    <a:lnT w="0">
                      <a:noFill/>
                    </a:lnT>
                    <a:lnB w="9525">
                      <a:solidFill>
                        <a:srgbClr val="E3E3E3"/>
                      </a:solidFill>
                    </a:lnB>
                    <a:no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15</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LLMをClaude Opus 5.5へ切替</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350"/>
                        </a:lnSpc>
                        <a:buNone/>
                      </a:pPr>
                      <a:r>
                        <a:rPr sz="1100" b="0">
                          <a:solidFill>
                            <a:srgbClr val="8C8C8C"/>
                          </a:solidFill>
                        </a:rPr>
                        <a:t>—</a:t>
                      </a:r>
                    </a:p>
                  </a:txBody>
                  <a:tcPr marL="73152" marT="27432" marR="73152" marB="27432" anchor="ctr">
                    <a:lnL w="0">
                      <a:noFill/>
                    </a:lnL>
                    <a:lnR w="0">
                      <a:noFill/>
                    </a:lnR>
                    <a:lnT w="0">
                      <a:noFill/>
                    </a:lnT>
                    <a:lnB w="9525">
                      <a:solidFill>
                        <a:srgbClr val="E3E3E3"/>
                      </a:solidFill>
                    </a:lnB>
                    <a:noFill/>
                  </a:tcPr>
                </a:tc>
              </a:tr>
              <a:tr h="239572">
                <a:tc rowSpan="2">
                  <a:txBody>
                    <a:bodyPr wrap="square"/>
                    <a:lstStyle/>
                    <a:p>
                      <a:pPr algn="ctr">
                        <a:lnSpc>
                          <a:spcPts val="1350"/>
                        </a:lnSpc>
                        <a:buNone/>
                      </a:pPr>
                      <a:r>
                        <a:rPr sz="1100" b="1">
                          <a:solidFill>
                            <a:srgbClr val="262626"/>
                          </a:solidFill>
                        </a:rPr>
                        <a:t>Phase2で</a:t>
                      </a:r>
                    </a:p>
                    <a:p>
                      <a:pPr algn="ctr">
                        <a:lnSpc>
                          <a:spcPts val="1350"/>
                        </a:lnSpc>
                        <a:buNone/>
                      </a:pPr>
                      <a:r>
                        <a:rPr sz="1100" b="1">
                          <a:solidFill>
                            <a:srgbClr val="262626"/>
                          </a:solidFill>
                        </a:rPr>
                        <a:t>追加</a:t>
                      </a:r>
                    </a:p>
                  </a:txBody>
                  <a:tcPr marL="27432" marT="18288" marR="27432" marB="18288" anchor="ctr">
                    <a:lnL w="0">
                      <a:noFill/>
                    </a:lnL>
                    <a:lnR w="0">
                      <a:noFill/>
                    </a:lnR>
                    <a:lnT w="0">
                      <a:noFill/>
                    </a:lnT>
                    <a:lnB w="25400">
                      <a:solidFill>
                        <a:srgbClr val="FFFFFF"/>
                      </a:solidFill>
                    </a:lnB>
                    <a:solidFill>
                      <a:srgbClr val="F3F3F3"/>
                    </a:solidFill>
                  </a:tcPr>
                </a:tc>
                <a:tc>
                  <a:txBody>
                    <a:bodyPr wrap="square"/>
                    <a:lstStyle/>
                    <a:p>
                      <a:pPr algn="ctr">
                        <a:lnSpc>
                          <a:spcPts val="1350"/>
                        </a:lnSpc>
                        <a:buNone/>
                      </a:pPr>
                      <a:r>
                        <a:rPr sz="1100" b="0">
                          <a:solidFill>
                            <a:srgbClr val="262626"/>
                          </a:solidFill>
                        </a:rPr>
                        <a:t>16</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外部データの拡充と取得の流れ</a:t>
                      </a:r>
                      <a:r>
                        <a:rPr sz="950" b="1">
                          <a:solidFill>
                            <a:srgbClr val="046A38"/>
                          </a:solidFill>
                        </a:rPr>
                        <a:t>  NEW</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取得元＋59件・外部指標72</a:t>
                      </a:r>
                    </a:p>
                  </a:txBody>
                  <a:tcPr marL="73152" marT="27432" marR="73152" marB="27432" anchor="ctr">
                    <a:lnL w="0">
                      <a:noFill/>
                    </a:lnL>
                    <a:lnR w="0">
                      <a:noFill/>
                    </a:lnR>
                    <a:lnT w="0">
                      <a:noFill/>
                    </a:lnT>
                    <a:lnB w="9525">
                      <a:solidFill>
                        <a:srgbClr val="E3E3E3"/>
                      </a:solidFill>
                    </a:lnB>
                    <a:solidFill>
                      <a:srgbClr val="EEF3EF"/>
                    </a:solidFill>
                  </a:tcPr>
                </a:tc>
              </a:tr>
              <a:tr h="239572">
                <a:tc vMerge="1">
                  <a:txBody>
                    <a:bodyPr wrap="square"/>
                    <a:lstStyle/>
                    <a:p>
                      <a:pPr algn="ctr">
                        <a:lnSpc>
                          <a:spcPts val="1350"/>
                        </a:lnSpc>
                        <a:buNone/>
                      </a:pPr>
                      <a:r>
                        <a:rPr sz="1100" b="1">
                          <a:solidFill>
                            <a:srgbClr val="262626"/>
                          </a:solidFill>
                        </a:rPr>
                        <a:t/>
                      </a:r>
                    </a:p>
                  </a:txBody>
                  <a:tcPr marL="27432" marT="18288" marR="27432" marB="18288"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0">
                          <a:solidFill>
                            <a:srgbClr val="262626"/>
                          </a:solidFill>
                        </a:rPr>
                        <a:t>17</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0">
                          <a:solidFill>
                            <a:srgbClr val="1A1A1A"/>
                          </a:solidFill>
                        </a:rPr>
                        <a:t>読み込みの高速化・全画面の点検</a:t>
                      </a:r>
                      <a:r>
                        <a:rPr sz="950" b="1">
                          <a:solidFill>
                            <a:srgbClr val="046A38"/>
                          </a:solidFill>
                        </a:rPr>
                        <a:t>  NEW</a:t>
                      </a:r>
                    </a:p>
                  </a:txBody>
                  <a:tcPr marL="73152" marT="27432" marR="73152" marB="27432" anchor="ctr">
                    <a:lnL w="0">
                      <a:noFill/>
                    </a:lnL>
                    <a:lnR w="0">
                      <a:noFill/>
                    </a:lnR>
                    <a:lnT w="0">
                      <a:noFill/>
                    </a:lnT>
                    <a:lnB w="9525">
                      <a:solidFill>
                        <a:srgbClr val="E3E3E3"/>
                      </a:solidFill>
                    </a:lnB>
                    <a:solidFill>
                      <a:srgbClr val="EEF3EF"/>
                    </a:solidFill>
                  </a:tcPr>
                </a:tc>
                <a:tc>
                  <a:txBody>
                    <a:bodyPr wrap="square"/>
                    <a:lstStyle/>
                    <a:p>
                      <a:pPr algn="l">
                        <a:lnSpc>
                          <a:spcPts val="1350"/>
                        </a:lnSpc>
                        <a:buNone/>
                      </a:pPr>
                      <a:r>
                        <a:rPr sz="1100" b="1">
                          <a:solidFill>
                            <a:srgbClr val="046A38"/>
                          </a:solidFill>
                        </a:rPr>
                        <a:t>ログイン直後の表示を高速化</a:t>
                      </a:r>
                    </a:p>
                  </a:txBody>
                  <a:tcPr marL="73152" marT="27432" marR="73152" marB="27432" anchor="ctr">
                    <a:lnL w="0">
                      <a:noFill/>
                    </a:lnL>
                    <a:lnR w="0">
                      <a:noFill/>
                    </a:lnR>
                    <a:lnT w="0">
                      <a:noFill/>
                    </a:lnT>
                    <a:lnB w="9525">
                      <a:solidFill>
                        <a:srgbClr val="E3E3E3"/>
                      </a:solidFill>
                    </a:lnB>
                    <a:solidFill>
                      <a:srgbClr val="EEF3EF"/>
                    </a:solidFill>
                  </a:tcPr>
                </a:tc>
              </a:tr>
            </a:tbl>
          </a:graphicData>
        </a:graphic>
      </p:graphicFrame>
      <p:sp>
        <p:nvSpPr>
          <p:cNvPr id="8" name="TextBox 7"/>
          <p:cNvSpPr txBox="1"/>
          <p:nvPr/>
        </p:nvSpPr>
        <p:spPr>
          <a:xfrm>
            <a:off x="475488" y="6053328"/>
            <a:ext cx="6766560" cy="256032"/>
          </a:xfrm>
          <a:prstGeom prst="rect">
            <a:avLst/>
          </a:prstGeom>
          <a:noFill/>
        </p:spPr>
        <p:txBody>
          <a:bodyPr wrap="square" lIns="0" tIns="0" rIns="0" bIns="0" anchor="ctr">
            <a:noAutofit/>
          </a:bodyPr>
          <a:lstStyle/>
          <a:p>
            <a:pPr algn="l">
              <a:buNone/>
            </a:pPr>
            <a:r>
              <a:rPr sz="1000" b="0">
                <a:solidFill>
                  <a:srgbClr val="C9D9CE"/>
                </a:solidFill>
              </a:rPr>
              <a:t>■</a:t>
            </a:r>
            <a:r>
              <a:rPr sz="1000" b="0">
                <a:solidFill>
                  <a:srgbClr val="595959"/>
                </a:solidFill>
              </a:rPr>
              <a:t> 今週更新・新設した項目　　No.1〜15はPhase1（9/27断面）でご報告済み</a:t>
            </a:r>
          </a:p>
        </p:txBody>
      </p:sp>
      <p:sp>
        <p:nvSpPr>
          <p:cNvPr id="9" name="Rectangle 8"/>
          <p:cNvSpPr/>
          <p:nvPr/>
        </p:nvSpPr>
        <p:spPr>
          <a:xfrm>
            <a:off x="7516368" y="1627632"/>
            <a:ext cx="2039112" cy="896112"/>
          </a:xfrm>
          <a:prstGeom prst="rect">
            <a:avLst/>
          </a:prstGeom>
          <a:solidFill>
            <a:srgbClr val="F3F3F3"/>
          </a:solidFill>
          <a:ln>
            <a:noFill/>
          </a:ln>
        </p:spPr>
        <p:txBody>
          <a:bodyPr rtlCol="0" anchor="ctr" wrap="square" lIns="54864" tIns="27432" rIns="54864" bIns="27432">
            <a:noAutofit/>
          </a:bodyPr>
          <a:lstStyle/>
          <a:p>
            <a:pPr algn="ctr"/>
          </a:p>
        </p:txBody>
      </p:sp>
      <p:sp>
        <p:nvSpPr>
          <p:cNvPr id="10" name="TextBox 9"/>
          <p:cNvSpPr txBox="1"/>
          <p:nvPr/>
        </p:nvSpPr>
        <p:spPr>
          <a:xfrm>
            <a:off x="7516368" y="1645920"/>
            <a:ext cx="2039112" cy="475488"/>
          </a:xfrm>
          <a:prstGeom prst="rect">
            <a:avLst/>
          </a:prstGeom>
          <a:noFill/>
        </p:spPr>
        <p:txBody>
          <a:bodyPr wrap="square" lIns="0" tIns="0" rIns="0" bIns="0" anchor="ctr">
            <a:noAutofit/>
          </a:bodyPr>
          <a:lstStyle/>
          <a:p>
            <a:pPr algn="ctr">
              <a:buNone/>
            </a:pPr>
            <a:r>
              <a:rPr sz="2800" b="1">
                <a:solidFill>
                  <a:srgbClr val="046A38"/>
                </a:solidFill>
              </a:rPr>
              <a:t>62</a:t>
            </a:r>
            <a:r>
              <a:rPr sz="1200" b="1">
                <a:solidFill>
                  <a:srgbClr val="046A38"/>
                </a:solidFill>
              </a:rPr>
              <a:t> 件</a:t>
            </a:r>
          </a:p>
        </p:txBody>
      </p:sp>
      <p:sp>
        <p:nvSpPr>
          <p:cNvPr id="11" name="TextBox 10"/>
          <p:cNvSpPr txBox="1"/>
          <p:nvPr/>
        </p:nvSpPr>
        <p:spPr>
          <a:xfrm>
            <a:off x="7516368" y="2103120"/>
            <a:ext cx="2039112" cy="384048"/>
          </a:xfrm>
          <a:prstGeom prst="rect">
            <a:avLst/>
          </a:prstGeom>
          <a:noFill/>
        </p:spPr>
        <p:txBody>
          <a:bodyPr wrap="square" lIns="0" tIns="0" rIns="0" bIns="0" anchor="t">
            <a:noAutofit/>
          </a:bodyPr>
          <a:lstStyle/>
          <a:p>
            <a:pPr algn="ctr">
              <a:buNone/>
            </a:pPr>
            <a:r>
              <a:rPr sz="1000" b="0">
                <a:solidFill>
                  <a:srgbClr val="595959"/>
                </a:solidFill>
              </a:rPr>
              <a:t>9/28〜10/4に受けたご依頼・改善</a:t>
            </a:r>
          </a:p>
          <a:p>
            <a:pPr algn="ctr">
              <a:buNone/>
            </a:pPr>
            <a:r>
              <a:rPr sz="1000" b="1">
                <a:solidFill>
                  <a:srgbClr val="262626"/>
                </a:solidFill>
              </a:rPr>
              <a:t>すべて反映済み</a:t>
            </a:r>
          </a:p>
        </p:txBody>
      </p:sp>
      <p:sp>
        <p:nvSpPr>
          <p:cNvPr id="12" name="Rectangle 11"/>
          <p:cNvSpPr/>
          <p:nvPr/>
        </p:nvSpPr>
        <p:spPr>
          <a:xfrm>
            <a:off x="9665208" y="1627632"/>
            <a:ext cx="2039112" cy="896112"/>
          </a:xfrm>
          <a:prstGeom prst="rect">
            <a:avLst/>
          </a:prstGeom>
          <a:solidFill>
            <a:srgbClr val="F3F3F3"/>
          </a:solidFill>
          <a:ln>
            <a:noFill/>
          </a:ln>
        </p:spPr>
        <p:txBody>
          <a:bodyPr rtlCol="0" anchor="ctr" wrap="square" lIns="54864" tIns="27432" rIns="54864" bIns="27432">
            <a:noAutofit/>
          </a:bodyPr>
          <a:lstStyle/>
          <a:p>
            <a:pPr algn="ctr"/>
          </a:p>
        </p:txBody>
      </p:sp>
      <p:sp>
        <p:nvSpPr>
          <p:cNvPr id="13" name="TextBox 12"/>
          <p:cNvSpPr txBox="1"/>
          <p:nvPr/>
        </p:nvSpPr>
        <p:spPr>
          <a:xfrm>
            <a:off x="9665208" y="1645920"/>
            <a:ext cx="2039112" cy="475488"/>
          </a:xfrm>
          <a:prstGeom prst="rect">
            <a:avLst/>
          </a:prstGeom>
          <a:noFill/>
        </p:spPr>
        <p:txBody>
          <a:bodyPr wrap="square" lIns="0" tIns="0" rIns="0" bIns="0" anchor="ctr">
            <a:noAutofit/>
          </a:bodyPr>
          <a:lstStyle/>
          <a:p>
            <a:pPr algn="ctr">
              <a:buNone/>
            </a:pPr>
            <a:r>
              <a:rPr sz="2800" b="1">
                <a:solidFill>
                  <a:srgbClr val="046A38"/>
                </a:solidFill>
              </a:rPr>
              <a:t>17</a:t>
            </a:r>
            <a:r>
              <a:rPr sz="1200" b="1">
                <a:solidFill>
                  <a:srgbClr val="046A38"/>
                </a:solidFill>
              </a:rPr>
              <a:t> 項目</a:t>
            </a:r>
          </a:p>
        </p:txBody>
      </p:sp>
      <p:sp>
        <p:nvSpPr>
          <p:cNvPr id="14" name="TextBox 13"/>
          <p:cNvSpPr txBox="1"/>
          <p:nvPr/>
        </p:nvSpPr>
        <p:spPr>
          <a:xfrm>
            <a:off x="9665208" y="2103120"/>
            <a:ext cx="2039112" cy="384048"/>
          </a:xfrm>
          <a:prstGeom prst="rect">
            <a:avLst/>
          </a:prstGeom>
          <a:noFill/>
        </p:spPr>
        <p:txBody>
          <a:bodyPr wrap="square" lIns="0" tIns="0" rIns="0" bIns="0" anchor="t">
            <a:noAutofit/>
          </a:bodyPr>
          <a:lstStyle/>
          <a:p>
            <a:pPr algn="ctr">
              <a:buNone/>
            </a:pPr>
            <a:r>
              <a:rPr sz="1000" b="0">
                <a:solidFill>
                  <a:srgbClr val="595959"/>
                </a:solidFill>
              </a:rPr>
              <a:t>改修台帳</a:t>
            </a:r>
          </a:p>
          <a:p>
            <a:pPr algn="ctr">
              <a:buNone/>
            </a:pPr>
            <a:r>
              <a:rPr sz="1000" b="1">
                <a:solidFill>
                  <a:srgbClr val="262626"/>
                </a:solidFill>
              </a:rPr>
              <a:t>Phase1の15項目＋2項目</a:t>
            </a:r>
          </a:p>
        </p:txBody>
      </p:sp>
      <p:sp>
        <p:nvSpPr>
          <p:cNvPr id="15" name="TextBox 14"/>
          <p:cNvSpPr txBox="1"/>
          <p:nvPr/>
        </p:nvSpPr>
        <p:spPr>
          <a:xfrm>
            <a:off x="7516368" y="2633472"/>
            <a:ext cx="4187952" cy="274320"/>
          </a:xfrm>
          <a:prstGeom prst="rect">
            <a:avLst/>
          </a:prstGeom>
          <a:noFill/>
        </p:spPr>
        <p:txBody>
          <a:bodyPr wrap="square" lIns="0" tIns="0" rIns="0" bIns="0" anchor="ctr">
            <a:noAutofit/>
          </a:bodyPr>
          <a:lstStyle/>
          <a:p>
            <a:pPr algn="l">
              <a:buNone/>
            </a:pPr>
            <a:r>
              <a:rPr sz="1300" b="1">
                <a:solidFill>
                  <a:srgbClr val="262626"/>
                </a:solidFill>
              </a:rPr>
              <a:t>今週の改修のポイント</a:t>
            </a:r>
          </a:p>
        </p:txBody>
      </p:sp>
      <p:sp>
        <p:nvSpPr>
          <p:cNvPr id="16" name="Oval 15"/>
          <p:cNvSpPr/>
          <p:nvPr/>
        </p:nvSpPr>
        <p:spPr>
          <a:xfrm>
            <a:off x="7516368" y="2953512"/>
            <a:ext cx="256032" cy="256032"/>
          </a:xfrm>
          <a:prstGeom prst="ellipse">
            <a:avLst/>
          </a:prstGeom>
          <a:solidFill>
            <a:srgbClr val="046A38"/>
          </a:solidFill>
          <a:ln>
            <a:noFill/>
          </a:ln>
        </p:spPr>
        <p:txBody>
          <a:bodyPr rtlCol="0" anchor="ctr" wrap="square" lIns="0" tIns="0" rIns="0" bIns="0">
            <a:noAutofit/>
          </a:bodyPr>
          <a:lstStyle/>
          <a:p>
            <a:pPr algn="ctr">
              <a:buNone/>
            </a:pPr>
            <a:r>
              <a:rPr sz="1050" b="1">
                <a:solidFill>
                  <a:srgbClr val="FFFFFF"/>
                </a:solidFill>
              </a:rPr>
              <a:t>1</a:t>
            </a:r>
          </a:p>
        </p:txBody>
      </p:sp>
      <p:sp>
        <p:nvSpPr>
          <p:cNvPr id="17" name="TextBox 16"/>
          <p:cNvSpPr txBox="1"/>
          <p:nvPr/>
        </p:nvSpPr>
        <p:spPr>
          <a:xfrm>
            <a:off x="7882128" y="2926080"/>
            <a:ext cx="2953511" cy="292608"/>
          </a:xfrm>
          <a:prstGeom prst="rect">
            <a:avLst/>
          </a:prstGeom>
          <a:noFill/>
        </p:spPr>
        <p:txBody>
          <a:bodyPr wrap="square" lIns="0" tIns="0" rIns="0" bIns="0" anchor="ctr">
            <a:noAutofit/>
          </a:bodyPr>
          <a:lstStyle/>
          <a:p>
            <a:pPr algn="l">
              <a:buNone/>
            </a:pPr>
            <a:r>
              <a:rPr sz="1200" b="1">
                <a:solidFill>
                  <a:srgbClr val="262626"/>
                </a:solidFill>
              </a:rPr>
              <a:t>計画系3機能の追加改修①（45件）</a:t>
            </a:r>
          </a:p>
        </p:txBody>
      </p:sp>
      <p:sp>
        <p:nvSpPr>
          <p:cNvPr id="18" name="TextBox 17"/>
          <p:cNvSpPr txBox="1"/>
          <p:nvPr/>
        </p:nvSpPr>
        <p:spPr>
          <a:xfrm>
            <a:off x="10835640" y="2926080"/>
            <a:ext cx="868680" cy="292608"/>
          </a:xfrm>
          <a:prstGeom prst="rect">
            <a:avLst/>
          </a:prstGeom>
          <a:noFill/>
        </p:spPr>
        <p:txBody>
          <a:bodyPr wrap="square" lIns="0" tIns="0" rIns="0" bIns="0" anchor="ctr">
            <a:noAutofit/>
          </a:bodyPr>
          <a:lstStyle/>
          <a:p>
            <a:pPr algn="r">
              <a:buNone/>
            </a:pPr>
            <a:r>
              <a:rPr sz="950" b="0">
                <a:solidFill>
                  <a:srgbClr val="8C8C8C"/>
                </a:solidFill>
              </a:rPr>
              <a:t>No.3〜5</a:t>
            </a:r>
          </a:p>
        </p:txBody>
      </p:sp>
      <p:sp>
        <p:nvSpPr>
          <p:cNvPr id="19" name="TextBox 18"/>
          <p:cNvSpPr txBox="1"/>
          <p:nvPr/>
        </p:nvSpPr>
        <p:spPr>
          <a:xfrm>
            <a:off x="7882128" y="3209544"/>
            <a:ext cx="3822191" cy="384048"/>
          </a:xfrm>
          <a:prstGeom prst="rect">
            <a:avLst/>
          </a:prstGeom>
          <a:noFill/>
        </p:spPr>
        <p:txBody>
          <a:bodyPr wrap="square" lIns="0" tIns="0" rIns="0" bIns="0" anchor="t">
            <a:noAutofit/>
          </a:bodyPr>
          <a:lstStyle/>
          <a:p>
            <a:pPr algn="l">
              <a:lnSpc>
                <a:spcPct val="100000"/>
              </a:lnSpc>
              <a:buNone/>
            </a:pPr>
            <a:r>
              <a:rPr sz="1050" b="0">
                <a:solidFill>
                  <a:srgbClr val="595959"/>
                </a:solidFill>
              </a:rPr>
              <a:t>点検・束ねる・計画の検証で、入力欄と資料名・日付の書き方をそろえ、レポートの型を精緻化</a:t>
            </a:r>
          </a:p>
        </p:txBody>
      </p:sp>
      <p:cxnSp>
        <p:nvCxnSpPr>
          <p:cNvPr id="20" name="Connector 19"/>
          <p:cNvCxnSpPr/>
          <p:nvPr/>
        </p:nvCxnSpPr>
        <p:spPr>
          <a:xfrm>
            <a:off x="7882128" y="3584448"/>
            <a:ext cx="3822192" cy="0"/>
          </a:xfrm>
          <a:prstGeom prst="line">
            <a:avLst/>
          </a:prstGeom>
          <a:ln w="6350">
            <a:solidFill>
              <a:srgbClr val="E3E3E3"/>
            </a:solidFill>
          </a:ln>
        </p:spPr>
      </p:cxnSp>
      <p:sp>
        <p:nvSpPr>
          <p:cNvPr id="21" name="Oval 20"/>
          <p:cNvSpPr/>
          <p:nvPr/>
        </p:nvSpPr>
        <p:spPr>
          <a:xfrm>
            <a:off x="7516368" y="3630168"/>
            <a:ext cx="256032" cy="256032"/>
          </a:xfrm>
          <a:prstGeom prst="ellipse">
            <a:avLst/>
          </a:prstGeom>
          <a:solidFill>
            <a:srgbClr val="046A38"/>
          </a:solidFill>
          <a:ln>
            <a:noFill/>
          </a:ln>
        </p:spPr>
        <p:txBody>
          <a:bodyPr rtlCol="0" anchor="ctr" wrap="square" lIns="0" tIns="0" rIns="0" bIns="0">
            <a:noAutofit/>
          </a:bodyPr>
          <a:lstStyle/>
          <a:p>
            <a:pPr algn="ctr">
              <a:buNone/>
            </a:pPr>
            <a:r>
              <a:rPr sz="1050" b="1">
                <a:solidFill>
                  <a:srgbClr val="FFFFFF"/>
                </a:solidFill>
              </a:rPr>
              <a:t>2</a:t>
            </a:r>
          </a:p>
        </p:txBody>
      </p:sp>
      <p:sp>
        <p:nvSpPr>
          <p:cNvPr id="22" name="TextBox 21"/>
          <p:cNvSpPr txBox="1"/>
          <p:nvPr/>
        </p:nvSpPr>
        <p:spPr>
          <a:xfrm>
            <a:off x="7882128" y="3602736"/>
            <a:ext cx="2953511" cy="292608"/>
          </a:xfrm>
          <a:prstGeom prst="rect">
            <a:avLst/>
          </a:prstGeom>
          <a:noFill/>
        </p:spPr>
        <p:txBody>
          <a:bodyPr wrap="square" lIns="0" tIns="0" rIns="0" bIns="0" anchor="ctr">
            <a:noAutofit/>
          </a:bodyPr>
          <a:lstStyle/>
          <a:p>
            <a:pPr algn="l">
              <a:buNone/>
            </a:pPr>
            <a:r>
              <a:rPr sz="1200" b="1">
                <a:solidFill>
                  <a:srgbClr val="262626"/>
                </a:solidFill>
              </a:rPr>
              <a:t>0928版へのご意見（9件）</a:t>
            </a:r>
          </a:p>
        </p:txBody>
      </p:sp>
      <p:sp>
        <p:nvSpPr>
          <p:cNvPr id="23" name="TextBox 22"/>
          <p:cNvSpPr txBox="1"/>
          <p:nvPr/>
        </p:nvSpPr>
        <p:spPr>
          <a:xfrm>
            <a:off x="10835640" y="3602736"/>
            <a:ext cx="868680" cy="292608"/>
          </a:xfrm>
          <a:prstGeom prst="rect">
            <a:avLst/>
          </a:prstGeom>
          <a:noFill/>
        </p:spPr>
        <p:txBody>
          <a:bodyPr wrap="square" lIns="0" tIns="0" rIns="0" bIns="0" anchor="ctr">
            <a:noAutofit/>
          </a:bodyPr>
          <a:lstStyle/>
          <a:p>
            <a:pPr algn="r">
              <a:buNone/>
            </a:pPr>
            <a:r>
              <a:rPr sz="950" b="0">
                <a:solidFill>
                  <a:srgbClr val="8C8C8C"/>
                </a:solidFill>
              </a:rPr>
              <a:t>No.1・2・4・6</a:t>
            </a:r>
          </a:p>
        </p:txBody>
      </p:sp>
      <p:sp>
        <p:nvSpPr>
          <p:cNvPr id="24" name="TextBox 23"/>
          <p:cNvSpPr txBox="1"/>
          <p:nvPr/>
        </p:nvSpPr>
        <p:spPr>
          <a:xfrm>
            <a:off x="7882128" y="3886200"/>
            <a:ext cx="3822191" cy="384048"/>
          </a:xfrm>
          <a:prstGeom prst="rect">
            <a:avLst/>
          </a:prstGeom>
          <a:noFill/>
        </p:spPr>
        <p:txBody>
          <a:bodyPr wrap="square" lIns="0" tIns="0" rIns="0" bIns="0" anchor="t">
            <a:noAutofit/>
          </a:bodyPr>
          <a:lstStyle/>
          <a:p>
            <a:pPr algn="l">
              <a:lnSpc>
                <a:spcPct val="100000"/>
              </a:lnSpc>
              <a:buNone/>
            </a:pPr>
            <a:r>
              <a:rPr sz="1050" b="0">
                <a:solidFill>
                  <a:srgbClr val="595959"/>
                </a:solidFill>
              </a:rPr>
              <a:t>SNSの火種を前週比の倍率順に、各指標に「いつの値か」を表示、BX推進部の利用者の権限を整理</a:t>
            </a:r>
          </a:p>
        </p:txBody>
      </p:sp>
      <p:cxnSp>
        <p:nvCxnSpPr>
          <p:cNvPr id="25" name="Connector 24"/>
          <p:cNvCxnSpPr/>
          <p:nvPr/>
        </p:nvCxnSpPr>
        <p:spPr>
          <a:xfrm>
            <a:off x="7882128" y="4261104"/>
            <a:ext cx="3822192" cy="0"/>
          </a:xfrm>
          <a:prstGeom prst="line">
            <a:avLst/>
          </a:prstGeom>
          <a:ln w="6350">
            <a:solidFill>
              <a:srgbClr val="E3E3E3"/>
            </a:solidFill>
          </a:ln>
        </p:spPr>
      </p:cxnSp>
      <p:sp>
        <p:nvSpPr>
          <p:cNvPr id="26" name="Oval 25"/>
          <p:cNvSpPr/>
          <p:nvPr/>
        </p:nvSpPr>
        <p:spPr>
          <a:xfrm>
            <a:off x="7516368" y="4306824"/>
            <a:ext cx="256032" cy="256032"/>
          </a:xfrm>
          <a:prstGeom prst="ellipse">
            <a:avLst/>
          </a:prstGeom>
          <a:solidFill>
            <a:srgbClr val="046A38"/>
          </a:solidFill>
          <a:ln>
            <a:noFill/>
          </a:ln>
        </p:spPr>
        <p:txBody>
          <a:bodyPr rtlCol="0" anchor="ctr" wrap="square" lIns="0" tIns="0" rIns="0" bIns="0">
            <a:noAutofit/>
          </a:bodyPr>
          <a:lstStyle/>
          <a:p>
            <a:pPr algn="ctr">
              <a:buNone/>
            </a:pPr>
            <a:r>
              <a:rPr sz="1050" b="1">
                <a:solidFill>
                  <a:srgbClr val="FFFFFF"/>
                </a:solidFill>
              </a:rPr>
              <a:t>3</a:t>
            </a:r>
          </a:p>
        </p:txBody>
      </p:sp>
      <p:sp>
        <p:nvSpPr>
          <p:cNvPr id="27" name="TextBox 26"/>
          <p:cNvSpPr txBox="1"/>
          <p:nvPr/>
        </p:nvSpPr>
        <p:spPr>
          <a:xfrm>
            <a:off x="7882128" y="4279392"/>
            <a:ext cx="2953511" cy="292608"/>
          </a:xfrm>
          <a:prstGeom prst="rect">
            <a:avLst/>
          </a:prstGeom>
          <a:noFill/>
        </p:spPr>
        <p:txBody>
          <a:bodyPr wrap="square" lIns="0" tIns="0" rIns="0" bIns="0" anchor="ctr">
            <a:noAutofit/>
          </a:bodyPr>
          <a:lstStyle/>
          <a:p>
            <a:pPr algn="l">
              <a:buNone/>
            </a:pPr>
            <a:r>
              <a:rPr sz="1200" b="1">
                <a:solidFill>
                  <a:srgbClr val="262626"/>
                </a:solidFill>
              </a:rPr>
              <a:t>外部データの拡充（10/5）</a:t>
            </a:r>
          </a:p>
        </p:txBody>
      </p:sp>
      <p:sp>
        <p:nvSpPr>
          <p:cNvPr id="28" name="TextBox 27"/>
          <p:cNvSpPr txBox="1"/>
          <p:nvPr/>
        </p:nvSpPr>
        <p:spPr>
          <a:xfrm>
            <a:off x="10835640" y="4279392"/>
            <a:ext cx="868680" cy="292608"/>
          </a:xfrm>
          <a:prstGeom prst="rect">
            <a:avLst/>
          </a:prstGeom>
          <a:noFill/>
        </p:spPr>
        <p:txBody>
          <a:bodyPr wrap="square" lIns="0" tIns="0" rIns="0" bIns="0" anchor="ctr">
            <a:noAutofit/>
          </a:bodyPr>
          <a:lstStyle/>
          <a:p>
            <a:pPr algn="r">
              <a:buNone/>
            </a:pPr>
            <a:r>
              <a:rPr sz="950" b="0">
                <a:solidFill>
                  <a:srgbClr val="8C8C8C"/>
                </a:solidFill>
              </a:rPr>
              <a:t>No.16</a:t>
            </a:r>
          </a:p>
        </p:txBody>
      </p:sp>
      <p:sp>
        <p:nvSpPr>
          <p:cNvPr id="29" name="TextBox 28"/>
          <p:cNvSpPr txBox="1"/>
          <p:nvPr/>
        </p:nvSpPr>
        <p:spPr>
          <a:xfrm>
            <a:off x="7882128" y="4562855"/>
            <a:ext cx="3822191" cy="384048"/>
          </a:xfrm>
          <a:prstGeom prst="rect">
            <a:avLst/>
          </a:prstGeom>
          <a:noFill/>
        </p:spPr>
        <p:txBody>
          <a:bodyPr wrap="square" lIns="0" tIns="0" rIns="0" bIns="0" anchor="t">
            <a:noAutofit/>
          </a:bodyPr>
          <a:lstStyle/>
          <a:p>
            <a:pPr algn="l">
              <a:lnSpc>
                <a:spcPct val="100000"/>
              </a:lnSpc>
              <a:buNone/>
            </a:pPr>
            <a:r>
              <a:rPr sz="1050" b="0">
                <a:solidFill>
                  <a:srgbClr val="595959"/>
                </a:solidFill>
              </a:rPr>
              <a:t>取得元を59件追加し、センシングボードで選べる外部指標は72に。取得のタイミングも見直し（次頁）</a:t>
            </a:r>
          </a:p>
        </p:txBody>
      </p:sp>
      <p:cxnSp>
        <p:nvCxnSpPr>
          <p:cNvPr id="30" name="Connector 29"/>
          <p:cNvCxnSpPr/>
          <p:nvPr/>
        </p:nvCxnSpPr>
        <p:spPr>
          <a:xfrm>
            <a:off x="7882128" y="4937759"/>
            <a:ext cx="3822192" cy="0"/>
          </a:xfrm>
          <a:prstGeom prst="line">
            <a:avLst/>
          </a:prstGeom>
          <a:ln w="6350">
            <a:solidFill>
              <a:srgbClr val="E3E3E3"/>
            </a:solidFill>
          </a:ln>
        </p:spPr>
      </p:cxnSp>
      <p:sp>
        <p:nvSpPr>
          <p:cNvPr id="31" name="Oval 30"/>
          <p:cNvSpPr/>
          <p:nvPr/>
        </p:nvSpPr>
        <p:spPr>
          <a:xfrm>
            <a:off x="7516368" y="4983480"/>
            <a:ext cx="256032" cy="256032"/>
          </a:xfrm>
          <a:prstGeom prst="ellipse">
            <a:avLst/>
          </a:prstGeom>
          <a:solidFill>
            <a:srgbClr val="046A38"/>
          </a:solidFill>
          <a:ln>
            <a:noFill/>
          </a:ln>
        </p:spPr>
        <p:txBody>
          <a:bodyPr rtlCol="0" anchor="ctr" wrap="square" lIns="0" tIns="0" rIns="0" bIns="0">
            <a:noAutofit/>
          </a:bodyPr>
          <a:lstStyle/>
          <a:p>
            <a:pPr algn="ctr">
              <a:buNone/>
            </a:pPr>
            <a:r>
              <a:rPr sz="1050" b="1">
                <a:solidFill>
                  <a:srgbClr val="FFFFFF"/>
                </a:solidFill>
              </a:rPr>
              <a:t>4</a:t>
            </a:r>
          </a:p>
        </p:txBody>
      </p:sp>
      <p:sp>
        <p:nvSpPr>
          <p:cNvPr id="32" name="TextBox 31"/>
          <p:cNvSpPr txBox="1"/>
          <p:nvPr/>
        </p:nvSpPr>
        <p:spPr>
          <a:xfrm>
            <a:off x="7882128" y="4956048"/>
            <a:ext cx="2953511" cy="292608"/>
          </a:xfrm>
          <a:prstGeom prst="rect">
            <a:avLst/>
          </a:prstGeom>
          <a:noFill/>
        </p:spPr>
        <p:txBody>
          <a:bodyPr wrap="square" lIns="0" tIns="0" rIns="0" bIns="0" anchor="ctr">
            <a:noAutofit/>
          </a:bodyPr>
          <a:lstStyle/>
          <a:p>
            <a:pPr algn="l">
              <a:buNone/>
            </a:pPr>
            <a:r>
              <a:rPr sz="1200" b="1">
                <a:solidFill>
                  <a:srgbClr val="262626"/>
                </a:solidFill>
              </a:rPr>
              <a:t>総会QA：今年度QAの取り込み（1件）</a:t>
            </a:r>
          </a:p>
        </p:txBody>
      </p:sp>
      <p:sp>
        <p:nvSpPr>
          <p:cNvPr id="33" name="TextBox 32"/>
          <p:cNvSpPr txBox="1"/>
          <p:nvPr/>
        </p:nvSpPr>
        <p:spPr>
          <a:xfrm>
            <a:off x="10835640" y="4956048"/>
            <a:ext cx="868680" cy="292608"/>
          </a:xfrm>
          <a:prstGeom prst="rect">
            <a:avLst/>
          </a:prstGeom>
          <a:noFill/>
        </p:spPr>
        <p:txBody>
          <a:bodyPr wrap="square" lIns="0" tIns="0" rIns="0" bIns="0" anchor="ctr">
            <a:noAutofit/>
          </a:bodyPr>
          <a:lstStyle/>
          <a:p>
            <a:pPr algn="r">
              <a:buNone/>
            </a:pPr>
            <a:r>
              <a:rPr sz="950" b="0">
                <a:solidFill>
                  <a:srgbClr val="8C8C8C"/>
                </a:solidFill>
              </a:rPr>
              <a:t>No.10・11</a:t>
            </a:r>
          </a:p>
        </p:txBody>
      </p:sp>
      <p:sp>
        <p:nvSpPr>
          <p:cNvPr id="34" name="TextBox 33"/>
          <p:cNvSpPr txBox="1"/>
          <p:nvPr/>
        </p:nvSpPr>
        <p:spPr>
          <a:xfrm>
            <a:off x="7882128" y="5239512"/>
            <a:ext cx="3822191" cy="384048"/>
          </a:xfrm>
          <a:prstGeom prst="rect">
            <a:avLst/>
          </a:prstGeom>
          <a:noFill/>
        </p:spPr>
        <p:txBody>
          <a:bodyPr wrap="square" lIns="0" tIns="0" rIns="0" bIns="0" anchor="t">
            <a:noAutofit/>
          </a:bodyPr>
          <a:lstStyle/>
          <a:p>
            <a:pPr algn="l">
              <a:lnSpc>
                <a:spcPct val="100000"/>
              </a:lnSpc>
              <a:buNone/>
            </a:pPr>
            <a:r>
              <a:rPr sz="1050" b="0">
                <a:solidFill>
                  <a:srgbClr val="595959"/>
                </a:solidFill>
              </a:rPr>
              <a:t>質問作成・回答作成で今年度のQAを取り込めるように。取り込んだ行の表示と重複の確認つき</a:t>
            </a:r>
          </a:p>
        </p:txBody>
      </p:sp>
      <p:cxnSp>
        <p:nvCxnSpPr>
          <p:cNvPr id="35" name="Connector 34"/>
          <p:cNvCxnSpPr/>
          <p:nvPr/>
        </p:nvCxnSpPr>
        <p:spPr>
          <a:xfrm>
            <a:off x="7882128" y="5614416"/>
            <a:ext cx="3822192" cy="0"/>
          </a:xfrm>
          <a:prstGeom prst="line">
            <a:avLst/>
          </a:prstGeom>
          <a:ln w="6350">
            <a:solidFill>
              <a:srgbClr val="E3E3E3"/>
            </a:solidFill>
          </a:ln>
        </p:spPr>
      </p:cxnSp>
      <p:sp>
        <p:nvSpPr>
          <p:cNvPr id="36" name="Oval 35"/>
          <p:cNvSpPr/>
          <p:nvPr/>
        </p:nvSpPr>
        <p:spPr>
          <a:xfrm>
            <a:off x="7516368" y="5660136"/>
            <a:ext cx="256032" cy="256032"/>
          </a:xfrm>
          <a:prstGeom prst="ellipse">
            <a:avLst/>
          </a:prstGeom>
          <a:solidFill>
            <a:srgbClr val="046A38"/>
          </a:solidFill>
          <a:ln>
            <a:noFill/>
          </a:ln>
        </p:spPr>
        <p:txBody>
          <a:bodyPr rtlCol="0" anchor="ctr" wrap="square" lIns="0" tIns="0" rIns="0" bIns="0">
            <a:noAutofit/>
          </a:bodyPr>
          <a:lstStyle/>
          <a:p>
            <a:pPr algn="ctr">
              <a:buNone/>
            </a:pPr>
            <a:r>
              <a:rPr sz="1050" b="1">
                <a:solidFill>
                  <a:srgbClr val="FFFFFF"/>
                </a:solidFill>
              </a:rPr>
              <a:t>5</a:t>
            </a:r>
          </a:p>
        </p:txBody>
      </p:sp>
      <p:sp>
        <p:nvSpPr>
          <p:cNvPr id="37" name="TextBox 36"/>
          <p:cNvSpPr txBox="1"/>
          <p:nvPr/>
        </p:nvSpPr>
        <p:spPr>
          <a:xfrm>
            <a:off x="7882128" y="5632704"/>
            <a:ext cx="2953511" cy="292608"/>
          </a:xfrm>
          <a:prstGeom prst="rect">
            <a:avLst/>
          </a:prstGeom>
          <a:noFill/>
        </p:spPr>
        <p:txBody>
          <a:bodyPr wrap="square" lIns="0" tIns="0" rIns="0" bIns="0" anchor="ctr">
            <a:noAutofit/>
          </a:bodyPr>
          <a:lstStyle/>
          <a:p>
            <a:pPr algn="l">
              <a:buNone/>
            </a:pPr>
            <a:r>
              <a:rPr sz="1200" b="1">
                <a:solidFill>
                  <a:srgbClr val="262626"/>
                </a:solidFill>
              </a:rPr>
              <a:t>速さ・使い勝手の底上げ（7件）</a:t>
            </a:r>
          </a:p>
        </p:txBody>
      </p:sp>
      <p:sp>
        <p:nvSpPr>
          <p:cNvPr id="38" name="TextBox 37"/>
          <p:cNvSpPr txBox="1"/>
          <p:nvPr/>
        </p:nvSpPr>
        <p:spPr>
          <a:xfrm>
            <a:off x="10835640" y="5632704"/>
            <a:ext cx="868680" cy="292608"/>
          </a:xfrm>
          <a:prstGeom prst="rect">
            <a:avLst/>
          </a:prstGeom>
          <a:noFill/>
        </p:spPr>
        <p:txBody>
          <a:bodyPr wrap="square" lIns="0" tIns="0" rIns="0" bIns="0" anchor="ctr">
            <a:noAutofit/>
          </a:bodyPr>
          <a:lstStyle/>
          <a:p>
            <a:pPr algn="r">
              <a:buNone/>
            </a:pPr>
            <a:r>
              <a:rPr sz="950" b="0">
                <a:solidFill>
                  <a:srgbClr val="8C8C8C"/>
                </a:solidFill>
              </a:rPr>
              <a:t>No.7・12・17</a:t>
            </a:r>
          </a:p>
        </p:txBody>
      </p:sp>
      <p:sp>
        <p:nvSpPr>
          <p:cNvPr id="39" name="TextBox 38"/>
          <p:cNvSpPr txBox="1"/>
          <p:nvPr/>
        </p:nvSpPr>
        <p:spPr>
          <a:xfrm>
            <a:off x="7882128" y="5916168"/>
            <a:ext cx="3822191" cy="384048"/>
          </a:xfrm>
          <a:prstGeom prst="rect">
            <a:avLst/>
          </a:prstGeom>
          <a:noFill/>
        </p:spPr>
        <p:txBody>
          <a:bodyPr wrap="square" lIns="0" tIns="0" rIns="0" bIns="0" anchor="t">
            <a:noAutofit/>
          </a:bodyPr>
          <a:lstStyle/>
          <a:p>
            <a:pPr algn="l">
              <a:lnSpc>
                <a:spcPct val="100000"/>
              </a:lnSpc>
              <a:buNone/>
            </a:pPr>
            <a:r>
              <a:rPr sz="1050" b="0">
                <a:solidFill>
                  <a:srgbClr val="595959"/>
                </a:solidFill>
              </a:rPr>
              <a:t>ログイン直後の読み込みを高速化。AI回答の後ろに回答完了・評価・コピーを表示し、全画面を点検</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r>
              <a:t>外部取得データソースの改善結果（10/2 → 10/5）</a:t>
            </a:r>
          </a:p>
        </p:txBody>
      </p:sp>
      <p:sp>
        <p:nvSpPr>
          <p:cNvPr id="3" name="Title 2"/>
          <p:cNvSpPr>
            <a:spLocks noGrp="1"/>
          </p:cNvSpPr>
          <p:nvPr>
            <p:ph type="title"/>
          </p:nvPr>
        </p:nvSpPr>
        <p:spPr/>
        <p:txBody>
          <a:bodyPr/>
          <a:lstStyle/>
          <a:p>
            <a:r>
              <a:t>外部データは、10/2時点で取れていなかった70ソースのうち57ソース（81%）で取得が進みました。残る課題は担い手と時期を分けて進めます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5</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7" name="Rectangle 6"/>
          <p:cNvSpPr/>
          <p:nvPr/>
        </p:nvSpPr>
        <p:spPr>
          <a:xfrm>
            <a:off x="475488" y="1627632"/>
            <a:ext cx="5257800" cy="914400"/>
          </a:xfrm>
          <a:prstGeom prst="rect">
            <a:avLst/>
          </a:prstGeom>
          <a:solidFill>
            <a:srgbClr val="F3F3F3"/>
          </a:solidFill>
          <a:ln>
            <a:noFill/>
          </a:ln>
        </p:spPr>
        <p:txBody>
          <a:bodyPr rtlCol="0" anchor="ctr" wrap="square" lIns="54864" tIns="27432" rIns="54864" bIns="27432">
            <a:noAutofit/>
          </a:bodyPr>
          <a:lstStyle/>
          <a:p>
            <a:pPr algn="ctr"/>
          </a:p>
        </p:txBody>
      </p:sp>
      <p:sp>
        <p:nvSpPr>
          <p:cNvPr id="8" name="TextBox 7"/>
          <p:cNvSpPr txBox="1"/>
          <p:nvPr/>
        </p:nvSpPr>
        <p:spPr>
          <a:xfrm>
            <a:off x="658368" y="1664208"/>
            <a:ext cx="2103120" cy="822960"/>
          </a:xfrm>
          <a:prstGeom prst="rect">
            <a:avLst/>
          </a:prstGeom>
          <a:noFill/>
        </p:spPr>
        <p:txBody>
          <a:bodyPr wrap="square" lIns="0" tIns="0" rIns="0" bIns="0" anchor="ctr">
            <a:noAutofit/>
          </a:bodyPr>
          <a:lstStyle/>
          <a:p>
            <a:pPr algn="l">
              <a:buNone/>
            </a:pPr>
            <a:r>
              <a:rPr sz="4000" b="1">
                <a:solidFill>
                  <a:srgbClr val="046A38"/>
                </a:solidFill>
              </a:rPr>
              <a:t>57</a:t>
            </a:r>
            <a:r>
              <a:rPr sz="2000" b="1">
                <a:solidFill>
                  <a:srgbClr val="046A38"/>
                </a:solidFill>
              </a:rPr>
              <a:t> / 70</a:t>
            </a:r>
          </a:p>
        </p:txBody>
      </p:sp>
      <p:sp>
        <p:nvSpPr>
          <p:cNvPr id="9" name="TextBox 8"/>
          <p:cNvSpPr txBox="1"/>
          <p:nvPr/>
        </p:nvSpPr>
        <p:spPr>
          <a:xfrm>
            <a:off x="2514600" y="1700784"/>
            <a:ext cx="3108960" cy="786384"/>
          </a:xfrm>
          <a:prstGeom prst="rect">
            <a:avLst/>
          </a:prstGeom>
          <a:noFill/>
        </p:spPr>
        <p:txBody>
          <a:bodyPr wrap="square" lIns="0" tIns="0" rIns="0" bIns="0" anchor="ctr">
            <a:noAutofit/>
          </a:bodyPr>
          <a:lstStyle/>
          <a:p>
            <a:pPr algn="l">
              <a:buNone/>
            </a:pPr>
            <a:r>
              <a:rPr sz="1300" b="1">
                <a:solidFill>
                  <a:srgbClr val="262626"/>
                </a:solidFill>
              </a:rPr>
              <a:t>ソースで取得が進んだ（81%）</a:t>
            </a:r>
          </a:p>
          <a:p>
            <a:pPr algn="l">
              <a:spcBef>
                <a:spcPts val="300"/>
              </a:spcBef>
              <a:buNone/>
            </a:pPr>
            <a:r>
              <a:rPr sz="1050" b="0">
                <a:solidFill>
                  <a:srgbClr val="595959"/>
                </a:solidFill>
              </a:rPr>
              <a:t>解消21：主な項目まで取得　改善36：一部・代わりの指標で取得　変化なし13</a:t>
            </a:r>
          </a:p>
        </p:txBody>
      </p:sp>
      <p:sp>
        <p:nvSpPr>
          <p:cNvPr id="10" name="TextBox 9"/>
          <p:cNvSpPr txBox="1"/>
          <p:nvPr/>
        </p:nvSpPr>
        <p:spPr>
          <a:xfrm>
            <a:off x="475488" y="2651760"/>
            <a:ext cx="5257800" cy="274320"/>
          </a:xfrm>
          <a:prstGeom prst="rect">
            <a:avLst/>
          </a:prstGeom>
          <a:noFill/>
        </p:spPr>
        <p:txBody>
          <a:bodyPr wrap="square" lIns="0" tIns="0" rIns="0" bIns="0" anchor="ctr">
            <a:noAutofit/>
          </a:bodyPr>
          <a:lstStyle/>
          <a:p>
            <a:pPr algn="l">
              <a:buNone/>
            </a:pPr>
            <a:r>
              <a:rPr sz="1200" b="1">
                <a:solidFill>
                  <a:srgbClr val="262626"/>
                </a:solidFill>
              </a:rPr>
              <a:t>10/2時点の状況別の結果（ソース数）</a:t>
            </a:r>
          </a:p>
        </p:txBody>
      </p:sp>
      <p:graphicFrame>
        <p:nvGraphicFramePr>
          <p:cNvPr id="11" name="Chart 10"/>
          <p:cNvGraphicFramePr>
            <a:graphicFrameLocks noGrp="1"/>
          </p:cNvGraphicFramePr>
          <p:nvPr/>
        </p:nvGraphicFramePr>
        <p:xfrm>
          <a:off x="384048" y="2907792"/>
          <a:ext cx="5349240" cy="1783080"/>
        </p:xfrm>
        <a:graphic>
          <a:graphicData uri="http://schemas.openxmlformats.org/drawingml/2006/chart">
            <c:chart xmlns:c="http://schemas.openxmlformats.org/drawingml/2006/chart" r:id="rId3"/>
          </a:graphicData>
        </a:graphic>
      </p:graphicFrame>
      <p:sp>
        <p:nvSpPr>
          <p:cNvPr id="12" name="TextBox 11"/>
          <p:cNvSpPr txBox="1"/>
          <p:nvPr/>
        </p:nvSpPr>
        <p:spPr>
          <a:xfrm>
            <a:off x="475488" y="4754880"/>
            <a:ext cx="5257800" cy="274320"/>
          </a:xfrm>
          <a:prstGeom prst="rect">
            <a:avLst/>
          </a:prstGeom>
          <a:noFill/>
        </p:spPr>
        <p:txBody>
          <a:bodyPr wrap="square" lIns="0" tIns="0" rIns="0" bIns="0" anchor="ctr">
            <a:noAutofit/>
          </a:bodyPr>
          <a:lstStyle/>
          <a:p>
            <a:pPr algn="l">
              <a:buNone/>
            </a:pPr>
            <a:r>
              <a:rPr sz="1200" b="1">
                <a:solidFill>
                  <a:srgbClr val="262626"/>
                </a:solidFill>
              </a:rPr>
              <a:t>アプリ側の変化（10/5）</a:t>
            </a:r>
          </a:p>
        </p:txBody>
      </p:sp>
      <p:cxnSp>
        <p:nvCxnSpPr>
          <p:cNvPr id="13" name="Connector 12"/>
          <p:cNvCxnSpPr/>
          <p:nvPr/>
        </p:nvCxnSpPr>
        <p:spPr>
          <a:xfrm>
            <a:off x="475488" y="5047488"/>
            <a:ext cx="5257800" cy="0"/>
          </a:xfrm>
          <a:prstGeom prst="line">
            <a:avLst/>
          </a:prstGeom>
          <a:ln w="9525">
            <a:solidFill>
              <a:srgbClr val="E3E3E3"/>
            </a:solidFill>
          </a:ln>
        </p:spPr>
      </p:cxnSp>
      <p:sp>
        <p:nvSpPr>
          <p:cNvPr id="14" name="TextBox 13"/>
          <p:cNvSpPr txBox="1"/>
          <p:nvPr/>
        </p:nvSpPr>
        <p:spPr>
          <a:xfrm>
            <a:off x="475488" y="5047488"/>
            <a:ext cx="1143000" cy="411480"/>
          </a:xfrm>
          <a:prstGeom prst="rect">
            <a:avLst/>
          </a:prstGeom>
          <a:noFill/>
        </p:spPr>
        <p:txBody>
          <a:bodyPr wrap="square" lIns="0" tIns="0" rIns="109728" bIns="0" anchor="ctr">
            <a:noAutofit/>
          </a:bodyPr>
          <a:lstStyle/>
          <a:p>
            <a:pPr algn="r">
              <a:buNone/>
            </a:pPr>
            <a:r>
              <a:rPr sz="2000" b="1">
                <a:solidFill>
                  <a:srgbClr val="046A38"/>
                </a:solidFill>
              </a:rPr>
              <a:t>123</a:t>
            </a:r>
            <a:r>
              <a:rPr sz="1050" b="1">
                <a:solidFill>
                  <a:srgbClr val="046A38"/>
                </a:solidFill>
              </a:rPr>
              <a:t> 件</a:t>
            </a:r>
          </a:p>
        </p:txBody>
      </p:sp>
      <p:sp>
        <p:nvSpPr>
          <p:cNvPr id="15" name="TextBox 14"/>
          <p:cNvSpPr txBox="1"/>
          <p:nvPr/>
        </p:nvSpPr>
        <p:spPr>
          <a:xfrm>
            <a:off x="1691640" y="5065775"/>
            <a:ext cx="4041648" cy="201168"/>
          </a:xfrm>
          <a:prstGeom prst="rect">
            <a:avLst/>
          </a:prstGeom>
          <a:noFill/>
        </p:spPr>
        <p:txBody>
          <a:bodyPr wrap="square" lIns="0" tIns="0" rIns="0" bIns="0" anchor="ctr">
            <a:noAutofit/>
          </a:bodyPr>
          <a:lstStyle/>
          <a:p>
            <a:pPr algn="l">
              <a:buNone/>
            </a:pPr>
            <a:r>
              <a:rPr sz="1100" b="1">
                <a:solidFill>
                  <a:srgbClr val="262626"/>
                </a:solidFill>
              </a:rPr>
              <a:t>データの取得元</a:t>
            </a:r>
          </a:p>
        </p:txBody>
      </p:sp>
      <p:sp>
        <p:nvSpPr>
          <p:cNvPr id="16" name="TextBox 15"/>
          <p:cNvSpPr txBox="1"/>
          <p:nvPr/>
        </p:nvSpPr>
        <p:spPr>
          <a:xfrm>
            <a:off x="1691640" y="5248655"/>
            <a:ext cx="4041648" cy="201168"/>
          </a:xfrm>
          <a:prstGeom prst="rect">
            <a:avLst/>
          </a:prstGeom>
          <a:noFill/>
        </p:spPr>
        <p:txBody>
          <a:bodyPr wrap="square" lIns="0" tIns="0" rIns="0" bIns="0" anchor="ctr">
            <a:noAutofit/>
          </a:bodyPr>
          <a:lstStyle/>
          <a:p>
            <a:pPr algn="l">
              <a:buNone/>
            </a:pPr>
            <a:r>
              <a:rPr sz="1000" b="0">
                <a:solidFill>
                  <a:srgbClr val="595959"/>
                </a:solidFill>
              </a:rPr>
              <a:t>アプリが自動でデータを取りに行く先。今回59件を追加</a:t>
            </a:r>
          </a:p>
        </p:txBody>
      </p:sp>
      <p:cxnSp>
        <p:nvCxnSpPr>
          <p:cNvPr id="17" name="Connector 16"/>
          <p:cNvCxnSpPr/>
          <p:nvPr/>
        </p:nvCxnSpPr>
        <p:spPr>
          <a:xfrm>
            <a:off x="475488" y="5458968"/>
            <a:ext cx="5257800" cy="0"/>
          </a:xfrm>
          <a:prstGeom prst="line">
            <a:avLst/>
          </a:prstGeom>
          <a:ln w="9525">
            <a:solidFill>
              <a:srgbClr val="E3E3E3"/>
            </a:solidFill>
          </a:ln>
        </p:spPr>
      </p:cxnSp>
      <p:sp>
        <p:nvSpPr>
          <p:cNvPr id="18" name="TextBox 17"/>
          <p:cNvSpPr txBox="1"/>
          <p:nvPr/>
        </p:nvSpPr>
        <p:spPr>
          <a:xfrm>
            <a:off x="475488" y="5458968"/>
            <a:ext cx="1143000" cy="411480"/>
          </a:xfrm>
          <a:prstGeom prst="rect">
            <a:avLst/>
          </a:prstGeom>
          <a:noFill/>
        </p:spPr>
        <p:txBody>
          <a:bodyPr wrap="square" lIns="0" tIns="0" rIns="109728" bIns="0" anchor="ctr">
            <a:noAutofit/>
          </a:bodyPr>
          <a:lstStyle/>
          <a:p>
            <a:pPr algn="r">
              <a:buNone/>
            </a:pPr>
            <a:r>
              <a:rPr sz="2000" b="1">
                <a:solidFill>
                  <a:srgbClr val="046A38"/>
                </a:solidFill>
              </a:rPr>
              <a:t>72</a:t>
            </a:r>
            <a:r>
              <a:rPr sz="1050" b="1">
                <a:solidFill>
                  <a:srgbClr val="046A38"/>
                </a:solidFill>
              </a:rPr>
              <a:t> 指標</a:t>
            </a:r>
          </a:p>
        </p:txBody>
      </p:sp>
      <p:sp>
        <p:nvSpPr>
          <p:cNvPr id="19" name="TextBox 18"/>
          <p:cNvSpPr txBox="1"/>
          <p:nvPr/>
        </p:nvSpPr>
        <p:spPr>
          <a:xfrm>
            <a:off x="1691640" y="5477255"/>
            <a:ext cx="4041648" cy="201168"/>
          </a:xfrm>
          <a:prstGeom prst="rect">
            <a:avLst/>
          </a:prstGeom>
          <a:noFill/>
        </p:spPr>
        <p:txBody>
          <a:bodyPr wrap="square" lIns="0" tIns="0" rIns="0" bIns="0" anchor="ctr">
            <a:noAutofit/>
          </a:bodyPr>
          <a:lstStyle/>
          <a:p>
            <a:pPr algn="l">
              <a:buNone/>
            </a:pPr>
            <a:r>
              <a:rPr sz="1100" b="1">
                <a:solidFill>
                  <a:srgbClr val="262626"/>
                </a:solidFill>
              </a:rPr>
              <a:t>センシングボードで選べる外部指標</a:t>
            </a:r>
          </a:p>
        </p:txBody>
      </p:sp>
      <p:sp>
        <p:nvSpPr>
          <p:cNvPr id="20" name="TextBox 19"/>
          <p:cNvSpPr txBox="1"/>
          <p:nvPr/>
        </p:nvSpPr>
        <p:spPr>
          <a:xfrm>
            <a:off x="1691640" y="5660136"/>
            <a:ext cx="4041648" cy="201168"/>
          </a:xfrm>
          <a:prstGeom prst="rect">
            <a:avLst/>
          </a:prstGeom>
          <a:noFill/>
        </p:spPr>
        <p:txBody>
          <a:bodyPr wrap="square" lIns="0" tIns="0" rIns="0" bIns="0" anchor="ctr">
            <a:noAutofit/>
          </a:bodyPr>
          <a:lstStyle/>
          <a:p>
            <a:pPr algn="l">
              <a:buNone/>
            </a:pPr>
            <a:r>
              <a:rPr sz="1000" b="0">
                <a:solidFill>
                  <a:srgbClr val="595959"/>
                </a:solidFill>
              </a:rPr>
              <a:t>監視設定で事業ごとに選択。うち35は地域・年限なども選べる</a:t>
            </a:r>
          </a:p>
        </p:txBody>
      </p:sp>
      <p:cxnSp>
        <p:nvCxnSpPr>
          <p:cNvPr id="21" name="Connector 20"/>
          <p:cNvCxnSpPr/>
          <p:nvPr/>
        </p:nvCxnSpPr>
        <p:spPr>
          <a:xfrm>
            <a:off x="475488" y="5870448"/>
            <a:ext cx="5257800" cy="0"/>
          </a:xfrm>
          <a:prstGeom prst="line">
            <a:avLst/>
          </a:prstGeom>
          <a:ln w="9525">
            <a:solidFill>
              <a:srgbClr val="E3E3E3"/>
            </a:solidFill>
          </a:ln>
        </p:spPr>
      </p:cxnSp>
      <p:sp>
        <p:nvSpPr>
          <p:cNvPr id="22" name="TextBox 21"/>
          <p:cNvSpPr txBox="1"/>
          <p:nvPr/>
        </p:nvSpPr>
        <p:spPr>
          <a:xfrm>
            <a:off x="475488" y="5870448"/>
            <a:ext cx="1143000" cy="411480"/>
          </a:xfrm>
          <a:prstGeom prst="rect">
            <a:avLst/>
          </a:prstGeom>
          <a:noFill/>
        </p:spPr>
        <p:txBody>
          <a:bodyPr wrap="square" lIns="0" tIns="0" rIns="109728" bIns="0" anchor="ctr">
            <a:noAutofit/>
          </a:bodyPr>
          <a:lstStyle/>
          <a:p>
            <a:pPr algn="r">
              <a:buNone/>
            </a:pPr>
            <a:r>
              <a:rPr sz="2000" b="1">
                <a:solidFill>
                  <a:srgbClr val="046A38"/>
                </a:solidFill>
              </a:rPr>
              <a:t>5</a:t>
            </a:r>
            <a:r>
              <a:rPr sz="1050" b="1">
                <a:solidFill>
                  <a:srgbClr val="046A38"/>
                </a:solidFill>
              </a:rPr>
              <a:t> 区分</a:t>
            </a:r>
          </a:p>
        </p:txBody>
      </p:sp>
      <p:sp>
        <p:nvSpPr>
          <p:cNvPr id="23" name="TextBox 22"/>
          <p:cNvSpPr txBox="1"/>
          <p:nvPr/>
        </p:nvSpPr>
        <p:spPr>
          <a:xfrm>
            <a:off x="1691640" y="5888736"/>
            <a:ext cx="4041648" cy="201168"/>
          </a:xfrm>
          <a:prstGeom prst="rect">
            <a:avLst/>
          </a:prstGeom>
          <a:noFill/>
        </p:spPr>
        <p:txBody>
          <a:bodyPr wrap="square" lIns="0" tIns="0" rIns="0" bIns="0" anchor="ctr">
            <a:noAutofit/>
          </a:bodyPr>
          <a:lstStyle/>
          <a:p>
            <a:pPr algn="l">
              <a:buNone/>
            </a:pPr>
            <a:r>
              <a:rPr sz="1100" b="1">
                <a:solidFill>
                  <a:srgbClr val="262626"/>
                </a:solidFill>
              </a:rPr>
              <a:t>データの取りに行き方</a:t>
            </a:r>
          </a:p>
        </p:txBody>
      </p:sp>
      <p:sp>
        <p:nvSpPr>
          <p:cNvPr id="24" name="TextBox 23"/>
          <p:cNvSpPr txBox="1"/>
          <p:nvPr/>
        </p:nvSpPr>
        <p:spPr>
          <a:xfrm>
            <a:off x="1691640" y="6071616"/>
            <a:ext cx="4041648" cy="201168"/>
          </a:xfrm>
          <a:prstGeom prst="rect">
            <a:avLst/>
          </a:prstGeom>
          <a:noFill/>
        </p:spPr>
        <p:txBody>
          <a:bodyPr wrap="square" lIns="0" tIns="0" rIns="0" bIns="0" anchor="ctr">
            <a:noAutofit/>
          </a:bodyPr>
          <a:lstStyle/>
          <a:p>
            <a:pPr algn="l">
              <a:buNone/>
            </a:pPr>
            <a:r>
              <a:rPr sz="1000" b="0">
                <a:solidFill>
                  <a:srgbClr val="595959"/>
                </a:solidFill>
              </a:rPr>
              <a:t>株価は随時、統計は週次・月次など、更新頻度に合わせて取得</a:t>
            </a:r>
          </a:p>
        </p:txBody>
      </p:sp>
      <p:cxnSp>
        <p:nvCxnSpPr>
          <p:cNvPr id="25" name="Connector 24"/>
          <p:cNvCxnSpPr/>
          <p:nvPr/>
        </p:nvCxnSpPr>
        <p:spPr>
          <a:xfrm>
            <a:off x="475488" y="6281928"/>
            <a:ext cx="5257800" cy="0"/>
          </a:xfrm>
          <a:prstGeom prst="line">
            <a:avLst/>
          </a:prstGeom>
          <a:ln w="9525">
            <a:solidFill>
              <a:srgbClr val="E3E3E3"/>
            </a:solidFill>
          </a:ln>
        </p:spPr>
      </p:cxnSp>
      <p:sp>
        <p:nvSpPr>
          <p:cNvPr id="26" name="Rectangle 25"/>
          <p:cNvSpPr/>
          <p:nvPr/>
        </p:nvSpPr>
        <p:spPr>
          <a:xfrm>
            <a:off x="6035040" y="1627632"/>
            <a:ext cx="5669280" cy="329184"/>
          </a:xfrm>
          <a:prstGeom prst="rect">
            <a:avLst/>
          </a:prstGeom>
          <a:solidFill>
            <a:srgbClr val="63666A"/>
          </a:solidFill>
          <a:ln>
            <a:noFill/>
          </a:ln>
        </p:spPr>
        <p:txBody>
          <a:bodyPr rtlCol="0" anchor="ctr" wrap="square" lIns="54864" tIns="27432" rIns="54864" bIns="27432">
            <a:noAutofit/>
          </a:bodyPr>
          <a:lstStyle/>
          <a:p>
            <a:pPr algn="ctr">
              <a:buNone/>
            </a:pPr>
            <a:r>
              <a:rPr sz="1250" b="1">
                <a:solidFill>
                  <a:srgbClr val="FFFFFF"/>
                </a:solidFill>
              </a:rPr>
              <a:t>残りの課題（49ソース）と対応</a:t>
            </a:r>
          </a:p>
        </p:txBody>
      </p:sp>
      <p:graphicFrame>
        <p:nvGraphicFramePr>
          <p:cNvPr id="27" name="Table 26"/>
          <p:cNvGraphicFramePr>
            <a:graphicFrameLocks noGrp="1"/>
          </p:cNvGraphicFramePr>
          <p:nvPr/>
        </p:nvGraphicFramePr>
        <p:xfrm>
          <a:off x="6035040" y="1956816"/>
          <a:ext cx="5669280" cy="3675888"/>
        </p:xfrm>
        <a:graphic>
          <a:graphicData uri="http://schemas.openxmlformats.org/drawingml/2006/table">
            <a:tbl>
              <a:tblPr firstRow="0" bandRow="0" firstCol="0" lastRow="0" lastCol="0" bandCol="0">
                <a:tableStyleId>{2D5ABB26-0587-4C30-8999-92F81FD0307C}</a:tableStyleId>
              </a:tblPr>
              <a:tblGrid>
                <a:gridCol w="1572768"/>
                <a:gridCol w="457200"/>
                <a:gridCol w="2157984"/>
                <a:gridCol w="1481328"/>
              </a:tblGrid>
              <a:tr h="274320">
                <a:tc>
                  <a:txBody>
                    <a:bodyPr wrap="square"/>
                    <a:lstStyle/>
                    <a:p>
                      <a:pPr algn="l">
                        <a:lnSpc>
                          <a:spcPts val="1350"/>
                        </a:lnSpc>
                        <a:buNone/>
                      </a:pPr>
                      <a:r>
                        <a:rPr sz="1100" b="1">
                          <a:solidFill>
                            <a:srgbClr val="595959"/>
                          </a:solidFill>
                        </a:rPr>
                        <a:t>状況</a:t>
                      </a:r>
                    </a:p>
                  </a:txBody>
                  <a:tcPr marL="73152" marT="27432" marR="73152" marB="27432" anchor="ctr">
                    <a:lnL w="0">
                      <a:noFill/>
                    </a:lnL>
                    <a:lnR w="0">
                      <a:noFill/>
                    </a:lnR>
                    <a:lnT w="0">
                      <a:noFill/>
                    </a:lnT>
                    <a:lnB w="9525">
                      <a:solidFill>
                        <a:srgbClr val="E3E3E3"/>
                      </a:solidFill>
                    </a:lnB>
                    <a:solidFill>
                      <a:srgbClr val="F3F3F3"/>
                    </a:solidFill>
                  </a:tcPr>
                </a:tc>
                <a:tc>
                  <a:txBody>
                    <a:bodyPr wrap="square"/>
                    <a:lstStyle/>
                    <a:p>
                      <a:pPr algn="ctr">
                        <a:lnSpc>
                          <a:spcPts val="1350"/>
                        </a:lnSpc>
                        <a:buNone/>
                      </a:pPr>
                      <a:r>
                        <a:rPr sz="1100" b="1">
                          <a:solidFill>
                            <a:srgbClr val="595959"/>
                          </a:solidFill>
                        </a:rPr>
                        <a:t>数</a:t>
                      </a:r>
                    </a:p>
                  </a:txBody>
                  <a:tcPr marL="73152" marT="27432" marR="73152" marB="27432" anchor="ctr">
                    <a:lnL w="0">
                      <a:noFill/>
                    </a:lnL>
                    <a:lnR w="0">
                      <a:noFill/>
                    </a:lnR>
                    <a:lnT w="0">
                      <a:noFill/>
                    </a:lnT>
                    <a:lnB w="9525">
                      <a:solidFill>
                        <a:srgbClr val="E3E3E3"/>
                      </a:solidFill>
                    </a:lnB>
                    <a:solidFill>
                      <a:srgbClr val="F3F3F3"/>
                    </a:solidFill>
                  </a:tcPr>
                </a:tc>
                <a:tc>
                  <a:txBody>
                    <a:bodyPr wrap="square"/>
                    <a:lstStyle/>
                    <a:p>
                      <a:pPr algn="l">
                        <a:lnSpc>
                          <a:spcPts val="1350"/>
                        </a:lnSpc>
                        <a:buNone/>
                      </a:pPr>
                      <a:r>
                        <a:rPr sz="1100" b="1">
                          <a:solidFill>
                            <a:srgbClr val="595959"/>
                          </a:solidFill>
                        </a:rPr>
                        <a:t>対応の方針</a:t>
                      </a:r>
                    </a:p>
                  </a:txBody>
                  <a:tcPr marL="73152" marT="27432" marR="73152" marB="27432" anchor="ctr">
                    <a:lnL w="0">
                      <a:noFill/>
                    </a:lnL>
                    <a:lnR w="0">
                      <a:noFill/>
                    </a:lnR>
                    <a:lnT w="0">
                      <a:noFill/>
                    </a:lnT>
                    <a:lnB w="9525">
                      <a:solidFill>
                        <a:srgbClr val="E3E3E3"/>
                      </a:solidFill>
                    </a:lnB>
                    <a:solidFill>
                      <a:srgbClr val="F3F3F3"/>
                    </a:solidFill>
                  </a:tcPr>
                </a:tc>
                <a:tc>
                  <a:txBody>
                    <a:bodyPr wrap="square"/>
                    <a:lstStyle/>
                    <a:p>
                      <a:pPr algn="l">
                        <a:lnSpc>
                          <a:spcPts val="1350"/>
                        </a:lnSpc>
                        <a:buNone/>
                      </a:pPr>
                      <a:r>
                        <a:rPr sz="1100" b="1">
                          <a:solidFill>
                            <a:srgbClr val="595959"/>
                          </a:solidFill>
                        </a:rPr>
                        <a:t>担当・時期</a:t>
                      </a:r>
                    </a:p>
                  </a:txBody>
                  <a:tcPr marL="73152" marT="27432" marR="73152" marB="27432" anchor="ctr">
                    <a:lnL w="0">
                      <a:noFill/>
                    </a:lnL>
                    <a:lnR w="0">
                      <a:noFill/>
                    </a:lnR>
                    <a:lnT w="0">
                      <a:noFill/>
                    </a:lnT>
                    <a:lnB w="9525">
                      <a:solidFill>
                        <a:srgbClr val="E3E3E3"/>
                      </a:solidFill>
                    </a:lnB>
                    <a:solidFill>
                      <a:srgbClr val="F3F3F3"/>
                    </a:solidFill>
                  </a:tcPr>
                </a:tc>
              </a:tr>
              <a:tr h="566928">
                <a:tc>
                  <a:txBody>
                    <a:bodyPr wrap="square"/>
                    <a:lstStyle/>
                    <a:p>
                      <a:pPr algn="l">
                        <a:lnSpc>
                          <a:spcPts val="1350"/>
                        </a:lnSpc>
                        <a:buNone/>
                      </a:pPr>
                      <a:r>
                        <a:rPr sz="1100" b="1">
                          <a:solidFill>
                            <a:srgbClr val="8C8C8C"/>
                          </a:solidFill>
                        </a:rPr>
                        <a:t>① </a:t>
                      </a:r>
                      <a:r>
                        <a:rPr sz="1100" b="1">
                          <a:solidFill>
                            <a:srgbClr val="1A1A1A"/>
                          </a:solidFill>
                        </a:rPr>
                        <a:t>取り方を足せば取れる</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600"/>
                        </a:lnSpc>
                        <a:buNone/>
                      </a:pPr>
                      <a:r>
                        <a:rPr sz="1300" b="1">
                          <a:solidFill>
                            <a:srgbClr val="046A38"/>
                          </a:solidFill>
                        </a:rPr>
                        <a:t>6</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既存の取得の仕組みに表・列・地点を足す（新規求人倍率・将来の総人口・基準地価 ほか）</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ITEC様（実装）</a:t>
                      </a:r>
                    </a:p>
                    <a:p>
                      <a:pPr algn="l">
                        <a:lnSpc>
                          <a:spcPts val="1300"/>
                        </a:lnSpc>
                        <a:buNone/>
                      </a:pPr>
                      <a:r>
                        <a:rPr sz="1000" b="0">
                          <a:solidFill>
                            <a:srgbClr val="8C8C8C"/>
                          </a:solidFill>
                        </a:rPr>
                        <a:t>短期・次の改修</a:t>
                      </a:r>
                    </a:p>
                  </a:txBody>
                  <a:tcPr marL="73152" marT="27432" marR="73152" marB="27432" anchor="ctr">
                    <a:lnL w="0">
                      <a:noFill/>
                    </a:lnL>
                    <a:lnR w="0">
                      <a:noFill/>
                    </a:lnR>
                    <a:lnT w="0">
                      <a:noFill/>
                    </a:lnT>
                    <a:lnB w="9525">
                      <a:solidFill>
                        <a:srgbClr val="E3E3E3"/>
                      </a:solidFill>
                    </a:lnB>
                    <a:noFill/>
                  </a:tcPr>
                </a:tc>
              </a:tr>
              <a:tr h="566928">
                <a:tc>
                  <a:txBody>
                    <a:bodyPr wrap="square"/>
                    <a:lstStyle/>
                    <a:p>
                      <a:pPr algn="l">
                        <a:lnSpc>
                          <a:spcPts val="1350"/>
                        </a:lnSpc>
                        <a:buNone/>
                      </a:pPr>
                      <a:r>
                        <a:rPr sz="1100" b="1">
                          <a:solidFill>
                            <a:srgbClr val="8C8C8C"/>
                          </a:solidFill>
                        </a:rPr>
                        <a:t>② </a:t>
                      </a:r>
                      <a:r>
                        <a:rPr sz="1100" b="1">
                          <a:solidFill>
                            <a:srgbClr val="1A1A1A"/>
                          </a:solidFill>
                        </a:rPr>
                        <a:t>複雑な仕組みの実装が必要</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600"/>
                        </a:lnSpc>
                        <a:buNone/>
                      </a:pPr>
                      <a:r>
                        <a:rPr sz="1300" b="1">
                          <a:solidFill>
                            <a:srgbClr val="046A38"/>
                          </a:solidFill>
                        </a:rPr>
                        <a:t>12</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PDF・本文からの数値の読み取り、XBRL・GIS・REIT開示の解析。小さく検証してから実装</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BX推進部（優先度）・ITEC様</a:t>
                      </a:r>
                    </a:p>
                    <a:p>
                      <a:pPr algn="l">
                        <a:lnSpc>
                          <a:spcPts val="1300"/>
                        </a:lnSpc>
                        <a:buNone/>
                      </a:pPr>
                      <a:r>
                        <a:rPr sz="1000" b="0">
                          <a:solidFill>
                            <a:srgbClr val="8C8C8C"/>
                          </a:solidFill>
                        </a:rPr>
                        <a:t>中期</a:t>
                      </a:r>
                    </a:p>
                  </a:txBody>
                  <a:tcPr marL="73152" marT="27432" marR="73152" marB="27432" anchor="ctr">
                    <a:lnL w="0">
                      <a:noFill/>
                    </a:lnL>
                    <a:lnR w="0">
                      <a:noFill/>
                    </a:lnR>
                    <a:lnT w="0">
                      <a:noFill/>
                    </a:lnT>
                    <a:lnB w="9525">
                      <a:solidFill>
                        <a:srgbClr val="E3E3E3"/>
                      </a:solidFill>
                    </a:lnB>
                    <a:noFill/>
                  </a:tcPr>
                </a:tc>
              </a:tr>
              <a:tr h="566928">
                <a:tc>
                  <a:txBody>
                    <a:bodyPr wrap="square"/>
                    <a:lstStyle/>
                    <a:p>
                      <a:pPr algn="l">
                        <a:lnSpc>
                          <a:spcPts val="1350"/>
                        </a:lnSpc>
                        <a:buNone/>
                      </a:pPr>
                      <a:r>
                        <a:rPr sz="1100" b="1">
                          <a:solidFill>
                            <a:srgbClr val="8C8C8C"/>
                          </a:solidFill>
                        </a:rPr>
                        <a:t>③ </a:t>
                      </a:r>
                      <a:r>
                        <a:rPr sz="1100" b="1">
                          <a:solidFill>
                            <a:srgbClr val="1A1A1A"/>
                          </a:solidFill>
                        </a:rPr>
                        <a:t>有償データ</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600"/>
                        </a:lnSpc>
                        <a:buNone/>
                      </a:pPr>
                      <a:r>
                        <a:rPr sz="1300" b="1">
                          <a:solidFill>
                            <a:srgbClr val="046A38"/>
                          </a:solidFill>
                        </a:rPr>
                        <a:t>9</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人流・航空の座席・運賃指数・日経など。BUごとに費用対効果を確かめ、契約を判断</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BX推進部（判断・契約）</a:t>
                      </a:r>
                    </a:p>
                    <a:p>
                      <a:pPr algn="l">
                        <a:lnSpc>
                          <a:spcPts val="1300"/>
                        </a:lnSpc>
                        <a:buNone/>
                      </a:pPr>
                      <a:r>
                        <a:rPr sz="1000" b="0">
                          <a:solidFill>
                            <a:srgbClr val="8C8C8C"/>
                          </a:solidFill>
                        </a:rPr>
                        <a:t>判断は短期</a:t>
                      </a:r>
                    </a:p>
                  </a:txBody>
                  <a:tcPr marL="73152" marT="27432" marR="73152" marB="27432" anchor="ctr">
                    <a:lnL w="0">
                      <a:noFill/>
                    </a:lnL>
                    <a:lnR w="0">
                      <a:noFill/>
                    </a:lnR>
                    <a:lnT w="0">
                      <a:noFill/>
                    </a:lnT>
                    <a:lnB w="9525">
                      <a:solidFill>
                        <a:srgbClr val="E3E3E3"/>
                      </a:solidFill>
                    </a:lnB>
                    <a:noFill/>
                  </a:tcPr>
                </a:tc>
              </a:tr>
              <a:tr h="566928">
                <a:tc>
                  <a:txBody>
                    <a:bodyPr wrap="square"/>
                    <a:lstStyle/>
                    <a:p>
                      <a:pPr algn="l">
                        <a:lnSpc>
                          <a:spcPts val="1350"/>
                        </a:lnSpc>
                        <a:buNone/>
                      </a:pPr>
                      <a:r>
                        <a:rPr sz="1100" b="1">
                          <a:solidFill>
                            <a:srgbClr val="8C8C8C"/>
                          </a:solidFill>
                        </a:rPr>
                        <a:t>④ </a:t>
                      </a:r>
                      <a:r>
                        <a:rPr sz="1100" b="1">
                          <a:solidFill>
                            <a:srgbClr val="1A1A1A"/>
                          </a:solidFill>
                        </a:rPr>
                        <a:t>商用利用・自動取得の許可が要る</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600"/>
                        </a:lnSpc>
                        <a:buNone/>
                      </a:pPr>
                      <a:r>
                        <a:rPr sz="1300" b="1">
                          <a:solidFill>
                            <a:srgbClr val="046A38"/>
                          </a:solidFill>
                        </a:rPr>
                        <a:t>5</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提供元に利用許諾・機械での取得の可否を相談（迂回はしない）</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BX推進部（相談）</a:t>
                      </a:r>
                    </a:p>
                    <a:p>
                      <a:pPr algn="l">
                        <a:lnSpc>
                          <a:spcPts val="1300"/>
                        </a:lnSpc>
                        <a:buNone/>
                      </a:pPr>
                      <a:r>
                        <a:rPr sz="1000" b="0">
                          <a:solidFill>
                            <a:srgbClr val="8C8C8C"/>
                          </a:solidFill>
                        </a:rPr>
                        <a:t>相談は短期</a:t>
                      </a:r>
                    </a:p>
                  </a:txBody>
                  <a:tcPr marL="73152" marT="27432" marR="73152" marB="27432" anchor="ctr">
                    <a:lnL w="0">
                      <a:noFill/>
                    </a:lnL>
                    <a:lnR w="0">
                      <a:noFill/>
                    </a:lnR>
                    <a:lnT w="0">
                      <a:noFill/>
                    </a:lnT>
                    <a:lnB w="9525">
                      <a:solidFill>
                        <a:srgbClr val="E3E3E3"/>
                      </a:solidFill>
                    </a:lnB>
                    <a:noFill/>
                  </a:tcPr>
                </a:tc>
              </a:tr>
              <a:tr h="566928">
                <a:tc>
                  <a:txBody>
                    <a:bodyPr wrap="square"/>
                    <a:lstStyle/>
                    <a:p>
                      <a:pPr algn="l">
                        <a:lnSpc>
                          <a:spcPts val="1350"/>
                        </a:lnSpc>
                        <a:buNone/>
                      </a:pPr>
                      <a:r>
                        <a:rPr sz="1100" b="1">
                          <a:solidFill>
                            <a:srgbClr val="8C8C8C"/>
                          </a:solidFill>
                        </a:rPr>
                        <a:t>⑤ </a:t>
                      </a:r>
                      <a:r>
                        <a:rPr sz="1100" b="1">
                          <a:solidFill>
                            <a:srgbClr val="1A1A1A"/>
                          </a:solidFill>
                        </a:rPr>
                        <a:t>無償の公開データが無い</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600"/>
                        </a:lnSpc>
                        <a:buNone/>
                      </a:pPr>
                      <a:r>
                        <a:rPr sz="1300" b="1">
                          <a:solidFill>
                            <a:srgbClr val="046A38"/>
                          </a:solidFill>
                        </a:rPr>
                        <a:t>11</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代わりの指標で運用し、半年〜1年ごとに新しい公開・提供の再開を確認</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ITEC様（定期の見直し）</a:t>
                      </a:r>
                    </a:p>
                    <a:p>
                      <a:pPr algn="l">
                        <a:lnSpc>
                          <a:spcPts val="1300"/>
                        </a:lnSpc>
                        <a:buNone/>
                      </a:pPr>
                      <a:r>
                        <a:rPr sz="1000" b="0">
                          <a:solidFill>
                            <a:srgbClr val="8C8C8C"/>
                          </a:solidFill>
                        </a:rPr>
                        <a:t>継続</a:t>
                      </a:r>
                    </a:p>
                  </a:txBody>
                  <a:tcPr marL="73152" marT="27432" marR="73152" marB="27432" anchor="ctr">
                    <a:lnL w="0">
                      <a:noFill/>
                    </a:lnL>
                    <a:lnR w="0">
                      <a:noFill/>
                    </a:lnR>
                    <a:lnT w="0">
                      <a:noFill/>
                    </a:lnT>
                    <a:lnB w="9525">
                      <a:solidFill>
                        <a:srgbClr val="E3E3E3"/>
                      </a:solidFill>
                    </a:lnB>
                    <a:noFill/>
                  </a:tcPr>
                </a:tc>
              </a:tr>
              <a:tr h="566928">
                <a:tc>
                  <a:txBody>
                    <a:bodyPr wrap="square"/>
                    <a:lstStyle/>
                    <a:p>
                      <a:pPr algn="l">
                        <a:lnSpc>
                          <a:spcPts val="1350"/>
                        </a:lnSpc>
                        <a:buNone/>
                      </a:pPr>
                      <a:r>
                        <a:rPr sz="1100" b="1">
                          <a:solidFill>
                            <a:srgbClr val="8C8C8C"/>
                          </a:solidFill>
                        </a:rPr>
                        <a:t>⑥ </a:t>
                      </a:r>
                      <a:r>
                        <a:rPr sz="1100" b="1">
                          <a:solidFill>
                            <a:srgbClr val="1A1A1A"/>
                          </a:solidFill>
                        </a:rPr>
                        <a:t>現状の指標で足りている</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600"/>
                        </a:lnSpc>
                        <a:buNone/>
                      </a:pPr>
                      <a:r>
                        <a:rPr sz="1300" b="1">
                          <a:solidFill>
                            <a:srgbClr val="046A38"/>
                          </a:solidFill>
                        </a:rPr>
                        <a:t>6</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回答・設計どおり。BUから要望が出たときに追加を検討</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00"/>
                        </a:lnSpc>
                        <a:buNone/>
                      </a:pPr>
                      <a:r>
                        <a:rPr sz="1050" b="0">
                          <a:solidFill>
                            <a:srgbClr val="1A1A1A"/>
                          </a:solidFill>
                        </a:rPr>
                        <a:t>BX推進部（要望の受付）</a:t>
                      </a:r>
                    </a:p>
                    <a:p>
                      <a:pPr algn="l">
                        <a:lnSpc>
                          <a:spcPts val="1300"/>
                        </a:lnSpc>
                        <a:buNone/>
                      </a:pPr>
                      <a:r>
                        <a:rPr sz="1000" b="0">
                          <a:solidFill>
                            <a:srgbClr val="8C8C8C"/>
                          </a:solidFill>
                        </a:rPr>
                        <a:t>必要時</a:t>
                      </a:r>
                    </a:p>
                  </a:txBody>
                  <a:tcPr marL="73152" marT="27432" marR="73152" marB="27432" anchor="ctr">
                    <a:lnL w="0">
                      <a:noFill/>
                    </a:lnL>
                    <a:lnR w="0">
                      <a:noFill/>
                    </a:lnR>
                    <a:lnT w="0">
                      <a:noFill/>
                    </a:lnT>
                    <a:lnB w="9525">
                      <a:solidFill>
                        <a:srgbClr val="E3E3E3"/>
                      </a:solidFill>
                    </a:lnB>
                    <a:noFill/>
                  </a:tcPr>
                </a:tc>
              </a:tr>
            </a:tbl>
          </a:graphicData>
        </a:graphic>
      </p:graphicFrame>
      <p:sp>
        <p:nvSpPr>
          <p:cNvPr id="28" name="TextBox 27"/>
          <p:cNvSpPr txBox="1"/>
          <p:nvPr/>
        </p:nvSpPr>
        <p:spPr>
          <a:xfrm>
            <a:off x="6035040" y="5870448"/>
            <a:ext cx="5669280" cy="411480"/>
          </a:xfrm>
          <a:prstGeom prst="rect">
            <a:avLst/>
          </a:prstGeom>
          <a:noFill/>
        </p:spPr>
        <p:txBody>
          <a:bodyPr wrap="square" lIns="0" tIns="0" rIns="0" bIns="0" anchor="t">
            <a:noAutofit/>
          </a:bodyPr>
          <a:lstStyle/>
          <a:p>
            <a:pPr algn="l">
              <a:buNone/>
            </a:pPr>
            <a:r>
              <a:rPr sz="1000" b="0">
                <a:solidFill>
                  <a:srgbClr val="595959"/>
                </a:solidFill>
              </a:rPr>
              <a:t>※ 有償データは使っていない（J-Quants・EDINET・e-Stat などは無償の登録で利用）</a:t>
            </a:r>
          </a:p>
          <a:p>
            <a:pPr algn="l">
              <a:buNone/>
            </a:pPr>
            <a:r>
              <a:rPr sz="1000" b="0">
                <a:solidFill>
                  <a:srgbClr val="595959"/>
                </a:solidFill>
              </a:rPr>
              <a:t>※ ソースごとの明細：【取得状況（改善結果）】AI経営ナビ 外部データ_20261005.xlsx</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r>
              <a:t>足元のタイムライン（BX推進部・ITEC様・デロイトで合意）</a:t>
            </a:r>
          </a:p>
        </p:txBody>
      </p:sp>
      <p:sp>
        <p:nvSpPr>
          <p:cNvPr id="3" name="Title 2"/>
          <p:cNvSpPr>
            <a:spLocks noGrp="1"/>
          </p:cNvSpPr>
          <p:nvPr>
            <p:ph type="title"/>
          </p:nvPr>
        </p:nvSpPr>
        <p:spPr/>
        <p:txBody>
          <a:bodyPr/>
          <a:lstStyle/>
          <a:p>
            <a:r>
              <a:t>9/11版以降に改修を重ねた最新版は、予定より早く10/15頃にセキュア環境へ反映し、あわせてデータを投入する見込みです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5</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7" name="Rectangle 6"/>
          <p:cNvSpPr/>
          <p:nvPr/>
        </p:nvSpPr>
        <p:spPr>
          <a:xfrm>
            <a:off x="475488" y="1627632"/>
            <a:ext cx="3054096" cy="585216"/>
          </a:xfrm>
          <a:prstGeom prst="rect">
            <a:avLst/>
          </a:prstGeom>
          <a:solidFill>
            <a:srgbClr val="F3F3F3"/>
          </a:solidFill>
          <a:ln>
            <a:noFill/>
          </a:ln>
        </p:spPr>
        <p:txBody>
          <a:bodyPr rtlCol="0" anchor="ctr" wrap="square" lIns="109728" tIns="27432" rIns="73152" bIns="27432">
            <a:noAutofit/>
          </a:bodyPr>
          <a:lstStyle/>
          <a:p>
            <a:pPr algn="l">
              <a:buNone/>
            </a:pPr>
            <a:r>
              <a:rPr sz="1200" b="1">
                <a:solidFill>
                  <a:srgbClr val="262626"/>
                </a:solidFill>
              </a:rPr>
              <a:t>〜10/7　デロイトが検証環境で改修</a:t>
            </a:r>
          </a:p>
          <a:p>
            <a:pPr algn="l">
              <a:spcBef>
                <a:spcPts val="100"/>
              </a:spcBef>
              <a:buNone/>
            </a:pPr>
            <a:r>
              <a:rPr sz="1000" b="0">
                <a:solidFill>
                  <a:srgbClr val="595959"/>
                </a:solidFill>
              </a:rPr>
              <a:t>ご依頼を日々反映（アドホック改修）</a:t>
            </a:r>
          </a:p>
        </p:txBody>
      </p:sp>
      <p:sp>
        <p:nvSpPr>
          <p:cNvPr id="8" name="Rectangle 7"/>
          <p:cNvSpPr/>
          <p:nvPr/>
        </p:nvSpPr>
        <p:spPr>
          <a:xfrm>
            <a:off x="3602736" y="1627632"/>
            <a:ext cx="1956816" cy="585216"/>
          </a:xfrm>
          <a:prstGeom prst="rect">
            <a:avLst/>
          </a:prstGeom>
          <a:solidFill>
            <a:srgbClr val="F3F3F3"/>
          </a:solidFill>
          <a:ln>
            <a:noFill/>
          </a:ln>
        </p:spPr>
        <p:txBody>
          <a:bodyPr rtlCol="0" anchor="ctr" wrap="square" lIns="109728" tIns="27432" rIns="73152" bIns="27432">
            <a:noAutofit/>
          </a:bodyPr>
          <a:lstStyle/>
          <a:p>
            <a:pPr algn="l">
              <a:buNone/>
            </a:pPr>
            <a:r>
              <a:rPr sz="1200" b="1">
                <a:solidFill>
                  <a:srgbClr val="262626"/>
                </a:solidFill>
              </a:rPr>
              <a:t>10/8〜14　反映・引継ぎ</a:t>
            </a:r>
          </a:p>
          <a:p>
            <a:pPr algn="l">
              <a:spcBef>
                <a:spcPts val="100"/>
              </a:spcBef>
              <a:buNone/>
            </a:pPr>
            <a:r>
              <a:rPr sz="1000" b="0">
                <a:solidFill>
                  <a:srgbClr val="595959"/>
                </a:solidFill>
              </a:rPr>
              <a:t>引継ぎ会 今週1回・来週1回</a:t>
            </a:r>
          </a:p>
        </p:txBody>
      </p:sp>
      <p:sp>
        <p:nvSpPr>
          <p:cNvPr id="9" name="Rectangle 8"/>
          <p:cNvSpPr/>
          <p:nvPr/>
        </p:nvSpPr>
        <p:spPr>
          <a:xfrm>
            <a:off x="5632704" y="1627632"/>
            <a:ext cx="6071616" cy="585216"/>
          </a:xfrm>
          <a:prstGeom prst="rect">
            <a:avLst/>
          </a:prstGeom>
          <a:solidFill>
            <a:srgbClr val="F3F3F3"/>
          </a:solidFill>
          <a:ln>
            <a:noFill/>
          </a:ln>
        </p:spPr>
        <p:txBody>
          <a:bodyPr rtlCol="0" anchor="ctr" wrap="square" lIns="109728" tIns="27432" rIns="73152" bIns="27432">
            <a:noAutofit/>
          </a:bodyPr>
          <a:lstStyle/>
          <a:p>
            <a:pPr algn="l">
              <a:buNone/>
            </a:pPr>
            <a:r>
              <a:rPr sz="1200" b="1">
                <a:solidFill>
                  <a:srgbClr val="262626"/>
                </a:solidFill>
              </a:rPr>
              <a:t>10/15〜　ITEC様主導の運用・データ投入へ</a:t>
            </a:r>
          </a:p>
          <a:p>
            <a:pPr algn="l">
              <a:spcBef>
                <a:spcPts val="100"/>
              </a:spcBef>
              <a:buNone/>
            </a:pPr>
            <a:r>
              <a:rPr sz="1000" b="0">
                <a:solidFill>
                  <a:srgbClr val="595959"/>
                </a:solidFill>
              </a:rPr>
              <a:t>改修も段階的にITEC様主導、デロイトは技術アドバイザリーへ</a:t>
            </a:r>
          </a:p>
        </p:txBody>
      </p:sp>
      <p:cxnSp>
        <p:nvCxnSpPr>
          <p:cNvPr id="10" name="Connector 9"/>
          <p:cNvCxnSpPr/>
          <p:nvPr/>
        </p:nvCxnSpPr>
        <p:spPr>
          <a:xfrm>
            <a:off x="548640" y="2697480"/>
            <a:ext cx="11109960" cy="0"/>
          </a:xfrm>
          <a:prstGeom prst="line">
            <a:avLst/>
          </a:prstGeom>
          <a:ln w="25400">
            <a:solidFill>
              <a:srgbClr val="C8C8C8"/>
            </a:solidFill>
          </a:ln>
        </p:spPr>
      </p:cxnSp>
      <p:cxnSp>
        <p:nvCxnSpPr>
          <p:cNvPr id="11" name="Connector 10"/>
          <p:cNvCxnSpPr/>
          <p:nvPr/>
        </p:nvCxnSpPr>
        <p:spPr>
          <a:xfrm>
            <a:off x="548640" y="2697480"/>
            <a:ext cx="2194560" cy="0"/>
          </a:xfrm>
          <a:prstGeom prst="line">
            <a:avLst/>
          </a:prstGeom>
          <a:ln w="25400">
            <a:solidFill>
              <a:srgbClr val="046A38"/>
            </a:solidFill>
          </a:ln>
        </p:spPr>
      </p:cxnSp>
      <p:sp>
        <p:nvSpPr>
          <p:cNvPr id="12" name="Oval 11"/>
          <p:cNvSpPr/>
          <p:nvPr/>
        </p:nvSpPr>
        <p:spPr>
          <a:xfrm>
            <a:off x="1051560" y="2560320"/>
            <a:ext cx="274320" cy="274320"/>
          </a:xfrm>
          <a:prstGeom prst="ellipse">
            <a:avLst/>
          </a:prstGeom>
          <a:solidFill>
            <a:srgbClr val="046A38"/>
          </a:solidFill>
          <a:ln>
            <a:noFill/>
          </a:ln>
        </p:spPr>
        <p:txBody>
          <a:bodyPr rtlCol="0" anchor="ctr" wrap="square" lIns="0" tIns="0" rIns="0" bIns="0">
            <a:noAutofit/>
          </a:bodyPr>
          <a:lstStyle/>
          <a:p>
            <a:pPr algn="ctr">
              <a:buNone/>
            </a:pPr>
            <a:r>
              <a:rPr sz="1000" b="1">
                <a:solidFill>
                  <a:srgbClr val="FFFFFF"/>
                </a:solidFill>
              </a:rPr>
              <a:t>✓</a:t>
            </a:r>
          </a:p>
        </p:txBody>
      </p:sp>
      <p:sp>
        <p:nvSpPr>
          <p:cNvPr id="13" name="Rectangle 12"/>
          <p:cNvSpPr/>
          <p:nvPr/>
        </p:nvSpPr>
        <p:spPr>
          <a:xfrm>
            <a:off x="480060" y="3017520"/>
            <a:ext cx="1417320" cy="1627632"/>
          </a:xfrm>
          <a:prstGeom prst="rect">
            <a:avLst/>
          </a:prstGeom>
          <a:solidFill>
            <a:srgbClr val="F3F3F3"/>
          </a:solidFill>
          <a:ln>
            <a:noFill/>
          </a:ln>
        </p:spPr>
        <p:txBody>
          <a:bodyPr rtlCol="0" anchor="ctr" wrap="square" lIns="54864" tIns="27432" rIns="54864" bIns="27432">
            <a:noAutofit/>
          </a:bodyPr>
          <a:lstStyle/>
          <a:p>
            <a:pPr algn="ctr"/>
          </a:p>
        </p:txBody>
      </p:sp>
      <p:sp>
        <p:nvSpPr>
          <p:cNvPr id="14" name="TextBox 13"/>
          <p:cNvSpPr txBox="1"/>
          <p:nvPr/>
        </p:nvSpPr>
        <p:spPr>
          <a:xfrm>
            <a:off x="571500" y="3072384"/>
            <a:ext cx="1234440" cy="292608"/>
          </a:xfrm>
          <a:prstGeom prst="rect">
            <a:avLst/>
          </a:prstGeom>
          <a:noFill/>
        </p:spPr>
        <p:txBody>
          <a:bodyPr wrap="square" lIns="0" tIns="0" rIns="0" bIns="0" anchor="ctr">
            <a:noAutofit/>
          </a:bodyPr>
          <a:lstStyle/>
          <a:p>
            <a:pPr algn="l">
              <a:buNone/>
            </a:pPr>
            <a:r>
              <a:rPr sz="1300" b="1">
                <a:solidFill>
                  <a:srgbClr val="046A38"/>
                </a:solidFill>
              </a:rPr>
              <a:t>10/5（月）</a:t>
            </a:r>
          </a:p>
        </p:txBody>
      </p:sp>
      <p:sp>
        <p:nvSpPr>
          <p:cNvPr id="15" name="TextBox 14"/>
          <p:cNvSpPr txBox="1"/>
          <p:nvPr/>
        </p:nvSpPr>
        <p:spPr>
          <a:xfrm>
            <a:off x="571500" y="3383280"/>
            <a:ext cx="1234440" cy="566928"/>
          </a:xfrm>
          <a:prstGeom prst="rect">
            <a:avLst/>
          </a:prstGeom>
          <a:noFill/>
        </p:spPr>
        <p:txBody>
          <a:bodyPr wrap="square" lIns="0" tIns="0" rIns="0" bIns="0" anchor="t">
            <a:noAutofit/>
          </a:bodyPr>
          <a:lstStyle/>
          <a:p>
            <a:pPr algn="l">
              <a:lnSpc>
                <a:spcPct val="100000"/>
              </a:lnSpc>
              <a:buNone/>
            </a:pPr>
            <a:r>
              <a:rPr sz="1150" b="1">
                <a:solidFill>
                  <a:srgbClr val="262626"/>
                </a:solidFill>
              </a:rPr>
              <a:t>9/11版をセキュア公開</a:t>
            </a:r>
          </a:p>
        </p:txBody>
      </p:sp>
      <p:sp>
        <p:nvSpPr>
          <p:cNvPr id="16" name="TextBox 15"/>
          <p:cNvSpPr txBox="1"/>
          <p:nvPr/>
        </p:nvSpPr>
        <p:spPr>
          <a:xfrm>
            <a:off x="571500" y="3931920"/>
            <a:ext cx="1234440" cy="365760"/>
          </a:xfrm>
          <a:prstGeom prst="rect">
            <a:avLst/>
          </a:prstGeom>
          <a:noFill/>
        </p:spPr>
        <p:txBody>
          <a:bodyPr wrap="square" lIns="0" tIns="0" rIns="0" bIns="0" anchor="t">
            <a:noAutofit/>
          </a:bodyPr>
          <a:lstStyle/>
          <a:p>
            <a:pPr algn="l">
              <a:buNone/>
            </a:pPr>
            <a:r>
              <a:rPr sz="1000" b="0">
                <a:solidFill>
                  <a:srgbClr val="595959"/>
                </a:solidFill>
              </a:rPr>
              <a:t>ログイン・アクセスの確認を開始</a:t>
            </a:r>
          </a:p>
        </p:txBody>
      </p:sp>
      <p:sp>
        <p:nvSpPr>
          <p:cNvPr id="17" name="Rounded Rectangle 16"/>
          <p:cNvSpPr/>
          <p:nvPr/>
        </p:nvSpPr>
        <p:spPr>
          <a:xfrm>
            <a:off x="534924" y="4334256"/>
            <a:ext cx="1307592" cy="228600"/>
          </a:xfrm>
          <a:prstGeom prst="roundRect">
            <a:avLst>
              <a:gd name="adj" fmla="val 50000"/>
            </a:avLst>
          </a:prstGeom>
          <a:solidFill>
            <a:srgbClr val="FFFFFF"/>
          </a:solidFill>
          <a:ln w="9525">
            <a:solidFill>
              <a:srgbClr val="D0D0CE"/>
            </a:solidFill>
          </a:ln>
        </p:spPr>
        <p:txBody>
          <a:bodyPr rtlCol="0" anchor="ctr" wrap="square" lIns="36576" tIns="0" rIns="36576" bIns="0">
            <a:noAutofit/>
          </a:bodyPr>
          <a:lstStyle/>
          <a:p>
            <a:pPr algn="ctr">
              <a:buNone/>
            </a:pPr>
            <a:r>
              <a:rPr sz="900" b="1">
                <a:solidFill>
                  <a:srgbClr val="595959"/>
                </a:solidFill>
              </a:rPr>
              <a:t>ITEC様→BX推進部</a:t>
            </a:r>
          </a:p>
        </p:txBody>
      </p:sp>
      <p:sp>
        <p:nvSpPr>
          <p:cNvPr id="18" name="Oval 17"/>
          <p:cNvSpPr/>
          <p:nvPr/>
        </p:nvSpPr>
        <p:spPr>
          <a:xfrm>
            <a:off x="2596896" y="2551176"/>
            <a:ext cx="292608" cy="292608"/>
          </a:xfrm>
          <a:prstGeom prst="ellipse">
            <a:avLst/>
          </a:prstGeom>
          <a:solidFill>
            <a:srgbClr val="FFFFFF"/>
          </a:solidFill>
          <a:ln w="31750">
            <a:solidFill>
              <a:srgbClr val="046A38"/>
            </a:solidFill>
          </a:ln>
        </p:spPr>
        <p:txBody>
          <a:bodyPr rtlCol="0" anchor="ctr" wrap="square" lIns="54864" tIns="27432" rIns="54864" bIns="27432">
            <a:noAutofit/>
          </a:bodyPr>
          <a:lstStyle/>
          <a:p>
            <a:pPr algn="ctr"/>
          </a:p>
        </p:txBody>
      </p:sp>
      <p:sp>
        <p:nvSpPr>
          <p:cNvPr id="19" name="Rounded Rectangle 18"/>
          <p:cNvSpPr/>
          <p:nvPr/>
        </p:nvSpPr>
        <p:spPr>
          <a:xfrm>
            <a:off x="2450592" y="2267712"/>
            <a:ext cx="585216" cy="201168"/>
          </a:xfrm>
          <a:prstGeom prst="roundRect">
            <a:avLst>
              <a:gd name="adj" fmla="val 50000"/>
            </a:avLst>
          </a:prstGeom>
          <a:solidFill>
            <a:srgbClr val="262626"/>
          </a:solidFill>
          <a:ln>
            <a:noFill/>
          </a:ln>
        </p:spPr>
        <p:txBody>
          <a:bodyPr rtlCol="0" anchor="ctr" wrap="square" lIns="36576" tIns="0" rIns="36576" bIns="0">
            <a:noAutofit/>
          </a:bodyPr>
          <a:lstStyle/>
          <a:p>
            <a:pPr algn="ctr">
              <a:buNone/>
            </a:pPr>
            <a:r>
              <a:rPr sz="950" b="1">
                <a:solidFill>
                  <a:srgbClr val="FFFFFF"/>
                </a:solidFill>
              </a:rPr>
              <a:t>本日</a:t>
            </a:r>
          </a:p>
        </p:txBody>
      </p:sp>
      <p:sp>
        <p:nvSpPr>
          <p:cNvPr id="20" name="Rectangle 19"/>
          <p:cNvSpPr/>
          <p:nvPr/>
        </p:nvSpPr>
        <p:spPr>
          <a:xfrm>
            <a:off x="2034540" y="3017520"/>
            <a:ext cx="1417320" cy="1627632"/>
          </a:xfrm>
          <a:prstGeom prst="rect">
            <a:avLst/>
          </a:prstGeom>
          <a:solidFill>
            <a:srgbClr val="F3F3F3"/>
          </a:solidFill>
          <a:ln>
            <a:noFill/>
          </a:ln>
        </p:spPr>
        <p:txBody>
          <a:bodyPr rtlCol="0" anchor="ctr" wrap="square" lIns="54864" tIns="27432" rIns="54864" bIns="27432">
            <a:noAutofit/>
          </a:bodyPr>
          <a:lstStyle/>
          <a:p>
            <a:pPr algn="ctr"/>
          </a:p>
        </p:txBody>
      </p:sp>
      <p:sp>
        <p:nvSpPr>
          <p:cNvPr id="21" name="TextBox 20"/>
          <p:cNvSpPr txBox="1"/>
          <p:nvPr/>
        </p:nvSpPr>
        <p:spPr>
          <a:xfrm>
            <a:off x="2125980" y="3072384"/>
            <a:ext cx="1234440" cy="292608"/>
          </a:xfrm>
          <a:prstGeom prst="rect">
            <a:avLst/>
          </a:prstGeom>
          <a:noFill/>
        </p:spPr>
        <p:txBody>
          <a:bodyPr wrap="square" lIns="0" tIns="0" rIns="0" bIns="0" anchor="ctr">
            <a:noAutofit/>
          </a:bodyPr>
          <a:lstStyle/>
          <a:p>
            <a:pPr algn="l">
              <a:buNone/>
            </a:pPr>
            <a:r>
              <a:rPr sz="1300" b="1">
                <a:solidFill>
                  <a:srgbClr val="262626"/>
                </a:solidFill>
              </a:rPr>
              <a:t>10/7（水）午前</a:t>
            </a:r>
          </a:p>
        </p:txBody>
      </p:sp>
      <p:sp>
        <p:nvSpPr>
          <p:cNvPr id="22" name="TextBox 21"/>
          <p:cNvSpPr txBox="1"/>
          <p:nvPr/>
        </p:nvSpPr>
        <p:spPr>
          <a:xfrm>
            <a:off x="2125980" y="3383280"/>
            <a:ext cx="1234440" cy="566928"/>
          </a:xfrm>
          <a:prstGeom prst="rect">
            <a:avLst/>
          </a:prstGeom>
          <a:noFill/>
        </p:spPr>
        <p:txBody>
          <a:bodyPr wrap="square" lIns="0" tIns="0" rIns="0" bIns="0" anchor="t">
            <a:noAutofit/>
          </a:bodyPr>
          <a:lstStyle/>
          <a:p>
            <a:pPr algn="l">
              <a:lnSpc>
                <a:spcPct val="100000"/>
              </a:lnSpc>
              <a:buNone/>
            </a:pPr>
            <a:r>
              <a:rPr sz="1150" b="1">
                <a:solidFill>
                  <a:srgbClr val="262626"/>
                </a:solidFill>
              </a:rPr>
              <a:t>アドホック改修を一旦Close</a:t>
            </a:r>
          </a:p>
        </p:txBody>
      </p:sp>
      <p:sp>
        <p:nvSpPr>
          <p:cNvPr id="23" name="TextBox 22"/>
          <p:cNvSpPr txBox="1"/>
          <p:nvPr/>
        </p:nvSpPr>
        <p:spPr>
          <a:xfrm>
            <a:off x="2125980" y="3931920"/>
            <a:ext cx="1234440" cy="365760"/>
          </a:xfrm>
          <a:prstGeom prst="rect">
            <a:avLst/>
          </a:prstGeom>
          <a:noFill/>
        </p:spPr>
        <p:txBody>
          <a:bodyPr wrap="square" lIns="0" tIns="0" rIns="0" bIns="0" anchor="t">
            <a:noAutofit/>
          </a:bodyPr>
          <a:lstStyle/>
          <a:p>
            <a:pPr algn="l">
              <a:buNone/>
            </a:pPr>
            <a:r>
              <a:rPr sz="1000" b="0">
                <a:solidFill>
                  <a:srgbClr val="595959"/>
                </a:solidFill>
              </a:rPr>
              <a:t>10/7版として確定</a:t>
            </a:r>
          </a:p>
        </p:txBody>
      </p:sp>
      <p:sp>
        <p:nvSpPr>
          <p:cNvPr id="24" name="Rounded Rectangle 23"/>
          <p:cNvSpPr/>
          <p:nvPr/>
        </p:nvSpPr>
        <p:spPr>
          <a:xfrm>
            <a:off x="2089404" y="4334256"/>
            <a:ext cx="1307592" cy="228600"/>
          </a:xfrm>
          <a:prstGeom prst="roundRect">
            <a:avLst>
              <a:gd name="adj" fmla="val 50000"/>
            </a:avLst>
          </a:prstGeom>
          <a:solidFill>
            <a:srgbClr val="FFFFFF"/>
          </a:solidFill>
          <a:ln w="9525">
            <a:solidFill>
              <a:srgbClr val="D0D0CE"/>
            </a:solidFill>
          </a:ln>
        </p:spPr>
        <p:txBody>
          <a:bodyPr rtlCol="0" anchor="ctr" wrap="square" lIns="36576" tIns="0" rIns="36576" bIns="0">
            <a:noAutofit/>
          </a:bodyPr>
          <a:lstStyle/>
          <a:p>
            <a:pPr algn="ctr">
              <a:buNone/>
            </a:pPr>
            <a:r>
              <a:rPr sz="900" b="1">
                <a:solidFill>
                  <a:srgbClr val="595959"/>
                </a:solidFill>
              </a:rPr>
              <a:t>BX推進部→デロイト</a:t>
            </a:r>
          </a:p>
        </p:txBody>
      </p:sp>
      <p:sp>
        <p:nvSpPr>
          <p:cNvPr id="25" name="Oval 24"/>
          <p:cNvSpPr/>
          <p:nvPr/>
        </p:nvSpPr>
        <p:spPr>
          <a:xfrm>
            <a:off x="4197096" y="2578608"/>
            <a:ext cx="237744" cy="237744"/>
          </a:xfrm>
          <a:prstGeom prst="ellipse">
            <a:avLst/>
          </a:prstGeom>
          <a:solidFill>
            <a:srgbClr val="FFFFFF"/>
          </a:solidFill>
          <a:ln w="22225">
            <a:solidFill>
              <a:srgbClr val="A6A6A6"/>
            </a:solidFill>
          </a:ln>
        </p:spPr>
        <p:txBody>
          <a:bodyPr rtlCol="0" anchor="ctr" wrap="square" lIns="54864" tIns="27432" rIns="54864" bIns="27432">
            <a:noAutofit/>
          </a:bodyPr>
          <a:lstStyle/>
          <a:p>
            <a:pPr algn="ctr"/>
          </a:p>
        </p:txBody>
      </p:sp>
      <p:sp>
        <p:nvSpPr>
          <p:cNvPr id="26" name="Rectangle 25"/>
          <p:cNvSpPr/>
          <p:nvPr/>
        </p:nvSpPr>
        <p:spPr>
          <a:xfrm>
            <a:off x="3607308" y="3017520"/>
            <a:ext cx="1417320" cy="1627632"/>
          </a:xfrm>
          <a:prstGeom prst="rect">
            <a:avLst/>
          </a:prstGeom>
          <a:solidFill>
            <a:srgbClr val="F3F3F3"/>
          </a:solidFill>
          <a:ln>
            <a:noFill/>
          </a:ln>
        </p:spPr>
        <p:txBody>
          <a:bodyPr rtlCol="0" anchor="ctr" wrap="square" lIns="54864" tIns="27432" rIns="54864" bIns="27432">
            <a:noAutofit/>
          </a:bodyPr>
          <a:lstStyle/>
          <a:p>
            <a:pPr algn="ctr"/>
          </a:p>
        </p:txBody>
      </p:sp>
      <p:sp>
        <p:nvSpPr>
          <p:cNvPr id="27" name="TextBox 26"/>
          <p:cNvSpPr txBox="1"/>
          <p:nvPr/>
        </p:nvSpPr>
        <p:spPr>
          <a:xfrm>
            <a:off x="3698748" y="3072384"/>
            <a:ext cx="1234440" cy="292608"/>
          </a:xfrm>
          <a:prstGeom prst="rect">
            <a:avLst/>
          </a:prstGeom>
          <a:noFill/>
        </p:spPr>
        <p:txBody>
          <a:bodyPr wrap="square" lIns="0" tIns="0" rIns="0" bIns="0" anchor="ctr">
            <a:noAutofit/>
          </a:bodyPr>
          <a:lstStyle/>
          <a:p>
            <a:pPr algn="l">
              <a:buNone/>
            </a:pPr>
            <a:r>
              <a:rPr sz="1300" b="1">
                <a:solidFill>
                  <a:srgbClr val="262626"/>
                </a:solidFill>
              </a:rPr>
              <a:t>10/8（木）〜</a:t>
            </a:r>
          </a:p>
        </p:txBody>
      </p:sp>
      <p:sp>
        <p:nvSpPr>
          <p:cNvPr id="28" name="TextBox 27"/>
          <p:cNvSpPr txBox="1"/>
          <p:nvPr/>
        </p:nvSpPr>
        <p:spPr>
          <a:xfrm>
            <a:off x="3698748" y="3383280"/>
            <a:ext cx="1234440" cy="566928"/>
          </a:xfrm>
          <a:prstGeom prst="rect">
            <a:avLst/>
          </a:prstGeom>
          <a:noFill/>
        </p:spPr>
        <p:txBody>
          <a:bodyPr wrap="square" lIns="0" tIns="0" rIns="0" bIns="0" anchor="t">
            <a:noAutofit/>
          </a:bodyPr>
          <a:lstStyle/>
          <a:p>
            <a:pPr algn="l">
              <a:lnSpc>
                <a:spcPct val="100000"/>
              </a:lnSpc>
              <a:buNone/>
            </a:pPr>
            <a:r>
              <a:rPr sz="1150" b="1">
                <a:solidFill>
                  <a:srgbClr val="262626"/>
                </a:solidFill>
              </a:rPr>
              <a:t>最新版をセキュア環境へ反映開始</a:t>
            </a:r>
          </a:p>
        </p:txBody>
      </p:sp>
      <p:sp>
        <p:nvSpPr>
          <p:cNvPr id="29" name="Rounded Rectangle 28"/>
          <p:cNvSpPr/>
          <p:nvPr/>
        </p:nvSpPr>
        <p:spPr>
          <a:xfrm>
            <a:off x="3662172" y="4334256"/>
            <a:ext cx="1307592" cy="228600"/>
          </a:xfrm>
          <a:prstGeom prst="roundRect">
            <a:avLst>
              <a:gd name="adj" fmla="val 50000"/>
            </a:avLst>
          </a:prstGeom>
          <a:solidFill>
            <a:srgbClr val="FFFFFF"/>
          </a:solidFill>
          <a:ln w="9525">
            <a:solidFill>
              <a:srgbClr val="D0D0CE"/>
            </a:solidFill>
          </a:ln>
        </p:spPr>
        <p:txBody>
          <a:bodyPr rtlCol="0" anchor="ctr" wrap="square" lIns="36576" tIns="0" rIns="36576" bIns="0">
            <a:noAutofit/>
          </a:bodyPr>
          <a:lstStyle/>
          <a:p>
            <a:pPr algn="ctr">
              <a:buNone/>
            </a:pPr>
            <a:r>
              <a:rPr sz="900" b="1">
                <a:solidFill>
                  <a:srgbClr val="595959"/>
                </a:solidFill>
              </a:rPr>
              <a:t>ITEC様</a:t>
            </a:r>
          </a:p>
        </p:txBody>
      </p:sp>
      <p:sp>
        <p:nvSpPr>
          <p:cNvPr id="30" name="Oval 29"/>
          <p:cNvSpPr/>
          <p:nvPr/>
        </p:nvSpPr>
        <p:spPr>
          <a:xfrm>
            <a:off x="6172200" y="2560320"/>
            <a:ext cx="274320" cy="274320"/>
          </a:xfrm>
          <a:prstGeom prst="ellipse">
            <a:avLst/>
          </a:prstGeom>
          <a:solidFill>
            <a:srgbClr val="046A38"/>
          </a:solidFill>
          <a:ln>
            <a:noFill/>
          </a:ln>
        </p:spPr>
        <p:txBody>
          <a:bodyPr rtlCol="0" anchor="ctr" wrap="square" lIns="54864" tIns="27432" rIns="54864" bIns="27432">
            <a:noAutofit/>
          </a:bodyPr>
          <a:lstStyle/>
          <a:p>
            <a:pPr algn="ctr"/>
          </a:p>
        </p:txBody>
      </p:sp>
      <p:sp>
        <p:nvSpPr>
          <p:cNvPr id="31" name="Rectangle 30"/>
          <p:cNvSpPr/>
          <p:nvPr/>
        </p:nvSpPr>
        <p:spPr>
          <a:xfrm>
            <a:off x="5600700" y="3017520"/>
            <a:ext cx="1417320" cy="1627632"/>
          </a:xfrm>
          <a:prstGeom prst="rect">
            <a:avLst/>
          </a:prstGeom>
          <a:solidFill>
            <a:srgbClr val="FFFFFF"/>
          </a:solidFill>
          <a:ln w="15875">
            <a:solidFill>
              <a:srgbClr val="046A38"/>
            </a:solidFill>
          </a:ln>
        </p:spPr>
        <p:txBody>
          <a:bodyPr rtlCol="0" anchor="ctr" wrap="square" lIns="54864" tIns="27432" rIns="54864" bIns="27432">
            <a:noAutofit/>
          </a:bodyPr>
          <a:lstStyle/>
          <a:p>
            <a:pPr algn="ctr"/>
          </a:p>
        </p:txBody>
      </p:sp>
      <p:sp>
        <p:nvSpPr>
          <p:cNvPr id="32" name="TextBox 31"/>
          <p:cNvSpPr txBox="1"/>
          <p:nvPr/>
        </p:nvSpPr>
        <p:spPr>
          <a:xfrm>
            <a:off x="5692140" y="3072384"/>
            <a:ext cx="1234440" cy="292608"/>
          </a:xfrm>
          <a:prstGeom prst="rect">
            <a:avLst/>
          </a:prstGeom>
          <a:noFill/>
        </p:spPr>
        <p:txBody>
          <a:bodyPr wrap="square" lIns="0" tIns="0" rIns="0" bIns="0" anchor="ctr">
            <a:noAutofit/>
          </a:bodyPr>
          <a:lstStyle/>
          <a:p>
            <a:pPr algn="l">
              <a:buNone/>
            </a:pPr>
            <a:r>
              <a:rPr sz="1300" b="1">
                <a:solidFill>
                  <a:srgbClr val="046A38"/>
                </a:solidFill>
              </a:rPr>
              <a:t>10/15頃</a:t>
            </a:r>
          </a:p>
        </p:txBody>
      </p:sp>
      <p:sp>
        <p:nvSpPr>
          <p:cNvPr id="33" name="TextBox 32"/>
          <p:cNvSpPr txBox="1"/>
          <p:nvPr/>
        </p:nvSpPr>
        <p:spPr>
          <a:xfrm>
            <a:off x="5692140" y="3383280"/>
            <a:ext cx="1234440" cy="566928"/>
          </a:xfrm>
          <a:prstGeom prst="rect">
            <a:avLst/>
          </a:prstGeom>
          <a:noFill/>
        </p:spPr>
        <p:txBody>
          <a:bodyPr wrap="square" lIns="0" tIns="0" rIns="0" bIns="0" anchor="t">
            <a:noAutofit/>
          </a:bodyPr>
          <a:lstStyle/>
          <a:p>
            <a:pPr algn="l">
              <a:lnSpc>
                <a:spcPct val="100000"/>
              </a:lnSpc>
              <a:buNone/>
            </a:pPr>
            <a:r>
              <a:rPr sz="1150" b="1">
                <a:solidFill>
                  <a:srgbClr val="262626"/>
                </a:solidFill>
              </a:rPr>
              <a:t>10/7版を公開＋データ投入</a:t>
            </a:r>
          </a:p>
        </p:txBody>
      </p:sp>
      <p:sp>
        <p:nvSpPr>
          <p:cNvPr id="34" name="TextBox 33"/>
          <p:cNvSpPr txBox="1"/>
          <p:nvPr/>
        </p:nvSpPr>
        <p:spPr>
          <a:xfrm>
            <a:off x="5692140" y="3931920"/>
            <a:ext cx="1234440" cy="365760"/>
          </a:xfrm>
          <a:prstGeom prst="rect">
            <a:avLst/>
          </a:prstGeom>
          <a:noFill/>
        </p:spPr>
        <p:txBody>
          <a:bodyPr wrap="square" lIns="0" tIns="0" rIns="0" bIns="0" anchor="t">
            <a:noAutofit/>
          </a:bodyPr>
          <a:lstStyle/>
          <a:p>
            <a:pPr algn="l">
              <a:buNone/>
            </a:pPr>
            <a:r>
              <a:rPr sz="1000" b="0">
                <a:solidFill>
                  <a:srgbClr val="595959"/>
                </a:solidFill>
              </a:rPr>
              <a:t>セキュア環境で公開</a:t>
            </a:r>
          </a:p>
        </p:txBody>
      </p:sp>
      <p:sp>
        <p:nvSpPr>
          <p:cNvPr id="35" name="Rounded Rectangle 34"/>
          <p:cNvSpPr/>
          <p:nvPr/>
        </p:nvSpPr>
        <p:spPr>
          <a:xfrm>
            <a:off x="5655564" y="4334256"/>
            <a:ext cx="1307592" cy="228600"/>
          </a:xfrm>
          <a:prstGeom prst="roundRect">
            <a:avLst>
              <a:gd name="adj" fmla="val 50000"/>
            </a:avLst>
          </a:prstGeom>
          <a:solidFill>
            <a:srgbClr val="046A38"/>
          </a:solidFill>
          <a:ln>
            <a:noFill/>
          </a:ln>
        </p:spPr>
        <p:txBody>
          <a:bodyPr rtlCol="0" anchor="ctr" wrap="square" lIns="36576" tIns="0" rIns="36576" bIns="0">
            <a:noAutofit/>
          </a:bodyPr>
          <a:lstStyle/>
          <a:p>
            <a:pPr algn="ctr">
              <a:buNone/>
            </a:pPr>
            <a:r>
              <a:rPr sz="900" b="1">
                <a:solidFill>
                  <a:srgbClr val="FFFFFF"/>
                </a:solidFill>
              </a:rPr>
              <a:t>ITEC様・BX推進部</a:t>
            </a:r>
          </a:p>
        </p:txBody>
      </p:sp>
      <p:sp>
        <p:nvSpPr>
          <p:cNvPr id="36" name="Oval 35"/>
          <p:cNvSpPr/>
          <p:nvPr/>
        </p:nvSpPr>
        <p:spPr>
          <a:xfrm>
            <a:off x="7763255" y="2578608"/>
            <a:ext cx="237744" cy="237744"/>
          </a:xfrm>
          <a:prstGeom prst="ellipse">
            <a:avLst/>
          </a:prstGeom>
          <a:solidFill>
            <a:srgbClr val="FFFFFF"/>
          </a:solidFill>
          <a:ln w="22225">
            <a:solidFill>
              <a:srgbClr val="A6A6A6"/>
            </a:solidFill>
          </a:ln>
        </p:spPr>
        <p:txBody>
          <a:bodyPr rtlCol="0" anchor="ctr" wrap="square" lIns="54864" tIns="27432" rIns="54864" bIns="27432">
            <a:noAutofit/>
          </a:bodyPr>
          <a:lstStyle/>
          <a:p>
            <a:pPr algn="ctr"/>
          </a:p>
        </p:txBody>
      </p:sp>
      <p:sp>
        <p:nvSpPr>
          <p:cNvPr id="37" name="Rectangle 36"/>
          <p:cNvSpPr/>
          <p:nvPr/>
        </p:nvSpPr>
        <p:spPr>
          <a:xfrm>
            <a:off x="7173467" y="3017520"/>
            <a:ext cx="1417320" cy="1627632"/>
          </a:xfrm>
          <a:prstGeom prst="rect">
            <a:avLst/>
          </a:prstGeom>
          <a:solidFill>
            <a:srgbClr val="FFFFFF"/>
          </a:solidFill>
          <a:ln w="9525">
            <a:solidFill>
              <a:srgbClr val="D0D0CE"/>
            </a:solidFill>
          </a:ln>
        </p:spPr>
        <p:txBody>
          <a:bodyPr rtlCol="0" anchor="ctr" wrap="square" lIns="54864" tIns="27432" rIns="54864" bIns="27432">
            <a:noAutofit/>
          </a:bodyPr>
          <a:lstStyle/>
          <a:p>
            <a:pPr algn="ctr"/>
          </a:p>
        </p:txBody>
      </p:sp>
      <p:sp>
        <p:nvSpPr>
          <p:cNvPr id="38" name="TextBox 37"/>
          <p:cNvSpPr txBox="1"/>
          <p:nvPr/>
        </p:nvSpPr>
        <p:spPr>
          <a:xfrm>
            <a:off x="7264907" y="3072384"/>
            <a:ext cx="1234440" cy="292608"/>
          </a:xfrm>
          <a:prstGeom prst="rect">
            <a:avLst/>
          </a:prstGeom>
          <a:noFill/>
        </p:spPr>
        <p:txBody>
          <a:bodyPr wrap="square" lIns="0" tIns="0" rIns="0" bIns="0" anchor="ctr">
            <a:noAutofit/>
          </a:bodyPr>
          <a:lstStyle/>
          <a:p>
            <a:pPr algn="l">
              <a:buNone/>
            </a:pPr>
            <a:r>
              <a:rPr sz="1300" b="1">
                <a:solidFill>
                  <a:srgbClr val="262626"/>
                </a:solidFill>
              </a:rPr>
              <a:t>10月末</a:t>
            </a:r>
          </a:p>
        </p:txBody>
      </p:sp>
      <p:sp>
        <p:nvSpPr>
          <p:cNvPr id="39" name="TextBox 38"/>
          <p:cNvSpPr txBox="1"/>
          <p:nvPr/>
        </p:nvSpPr>
        <p:spPr>
          <a:xfrm>
            <a:off x="7264907" y="3383280"/>
            <a:ext cx="1234440" cy="566928"/>
          </a:xfrm>
          <a:prstGeom prst="rect">
            <a:avLst/>
          </a:prstGeom>
          <a:noFill/>
        </p:spPr>
        <p:txBody>
          <a:bodyPr wrap="square" lIns="0" tIns="0" rIns="0" bIns="0" anchor="t">
            <a:noAutofit/>
          </a:bodyPr>
          <a:lstStyle/>
          <a:p>
            <a:pPr algn="l">
              <a:lnSpc>
                <a:spcPct val="100000"/>
              </a:lnSpc>
              <a:buNone/>
            </a:pPr>
            <a:r>
              <a:rPr sz="1150" b="1">
                <a:solidFill>
                  <a:srgbClr val="262626"/>
                </a:solidFill>
              </a:rPr>
              <a:t>中間報告</a:t>
            </a:r>
          </a:p>
        </p:txBody>
      </p:sp>
      <p:sp>
        <p:nvSpPr>
          <p:cNvPr id="40" name="TextBox 39"/>
          <p:cNvSpPr txBox="1"/>
          <p:nvPr/>
        </p:nvSpPr>
        <p:spPr>
          <a:xfrm>
            <a:off x="7264907" y="3931920"/>
            <a:ext cx="1234440" cy="365760"/>
          </a:xfrm>
          <a:prstGeom prst="rect">
            <a:avLst/>
          </a:prstGeom>
          <a:noFill/>
        </p:spPr>
        <p:txBody>
          <a:bodyPr wrap="square" lIns="0" tIns="0" rIns="0" bIns="0" anchor="t">
            <a:noAutofit/>
          </a:bodyPr>
          <a:lstStyle/>
          <a:p>
            <a:pPr algn="l">
              <a:buNone/>
            </a:pPr>
            <a:r>
              <a:rPr sz="1000" b="0">
                <a:solidFill>
                  <a:srgbClr val="595959"/>
                </a:solidFill>
              </a:rPr>
              <a:t>Phase2の進捗と論点を確認</a:t>
            </a:r>
          </a:p>
        </p:txBody>
      </p:sp>
      <p:sp>
        <p:nvSpPr>
          <p:cNvPr id="41" name="Oval 40"/>
          <p:cNvSpPr/>
          <p:nvPr/>
        </p:nvSpPr>
        <p:spPr>
          <a:xfrm>
            <a:off x="9317736" y="2560320"/>
            <a:ext cx="274320" cy="274320"/>
          </a:xfrm>
          <a:prstGeom prst="ellipse">
            <a:avLst/>
          </a:prstGeom>
          <a:solidFill>
            <a:srgbClr val="046A38"/>
          </a:solidFill>
          <a:ln>
            <a:noFill/>
          </a:ln>
        </p:spPr>
        <p:txBody>
          <a:bodyPr rtlCol="0" anchor="ctr" wrap="square" lIns="54864" tIns="27432" rIns="54864" bIns="27432">
            <a:noAutofit/>
          </a:bodyPr>
          <a:lstStyle/>
          <a:p>
            <a:pPr algn="ctr"/>
          </a:p>
        </p:txBody>
      </p:sp>
      <p:sp>
        <p:nvSpPr>
          <p:cNvPr id="42" name="Rectangle 41"/>
          <p:cNvSpPr/>
          <p:nvPr/>
        </p:nvSpPr>
        <p:spPr>
          <a:xfrm>
            <a:off x="8746236" y="3017520"/>
            <a:ext cx="1417320" cy="1627632"/>
          </a:xfrm>
          <a:prstGeom prst="rect">
            <a:avLst/>
          </a:prstGeom>
          <a:solidFill>
            <a:srgbClr val="F3F3F3"/>
          </a:solidFill>
          <a:ln>
            <a:noFill/>
          </a:ln>
        </p:spPr>
        <p:txBody>
          <a:bodyPr rtlCol="0" anchor="ctr" wrap="square" lIns="54864" tIns="27432" rIns="54864" bIns="27432">
            <a:noAutofit/>
          </a:bodyPr>
          <a:lstStyle/>
          <a:p>
            <a:pPr algn="ctr"/>
          </a:p>
        </p:txBody>
      </p:sp>
      <p:sp>
        <p:nvSpPr>
          <p:cNvPr id="43" name="TextBox 42"/>
          <p:cNvSpPr txBox="1"/>
          <p:nvPr/>
        </p:nvSpPr>
        <p:spPr>
          <a:xfrm>
            <a:off x="8837676" y="3072384"/>
            <a:ext cx="1234440" cy="292608"/>
          </a:xfrm>
          <a:prstGeom prst="rect">
            <a:avLst/>
          </a:prstGeom>
          <a:noFill/>
        </p:spPr>
        <p:txBody>
          <a:bodyPr wrap="square" lIns="0" tIns="0" rIns="0" bIns="0" anchor="ctr">
            <a:noAutofit/>
          </a:bodyPr>
          <a:lstStyle/>
          <a:p>
            <a:pPr algn="l">
              <a:buNone/>
            </a:pPr>
            <a:r>
              <a:rPr sz="1300" b="1">
                <a:solidFill>
                  <a:srgbClr val="046A38"/>
                </a:solidFill>
              </a:rPr>
              <a:t>11/10（火）</a:t>
            </a:r>
          </a:p>
        </p:txBody>
      </p:sp>
      <p:sp>
        <p:nvSpPr>
          <p:cNvPr id="44" name="TextBox 43"/>
          <p:cNvSpPr txBox="1"/>
          <p:nvPr/>
        </p:nvSpPr>
        <p:spPr>
          <a:xfrm>
            <a:off x="8837676" y="3383280"/>
            <a:ext cx="1234440" cy="566928"/>
          </a:xfrm>
          <a:prstGeom prst="rect">
            <a:avLst/>
          </a:prstGeom>
          <a:noFill/>
        </p:spPr>
        <p:txBody>
          <a:bodyPr wrap="square" lIns="0" tIns="0" rIns="0" bIns="0" anchor="t">
            <a:noAutofit/>
          </a:bodyPr>
          <a:lstStyle/>
          <a:p>
            <a:pPr algn="l">
              <a:lnSpc>
                <a:spcPct val="100000"/>
              </a:lnSpc>
              <a:buNone/>
            </a:pPr>
            <a:r>
              <a:rPr sz="1150" b="1">
                <a:solidFill>
                  <a:srgbClr val="262626"/>
                </a:solidFill>
              </a:rPr>
              <a:t>嶋田社長・野村専務へお渡し</a:t>
            </a:r>
          </a:p>
        </p:txBody>
      </p:sp>
      <p:sp>
        <p:nvSpPr>
          <p:cNvPr id="45" name="TextBox 44"/>
          <p:cNvSpPr txBox="1"/>
          <p:nvPr/>
        </p:nvSpPr>
        <p:spPr>
          <a:xfrm>
            <a:off x="8837676" y="3931920"/>
            <a:ext cx="1234440" cy="365760"/>
          </a:xfrm>
          <a:prstGeom prst="rect">
            <a:avLst/>
          </a:prstGeom>
          <a:noFill/>
        </p:spPr>
        <p:txBody>
          <a:bodyPr wrap="square" lIns="0" tIns="0" rIns="0" bIns="0" anchor="t">
            <a:noAutofit/>
          </a:bodyPr>
          <a:lstStyle/>
          <a:p>
            <a:pPr algn="l">
              <a:buNone/>
            </a:pPr>
            <a:r>
              <a:rPr sz="1000" b="0">
                <a:solidFill>
                  <a:srgbClr val="595959"/>
                </a:solidFill>
              </a:rPr>
              <a:t>大きなマイルストーン</a:t>
            </a:r>
          </a:p>
        </p:txBody>
      </p:sp>
      <p:sp>
        <p:nvSpPr>
          <p:cNvPr id="46" name="Oval 45"/>
          <p:cNvSpPr/>
          <p:nvPr/>
        </p:nvSpPr>
        <p:spPr>
          <a:xfrm>
            <a:off x="10881359" y="2578608"/>
            <a:ext cx="237744" cy="237744"/>
          </a:xfrm>
          <a:prstGeom prst="ellipse">
            <a:avLst/>
          </a:prstGeom>
          <a:solidFill>
            <a:srgbClr val="FFFFFF"/>
          </a:solidFill>
          <a:ln w="22225">
            <a:solidFill>
              <a:srgbClr val="A6A6A6"/>
            </a:solidFill>
          </a:ln>
        </p:spPr>
        <p:txBody>
          <a:bodyPr rtlCol="0" anchor="ctr" wrap="square" lIns="54864" tIns="27432" rIns="54864" bIns="27432">
            <a:noAutofit/>
          </a:bodyPr>
          <a:lstStyle/>
          <a:p>
            <a:pPr algn="ctr"/>
          </a:p>
        </p:txBody>
      </p:sp>
      <p:sp>
        <p:nvSpPr>
          <p:cNvPr id="47" name="Rectangle 46"/>
          <p:cNvSpPr/>
          <p:nvPr/>
        </p:nvSpPr>
        <p:spPr>
          <a:xfrm>
            <a:off x="10291572" y="3017520"/>
            <a:ext cx="1417320" cy="1627632"/>
          </a:xfrm>
          <a:prstGeom prst="rect">
            <a:avLst/>
          </a:prstGeom>
          <a:solidFill>
            <a:srgbClr val="FFFFFF"/>
          </a:solidFill>
          <a:ln w="9525">
            <a:solidFill>
              <a:srgbClr val="D0D0CE"/>
            </a:solidFill>
          </a:ln>
        </p:spPr>
        <p:txBody>
          <a:bodyPr rtlCol="0" anchor="ctr" wrap="square" lIns="54864" tIns="27432" rIns="54864" bIns="27432">
            <a:noAutofit/>
          </a:bodyPr>
          <a:lstStyle/>
          <a:p>
            <a:pPr algn="ctr"/>
          </a:p>
        </p:txBody>
      </p:sp>
      <p:sp>
        <p:nvSpPr>
          <p:cNvPr id="48" name="TextBox 47"/>
          <p:cNvSpPr txBox="1"/>
          <p:nvPr/>
        </p:nvSpPr>
        <p:spPr>
          <a:xfrm>
            <a:off x="10383011" y="3072384"/>
            <a:ext cx="1234440" cy="292608"/>
          </a:xfrm>
          <a:prstGeom prst="rect">
            <a:avLst/>
          </a:prstGeom>
          <a:noFill/>
        </p:spPr>
        <p:txBody>
          <a:bodyPr wrap="square" lIns="0" tIns="0" rIns="0" bIns="0" anchor="ctr">
            <a:noAutofit/>
          </a:bodyPr>
          <a:lstStyle/>
          <a:p>
            <a:pPr algn="l">
              <a:buNone/>
            </a:pPr>
            <a:r>
              <a:rPr sz="1300" b="1">
                <a:solidFill>
                  <a:srgbClr val="262626"/>
                </a:solidFill>
              </a:rPr>
              <a:t>11月下旬</a:t>
            </a:r>
          </a:p>
        </p:txBody>
      </p:sp>
      <p:sp>
        <p:nvSpPr>
          <p:cNvPr id="49" name="TextBox 48"/>
          <p:cNvSpPr txBox="1"/>
          <p:nvPr/>
        </p:nvSpPr>
        <p:spPr>
          <a:xfrm>
            <a:off x="10383011" y="3383280"/>
            <a:ext cx="1234440" cy="566928"/>
          </a:xfrm>
          <a:prstGeom prst="rect">
            <a:avLst/>
          </a:prstGeom>
          <a:noFill/>
        </p:spPr>
        <p:txBody>
          <a:bodyPr wrap="square" lIns="0" tIns="0" rIns="0" bIns="0" anchor="t">
            <a:noAutofit/>
          </a:bodyPr>
          <a:lstStyle/>
          <a:p>
            <a:pPr algn="l">
              <a:lnSpc>
                <a:spcPct val="100000"/>
              </a:lnSpc>
              <a:buNone/>
            </a:pPr>
            <a:r>
              <a:rPr sz="1150" b="1">
                <a:solidFill>
                  <a:srgbClr val="262626"/>
                </a:solidFill>
              </a:rPr>
              <a:t>最終報告</a:t>
            </a:r>
          </a:p>
        </p:txBody>
      </p:sp>
      <p:sp>
        <p:nvSpPr>
          <p:cNvPr id="50" name="TextBox 49"/>
          <p:cNvSpPr txBox="1"/>
          <p:nvPr/>
        </p:nvSpPr>
        <p:spPr>
          <a:xfrm>
            <a:off x="10383011" y="3931920"/>
            <a:ext cx="1234440" cy="365760"/>
          </a:xfrm>
          <a:prstGeom prst="rect">
            <a:avLst/>
          </a:prstGeom>
          <a:noFill/>
        </p:spPr>
        <p:txBody>
          <a:bodyPr wrap="square" lIns="0" tIns="0" rIns="0" bIns="0" anchor="t">
            <a:noAutofit/>
          </a:bodyPr>
          <a:lstStyle/>
          <a:p>
            <a:pPr algn="l">
              <a:buNone/>
            </a:pPr>
            <a:r>
              <a:rPr sz="1000" b="0">
                <a:solidFill>
                  <a:srgbClr val="595959"/>
                </a:solidFill>
              </a:rPr>
              <a:t>今後のBX推進タスクを確認</a:t>
            </a:r>
          </a:p>
        </p:txBody>
      </p:sp>
      <p:sp>
        <p:nvSpPr>
          <p:cNvPr id="51" name="Rectangle 50"/>
          <p:cNvSpPr/>
          <p:nvPr/>
        </p:nvSpPr>
        <p:spPr>
          <a:xfrm>
            <a:off x="475488" y="4864608"/>
            <a:ext cx="11228832" cy="1280160"/>
          </a:xfrm>
          <a:prstGeom prst="rect">
            <a:avLst/>
          </a:prstGeom>
          <a:solidFill>
            <a:srgbClr val="FFFFFF"/>
          </a:solidFill>
          <a:ln w="9525">
            <a:solidFill>
              <a:srgbClr val="D0D0CE"/>
            </a:solidFill>
          </a:ln>
        </p:spPr>
        <p:txBody>
          <a:bodyPr rtlCol="0" anchor="ctr" wrap="square" lIns="54864" tIns="27432" rIns="54864" bIns="27432">
            <a:noAutofit/>
          </a:bodyPr>
          <a:lstStyle/>
          <a:p>
            <a:pPr algn="ctr"/>
          </a:p>
        </p:txBody>
      </p:sp>
      <p:sp>
        <p:nvSpPr>
          <p:cNvPr id="52" name="TextBox 51"/>
          <p:cNvSpPr txBox="1"/>
          <p:nvPr/>
        </p:nvSpPr>
        <p:spPr>
          <a:xfrm>
            <a:off x="658368" y="4901184"/>
            <a:ext cx="1828800" cy="310896"/>
          </a:xfrm>
          <a:prstGeom prst="rect">
            <a:avLst/>
          </a:prstGeom>
          <a:noFill/>
        </p:spPr>
        <p:txBody>
          <a:bodyPr wrap="square" lIns="0" tIns="0" rIns="0" bIns="0" anchor="ctr">
            <a:noAutofit/>
          </a:bodyPr>
          <a:lstStyle/>
          <a:p>
            <a:pPr algn="l">
              <a:buNone/>
            </a:pPr>
            <a:r>
              <a:rPr sz="1250" b="1">
                <a:solidFill>
                  <a:srgbClr val="262626"/>
                </a:solidFill>
              </a:rPr>
              <a:t>進め方のポイント</a:t>
            </a:r>
          </a:p>
        </p:txBody>
      </p:sp>
      <p:sp>
        <p:nvSpPr>
          <p:cNvPr id="53" name="TextBox 52"/>
          <p:cNvSpPr txBox="1"/>
          <p:nvPr/>
        </p:nvSpPr>
        <p:spPr>
          <a:xfrm>
            <a:off x="658368" y="5212080"/>
            <a:ext cx="10881360" cy="914400"/>
          </a:xfrm>
          <a:prstGeom prst="rect">
            <a:avLst/>
          </a:prstGeom>
          <a:noFill/>
        </p:spPr>
        <p:txBody>
          <a:bodyPr wrap="square" lIns="0" tIns="0" rIns="0" bIns="0" anchor="t">
            <a:noAutofit/>
          </a:bodyPr>
          <a:lstStyle/>
          <a:p>
            <a:pPr algn="l">
              <a:buNone/>
            </a:pPr>
            <a:r>
              <a:rPr sz="1200" b="1">
                <a:solidFill>
                  <a:srgbClr val="046A38"/>
                </a:solidFill>
              </a:rPr>
              <a:t>前倒し　</a:t>
            </a:r>
            <a:r>
              <a:rPr sz="1200" b="0">
                <a:solidFill>
                  <a:srgbClr val="262626"/>
                </a:solidFill>
              </a:rPr>
              <a:t>隔週の取り込みを想定していた最新版を、10/15頃に一括でセキュア環境へ反映し、あわせてデータを投入する</a:t>
            </a:r>
          </a:p>
          <a:p>
            <a:pPr algn="l">
              <a:spcBef>
                <a:spcPts val="400"/>
              </a:spcBef>
              <a:buNone/>
            </a:pPr>
            <a:r>
              <a:rPr sz="1200" b="1">
                <a:solidFill>
                  <a:srgbClr val="046A38"/>
                </a:solidFill>
              </a:rPr>
              <a:t>区切り　</a:t>
            </a:r>
            <a:r>
              <a:rPr sz="1200" b="0">
                <a:solidFill>
                  <a:srgbClr val="262626"/>
                </a:solidFill>
              </a:rPr>
              <a:t>10/7でアドホック改修を一旦Close。以降のご要望は改修台帳で管理し、ITEC様と反映の時期を調整する</a:t>
            </a:r>
          </a:p>
          <a:p>
            <a:pPr algn="l">
              <a:spcBef>
                <a:spcPts val="400"/>
              </a:spcBef>
              <a:buNone/>
            </a:pPr>
            <a:r>
              <a:rPr sz="1200" b="1">
                <a:solidFill>
                  <a:srgbClr val="046A38"/>
                </a:solidFill>
              </a:rPr>
              <a:t>移行　　</a:t>
            </a:r>
            <a:r>
              <a:rPr sz="1200" b="0">
                <a:solidFill>
                  <a:srgbClr val="262626"/>
                </a:solidFill>
              </a:rPr>
              <a:t>運用・データ投入はITEC様主導、改修も10/15以降は段階的にITEC様主導へ。デロイトは技術アドバイザリーに切り替える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r>
              <a:t>ITEC様への引継ぎの進め方</a:t>
            </a:r>
          </a:p>
        </p:txBody>
      </p:sp>
      <p:sp>
        <p:nvSpPr>
          <p:cNvPr id="3" name="Title 2"/>
          <p:cNvSpPr>
            <a:spLocks noGrp="1"/>
          </p:cNvSpPr>
          <p:nvPr>
            <p:ph type="title"/>
          </p:nvPr>
        </p:nvSpPr>
        <p:spPr/>
        <p:txBody>
          <a:bodyPr/>
          <a:lstStyle/>
          <a:p>
            <a:r>
              <a:t>10/7版への切り替えを早めるため、今週・来週に1回ずつ引継ぎの場を設け、ITEC様と密に連携します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5</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7" name="Pentagon 6"/>
          <p:cNvSpPr/>
          <p:nvPr/>
        </p:nvSpPr>
        <p:spPr>
          <a:xfrm>
            <a:off x="475488" y="1627632"/>
            <a:ext cx="3779519" cy="402336"/>
          </a:xfrm>
          <a:prstGeom prst="homePlate">
            <a:avLst>
              <a:gd name="adj" fmla="val 25000"/>
            </a:avLst>
          </a:prstGeom>
          <a:solidFill>
            <a:srgbClr val="046A38"/>
          </a:solidFill>
          <a:ln>
            <a:noFill/>
          </a:ln>
        </p:spPr>
        <p:txBody>
          <a:bodyPr rtlCol="0" anchor="ctr" wrap="square" lIns="164592" tIns="0" bIns="0">
            <a:noAutofit/>
          </a:bodyPr>
          <a:lstStyle/>
          <a:p>
            <a:pPr algn="l">
              <a:buNone/>
            </a:pPr>
            <a:r>
              <a:rPr sz="1250" b="1">
                <a:solidFill>
                  <a:srgbClr val="FFFFFF"/>
                </a:solidFill>
              </a:rPr>
              <a:t>STEP 1｜10/7（水）</a:t>
            </a:r>
          </a:p>
        </p:txBody>
      </p:sp>
      <p:sp>
        <p:nvSpPr>
          <p:cNvPr id="8" name="TextBox 7"/>
          <p:cNvSpPr txBox="1"/>
          <p:nvPr/>
        </p:nvSpPr>
        <p:spPr>
          <a:xfrm>
            <a:off x="585216" y="2121408"/>
            <a:ext cx="3486911" cy="310896"/>
          </a:xfrm>
          <a:prstGeom prst="rect">
            <a:avLst/>
          </a:prstGeom>
          <a:noFill/>
        </p:spPr>
        <p:txBody>
          <a:bodyPr wrap="square" lIns="0" tIns="0" rIns="0" bIns="0" anchor="ctr">
            <a:noAutofit/>
          </a:bodyPr>
          <a:lstStyle/>
          <a:p>
            <a:pPr algn="l">
              <a:buNone/>
            </a:pPr>
            <a:r>
              <a:rPr sz="1350" b="1">
                <a:solidFill>
                  <a:srgbClr val="262626"/>
                </a:solidFill>
              </a:rPr>
              <a:t>改修を一旦Close</a:t>
            </a:r>
          </a:p>
        </p:txBody>
      </p:sp>
      <p:sp>
        <p:nvSpPr>
          <p:cNvPr id="9" name="TextBox 8"/>
          <p:cNvSpPr txBox="1"/>
          <p:nvPr/>
        </p:nvSpPr>
        <p:spPr>
          <a:xfrm>
            <a:off x="585216" y="2450592"/>
            <a:ext cx="3486911" cy="822960"/>
          </a:xfrm>
          <a:prstGeom prst="rect">
            <a:avLst/>
          </a:prstGeom>
          <a:noFill/>
        </p:spPr>
        <p:txBody>
          <a:bodyPr wrap="square" lIns="0" tIns="0" rIns="0" bIns="0" anchor="t">
            <a:noAutofit/>
          </a:bodyPr>
          <a:lstStyle/>
          <a:p>
            <a:pPr algn="l" marL="146304" indent="-146304">
              <a:lnSpc>
                <a:spcPct val="105000"/>
              </a:lnSpc>
              <a:spcBef>
                <a:spcPts val="200"/>
              </a:spcBef>
              <a:buClr>
                <a:srgbClr val="8C8C8C"/>
              </a:buClr>
              <a:buFont typeface="Arial"/>
              <a:buChar char="•"/>
            </a:pPr>
            <a:r>
              <a:rPr sz="1150" b="0">
                <a:solidFill>
                  <a:srgbClr val="262626"/>
                </a:solidFill>
              </a:rPr>
              <a:t>10/7版のソース一式・改修台帳・ドキュメントを確定し、ITEC様へお渡し</a:t>
            </a:r>
          </a:p>
        </p:txBody>
      </p:sp>
      <p:sp>
        <p:nvSpPr>
          <p:cNvPr id="10" name="Chevron 9"/>
          <p:cNvSpPr/>
          <p:nvPr/>
        </p:nvSpPr>
        <p:spPr>
          <a:xfrm>
            <a:off x="4255007" y="1627632"/>
            <a:ext cx="3779519" cy="402336"/>
          </a:xfrm>
          <a:prstGeom prst="chevron">
            <a:avLst>
              <a:gd name="adj" fmla="val 25000"/>
            </a:avLst>
          </a:prstGeom>
          <a:solidFill>
            <a:srgbClr val="595959"/>
          </a:solidFill>
          <a:ln>
            <a:noFill/>
          </a:ln>
        </p:spPr>
        <p:txBody>
          <a:bodyPr rtlCol="0" anchor="ctr" wrap="square" lIns="274320" tIns="0" bIns="0">
            <a:noAutofit/>
          </a:bodyPr>
          <a:lstStyle/>
          <a:p>
            <a:pPr algn="l">
              <a:buNone/>
            </a:pPr>
            <a:r>
              <a:rPr sz="1250" b="1">
                <a:solidFill>
                  <a:srgbClr val="FFFFFF"/>
                </a:solidFill>
              </a:rPr>
              <a:t>STEP 2｜10/8〜10/14</a:t>
            </a:r>
          </a:p>
        </p:txBody>
      </p:sp>
      <p:sp>
        <p:nvSpPr>
          <p:cNvPr id="11" name="TextBox 10"/>
          <p:cNvSpPr txBox="1"/>
          <p:nvPr/>
        </p:nvSpPr>
        <p:spPr>
          <a:xfrm>
            <a:off x="4364735" y="2121408"/>
            <a:ext cx="3486911" cy="310896"/>
          </a:xfrm>
          <a:prstGeom prst="rect">
            <a:avLst/>
          </a:prstGeom>
          <a:noFill/>
        </p:spPr>
        <p:txBody>
          <a:bodyPr wrap="square" lIns="0" tIns="0" rIns="0" bIns="0" anchor="ctr">
            <a:noAutofit/>
          </a:bodyPr>
          <a:lstStyle/>
          <a:p>
            <a:pPr algn="l">
              <a:buNone/>
            </a:pPr>
            <a:r>
              <a:rPr sz="1350" b="1">
                <a:solidFill>
                  <a:srgbClr val="262626"/>
                </a:solidFill>
              </a:rPr>
              <a:t>反映作業に伴走（引継ぎ会 ×2）</a:t>
            </a:r>
          </a:p>
        </p:txBody>
      </p:sp>
      <p:sp>
        <p:nvSpPr>
          <p:cNvPr id="12" name="TextBox 11"/>
          <p:cNvSpPr txBox="1"/>
          <p:nvPr/>
        </p:nvSpPr>
        <p:spPr>
          <a:xfrm>
            <a:off x="4364735" y="2450592"/>
            <a:ext cx="3486911" cy="822960"/>
          </a:xfrm>
          <a:prstGeom prst="rect">
            <a:avLst/>
          </a:prstGeom>
          <a:noFill/>
        </p:spPr>
        <p:txBody>
          <a:bodyPr wrap="square" lIns="0" tIns="0" rIns="0" bIns="0" anchor="t">
            <a:noAutofit/>
          </a:bodyPr>
          <a:lstStyle/>
          <a:p>
            <a:pPr algn="l" marL="146304" indent="-146304">
              <a:lnSpc>
                <a:spcPct val="105000"/>
              </a:lnSpc>
              <a:spcBef>
                <a:spcPts val="200"/>
              </a:spcBef>
              <a:buClr>
                <a:srgbClr val="8C8C8C"/>
              </a:buClr>
              <a:buFont typeface="Arial"/>
              <a:buChar char="•"/>
            </a:pPr>
            <a:r>
              <a:rPr sz="1150" b="1">
                <a:solidFill>
                  <a:srgbClr val="262626"/>
                </a:solidFill>
              </a:rPr>
              <a:t>第1回（今週）</a:t>
            </a:r>
            <a:r>
              <a:rPr sz="1150" b="0">
                <a:solidFill>
                  <a:srgbClr val="262626"/>
                </a:solidFill>
              </a:rPr>
              <a:t>　9/11版→10/7版の差分と、反映の手順・設定</a:t>
            </a:r>
          </a:p>
          <a:p>
            <a:pPr algn="l" marL="146304" indent="-146304">
              <a:lnSpc>
                <a:spcPct val="105000"/>
              </a:lnSpc>
              <a:spcBef>
                <a:spcPts val="200"/>
              </a:spcBef>
              <a:buClr>
                <a:srgbClr val="8C8C8C"/>
              </a:buClr>
              <a:buFont typeface="Arial"/>
              <a:buChar char="•"/>
            </a:pPr>
            <a:r>
              <a:rPr sz="1150" b="1">
                <a:solidFill>
                  <a:srgbClr val="262626"/>
                </a:solidFill>
              </a:rPr>
              <a:t>第2回（来週）</a:t>
            </a:r>
            <a:r>
              <a:rPr sz="1150" b="0">
                <a:solidFill>
                  <a:srgbClr val="262626"/>
                </a:solidFill>
              </a:rPr>
              <a:t>　反映結果の確認、不具合の切り分け、データ投入の手順</a:t>
            </a:r>
          </a:p>
        </p:txBody>
      </p:sp>
      <p:sp>
        <p:nvSpPr>
          <p:cNvPr id="13" name="Chevron 12"/>
          <p:cNvSpPr/>
          <p:nvPr/>
        </p:nvSpPr>
        <p:spPr>
          <a:xfrm>
            <a:off x="8034527" y="1627632"/>
            <a:ext cx="3669791" cy="402336"/>
          </a:xfrm>
          <a:prstGeom prst="chevron">
            <a:avLst>
              <a:gd name="adj" fmla="val 25000"/>
            </a:avLst>
          </a:prstGeom>
          <a:solidFill>
            <a:srgbClr val="8C8C8C"/>
          </a:solidFill>
          <a:ln>
            <a:noFill/>
          </a:ln>
        </p:spPr>
        <p:txBody>
          <a:bodyPr rtlCol="0" anchor="ctr" wrap="square" lIns="274320" tIns="0" bIns="0">
            <a:noAutofit/>
          </a:bodyPr>
          <a:lstStyle/>
          <a:p>
            <a:pPr algn="l">
              <a:buNone/>
            </a:pPr>
            <a:r>
              <a:rPr sz="1250" b="1">
                <a:solidFill>
                  <a:srgbClr val="FFFFFF"/>
                </a:solidFill>
              </a:rPr>
              <a:t>STEP 3｜10/15〜</a:t>
            </a:r>
          </a:p>
        </p:txBody>
      </p:sp>
      <p:sp>
        <p:nvSpPr>
          <p:cNvPr id="14" name="TextBox 13"/>
          <p:cNvSpPr txBox="1"/>
          <p:nvPr/>
        </p:nvSpPr>
        <p:spPr>
          <a:xfrm>
            <a:off x="8144255" y="2121408"/>
            <a:ext cx="3486911" cy="310896"/>
          </a:xfrm>
          <a:prstGeom prst="rect">
            <a:avLst/>
          </a:prstGeom>
          <a:noFill/>
        </p:spPr>
        <p:txBody>
          <a:bodyPr wrap="square" lIns="0" tIns="0" rIns="0" bIns="0" anchor="ctr">
            <a:noAutofit/>
          </a:bodyPr>
          <a:lstStyle/>
          <a:p>
            <a:pPr algn="l">
              <a:buNone/>
            </a:pPr>
            <a:r>
              <a:rPr sz="1350" b="1">
                <a:solidFill>
                  <a:srgbClr val="262626"/>
                </a:solidFill>
              </a:rPr>
              <a:t>公開・データ投入、ITEC様主導へ</a:t>
            </a:r>
          </a:p>
        </p:txBody>
      </p:sp>
      <p:sp>
        <p:nvSpPr>
          <p:cNvPr id="15" name="TextBox 14"/>
          <p:cNvSpPr txBox="1"/>
          <p:nvPr/>
        </p:nvSpPr>
        <p:spPr>
          <a:xfrm>
            <a:off x="8144255" y="2450592"/>
            <a:ext cx="3486911" cy="822960"/>
          </a:xfrm>
          <a:prstGeom prst="rect">
            <a:avLst/>
          </a:prstGeom>
          <a:noFill/>
        </p:spPr>
        <p:txBody>
          <a:bodyPr wrap="square" lIns="0" tIns="0" rIns="0" bIns="0" anchor="t">
            <a:noAutofit/>
          </a:bodyPr>
          <a:lstStyle/>
          <a:p>
            <a:pPr algn="l" marL="146304" indent="-146304">
              <a:lnSpc>
                <a:spcPct val="105000"/>
              </a:lnSpc>
              <a:spcBef>
                <a:spcPts val="200"/>
              </a:spcBef>
              <a:buClr>
                <a:srgbClr val="8C8C8C"/>
              </a:buClr>
              <a:buFont typeface="Arial"/>
              <a:buChar char="•"/>
            </a:pPr>
            <a:r>
              <a:rPr sz="1150" b="0">
                <a:solidFill>
                  <a:srgbClr val="262626"/>
                </a:solidFill>
              </a:rPr>
              <a:t>10/15頃に10/7版を公開し、本番データを投入。改修も段階的にITEC様主導へ</a:t>
            </a:r>
          </a:p>
        </p:txBody>
      </p:sp>
      <p:sp>
        <p:nvSpPr>
          <p:cNvPr id="16" name="Rectangle 15"/>
          <p:cNvSpPr/>
          <p:nvPr/>
        </p:nvSpPr>
        <p:spPr>
          <a:xfrm>
            <a:off x="475488" y="3456432"/>
            <a:ext cx="5715000" cy="329184"/>
          </a:xfrm>
          <a:prstGeom prst="rect">
            <a:avLst/>
          </a:prstGeom>
          <a:solidFill>
            <a:srgbClr val="63666A"/>
          </a:solidFill>
          <a:ln>
            <a:noFill/>
          </a:ln>
        </p:spPr>
        <p:txBody>
          <a:bodyPr rtlCol="0" anchor="ctr" wrap="square" lIns="54864" tIns="27432" rIns="54864" bIns="27432">
            <a:noAutofit/>
          </a:bodyPr>
          <a:lstStyle/>
          <a:p>
            <a:pPr algn="ctr">
              <a:buNone/>
            </a:pPr>
            <a:r>
              <a:rPr sz="1250" b="1">
                <a:solidFill>
                  <a:srgbClr val="FFFFFF"/>
                </a:solidFill>
              </a:rPr>
              <a:t>お渡しするもの（10/7版）</a:t>
            </a:r>
          </a:p>
        </p:txBody>
      </p:sp>
      <p:graphicFrame>
        <p:nvGraphicFramePr>
          <p:cNvPr id="17" name="Table 16"/>
          <p:cNvGraphicFramePr>
            <a:graphicFrameLocks noGrp="1"/>
          </p:cNvGraphicFramePr>
          <p:nvPr/>
        </p:nvGraphicFramePr>
        <p:xfrm>
          <a:off x="475488" y="3785615"/>
          <a:ext cx="5715000" cy="2450592"/>
        </p:xfrm>
        <a:graphic>
          <a:graphicData uri="http://schemas.openxmlformats.org/drawingml/2006/table">
            <a:tbl>
              <a:tblPr firstRow="0" bandRow="0" firstCol="0" lastRow="0" lastCol="0" bandCol="0">
                <a:tableStyleId>{2D5ABB26-0587-4C30-8999-92F81FD0307C}</a:tableStyleId>
              </a:tblPr>
              <a:tblGrid>
                <a:gridCol w="1417320"/>
                <a:gridCol w="4297680"/>
              </a:tblGrid>
              <a:tr h="612648">
                <a:tc>
                  <a:txBody>
                    <a:bodyPr wrap="square"/>
                    <a:lstStyle/>
                    <a:p>
                      <a:pPr algn="l">
                        <a:lnSpc>
                          <a:spcPts val="1350"/>
                        </a:lnSpc>
                        <a:buNone/>
                      </a:pPr>
                      <a:r>
                        <a:rPr sz="1100" b="1">
                          <a:solidFill>
                            <a:srgbClr val="262626"/>
                          </a:solidFill>
                        </a:rPr>
                        <a:t>ソースコード</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10/7版のアプリ一式（収集処理・総会QAの取込・自動テストを含む）</a:t>
                      </a:r>
                    </a:p>
                  </a:txBody>
                  <a:tcPr marL="73152" marT="27432" marR="73152" marB="27432" anchor="ctr">
                    <a:lnL w="0">
                      <a:noFill/>
                    </a:lnL>
                    <a:lnR w="0">
                      <a:noFill/>
                    </a:lnR>
                    <a:lnT w="0">
                      <a:noFill/>
                    </a:lnT>
                    <a:lnB w="9525">
                      <a:solidFill>
                        <a:srgbClr val="E3E3E3"/>
                      </a:solidFill>
                    </a:lnB>
                    <a:noFill/>
                  </a:tcPr>
                </a:tc>
              </a:tr>
              <a:tr h="612648">
                <a:tc>
                  <a:txBody>
                    <a:bodyPr wrap="square"/>
                    <a:lstStyle/>
                    <a:p>
                      <a:pPr algn="l">
                        <a:lnSpc>
                          <a:spcPts val="1350"/>
                        </a:lnSpc>
                        <a:buNone/>
                      </a:pPr>
                      <a:r>
                        <a:rPr sz="1100" b="1">
                          <a:solidFill>
                            <a:srgbClr val="262626"/>
                          </a:solidFill>
                        </a:rPr>
                        <a:t>改修台帳</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FIX後の改修の台帳（FX番号つき）と、改修ごとの修正案・修正記録</a:t>
                      </a:r>
                    </a:p>
                  </a:txBody>
                  <a:tcPr marL="73152" marT="27432" marR="73152" marB="27432" anchor="ctr">
                    <a:lnL w="0">
                      <a:noFill/>
                    </a:lnL>
                    <a:lnR w="0">
                      <a:noFill/>
                    </a:lnR>
                    <a:lnT w="0">
                      <a:noFill/>
                    </a:lnT>
                    <a:lnB w="9525">
                      <a:solidFill>
                        <a:srgbClr val="E3E3E3"/>
                      </a:solidFill>
                    </a:lnB>
                    <a:noFill/>
                  </a:tcPr>
                </a:tc>
              </a:tr>
              <a:tr h="612648">
                <a:tc>
                  <a:txBody>
                    <a:bodyPr wrap="square"/>
                    <a:lstStyle/>
                    <a:p>
                      <a:pPr algn="l">
                        <a:lnSpc>
                          <a:spcPts val="1350"/>
                        </a:lnSpc>
                        <a:buNone/>
                      </a:pPr>
                      <a:r>
                        <a:rPr sz="1100" b="1">
                          <a:solidFill>
                            <a:srgbClr val="262626"/>
                          </a:solidFill>
                        </a:rPr>
                        <a:t>ドキュメント</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アプリ仕様書・アーキテクチャ・利用者マニュアル・開発者マニュアル（最新版に合わせて更新）</a:t>
                      </a:r>
                    </a:p>
                  </a:txBody>
                  <a:tcPr marL="73152" marT="27432" marR="73152" marB="27432" anchor="ctr">
                    <a:lnL w="0">
                      <a:noFill/>
                    </a:lnL>
                    <a:lnR w="0">
                      <a:noFill/>
                    </a:lnR>
                    <a:lnT w="0">
                      <a:noFill/>
                    </a:lnT>
                    <a:lnB w="9525">
                      <a:solidFill>
                        <a:srgbClr val="E3E3E3"/>
                      </a:solidFill>
                    </a:lnB>
                    <a:noFill/>
                  </a:tcPr>
                </a:tc>
              </a:tr>
              <a:tr h="612648">
                <a:tc>
                  <a:txBody>
                    <a:bodyPr wrap="square"/>
                    <a:lstStyle/>
                    <a:p>
                      <a:pPr algn="l">
                        <a:lnSpc>
                          <a:spcPts val="1350"/>
                        </a:lnSpc>
                        <a:buNone/>
                      </a:pPr>
                      <a:r>
                        <a:rPr sz="1100" b="1">
                          <a:solidFill>
                            <a:srgbClr val="262626"/>
                          </a:solidFill>
                        </a:rPr>
                        <a:t>外部データの状況</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350"/>
                        </a:lnSpc>
                        <a:buNone/>
                      </a:pPr>
                      <a:r>
                        <a:rPr sz="1100" b="0">
                          <a:solidFill>
                            <a:srgbClr val="1A1A1A"/>
                          </a:solidFill>
                        </a:rPr>
                        <a:t>99行の取得状況と、残課題の一覧（10/5版）</a:t>
                      </a:r>
                    </a:p>
                  </a:txBody>
                  <a:tcPr marL="73152" marT="27432" marR="73152" marB="27432" anchor="ctr">
                    <a:lnL w="0">
                      <a:noFill/>
                    </a:lnL>
                    <a:lnR w="0">
                      <a:noFill/>
                    </a:lnR>
                    <a:lnT w="0">
                      <a:noFill/>
                    </a:lnT>
                    <a:lnB w="9525">
                      <a:solidFill>
                        <a:srgbClr val="E3E3E3"/>
                      </a:solidFill>
                    </a:lnB>
                    <a:noFill/>
                  </a:tcPr>
                </a:tc>
              </a:tr>
            </a:tbl>
          </a:graphicData>
        </a:graphic>
      </p:graphicFrame>
      <p:sp>
        <p:nvSpPr>
          <p:cNvPr id="18" name="Rectangle 17"/>
          <p:cNvSpPr/>
          <p:nvPr/>
        </p:nvSpPr>
        <p:spPr>
          <a:xfrm>
            <a:off x="6446520" y="3456432"/>
            <a:ext cx="5257800" cy="329184"/>
          </a:xfrm>
          <a:prstGeom prst="rect">
            <a:avLst/>
          </a:prstGeom>
          <a:solidFill>
            <a:srgbClr val="63666A"/>
          </a:solidFill>
          <a:ln>
            <a:noFill/>
          </a:ln>
        </p:spPr>
        <p:txBody>
          <a:bodyPr rtlCol="0" anchor="ctr" wrap="square" lIns="54864" tIns="27432" rIns="54864" bIns="27432">
            <a:noAutofit/>
          </a:bodyPr>
          <a:lstStyle/>
          <a:p>
            <a:pPr algn="ctr">
              <a:buNone/>
            </a:pPr>
            <a:r>
              <a:rPr sz="1250" b="1">
                <a:solidFill>
                  <a:srgbClr val="FFFFFF"/>
                </a:solidFill>
              </a:rPr>
              <a:t>10/15以降の役割分担</a:t>
            </a:r>
          </a:p>
        </p:txBody>
      </p:sp>
      <p:sp>
        <p:nvSpPr>
          <p:cNvPr id="19" name="Rounded Rectangle 18"/>
          <p:cNvSpPr/>
          <p:nvPr/>
        </p:nvSpPr>
        <p:spPr>
          <a:xfrm>
            <a:off x="6492240" y="3950208"/>
            <a:ext cx="1005840" cy="274320"/>
          </a:xfrm>
          <a:prstGeom prst="roundRect">
            <a:avLst>
              <a:gd name="adj" fmla="val 50000"/>
            </a:avLst>
          </a:prstGeom>
          <a:solidFill>
            <a:srgbClr val="F3F3F3"/>
          </a:solidFill>
          <a:ln>
            <a:noFill/>
          </a:ln>
        </p:spPr>
        <p:txBody>
          <a:bodyPr rtlCol="0" anchor="ctr" wrap="square" lIns="36576" tIns="0" rIns="36576" bIns="0">
            <a:noAutofit/>
          </a:bodyPr>
          <a:lstStyle/>
          <a:p>
            <a:pPr algn="ctr">
              <a:buNone/>
            </a:pPr>
            <a:r>
              <a:rPr sz="1100" b="1">
                <a:solidFill>
                  <a:srgbClr val="262626"/>
                </a:solidFill>
              </a:rPr>
              <a:t>BX推進部</a:t>
            </a:r>
          </a:p>
        </p:txBody>
      </p:sp>
      <p:sp>
        <p:nvSpPr>
          <p:cNvPr id="20" name="TextBox 19"/>
          <p:cNvSpPr txBox="1"/>
          <p:nvPr/>
        </p:nvSpPr>
        <p:spPr>
          <a:xfrm>
            <a:off x="7616952" y="3877056"/>
            <a:ext cx="4069080" cy="420624"/>
          </a:xfrm>
          <a:prstGeom prst="rect">
            <a:avLst/>
          </a:prstGeom>
          <a:noFill/>
        </p:spPr>
        <p:txBody>
          <a:bodyPr wrap="square" lIns="0" tIns="0" rIns="0" bIns="0" anchor="ctr">
            <a:noAutofit/>
          </a:bodyPr>
          <a:lstStyle/>
          <a:p>
            <a:pPr algn="l">
              <a:buNone/>
            </a:pPr>
            <a:r>
              <a:rPr sz="1100" b="0">
                <a:solidFill>
                  <a:srgbClr val="262626"/>
                </a:solidFill>
              </a:rPr>
              <a:t>利用者・データの確認、改修の優先順位づけ、有償データ・許諾のご判断</a:t>
            </a:r>
          </a:p>
        </p:txBody>
      </p:sp>
      <p:cxnSp>
        <p:nvCxnSpPr>
          <p:cNvPr id="21" name="Connector 20"/>
          <p:cNvCxnSpPr/>
          <p:nvPr/>
        </p:nvCxnSpPr>
        <p:spPr>
          <a:xfrm>
            <a:off x="6446520" y="4325112"/>
            <a:ext cx="5257800" cy="0"/>
          </a:xfrm>
          <a:prstGeom prst="line">
            <a:avLst/>
          </a:prstGeom>
          <a:ln w="6350">
            <a:solidFill>
              <a:srgbClr val="E3E3E3"/>
            </a:solidFill>
          </a:ln>
        </p:spPr>
      </p:cxnSp>
      <p:sp>
        <p:nvSpPr>
          <p:cNvPr id="22" name="Rounded Rectangle 21"/>
          <p:cNvSpPr/>
          <p:nvPr/>
        </p:nvSpPr>
        <p:spPr>
          <a:xfrm>
            <a:off x="6492240" y="4407408"/>
            <a:ext cx="1005840" cy="274320"/>
          </a:xfrm>
          <a:prstGeom prst="roundRect">
            <a:avLst>
              <a:gd name="adj" fmla="val 50000"/>
            </a:avLst>
          </a:prstGeom>
          <a:solidFill>
            <a:srgbClr val="F3F3F3"/>
          </a:solidFill>
          <a:ln>
            <a:noFill/>
          </a:ln>
        </p:spPr>
        <p:txBody>
          <a:bodyPr rtlCol="0" anchor="ctr" wrap="square" lIns="36576" tIns="0" rIns="36576" bIns="0">
            <a:noAutofit/>
          </a:bodyPr>
          <a:lstStyle/>
          <a:p>
            <a:pPr algn="ctr">
              <a:buNone/>
            </a:pPr>
            <a:r>
              <a:rPr sz="1100" b="1">
                <a:solidFill>
                  <a:srgbClr val="262626"/>
                </a:solidFill>
              </a:rPr>
              <a:t>ITEC様</a:t>
            </a:r>
          </a:p>
        </p:txBody>
      </p:sp>
      <p:sp>
        <p:nvSpPr>
          <p:cNvPr id="23" name="TextBox 22"/>
          <p:cNvSpPr txBox="1"/>
          <p:nvPr/>
        </p:nvSpPr>
        <p:spPr>
          <a:xfrm>
            <a:off x="7616952" y="4334256"/>
            <a:ext cx="4069080" cy="420624"/>
          </a:xfrm>
          <a:prstGeom prst="rect">
            <a:avLst/>
          </a:prstGeom>
          <a:noFill/>
        </p:spPr>
        <p:txBody>
          <a:bodyPr wrap="square" lIns="0" tIns="0" rIns="0" bIns="0" anchor="ctr">
            <a:noAutofit/>
          </a:bodyPr>
          <a:lstStyle/>
          <a:p>
            <a:pPr algn="l">
              <a:buNone/>
            </a:pPr>
            <a:r>
              <a:rPr sz="1100" b="0">
                <a:solidFill>
                  <a:srgbClr val="262626"/>
                </a:solidFill>
              </a:rPr>
              <a:t>アプリの運用・データ投入を主導。改修も段階的に主導</a:t>
            </a:r>
          </a:p>
        </p:txBody>
      </p:sp>
      <p:cxnSp>
        <p:nvCxnSpPr>
          <p:cNvPr id="24" name="Connector 23"/>
          <p:cNvCxnSpPr/>
          <p:nvPr/>
        </p:nvCxnSpPr>
        <p:spPr>
          <a:xfrm>
            <a:off x="6446520" y="4782312"/>
            <a:ext cx="5257800" cy="0"/>
          </a:xfrm>
          <a:prstGeom prst="line">
            <a:avLst/>
          </a:prstGeom>
          <a:ln w="6350">
            <a:solidFill>
              <a:srgbClr val="E3E3E3"/>
            </a:solidFill>
          </a:ln>
        </p:spPr>
      </p:cxnSp>
      <p:sp>
        <p:nvSpPr>
          <p:cNvPr id="25" name="Rounded Rectangle 24"/>
          <p:cNvSpPr/>
          <p:nvPr/>
        </p:nvSpPr>
        <p:spPr>
          <a:xfrm>
            <a:off x="6492240" y="4864608"/>
            <a:ext cx="1005840" cy="274320"/>
          </a:xfrm>
          <a:prstGeom prst="roundRect">
            <a:avLst>
              <a:gd name="adj" fmla="val 50000"/>
            </a:avLst>
          </a:prstGeom>
          <a:solidFill>
            <a:srgbClr val="F3F3F3"/>
          </a:solidFill>
          <a:ln>
            <a:noFill/>
          </a:ln>
        </p:spPr>
        <p:txBody>
          <a:bodyPr rtlCol="0" anchor="ctr" wrap="square" lIns="36576" tIns="0" rIns="36576" bIns="0">
            <a:noAutofit/>
          </a:bodyPr>
          <a:lstStyle/>
          <a:p>
            <a:pPr algn="ctr">
              <a:buNone/>
            </a:pPr>
            <a:r>
              <a:rPr sz="1100" b="1">
                <a:solidFill>
                  <a:srgbClr val="262626"/>
                </a:solidFill>
              </a:rPr>
              <a:t>デロイト</a:t>
            </a:r>
          </a:p>
        </p:txBody>
      </p:sp>
      <p:sp>
        <p:nvSpPr>
          <p:cNvPr id="26" name="TextBox 25"/>
          <p:cNvSpPr txBox="1"/>
          <p:nvPr/>
        </p:nvSpPr>
        <p:spPr>
          <a:xfrm>
            <a:off x="7616952" y="4791456"/>
            <a:ext cx="4069080" cy="420624"/>
          </a:xfrm>
          <a:prstGeom prst="rect">
            <a:avLst/>
          </a:prstGeom>
          <a:noFill/>
        </p:spPr>
        <p:txBody>
          <a:bodyPr wrap="square" lIns="0" tIns="0" rIns="0" bIns="0" anchor="ctr">
            <a:noAutofit/>
          </a:bodyPr>
          <a:lstStyle/>
          <a:p>
            <a:pPr algn="l">
              <a:buNone/>
            </a:pPr>
            <a:r>
              <a:rPr sz="1100" b="0">
                <a:solidFill>
                  <a:srgbClr val="262626"/>
                </a:solidFill>
              </a:rPr>
              <a:t>技術アドバイザリー（技術QA・設計レビュー・品質のチューニング）</a:t>
            </a:r>
          </a:p>
        </p:txBody>
      </p:sp>
      <p:cxnSp>
        <p:nvCxnSpPr>
          <p:cNvPr id="27" name="Connector 26"/>
          <p:cNvCxnSpPr/>
          <p:nvPr/>
        </p:nvCxnSpPr>
        <p:spPr>
          <a:xfrm>
            <a:off x="6446520" y="5239512"/>
            <a:ext cx="5257800" cy="0"/>
          </a:xfrm>
          <a:prstGeom prst="line">
            <a:avLst/>
          </a:prstGeom>
          <a:ln w="6350">
            <a:solidFill>
              <a:srgbClr val="E3E3E3"/>
            </a:solidFill>
          </a:ln>
        </p:spPr>
      </p:cxnSp>
      <p:sp>
        <p:nvSpPr>
          <p:cNvPr id="28" name="Rectangle 27"/>
          <p:cNvSpPr/>
          <p:nvPr/>
        </p:nvSpPr>
        <p:spPr>
          <a:xfrm>
            <a:off x="6446520" y="5321808"/>
            <a:ext cx="5257800" cy="914400"/>
          </a:xfrm>
          <a:prstGeom prst="rect">
            <a:avLst/>
          </a:prstGeom>
          <a:solidFill>
            <a:srgbClr val="F3F3F3"/>
          </a:solidFill>
          <a:ln>
            <a:noFill/>
          </a:ln>
        </p:spPr>
        <p:txBody>
          <a:bodyPr rtlCol="0" anchor="ctr" wrap="square" lIns="146304" tIns="54864" rIns="128016" bIns="54864">
            <a:noAutofit/>
          </a:bodyPr>
          <a:lstStyle/>
          <a:p>
            <a:pPr algn="l">
              <a:buNone/>
            </a:pPr>
            <a:r>
              <a:rPr sz="1200" b="1">
                <a:solidFill>
                  <a:srgbClr val="046A38"/>
                </a:solidFill>
              </a:rPr>
              <a:t>実データの扱い</a:t>
            </a:r>
          </a:p>
          <a:p>
            <a:pPr algn="l">
              <a:spcBef>
                <a:spcPts val="300"/>
              </a:spcBef>
              <a:buNone/>
            </a:pPr>
            <a:r>
              <a:rPr sz="1050" b="0">
                <a:solidFill>
                  <a:srgbClr val="262626"/>
                </a:solidFill>
              </a:rPr>
              <a:t>リアルデータが入るアプリ・開発環境には、デロイトは原則触れません。ハンズオンが必要な場合は、ITEC様がマスキングしたデータを受け取り、検証環境で対応します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r>
              <a:t>ラップアップ</a:t>
            </a:r>
          </a:p>
        </p:txBody>
      </p:sp>
      <p:sp>
        <p:nvSpPr>
          <p:cNvPr id="3" name="Title 2"/>
          <p:cNvSpPr>
            <a:spLocks noGrp="1"/>
          </p:cNvSpPr>
          <p:nvPr>
            <p:ph type="title"/>
          </p:nvPr>
        </p:nvSpPr>
        <p:spPr/>
        <p:txBody>
          <a:bodyPr/>
          <a:lstStyle/>
          <a:p>
            <a:r>
              <a:t>本日の合意事項と、次回定例までのアクションを確認させてください</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5</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7" name="Rectangle 6"/>
          <p:cNvSpPr/>
          <p:nvPr/>
        </p:nvSpPr>
        <p:spPr>
          <a:xfrm>
            <a:off x="475488" y="1627632"/>
            <a:ext cx="11228832" cy="329184"/>
          </a:xfrm>
          <a:prstGeom prst="rect">
            <a:avLst/>
          </a:prstGeom>
          <a:solidFill>
            <a:srgbClr val="F3F3F3"/>
          </a:solidFill>
          <a:ln>
            <a:noFill/>
          </a:ln>
        </p:spPr>
        <p:txBody>
          <a:bodyPr rtlCol="0" anchor="ctr" wrap="square" lIns="137160" tIns="0" bIns="0">
            <a:noAutofit/>
          </a:bodyPr>
          <a:lstStyle/>
          <a:p>
            <a:pPr algn="l">
              <a:buNone/>
            </a:pPr>
            <a:r>
              <a:rPr sz="1250" b="1">
                <a:solidFill>
                  <a:srgbClr val="262626"/>
                </a:solidFill>
              </a:rPr>
              <a:t>本日の合意事項</a:t>
            </a:r>
          </a:p>
        </p:txBody>
      </p:sp>
      <p:graphicFrame>
        <p:nvGraphicFramePr>
          <p:cNvPr id="8" name="Table 7"/>
          <p:cNvGraphicFramePr>
            <a:graphicFrameLocks noGrp="1"/>
          </p:cNvGraphicFramePr>
          <p:nvPr/>
        </p:nvGraphicFramePr>
        <p:xfrm>
          <a:off x="475488" y="1956816"/>
          <a:ext cx="11228832" cy="1152144"/>
        </p:xfrm>
        <a:graphic>
          <a:graphicData uri="http://schemas.openxmlformats.org/drawingml/2006/table">
            <a:tbl>
              <a:tblPr firstRow="0" bandRow="0" firstCol="0" lastRow="0" lastCol="0" bandCol="0">
                <a:tableStyleId>{2D5ABB26-0587-4C30-8999-92F81FD0307C}</a:tableStyleId>
              </a:tblPr>
              <a:tblGrid>
                <a:gridCol w="457200"/>
                <a:gridCol w="10771632"/>
              </a:tblGrid>
              <a:tr h="384048">
                <a:tc>
                  <a:txBody>
                    <a:bodyPr wrap="square"/>
                    <a:lstStyle/>
                    <a:p>
                      <a:pPr algn="ctr">
                        <a:lnSpc>
                          <a:spcPts val="1450"/>
                        </a:lnSpc>
                        <a:buNone/>
                      </a:pPr>
                      <a:r>
                        <a:rPr sz="1200" b="0">
                          <a:solidFill>
                            <a:srgbClr val="595959"/>
                          </a:solidFill>
                        </a:rPr>
                        <a:t>1</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450"/>
                        </a:lnSpc>
                        <a:buNone/>
                      </a:pPr>
                      <a:r>
                        <a:rPr sz="1200" b="0">
                          <a:solidFill>
                            <a:srgbClr val="1A1A1A"/>
                          </a:solidFill>
                        </a:rPr>
                        <a:t/>
                      </a:r>
                    </a:p>
                  </a:txBody>
                  <a:tcPr marL="73152" marT="27432" marR="73152" marB="27432" anchor="ctr">
                    <a:lnL w="0">
                      <a:noFill/>
                    </a:lnL>
                    <a:lnR w="0">
                      <a:noFill/>
                    </a:lnR>
                    <a:lnT w="0">
                      <a:noFill/>
                    </a:lnT>
                    <a:lnB w="9525">
                      <a:solidFill>
                        <a:srgbClr val="E3E3E3"/>
                      </a:solidFill>
                    </a:lnB>
                    <a:noFill/>
                  </a:tcPr>
                </a:tc>
              </a:tr>
              <a:tr h="384048">
                <a:tc>
                  <a:txBody>
                    <a:bodyPr wrap="square"/>
                    <a:lstStyle/>
                    <a:p>
                      <a:pPr algn="ctr">
                        <a:lnSpc>
                          <a:spcPts val="1450"/>
                        </a:lnSpc>
                        <a:buNone/>
                      </a:pPr>
                      <a:r>
                        <a:rPr sz="1200" b="0">
                          <a:solidFill>
                            <a:srgbClr val="595959"/>
                          </a:solidFill>
                        </a:rPr>
                        <a:t>2</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450"/>
                        </a:lnSpc>
                        <a:buNone/>
                      </a:pPr>
                      <a:r>
                        <a:rPr sz="1200" b="0">
                          <a:solidFill>
                            <a:srgbClr val="1A1A1A"/>
                          </a:solidFill>
                        </a:rPr>
                        <a:t/>
                      </a:r>
                    </a:p>
                  </a:txBody>
                  <a:tcPr marL="73152" marT="27432" marR="73152" marB="27432" anchor="ctr">
                    <a:lnL w="0">
                      <a:noFill/>
                    </a:lnL>
                    <a:lnR w="0">
                      <a:noFill/>
                    </a:lnR>
                    <a:lnT w="0">
                      <a:noFill/>
                    </a:lnT>
                    <a:lnB w="9525">
                      <a:solidFill>
                        <a:srgbClr val="E3E3E3"/>
                      </a:solidFill>
                    </a:lnB>
                    <a:noFill/>
                  </a:tcPr>
                </a:tc>
              </a:tr>
              <a:tr h="384048">
                <a:tc>
                  <a:txBody>
                    <a:bodyPr wrap="square"/>
                    <a:lstStyle/>
                    <a:p>
                      <a:pPr algn="ctr">
                        <a:lnSpc>
                          <a:spcPts val="1450"/>
                        </a:lnSpc>
                        <a:buNone/>
                      </a:pPr>
                      <a:r>
                        <a:rPr sz="1200" b="0">
                          <a:solidFill>
                            <a:srgbClr val="595959"/>
                          </a:solidFill>
                        </a:rPr>
                        <a:t>3</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450"/>
                        </a:lnSpc>
                        <a:buNone/>
                      </a:pPr>
                      <a:r>
                        <a:rPr sz="1200" b="0">
                          <a:solidFill>
                            <a:srgbClr val="1A1A1A"/>
                          </a:solidFill>
                        </a:rPr>
                        <a:t/>
                      </a:r>
                    </a:p>
                  </a:txBody>
                  <a:tcPr marL="73152" marT="27432" marR="73152" marB="27432" anchor="ctr">
                    <a:lnL w="0">
                      <a:noFill/>
                    </a:lnL>
                    <a:lnR w="0">
                      <a:noFill/>
                    </a:lnR>
                    <a:lnT w="0">
                      <a:noFill/>
                    </a:lnT>
                    <a:lnB w="9525">
                      <a:solidFill>
                        <a:srgbClr val="E3E3E3"/>
                      </a:solidFill>
                    </a:lnB>
                    <a:noFill/>
                  </a:tcPr>
                </a:tc>
              </a:tr>
            </a:tbl>
          </a:graphicData>
        </a:graphic>
      </p:graphicFrame>
      <p:sp>
        <p:nvSpPr>
          <p:cNvPr id="9" name="Rectangle 8"/>
          <p:cNvSpPr/>
          <p:nvPr/>
        </p:nvSpPr>
        <p:spPr>
          <a:xfrm>
            <a:off x="475488" y="3291840"/>
            <a:ext cx="11228832" cy="329184"/>
          </a:xfrm>
          <a:prstGeom prst="rect">
            <a:avLst/>
          </a:prstGeom>
          <a:solidFill>
            <a:srgbClr val="F3F3F3"/>
          </a:solidFill>
          <a:ln>
            <a:noFill/>
          </a:ln>
        </p:spPr>
        <p:txBody>
          <a:bodyPr rtlCol="0" anchor="ctr" wrap="square" lIns="137160" tIns="0" bIns="0">
            <a:noAutofit/>
          </a:bodyPr>
          <a:lstStyle/>
          <a:p>
            <a:pPr algn="l">
              <a:buNone/>
            </a:pPr>
            <a:r>
              <a:rPr sz="1250" b="1">
                <a:solidFill>
                  <a:srgbClr val="262626"/>
                </a:solidFill>
              </a:rPr>
              <a:t>次回定例までのアクション</a:t>
            </a:r>
          </a:p>
        </p:txBody>
      </p:sp>
      <p:graphicFrame>
        <p:nvGraphicFramePr>
          <p:cNvPr id="10" name="Table 9"/>
          <p:cNvGraphicFramePr>
            <a:graphicFrameLocks noGrp="1"/>
          </p:cNvGraphicFramePr>
          <p:nvPr/>
        </p:nvGraphicFramePr>
        <p:xfrm>
          <a:off x="475488" y="3621024"/>
          <a:ext cx="11228832" cy="2304288"/>
        </p:xfrm>
        <a:graphic>
          <a:graphicData uri="http://schemas.openxmlformats.org/drawingml/2006/table">
            <a:tbl>
              <a:tblPr firstRow="0" bandRow="0" firstCol="0" lastRow="0" lastCol="0" bandCol="0">
                <a:tableStyleId>{2D5ABB26-0587-4C30-8999-92F81FD0307C}</a:tableStyleId>
              </a:tblPr>
              <a:tblGrid>
                <a:gridCol w="457200"/>
                <a:gridCol w="7479792"/>
                <a:gridCol w="2011680"/>
                <a:gridCol w="1280160"/>
              </a:tblGrid>
              <a:tr h="292608">
                <a:tc>
                  <a:txBody>
                    <a:bodyPr wrap="square"/>
                    <a:lstStyle/>
                    <a:p>
                      <a:pPr algn="ctr">
                        <a:lnSpc>
                          <a:spcPts val="1450"/>
                        </a:lnSpc>
                        <a:buNone/>
                      </a:pPr>
                      <a:r>
                        <a:rPr sz="1150" b="1">
                          <a:solidFill>
                            <a:srgbClr val="FFFFFF"/>
                          </a:solidFill>
                        </a:rPr>
                        <a:t>No</a:t>
                      </a:r>
                    </a:p>
                  </a:txBody>
                  <a:tcPr marL="73152" marT="27432" marR="73152" marB="27432" anchor="ctr">
                    <a:lnL w="0">
                      <a:noFill/>
                    </a:lnL>
                    <a:lnR w="0">
                      <a:noFill/>
                    </a:lnR>
                    <a:lnT w="0">
                      <a:noFill/>
                    </a:lnT>
                    <a:lnB w="9525">
                      <a:solidFill>
                        <a:srgbClr val="E3E3E3"/>
                      </a:solidFill>
                    </a:lnB>
                    <a:solidFill>
                      <a:srgbClr val="63666A"/>
                    </a:solidFill>
                  </a:tcPr>
                </a:tc>
                <a:tc>
                  <a:txBody>
                    <a:bodyPr wrap="square"/>
                    <a:lstStyle/>
                    <a:p>
                      <a:pPr algn="ctr">
                        <a:lnSpc>
                          <a:spcPts val="1450"/>
                        </a:lnSpc>
                        <a:buNone/>
                      </a:pPr>
                      <a:r>
                        <a:rPr sz="1150" b="1">
                          <a:solidFill>
                            <a:srgbClr val="FFFFFF"/>
                          </a:solidFill>
                        </a:rPr>
                        <a:t>アクション</a:t>
                      </a:r>
                    </a:p>
                  </a:txBody>
                  <a:tcPr marL="73152" marT="27432" marR="73152" marB="27432" anchor="ctr">
                    <a:lnL w="0">
                      <a:noFill/>
                    </a:lnL>
                    <a:lnR w="0">
                      <a:noFill/>
                    </a:lnR>
                    <a:lnT w="0">
                      <a:noFill/>
                    </a:lnT>
                    <a:lnB w="9525">
                      <a:solidFill>
                        <a:srgbClr val="E3E3E3"/>
                      </a:solidFill>
                    </a:lnB>
                    <a:solidFill>
                      <a:srgbClr val="63666A"/>
                    </a:solidFill>
                  </a:tcPr>
                </a:tc>
                <a:tc>
                  <a:txBody>
                    <a:bodyPr wrap="square"/>
                    <a:lstStyle/>
                    <a:p>
                      <a:pPr algn="ctr">
                        <a:lnSpc>
                          <a:spcPts val="1450"/>
                        </a:lnSpc>
                        <a:buNone/>
                      </a:pPr>
                      <a:r>
                        <a:rPr sz="1150" b="1">
                          <a:solidFill>
                            <a:srgbClr val="FFFFFF"/>
                          </a:solidFill>
                        </a:rPr>
                        <a:t>担当</a:t>
                      </a:r>
                    </a:p>
                  </a:txBody>
                  <a:tcPr marL="73152" marT="27432" marR="73152" marB="27432" anchor="ctr">
                    <a:lnL w="0">
                      <a:noFill/>
                    </a:lnL>
                    <a:lnR w="0">
                      <a:noFill/>
                    </a:lnR>
                    <a:lnT w="0">
                      <a:noFill/>
                    </a:lnT>
                    <a:lnB w="9525">
                      <a:solidFill>
                        <a:srgbClr val="E3E3E3"/>
                      </a:solidFill>
                    </a:lnB>
                    <a:solidFill>
                      <a:srgbClr val="63666A"/>
                    </a:solidFill>
                  </a:tcPr>
                </a:tc>
                <a:tc>
                  <a:txBody>
                    <a:bodyPr wrap="square"/>
                    <a:lstStyle/>
                    <a:p>
                      <a:pPr algn="ctr">
                        <a:lnSpc>
                          <a:spcPts val="1450"/>
                        </a:lnSpc>
                        <a:buNone/>
                      </a:pPr>
                      <a:r>
                        <a:rPr sz="1150" b="1">
                          <a:solidFill>
                            <a:srgbClr val="FFFFFF"/>
                          </a:solidFill>
                        </a:rPr>
                        <a:t>期限</a:t>
                      </a:r>
                    </a:p>
                  </a:txBody>
                  <a:tcPr marL="73152" marT="27432" marR="73152" marB="27432" anchor="ctr">
                    <a:lnL w="0">
                      <a:noFill/>
                    </a:lnL>
                    <a:lnR w="0">
                      <a:noFill/>
                    </a:lnR>
                    <a:lnT w="0">
                      <a:noFill/>
                    </a:lnT>
                    <a:lnB w="9525">
                      <a:solidFill>
                        <a:srgbClr val="E3E3E3"/>
                      </a:solidFill>
                    </a:lnB>
                    <a:solidFill>
                      <a:srgbClr val="63666A"/>
                    </a:solidFill>
                  </a:tcPr>
                </a:tc>
              </a:tr>
              <a:tr h="402336">
                <a:tc>
                  <a:txBody>
                    <a:bodyPr wrap="square"/>
                    <a:lstStyle/>
                    <a:p>
                      <a:pPr algn="ctr">
                        <a:lnSpc>
                          <a:spcPts val="1450"/>
                        </a:lnSpc>
                        <a:buNone/>
                      </a:pPr>
                      <a:r>
                        <a:rPr sz="1200" b="0">
                          <a:solidFill>
                            <a:srgbClr val="1A1A1A"/>
                          </a:solidFill>
                        </a:rPr>
                        <a:t>1</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450"/>
                        </a:lnSpc>
                        <a:buNone/>
                      </a:pPr>
                      <a:r>
                        <a:rPr sz="1200" b="0">
                          <a:solidFill>
                            <a:srgbClr val="1A1A1A"/>
                          </a:solidFill>
                        </a:rPr>
                        <a:t>引継ぎ会（今週・来週）の日程と参加者の確定</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450"/>
                        </a:lnSpc>
                        <a:buNone/>
                      </a:pPr>
                      <a:r>
                        <a:rPr sz="1200" b="0">
                          <a:solidFill>
                            <a:srgbClr val="1A1A1A"/>
                          </a:solidFill>
                        </a:rPr>
                        <a:t>ITEC様・デロイト</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450"/>
                        </a:lnSpc>
                        <a:buNone/>
                      </a:pPr>
                      <a:r>
                        <a:rPr sz="1200" b="0">
                          <a:solidFill>
                            <a:srgbClr val="1A1A1A"/>
                          </a:solidFill>
                        </a:rPr>
                        <a:t>10/8</a:t>
                      </a:r>
                    </a:p>
                  </a:txBody>
                  <a:tcPr marL="73152" marT="27432" marR="73152" marB="27432" anchor="ctr">
                    <a:lnL w="0">
                      <a:noFill/>
                    </a:lnL>
                    <a:lnR w="0">
                      <a:noFill/>
                    </a:lnR>
                    <a:lnT w="0">
                      <a:noFill/>
                    </a:lnT>
                    <a:lnB w="9525">
                      <a:solidFill>
                        <a:srgbClr val="E3E3E3"/>
                      </a:solidFill>
                    </a:lnB>
                    <a:noFill/>
                  </a:tcPr>
                </a:tc>
              </a:tr>
              <a:tr h="402336">
                <a:tc>
                  <a:txBody>
                    <a:bodyPr wrap="square"/>
                    <a:lstStyle/>
                    <a:p>
                      <a:pPr algn="ctr">
                        <a:lnSpc>
                          <a:spcPts val="1450"/>
                        </a:lnSpc>
                        <a:buNone/>
                      </a:pPr>
                      <a:r>
                        <a:rPr sz="1200" b="0">
                          <a:solidFill>
                            <a:srgbClr val="1A1A1A"/>
                          </a:solidFill>
                        </a:rPr>
                        <a:t>2</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450"/>
                        </a:lnSpc>
                        <a:buNone/>
                      </a:pPr>
                      <a:r>
                        <a:rPr sz="1200" b="0">
                          <a:solidFill>
                            <a:srgbClr val="1A1A1A"/>
                          </a:solidFill>
                        </a:rPr>
                        <a:t>10/7版のソース一式・改修台帳・ドキュメントのお渡し</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450"/>
                        </a:lnSpc>
                        <a:buNone/>
                      </a:pPr>
                      <a:r>
                        <a:rPr sz="1200" b="0">
                          <a:solidFill>
                            <a:srgbClr val="1A1A1A"/>
                          </a:solidFill>
                        </a:rPr>
                        <a:t>デロイト</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450"/>
                        </a:lnSpc>
                        <a:buNone/>
                      </a:pPr>
                      <a:r>
                        <a:rPr sz="1200" b="0">
                          <a:solidFill>
                            <a:srgbClr val="1A1A1A"/>
                          </a:solidFill>
                        </a:rPr>
                        <a:t>10/7</a:t>
                      </a:r>
                    </a:p>
                  </a:txBody>
                  <a:tcPr marL="73152" marT="27432" marR="73152" marB="27432" anchor="ctr">
                    <a:lnL w="0">
                      <a:noFill/>
                    </a:lnL>
                    <a:lnR w="0">
                      <a:noFill/>
                    </a:lnR>
                    <a:lnT w="0">
                      <a:noFill/>
                    </a:lnT>
                    <a:lnB w="9525">
                      <a:solidFill>
                        <a:srgbClr val="E3E3E3"/>
                      </a:solidFill>
                    </a:lnB>
                    <a:noFill/>
                  </a:tcPr>
                </a:tc>
              </a:tr>
              <a:tr h="402336">
                <a:tc>
                  <a:txBody>
                    <a:bodyPr wrap="square"/>
                    <a:lstStyle/>
                    <a:p>
                      <a:pPr algn="ctr">
                        <a:lnSpc>
                          <a:spcPts val="1450"/>
                        </a:lnSpc>
                        <a:buNone/>
                      </a:pPr>
                      <a:r>
                        <a:rPr sz="1200" b="0">
                          <a:solidFill>
                            <a:srgbClr val="1A1A1A"/>
                          </a:solidFill>
                        </a:rPr>
                        <a:t>3</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450"/>
                        </a:lnSpc>
                        <a:buNone/>
                      </a:pPr>
                      <a:r>
                        <a:rPr sz="1200" b="0">
                          <a:solidFill>
                            <a:srgbClr val="1A1A1A"/>
                          </a:solidFill>
                        </a:rPr>
                        <a:t>10/7版のセキュア環境への反映</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450"/>
                        </a:lnSpc>
                        <a:buNone/>
                      </a:pPr>
                      <a:r>
                        <a:rPr sz="1200" b="0">
                          <a:solidFill>
                            <a:srgbClr val="1A1A1A"/>
                          </a:solidFill>
                        </a:rPr>
                        <a:t>ITEC様</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450"/>
                        </a:lnSpc>
                        <a:buNone/>
                      </a:pPr>
                      <a:r>
                        <a:rPr sz="1200" b="0">
                          <a:solidFill>
                            <a:srgbClr val="1A1A1A"/>
                          </a:solidFill>
                        </a:rPr>
                        <a:t>10/8〜</a:t>
                      </a:r>
                    </a:p>
                  </a:txBody>
                  <a:tcPr marL="73152" marT="27432" marR="73152" marB="27432" anchor="ctr">
                    <a:lnL w="0">
                      <a:noFill/>
                    </a:lnL>
                    <a:lnR w="0">
                      <a:noFill/>
                    </a:lnR>
                    <a:lnT w="0">
                      <a:noFill/>
                    </a:lnT>
                    <a:lnB w="9525">
                      <a:solidFill>
                        <a:srgbClr val="E3E3E3"/>
                      </a:solidFill>
                    </a:lnB>
                    <a:noFill/>
                  </a:tcPr>
                </a:tc>
              </a:tr>
              <a:tr h="402336">
                <a:tc>
                  <a:txBody>
                    <a:bodyPr wrap="square"/>
                    <a:lstStyle/>
                    <a:p>
                      <a:pPr algn="ctr">
                        <a:lnSpc>
                          <a:spcPts val="1450"/>
                        </a:lnSpc>
                        <a:buNone/>
                      </a:pPr>
                      <a:r>
                        <a:rPr sz="1200" b="0">
                          <a:solidFill>
                            <a:srgbClr val="1A1A1A"/>
                          </a:solidFill>
                        </a:rPr>
                        <a:t>4</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450"/>
                        </a:lnSpc>
                        <a:buNone/>
                      </a:pPr>
                      <a:r>
                        <a:rPr sz="1200" b="0">
                          <a:solidFill>
                            <a:srgbClr val="1A1A1A"/>
                          </a:solidFill>
                        </a:rPr>
                        <a:t>本番データ投入の準備（対象データ・時期の確認）</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450"/>
                        </a:lnSpc>
                        <a:buNone/>
                      </a:pPr>
                      <a:r>
                        <a:rPr sz="1200" b="0">
                          <a:solidFill>
                            <a:srgbClr val="1A1A1A"/>
                          </a:solidFill>
                        </a:rPr>
                        <a:t>BX推進部・ITEC様</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450"/>
                        </a:lnSpc>
                        <a:buNone/>
                      </a:pPr>
                      <a:r>
                        <a:rPr sz="1200" b="0">
                          <a:solidFill>
                            <a:srgbClr val="1A1A1A"/>
                          </a:solidFill>
                        </a:rPr>
                        <a:t>10/14</a:t>
                      </a:r>
                    </a:p>
                  </a:txBody>
                  <a:tcPr marL="73152" marT="27432" marR="73152" marB="27432" anchor="ctr">
                    <a:lnL w="0">
                      <a:noFill/>
                    </a:lnL>
                    <a:lnR w="0">
                      <a:noFill/>
                    </a:lnR>
                    <a:lnT w="0">
                      <a:noFill/>
                    </a:lnT>
                    <a:lnB w="9525">
                      <a:solidFill>
                        <a:srgbClr val="E3E3E3"/>
                      </a:solidFill>
                    </a:lnB>
                    <a:noFill/>
                  </a:tcPr>
                </a:tc>
              </a:tr>
              <a:tr h="402336">
                <a:tc>
                  <a:txBody>
                    <a:bodyPr wrap="square"/>
                    <a:lstStyle/>
                    <a:p>
                      <a:pPr algn="ctr">
                        <a:lnSpc>
                          <a:spcPts val="1450"/>
                        </a:lnSpc>
                        <a:buNone/>
                      </a:pPr>
                      <a:r>
                        <a:rPr sz="1200" b="0">
                          <a:solidFill>
                            <a:srgbClr val="1A1A1A"/>
                          </a:solidFill>
                        </a:rPr>
                        <a:t>5</a:t>
                      </a:r>
                    </a:p>
                  </a:txBody>
                  <a:tcPr marL="73152" marT="27432" marR="73152" marB="27432" anchor="ctr">
                    <a:lnL w="0">
                      <a:noFill/>
                    </a:lnL>
                    <a:lnR w="0">
                      <a:noFill/>
                    </a:lnR>
                    <a:lnT w="0">
                      <a:noFill/>
                    </a:lnT>
                    <a:lnB w="9525">
                      <a:solidFill>
                        <a:srgbClr val="E3E3E3"/>
                      </a:solidFill>
                    </a:lnB>
                    <a:noFill/>
                  </a:tcPr>
                </a:tc>
                <a:tc>
                  <a:txBody>
                    <a:bodyPr wrap="square"/>
                    <a:lstStyle/>
                    <a:p>
                      <a:pPr algn="l">
                        <a:lnSpc>
                          <a:spcPts val="1450"/>
                        </a:lnSpc>
                        <a:buNone/>
                      </a:pPr>
                      <a:r>
                        <a:rPr sz="1200" b="0">
                          <a:solidFill>
                            <a:srgbClr val="1A1A1A"/>
                          </a:solidFill>
                        </a:rPr>
                        <a:t>外部データの有償・許諾の要否の検討</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450"/>
                        </a:lnSpc>
                        <a:buNone/>
                      </a:pPr>
                      <a:r>
                        <a:rPr sz="1200" b="0">
                          <a:solidFill>
                            <a:srgbClr val="1A1A1A"/>
                          </a:solidFill>
                        </a:rPr>
                        <a:t>BX推進部</a:t>
                      </a:r>
                    </a:p>
                  </a:txBody>
                  <a:tcPr marL="73152" marT="27432" marR="73152" marB="27432" anchor="ctr">
                    <a:lnL w="0">
                      <a:noFill/>
                    </a:lnL>
                    <a:lnR w="0">
                      <a:noFill/>
                    </a:lnR>
                    <a:lnT w="0">
                      <a:noFill/>
                    </a:lnT>
                    <a:lnB w="9525">
                      <a:solidFill>
                        <a:srgbClr val="E3E3E3"/>
                      </a:solidFill>
                    </a:lnB>
                    <a:noFill/>
                  </a:tcPr>
                </a:tc>
                <a:tc>
                  <a:txBody>
                    <a:bodyPr wrap="square"/>
                    <a:lstStyle/>
                    <a:p>
                      <a:pPr algn="ctr">
                        <a:lnSpc>
                          <a:spcPts val="1450"/>
                        </a:lnSpc>
                        <a:buNone/>
                      </a:pPr>
                      <a:r>
                        <a:rPr sz="1200" b="0">
                          <a:solidFill>
                            <a:srgbClr val="1A1A1A"/>
                          </a:solidFill>
                        </a:rPr>
                        <a:t>10月中</a:t>
                      </a:r>
                    </a:p>
                  </a:txBody>
                  <a:tcPr marL="73152" marT="27432" marR="73152" marB="27432" anchor="ctr">
                    <a:lnL w="0">
                      <a:noFill/>
                    </a:lnL>
                    <a:lnR w="0">
                      <a:noFill/>
                    </a:lnR>
                    <a:lnT w="0">
                      <a:noFill/>
                    </a:lnT>
                    <a:lnB w="9525">
                      <a:solidFill>
                        <a:srgbClr val="E3E3E3"/>
                      </a:solidFill>
                    </a:lnB>
                    <a:noFill/>
                  </a:tcPr>
                </a:tc>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LANGUAGE_ID" val="1041"/>
  <p:tag name="EE4P_STYLE_ID" val="076a8867-8b72-4914-890a-d2f9a5d03d99"/>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T Template_16:9_J_202507">
  <a:themeElements>
    <a:clrScheme name="Deloitte2025">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font">
      <a:majorFont>
        <a:latin typeface="Aptos"/>
        <a:ea typeface="Yu Gothic UI"/>
        <a:cs typeface=""/>
      </a:majorFont>
      <a:minorFont>
        <a:latin typeface="Aptos"/>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16_9_J_Short.pptx" id="{013DFF10-7174-409E-AC1D-80AE4A6172B2}" vid="{8E462FA6-9B00-4E7F-BFC0-B6BC63B792EF}"/>
    </a:ext>
  </a:extLst>
</a:theme>
</file>

<file path=ppt/theme/theme2.xml><?xml version="1.0" encoding="utf-8"?>
<a:theme xmlns:a="http://schemas.openxmlformats.org/drawingml/2006/main" name="DT Template_16:9_J_202507_基本版②">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font">
      <a:majorFont>
        <a:latin typeface="Aptos"/>
        <a:ea typeface="Yu Gothic UI"/>
        <a:cs typeface=""/>
      </a:majorFont>
      <a:minorFont>
        <a:latin typeface="Aptos"/>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16_9_J_Short.pptx" id="{013DFF10-7174-409E-AC1D-80AE4A6172B2}" vid="{EC5F9899-8C00-41A7-90E2-1AA9CB841817}"/>
    </a:ext>
  </a:extLst>
</a:theme>
</file>

<file path=ppt/theme/theme3.xml><?xml version="1.0" encoding="utf-8"?>
<a:theme xmlns:a="http://schemas.openxmlformats.org/drawingml/2006/main" name="DT Template_16:9_J_2024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2024Deloitte">
      <a:majorFont>
        <a:latin typeface="Calibri"/>
        <a:ea typeface="Yu Gothic UI"/>
        <a:cs typeface=""/>
      </a:majorFont>
      <a:minorFont>
        <a:latin typeface="Calibri"/>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プレゼンテーション1" id="{0E36F0E6-4249-4ADB-A6A6-342A0C1EC870}" vid="{3D35B912-24B8-40FF-9725-DA43E876BB86}"/>
    </a:ext>
  </a:extLst>
</a:theme>
</file>

<file path=ppt/theme/theme4.xml><?xml version="1.0" encoding="utf-8"?>
<a:theme xmlns:a="http://schemas.openxmlformats.org/drawingml/2006/main" name="1_DT Template_16:9_J_2024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2024Deloitte">
      <a:majorFont>
        <a:latin typeface="Calibri"/>
        <a:ea typeface="Yu Gothic UI"/>
        <a:cs typeface=""/>
      </a:majorFont>
      <a:minorFont>
        <a:latin typeface="Calibri"/>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12700" algn="ctr">
          <a:solidFill>
            <a:srgbClr val="BBBCBC"/>
          </a:solidFill>
          <a:miter lim="800000"/>
          <a:headEnd/>
          <a:tailEnd/>
        </a:ln>
      </a:spPr>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プレゼンテーション1" id="{0E36F0E6-4249-4ADB-A6A6-342A0C1EC870}" vid="{3D35B912-24B8-40FF-9725-DA43E876BB86}"/>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F4429DF024E5448FC59C7B7B43C1AC" ma:contentTypeVersion="11" ma:contentTypeDescription="Create a new document." ma:contentTypeScope="" ma:versionID="acb135f8ac1bd7cde167a21f1321cadb">
  <xsd:schema xmlns:xsd="http://www.w3.org/2001/XMLSchema" xmlns:xs="http://www.w3.org/2001/XMLSchema" xmlns:p="http://schemas.microsoft.com/office/2006/metadata/properties" xmlns:ns2="736c8bd6-b1a7-463d-a242-abcb0c1a3ab7" xmlns:ns3="25a5c49f-f1be-44ee-b7a9-954566e675d2" targetNamespace="http://schemas.microsoft.com/office/2006/metadata/properties" ma:root="true" ma:fieldsID="72c5b997e5e4c90e17cc0c94290d5872" ns2:_="" ns3:_="">
    <xsd:import namespace="736c8bd6-b1a7-463d-a242-abcb0c1a3ab7"/>
    <xsd:import namespace="25a5c49f-f1be-44ee-b7a9-954566e675d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6c8bd6-b1a7-463d-a242-abcb0c1a3a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5a5c49f-f1be-44ee-b7a9-954566e675d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8a2c12e-9cd8-4bdc-a214-d5fe3fdc3985}" ma:internalName="TaxCatchAll" ma:showField="CatchAllData" ma:web="25a5c49f-f1be-44ee-b7a9-954566e675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36c8bd6-b1a7-463d-a242-abcb0c1a3ab7">
      <Terms xmlns="http://schemas.microsoft.com/office/infopath/2007/PartnerControls"/>
    </lcf76f155ced4ddcb4097134ff3c332f>
    <TaxCatchAll xmlns="25a5c49f-f1be-44ee-b7a9-954566e675d2" xsi:nil="true"/>
  </documentManagement>
</p:properties>
</file>

<file path=customXml/itemProps1.xml><?xml version="1.0" encoding="utf-8"?>
<ds:datastoreItem xmlns:ds="http://schemas.openxmlformats.org/officeDocument/2006/customXml" ds:itemID="{6F2A2CF3-6367-444C-AA09-0D41A3DD392F}">
  <ds:schemaRefs>
    <ds:schemaRef ds:uri="25a5c49f-f1be-44ee-b7a9-954566e675d2"/>
    <ds:schemaRef ds:uri="736c8bd6-b1a7-463d-a242-abcb0c1a3ab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3C562D3-14B2-4A04-B255-084073502BBE}">
  <ds:schemaRefs>
    <ds:schemaRef ds:uri="http://schemas.microsoft.com/sharepoint/v3/contenttype/forms"/>
  </ds:schemaRefs>
</ds:datastoreItem>
</file>

<file path=customXml/itemProps3.xml><?xml version="1.0" encoding="utf-8"?>
<ds:datastoreItem xmlns:ds="http://schemas.openxmlformats.org/officeDocument/2006/customXml" ds:itemID="{C8F75EE8-E51D-4422-BE39-CF7C03367777}">
  <ds:schemaRefs>
    <ds:schemaRef ds:uri="http://schemas.microsoft.com/office/infopath/2007/PartnerControls"/>
    <ds:schemaRef ds:uri="http://www.w3.org/XML/1998/namespace"/>
    <ds:schemaRef ds:uri="http://schemas.microsoft.com/office/2006/documentManagement/types"/>
    <ds:schemaRef ds:uri="http://schemas.microsoft.com/office/2006/metadata/properties"/>
    <ds:schemaRef ds:uri="25a5c49f-f1be-44ee-b7a9-954566e675d2"/>
    <ds:schemaRef ds:uri="736c8bd6-b1a7-463d-a242-abcb0c1a3ab7"/>
    <ds:schemaRef ds:uri="http://purl.org/dc/elements/1.1/"/>
    <ds:schemaRef ds:uri="http://schemas.openxmlformats.org/package/2006/metadata/core-properties"/>
    <ds:schemaRef ds:uri="http://purl.org/dc/dcmitype/"/>
    <ds:schemaRef ds:uri="http://purl.org/dc/te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blank</Template>
  <TotalTime>0</TotalTime>
  <Words>2409</Words>
  <Application>Microsoft Office PowerPoint</Application>
  <PresentationFormat>ワイド画面</PresentationFormat>
  <Paragraphs>351</Paragraphs>
  <Slides>14</Slides>
  <Notes>8</Notes>
  <HiddenSlides>0</HiddenSlides>
  <MMClips>0</MMClips>
  <ScaleCrop>false</ScaleCrop>
  <HeadingPairs>
    <vt:vector size="8" baseType="variant">
      <vt:variant>
        <vt:lpstr>使用されているフォント</vt:lpstr>
      </vt:variant>
      <vt:variant>
        <vt:i4>8</vt:i4>
      </vt:variant>
      <vt:variant>
        <vt:lpstr>テーマ</vt:lpstr>
      </vt:variant>
      <vt:variant>
        <vt:i4>4</vt:i4>
      </vt:variant>
      <vt:variant>
        <vt:lpstr>埋め込まれた OLE サーバー</vt:lpstr>
      </vt:variant>
      <vt:variant>
        <vt:i4>2</vt:i4>
      </vt:variant>
      <vt:variant>
        <vt:lpstr>スライド タイトル</vt:lpstr>
      </vt:variant>
      <vt:variant>
        <vt:i4>14</vt:i4>
      </vt:variant>
    </vt:vector>
  </HeadingPairs>
  <TitlesOfParts>
    <vt:vector size="28" baseType="lpstr">
      <vt:lpstr>Yu Gothic UI</vt:lpstr>
      <vt:lpstr>游ゴシック</vt:lpstr>
      <vt:lpstr>Aptos</vt:lpstr>
      <vt:lpstr>Arial</vt:lpstr>
      <vt:lpstr>Calibri</vt:lpstr>
      <vt:lpstr>Verdana</vt:lpstr>
      <vt:lpstr>Wingdings</vt:lpstr>
      <vt:lpstr>Wingdings 2</vt:lpstr>
      <vt:lpstr>DT Template_16:9_J_202507</vt:lpstr>
      <vt:lpstr>DT Template_16:9_J_202507_基本版②</vt:lpstr>
      <vt:lpstr>DT Template_16:9_J_202401</vt:lpstr>
      <vt:lpstr>1_DT Template_16:9_J_202401</vt:lpstr>
      <vt:lpstr>thinkcellスライド</vt:lpstr>
      <vt:lpstr>think-cell スライド</vt:lpstr>
      <vt:lpstr>PowerPoint プレゼンテーション</vt:lpstr>
      <vt:lpstr>本日のアジェンダ</vt:lpstr>
      <vt:lpstr>本日時点ではスケジュール通りの進捗です</vt:lpstr>
      <vt:lpstr>本日のアジェンダ</vt:lpstr>
      <vt:lpstr>本取り組みはスケジュール通り推進されています</vt:lpstr>
      <vt:lpstr>本日のアジェンダ</vt:lpstr>
      <vt:lpstr>残課題への対応を反映したアプリを9月末までにITEC様へ引き渡し、今後のバージョンアップデートにて順次適応します</vt:lpstr>
      <vt:lpstr>残課題への対応を反映したアプリを9月末までにITEC様へ引き渡し、今後のバージョンアップデートにて順次適応します</vt:lpstr>
      <vt:lpstr>アプリ画面にてご説明いたします</vt:lpstr>
      <vt:lpstr>本日のアジェンダ</vt:lpstr>
      <vt:lpstr>10月セキュア公開に向けて、9/11にリリース対象版をFIXし、以降はITEC様が統合テスト・移行準備を主導、デロイトは引継ぎ資料整備、エラー・質疑対応、バックログ整理に注力します</vt:lpstr>
      <vt:lpstr>各種無料APIの利用にはHHHD側でのアカウント登録およびAPI Keyの新規発行が必要です</vt:lpstr>
      <vt:lpstr>Appendix</vt:lpstr>
      <vt:lpstr>PowerPoint プレゼンテーション</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 Xinlong</dc:creator>
  <cp:lastModifiedBy>Hu, Xinlong</cp:lastModifiedBy>
  <cp:revision>1</cp:revision>
  <dcterms:created xsi:type="dcterms:W3CDTF">2026-06-25T23:44:23Z</dcterms:created>
  <dcterms:modified xsi:type="dcterms:W3CDTF">2026-09-15T12:05:27Z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0x0101003CF4429DF024E5448FC59C7B7B43C1AC</vt:lpwstr>
  </property>
  <property fmtid="{D5CDD505-2E9C-101B-9397-08002B2CF9AE}" pid="3" name="MSIP_Label_ea60d57e-af5b-4752-ac57-3e4f28ca11dc_Enabled">
    <vt:lpwstr>true</vt:lpwstr>
  </property>
  <property fmtid="{D5CDD505-2E9C-101B-9397-08002B2CF9AE}" pid="4" name="MSIP_Label_ea60d57e-af5b-4752-ac57-3e4f28ca11dc_SetDate">
    <vt:lpwstr>2021-11-30T06:12:18Z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177f38b9-1e8a-4270-81d8-98c657c22e6c</vt:lpwstr>
  </property>
  <property fmtid="{D5CDD505-2E9C-101B-9397-08002B2CF9AE}" pid="9" name="MSIP_Label_ea60d57e-af5b-4752-ac57-3e4f28ca11dc_ContentBits">
    <vt:lpwstr>0</vt:lpwstr>
  </property>
  <property fmtid="{D5CDD505-2E9C-101B-9397-08002B2CF9AE}" pid="10" name="MediaServiceImageTags">
    <vt:lpwstr/>
  </property>
</Properties>
</file>