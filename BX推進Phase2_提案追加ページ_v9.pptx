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  <p:sldMasterId id="2147483986" r:id="rId6"/>
    <p:sldMasterId id="2147484012" r:id="rId7"/>
  </p:sldMasterIdLst>
  <p:notesMasterIdLst>
    <p:notesMasterId r:id="rId22"/>
  </p:notesMasterIdLst>
  <p:handoutMasterIdLst>
    <p:handoutMasterId r:id="rId23"/>
  </p:handoutMasterIdLst>
  <p:sldIdLst>
    <p:sldId id="256" r:id="rId18"/>
    <p:sldId id="257" r:id="rId19"/>
    <p:sldId id="258" r:id="rId20"/>
    <p:sldId id="259" r:id="rId21"/>
    <p:sldId id="260" r:id="rId17"/>
    <p:sldId id="261" r:id="rId16"/>
  </p:sldIdLst>
  <p:sldSz cx="12192000" cy="6858000"/>
  <p:notesSz cx="6735763" cy="9866313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137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9B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D6A08-FCAC-4358-BAE4-43561AE9EF14}" v="2376" dt="2026-09-15T09:35:23.863"/>
    <p1510:client id="{AB5C4B94-6472-7803-CE20-A7CD06FA2A8B}" v="102" dt="2026-09-15T08:42:14.940"/>
    <p1510:client id="{F245FC92-33F3-4BB8-AB35-C27D90D97766}" v="1" dt="2026-09-15T12:05:2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2026/9/15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38.bin"/><Relationship Id="rId5" Type="http://schemas.openxmlformats.org/officeDocument/2006/relationships/image" Target="../media/image15.emf"/><Relationship Id="rId6" Type="http://schemas.openxmlformats.org/officeDocument/2006/relationships/oleObject" Target="../embeddings/oleObject39.bin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04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6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17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1478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800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816916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33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600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451464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708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82726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264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05641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18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6995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268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4718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086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2883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418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5051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777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595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2341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6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95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593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299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36365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204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2594888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1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44441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457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326908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5845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203817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64769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20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79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020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95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97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479772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676381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588154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5312935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110189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882777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8070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0532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875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20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062981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5025832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473114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8433350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015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133324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349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1642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ACB6E8B-BDC4-441B-80D9-3D4F1A7191B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10" name="図 9" descr="ロゴ, 会社名&#10;&#10;自動的に生成された説明">
              <a:extLst>
                <a:ext uri="{FF2B5EF4-FFF2-40B4-BE49-F238E27FC236}">
                  <a16:creationId xmlns:a16="http://schemas.microsoft.com/office/drawing/2014/main" id="{58297113-486E-410D-9152-DBAA7813B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1" name="図 10" descr="ロゴ&#10;&#10;自動的に生成された説明">
              <a:extLst>
                <a:ext uri="{FF2B5EF4-FFF2-40B4-BE49-F238E27FC236}">
                  <a16:creationId xmlns:a16="http://schemas.microsoft.com/office/drawing/2014/main" id="{DBB457B8-2E8C-4715-8CE0-9F6911CA7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477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5016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732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208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32278A0-B6A6-4196-A48B-DD36F4F398E7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5" name="図 14" descr="ロゴ, 会社名&#10;&#10;自動的に生成された説明">
              <a:extLst>
                <a:ext uri="{FF2B5EF4-FFF2-40B4-BE49-F238E27FC236}">
                  <a16:creationId xmlns:a16="http://schemas.microsoft.com/office/drawing/2014/main" id="{2395C2A1-39CD-425B-94BE-D67F2CCD8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CC8C78A-26CC-4239-9442-4410264A9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56877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8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400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753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27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04669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3514089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24977924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420106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6711330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711624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1185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29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6133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9023089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0165543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130021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606451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40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3529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4871738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444" imgH="443" progId="TCLayout.ActiveDocument.1">
                  <p:embed/>
                </p:oleObj>
              </mc:Choice>
              <mc:Fallback>
                <p:oleObj name="thinkcellスライド" r:id="rId4" imgW="444" imgH="44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GB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>
          <a:xfrm>
            <a:off x="11458554" y="6588000"/>
            <a:ext cx="221538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A5FCFE5-FE56-4EF1-80A8-07776887C2A1}" type="slidenum">
              <a:rPr lang="ja-JP" altLang="en-US" sz="1200" smtClean="0">
                <a:solidFill>
                  <a:prstClr val="black"/>
                </a:solidFill>
                <a:latin typeface="Arial"/>
                <a:ea typeface="ＭＳ Ｐゴシック"/>
                <a:cs typeface="Arial" pitchFamily="34" charset="0"/>
              </a:rPr>
              <a:pPr>
                <a:defRPr/>
              </a:pPr>
              <a:t>‹#›</a:t>
            </a:fld>
            <a:endParaRPr lang="ja-JP" altLang="en-US" sz="1200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3230" y="136800"/>
            <a:ext cx="11166862" cy="432000"/>
          </a:xfrm>
          <a:prstGeom prst="rect">
            <a:avLst/>
          </a:prstGeom>
        </p:spPr>
        <p:txBody>
          <a:bodyPr wrap="none" lIns="0" t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513231" y="678671"/>
            <a:ext cx="11165538" cy="360000"/>
          </a:xfrm>
        </p:spPr>
        <p:txBody>
          <a:bodyPr vert="horz" lIns="0" tIns="0" anchor="t"/>
          <a:lstStyle>
            <a:lvl1pPr>
              <a:defRPr sz="1800" b="0"/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9526583-8C8E-82A1-8852-F993675C5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898332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6" imgW="444" imgH="443" progId="TCLayout.ActiveDocument.1">
                  <p:embed/>
                </p:oleObj>
              </mc:Choice>
              <mc:Fallback>
                <p:oleObj name="think-cell スライド" r:id="rId6" imgW="444" imgH="443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9526583-8C8E-82A1-8852-F993675C5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5C7EB6A-BE1A-6B26-F25B-752C370BEDF4}"/>
              </a:ext>
            </a:extLst>
          </p:cNvPr>
          <p:cNvCxnSpPr/>
          <p:nvPr userDrawn="1"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270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723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Relationship Id="rId8" Type="http://schemas.openxmlformats.org/officeDocument/2006/relationships/tags" Target="../tags/tag25.xml"/><Relationship Id="rId9" Type="http://schemas.openxmlformats.org/officeDocument/2006/relationships/oleObject" Target="../embeddings/oleObject23.bin"/><Relationship Id="rId10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theme" Target="../theme/theme3.xml"/><Relationship Id="rId27" Type="http://schemas.openxmlformats.org/officeDocument/2006/relationships/tags" Target="../tags/tag32.xml"/><Relationship Id="rId28" Type="http://schemas.openxmlformats.org/officeDocument/2006/relationships/oleObject" Target="../embeddings/oleObject28.bin"/><Relationship Id="rId29" Type="http://schemas.openxmlformats.org/officeDocument/2006/relationships/image" Target="../media/image1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22" Type="http://schemas.openxmlformats.org/officeDocument/2006/relationships/tags" Target="../tags/tag56.xml"/><Relationship Id="rId23" Type="http://schemas.openxmlformats.org/officeDocument/2006/relationships/oleObject" Target="../embeddings/oleObject28.bin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926568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5" imgW="444" imgH="443" progId="TCLayout.ActiveDocument.1">
                  <p:embed/>
                </p:oleObj>
              </mc:Choice>
              <mc:Fallback>
                <p:oleObj name="thinkcellスライド" r:id="rId25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15099" y="6444000"/>
            <a:ext cx="961802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46" r:id="rId3"/>
    <p:sldLayoutId id="2147483947" r:id="rId4"/>
    <p:sldLayoutId id="2147483911" r:id="rId5"/>
    <p:sldLayoutId id="2147483912" r:id="rId6"/>
    <p:sldLayoutId id="2147483934" r:id="rId7"/>
    <p:sldLayoutId id="2147483983" r:id="rId8"/>
    <p:sldLayoutId id="2147483984" r:id="rId9"/>
    <p:sldLayoutId id="2147483985" r:id="rId10"/>
    <p:sldLayoutId id="2147483959" r:id="rId11"/>
    <p:sldLayoutId id="2147483969" r:id="rId12"/>
    <p:sldLayoutId id="2147483960" r:id="rId13"/>
    <p:sldLayoutId id="2147483961" r:id="rId14"/>
    <p:sldLayoutId id="2147483976" r:id="rId15"/>
    <p:sldLayoutId id="2147483977" r:id="rId16"/>
    <p:sldLayoutId id="2147483978" r:id="rId17"/>
    <p:sldLayoutId id="2147483979" r:id="rId18"/>
    <p:sldLayoutId id="2147483952" r:id="rId19"/>
    <p:sldLayoutId id="2147483957" r:id="rId20"/>
    <p:sldLayoutId id="2147483956" r:id="rId21"/>
    <p:sldLayoutId id="2147483958" r:id="rId22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96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302" userDrawn="1">
          <p15:clr>
            <a:srgbClr val="A4A3A4"/>
          </p15:clr>
        </p15:guide>
        <p15:guide id="6" orient="horz" pos="527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  <p15:guide id="11" orient="horz" pos="4269" userDrawn="1">
          <p15:clr>
            <a:srgbClr val="A4A3A4"/>
          </p15:clr>
        </p15:guide>
        <p15:guide id="12" orient="horz" pos="6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710619-D609-4ABA-8EC3-1DBA3A476E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7085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9" imgW="444" imgH="443" progId="TCLayout.ActiveDocument.1">
                  <p:embed/>
                </p:oleObj>
              </mc:Choice>
              <mc:Fallback>
                <p:oleObj name="thinkcellスライド" r:id="rId9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710619-D609-4ABA-8EC3-1DBA3A476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52400"/>
            <a:ext cx="11232000" cy="6477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16:9</a:t>
            </a:r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788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4725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75" r:id="rId2"/>
    <p:sldLayoutId id="2147483970" r:id="rId3"/>
    <p:sldLayoutId id="2147483980" r:id="rId4"/>
    <p:sldLayoutId id="2147483981" r:id="rId5"/>
    <p:sldLayoutId id="2147483982" r:id="rId6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8" imgW="444" imgH="443" progId="TCLayout.ActiveDocument.1">
                  <p:embed/>
                </p:oleObj>
              </mc:Choice>
              <mc:Fallback>
                <p:oleObj name="thinkcellスライド" r:id="rId28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5787B"/>
                </a:solidFill>
                <a:latin typeface="+mn-lt"/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  <p:sldLayoutId id="2147484002" r:id="rId16"/>
    <p:sldLayoutId id="2147484003" r:id="rId17"/>
    <p:sldLayoutId id="2147484004" r:id="rId18"/>
    <p:sldLayoutId id="2147484005" r:id="rId19"/>
    <p:sldLayoutId id="2147484006" r:id="rId20"/>
    <p:sldLayoutId id="2147484007" r:id="rId21"/>
    <p:sldLayoutId id="2147484008" r:id="rId22"/>
    <p:sldLayoutId id="2147484009" r:id="rId23"/>
    <p:sldLayoutId id="2147484011" r:id="rId24"/>
    <p:sldLayoutId id="2147484033" r:id="rId25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3" imgW="444" imgH="443" progId="TCLayout.ActiveDocument.1">
                  <p:embed/>
                </p:oleObj>
              </mc:Choice>
              <mc:Fallback>
                <p:oleObj name="thinkcellスライド" r:id="rId2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3157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既存AIアプリ推進の支援イメージ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BX推進部主導のもとITEC様と協力し、既存アプリの公開後の運用（B）と、エージェント型への機能拡張の検証（C）を両輪で支援します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9" y="1097280"/>
            <a:ext cx="2240280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572768"/>
            <a:ext cx="5943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10月以降のAIアプリの運用体制※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1856231"/>
            <a:ext cx="594360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06640" y="1572768"/>
            <a:ext cx="3154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支援イメージ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1856231"/>
            <a:ext cx="315468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698480" y="1572768"/>
            <a:ext cx="101498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0" y="1856231"/>
            <a:ext cx="1014983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5488" y="2240280"/>
            <a:ext cx="685800" cy="822960"/>
          </a:xfrm>
          <a:prstGeom prst="rect">
            <a:avLst/>
          </a:prstGeom>
          <a:solidFill>
            <a:srgbClr val="0D8390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第2線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リスク管理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703320"/>
            <a:ext cx="685800" cy="2011680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第1線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AI活用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推進機能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1965960"/>
            <a:ext cx="4526280" cy="3977639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98448" y="1984248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HHHD（株）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2240280"/>
            <a:ext cx="4343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2258568"/>
            <a:ext cx="20116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情報セキュリティ推進部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セキュリティ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審査チーム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社内規程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作成・更改チーム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15468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ティ規程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54680"/>
            <a:ext cx="8229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社内ルール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として展開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508760" y="3538728"/>
            <a:ext cx="146304" cy="182880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92608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Up Arrow 26"/>
          <p:cNvSpPr/>
          <p:nvPr/>
        </p:nvSpPr>
        <p:spPr>
          <a:xfrm>
            <a:off x="2852928" y="3063240"/>
            <a:ext cx="146304" cy="128016"/>
          </a:xfrm>
          <a:prstGeom prst="up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29184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own Arrow 28"/>
          <p:cNvSpPr/>
          <p:nvPr/>
        </p:nvSpPr>
        <p:spPr>
          <a:xfrm>
            <a:off x="3218688" y="3621024"/>
            <a:ext cx="146304" cy="128016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18288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申請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承認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3749039"/>
            <a:ext cx="2697480" cy="21031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3767328"/>
            <a:ext cx="137160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BX推進部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023360"/>
            <a:ext cx="2423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リスク管理者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08760" y="4389120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AIリスク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チェックリスト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2450592" y="4480560"/>
            <a:ext cx="274320" cy="128016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61488" y="4389120"/>
            <a:ext cx="10972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リスク状況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セルフチェック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4846320"/>
            <a:ext cx="2423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749039"/>
            <a:ext cx="1463040" cy="2103120"/>
          </a:xfrm>
          <a:prstGeom prst="rect">
            <a:avLst/>
          </a:prstGeom>
          <a:solidFill>
            <a:srgbClr val="F3F5F6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3767328"/>
            <a:ext cx="14630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041648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アプリ機能拡張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情報共有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526280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AI開発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担当チーム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5148072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アプリ公開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バックサポート</a:t>
            </a:r>
          </a:p>
        </p:txBody>
      </p:sp>
      <p:sp>
        <p:nvSpPr>
          <p:cNvPr id="44" name="Left-Right Arrow 43"/>
          <p:cNvSpPr/>
          <p:nvPr/>
        </p:nvSpPr>
        <p:spPr>
          <a:xfrm>
            <a:off x="3886200" y="4690872"/>
            <a:ext cx="365760" cy="118872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58768" y="4828032"/>
            <a:ext cx="42062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連携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3520440"/>
            <a:ext cx="1280160" cy="2331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7880" y="3538728"/>
            <a:ext cx="128016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デロイト支援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858768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133087"/>
            <a:ext cx="1097280" cy="621792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改善対応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89204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5166360"/>
            <a:ext cx="1097280" cy="621792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Winアプリの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品質対応</a:t>
            </a:r>
          </a:p>
        </p:txBody>
      </p:sp>
      <p:sp>
        <p:nvSpPr>
          <p:cNvPr id="52" name="Left-Right Arrow 51"/>
          <p:cNvSpPr/>
          <p:nvPr/>
        </p:nvSpPr>
        <p:spPr>
          <a:xfrm>
            <a:off x="5650992" y="4370832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Left-Right Arrow 52"/>
          <p:cNvSpPr/>
          <p:nvPr/>
        </p:nvSpPr>
        <p:spPr>
          <a:xfrm>
            <a:off x="5650992" y="5413248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06640" y="1965960"/>
            <a:ext cx="3154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77272" y="20391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1965960"/>
            <a:ext cx="2743200" cy="1783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エージェント型への機能拡張を3つの仮説で検証し、拡大版への取り込みを判断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自己検証ループ型の壁打ち（既存機能の高度化）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計画の前提ウォッチャー（新機能）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週次ブリーフの自動作成（新機能）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検証環境で試作し、10月初版には影響を与えない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12月末の到達点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3仮説の評価結果と、拡大版への取り込み判断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詳細：P13・P13-2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767328"/>
            <a:ext cx="31546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▲ Cの試作評価 → Bの拡大版　　▼ Bの利用実態 → Cの改善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4023360"/>
            <a:ext cx="315468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77272" y="40965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023360"/>
            <a:ext cx="2743200" cy="1938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公開後の3か月を「立ち上げ・定着・自走」の3局面で技術支援し、拡大版（年末〜1月の対象拡大リリース）へ繋ぐ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不具合の切り分け・修正案の提供、初版の取り込み範囲の整理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回答品質の物差しと、利用実態に基づく改修優先順位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回帰テスト・変更管理の型と、ITEC様への保守性の引継ぎ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12月末の到達点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拡大版を貴社・ITEC様主体で運用できる状態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詳細：次頁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2578608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シンロン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98480" y="4709160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" y="6144768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出所：阪急阪神ホールディングス様提供資料「HHHD_AIガバナンスプロセス_v01_20260826Deloitte初版.pptx」2-2. BX推進部内AIガバナンス体制案より一部改変。デロイト支援の2領域は、ITEC様のAI開発担当チームと連携して実施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既存AIアプリ推進の課題・ニーズと支援内容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公開後の3か月で貴社が直面する課題は「立ち上げ・定着・自走」の3局面に集約され、各局面で作った側にしか担えない技術支援を提供します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572768"/>
          <a:ext cx="11237976" cy="458114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657600"/>
                <a:gridCol w="3657600"/>
                <a:gridCol w="236829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局面（時期）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貴社の課題・ニーズ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デロイトの実施事項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付加価値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立ち上げ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10月：移行判定 → 初版セキュア公開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統合テストで判明する事象のうち、AI固有の挙動（プロンプト・検索・外部取得）の切り分け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初版に含めるFIX後改修の範囲の判断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実データ配置と運用ルール（定期取得・受け渡し箱）の確定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不具合の切り分けと修正案・パッチの提供（適用はITEC様）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改修の影響・工数を整理し、初版／拡大版へ振り分け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実データ配置の伴走と運用ルールの設計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公開遅延リスクを最小化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作った側にしか分からない挙動へ即応し、ITEC様の初動負荷を下げる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2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定着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10〜11月：限定ユーザーでの利用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役員・経営企画が使い続けるかの見極め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「実務に足る」品質の基準と、改修の優先順位づけ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総会QA公開の前提となる権限の確定・検証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貴社から受領する伏字化済みログ・利用者評価の分析と、改修バックログの優先順位づけ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回答品質の物差し（10観点・数値検算）による定点評価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総会QA権限の検証支援、利用ガイドとハンズオン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「使われないPoC」化を回避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拡大版に載せる改修を、感覚ではなく利用データで選べる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3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自走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12月〜：対象拡大と定常運用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拡大版に向けた権限・オンボーディング・回帰テストの整備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プロンプト・モデル更新の変更管理と、第2線への説明の型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PoC段階（速度優先）の構造を、運用向け（保守性優先）に整える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拡大版リリース計画の策定支援と、回帰テストの型の整備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変更管理・プロンプト管理の手順化、AIリスクチェックリスト対応の技術説明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保守性改善のバックログ化とドキュメントの継続更新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貴社・ITEC様主体で運用できる状態に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ITEC様の保守負荷を下げ、横展開（Phase3）の下地を作る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6236208"/>
            <a:ext cx="1123797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課題は第12回週次報告（9/24）時点の「主なリスクと課題」および移行判定に向けた論点を踏まえて整理。局面は重なり合い、時期は目安。拡大版＝年末〜1月の対象拡大時のリリース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AI Agent追加検証：導入価値と機能仮説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初期仮説のPROCESSを実現するため、エージェント型に「確かめる・計算する・自ら回す」を担わせ、3つの仮説で検証します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36192"/>
            <a:ext cx="54864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経営管理AI 初期仮説（P13）と現行アプリの到達点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92224"/>
            <a:ext cx="3623767" cy="6583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INPUT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経営管理データ・公開情報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整備済み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監視指標12年分・社内資料・指定サイト約220</a:t>
            </a:r>
          </a:p>
        </p:txBody>
      </p:sp>
      <p:sp>
        <p:nvSpPr>
          <p:cNvPr id="9" name="Chevron 8"/>
          <p:cNvSpPr/>
          <p:nvPr/>
        </p:nvSpPr>
        <p:spPr>
          <a:xfrm>
            <a:off x="4131259" y="2029968"/>
            <a:ext cx="118872" cy="182880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2135" y="1792224"/>
            <a:ext cx="3623767" cy="658368"/>
          </a:xfrm>
          <a:prstGeom prst="rect">
            <a:avLst/>
          </a:prstGeom>
          <a:solidFill>
            <a:srgbClr val="FBECEE"/>
          </a:solidFill>
          <a:ln w="15875">
            <a:solidFill>
              <a:srgbClr val="C9242B"/>
            </a:solidFill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PROCESS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データ集計・シナリオ／リスク分析・将来予測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根拠を読んで答える段階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次に埋めるギャップ3つ</a:t>
            </a:r>
          </a:p>
        </p:txBody>
      </p:sp>
      <p:sp>
        <p:nvSpPr>
          <p:cNvPr id="11" name="Chevron 10"/>
          <p:cNvSpPr/>
          <p:nvPr/>
        </p:nvSpPr>
        <p:spPr>
          <a:xfrm>
            <a:off x="7937906" y="2029968"/>
            <a:ext cx="118872" cy="182880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8782" y="1792224"/>
            <a:ext cx="3623767" cy="6583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OUTPUT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分析結果・意思決定材料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形は整った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会話・分析レポート・スライド出力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560320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エージェント型＝</a:t>
            </a:r>
            <a:r>
              <a:rPr sz="9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目的を与えると、AIが手順を決め、道具（検索・計算・検証）を使い、確かめてから答える／動く。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PROCESSの3つのギャップを、それぞれ1つの仮説で埋める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1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確かめない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根拠と数値の照合を自分で行わず、足りない根拠を取りに戻れない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86787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1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既存機能の高度化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4855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価値：正確さ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自己検証ループ型の壁打ち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計画→探索→根拠と数値の検算を繰り返し、根拠が揃ってから答える。壁打ちから計画点検・生成資料の検証へ適用を広げる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根拠との一致（数値・記述）／根拠の網羅性／所要時間／費用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2135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2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計算しない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資料に書かれた数字しか出せず、「感応度の数値は資料に無い」で止まる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93434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2135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2135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2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新機能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1502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価値：分析力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2135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計画の前提ウォッチャー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計画書から前提（為替・訪日客・人件費…）を抽出して台帳化し、監視指標と常時照合。崩れた前提の影響額を数値計画の構造に沿って試算し、分析レポートとスライドで届ける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前提抽出の網羅性／影響額の妥当性／検知から報告までの時間／誤検知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8782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3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問われないと動かない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指標・競合巡回・SNSの材料は揃うが、束ねて読む作業は人任せ（「情報が古新聞」の根）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00082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8782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8782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3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新機能（1・2の組み合わせ）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98149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価値：継続性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8782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週次ブリーフの自動作成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毎週月曜、AIが変化を拾い、調べ、検算し、「今週の変化／崩れた前提／自社への効き方／想定される質問」を分析レポートとスライドで届ける。当面はBX推進部の確認後に役員へ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読む価値（役員・経営企画の評価）／見落とし・誤報／作成時間の削減／費用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6053328"/>
            <a:ext cx="1123797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仮説2の影響額は数値計画の構造に沿った概算であり、経営企画の精緻な再計算を置き換えるものではない。仮説3の配信は当面BX推進部の確認を経る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5760720"/>
            <a:ext cx="1123797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AIと人の分担・自社で持つ理由は初期仮説（P13）のとおり　</a:t>
            </a:r>
            <a:r>
              <a:rPr sz="8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AIは分析・示唆・不足データの提示まで、意思決定と実行は人。閉じた根拠と人の承認を前提にした設計は、汎用AIのエージェントでは代替できない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AI Agent追加検証：実装アプローチと進め方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検証は現行構成の延長で安全に進め、専用基盤は本番化の選択肢として比較評価します。出口は12月の拡大版への取り込み判断です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70408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実装基盤：2つの選択肢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901952"/>
          <a:ext cx="7040880" cy="2523744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2834640"/>
                <a:gridCol w="2834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観点</a:t>
                      </a:r>
                    </a:p>
                  </a:txBody>
                  <a:tcPr marL="73152" marT="45720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A　現行構成の延長（自前ループ）</a:t>
                      </a:r>
                    </a:p>
                  </a:txBody>
                  <a:tcPr marL="73152" marT="45720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B　専用基盤（Bedrock AgentCore 等）</a:t>
                      </a:r>
                    </a:p>
                  </a:txBody>
                  <a:tcPr marL="73152" marT="45720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仕組み</a:t>
                      </a:r>
                    </a:p>
                  </a:txBody>
                  <a:tcPr marL="73152" marT="45720" marR="73152" marB="36576" anchor="t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Bedrock Converse APIのツール呼び出しで、「LLMが次の手を決める→アプリがツールを実行→結果を返す」の反復をアプリ側のコードで制御</a:t>
                      </a:r>
                    </a:p>
                  </a:txBody>
                  <a:tcPr marL="73152" marT="45720" marR="73152" marB="36576" anchor="t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ループ制御・メモリ・ツール管理・トレースを備えたエージェント実行基盤に乗せる</a:t>
                      </a:r>
                    </a:p>
                  </a:txBody>
                  <a:tcPr marL="73152" marT="45720" marR="73152" marB="36576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新規インフラ・審査</a:t>
                      </a:r>
                    </a:p>
                  </a:txBody>
                  <a:tcPr marL="73152" marT="45720" marR="73152" marB="36576" anchor="t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不要。EC2＋Bedrockの現構成、閉域・許可リスト・ログ・エラーIDをそのまま流用</a:t>
                      </a:r>
                    </a:p>
                  </a:txBody>
                  <a:tcPr marL="73152" marT="45720" marR="73152" marB="36576" anchor="t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新しいAWSサービス／ライブラリの利用開始が必要。第2線のセキュリティ審査を新たに通す</a:t>
                      </a:r>
                    </a:p>
                  </a:txBody>
                  <a:tcPr marL="73152" marT="45720" marR="73152" marB="36576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保守（ITEC様）</a:t>
                      </a:r>
                    </a:p>
                  </a:txBody>
                  <a:tcPr marL="73152" marT="45720" marR="73152" marB="36576" anchor="t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既存コードの延長で、引継ぎ済みの知識で保守できる</a:t>
                      </a:r>
                    </a:p>
                  </a:txBody>
                  <a:tcPr marL="73152" marT="45720" marR="73152" marB="36576" anchor="t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未知の部品が増える。基盤の仕様変更に追随が必要</a:t>
                      </a:r>
                    </a:p>
                  </a:txBody>
                  <a:tcPr marL="73152" marT="45720" marR="73152" marB="36576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着手・速さ</a:t>
                      </a:r>
                    </a:p>
                  </a:txBody>
                  <a:tcPr marL="73152" marT="45720" marR="73152" marB="36576" anchor="t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10月から即着手できる。試作がそのまま本番構成に近い</a:t>
                      </a:r>
                    </a:p>
                  </a:txBody>
                  <a:tcPr marL="73152" marT="45720" marR="73152" marB="36576" anchor="t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審査・環境構築の期間が先に必要</a:t>
                      </a:r>
                    </a:p>
                  </a:txBody>
                  <a:tcPr marL="73152" marT="45720" marR="73152" marB="36576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Phase2での扱い</a:t>
                      </a:r>
                    </a:p>
                  </a:txBody>
                  <a:tcPr marL="73152" marT="45720" marR="73152" marB="36576" anchor="t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採用</a:t>
                      </a: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　3仮説の試作はこの方式で検証</a:t>
                      </a:r>
                    </a:p>
                  </a:txBody>
                  <a:tcPr marL="73152" marT="45720" marR="73152" marB="36576" anchor="t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950" b="1" i="0" lang="ja-JP" altLang="en-US">
                          <a:solidFill>
                            <a:srgbClr val="53565A"/>
                          </a:solidFill>
                          <a:latin typeface="Yu Gothic"/>
                          <a:ea typeface="Yu Gothic"/>
                        </a:rPr>
                        <a:t>比較評価</a:t>
                      </a: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　審査要件・コスト・保守性・ロックインを机上比較し、本番化時の選択肢として提示</a:t>
                      </a:r>
                    </a:p>
                  </a:txBody>
                  <a:tcPr marL="73152" marT="45720" marR="73152" marB="36576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" y="4498848"/>
            <a:ext cx="70408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ガバナンス設計：エージェントに与える権限の線引き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4791456"/>
            <a:ext cx="7040880" cy="1060704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t" wrap="square" lIns="109728" tIns="54864" rIns="109728" bIns="36576">
            <a:noAutofit/>
          </a:bodyPr>
          <a:lstStyle/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権限は「読む・下書きする」まで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通知・台帳登録・資料の確定は提案止まりとし、人が承認する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計算は閉じたサンドボックスで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外部通信なし・読み取り専用で実行し、データの書き換えはしない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定期実行で作る資料は下書き扱い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人の確認を経て配布し、精度が確認できてから自動掲示に切り替える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すべての手を記録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ツール呼び出しごとに入出力・所要・費用をログとエラーIDに残し、あとから追える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上限を設ける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1回の実行にステップ数・時間・トークンの上限を置き、暴走と費用の膨張を防ぐ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572768"/>
            <a:ext cx="394106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検証の進め方：仮説ごとに同じ型で回す</a:t>
            </a:r>
          </a:p>
        </p:txBody>
      </p:sp>
      <p:sp>
        <p:nvSpPr>
          <p:cNvPr id="12" name="Pentagon 11"/>
          <p:cNvSpPr/>
          <p:nvPr/>
        </p:nvSpPr>
        <p:spPr>
          <a:xfrm>
            <a:off x="7772400" y="1920240"/>
            <a:ext cx="1051560" cy="475488"/>
          </a:xfrm>
          <a:prstGeom prst="homePlate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機能提案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1920240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利用シーン・仕様・評価方法を提示し合意</a:t>
            </a:r>
          </a:p>
        </p:txBody>
      </p:sp>
      <p:sp>
        <p:nvSpPr>
          <p:cNvPr id="14" name="Pentagon 13"/>
          <p:cNvSpPr/>
          <p:nvPr/>
        </p:nvSpPr>
        <p:spPr>
          <a:xfrm>
            <a:off x="7772400" y="2487168"/>
            <a:ext cx="1051560" cy="475488"/>
          </a:xfrm>
          <a:prstGeom prst="homePlate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試作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1.5〜2週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2487168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検証環境に実装（初版には触れない）</a:t>
            </a:r>
          </a:p>
        </p:txBody>
      </p:sp>
      <p:sp>
        <p:nvSpPr>
          <p:cNvPr id="16" name="Pentagon 15"/>
          <p:cNvSpPr/>
          <p:nvPr/>
        </p:nvSpPr>
        <p:spPr>
          <a:xfrm>
            <a:off x="7772400" y="3054096"/>
            <a:ext cx="1051560" cy="475488"/>
          </a:xfrm>
          <a:prstGeom prst="homePlat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評価・改善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3054096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同一質問セットで前後比較し、利用フィードバックを反映して仕上げる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639312"/>
            <a:ext cx="3941063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評価軸（4つ）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9136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品質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根拠との一致（数値・記述）・網羅性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2" y="39136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速さ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体感の所要時間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3708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コスト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トークン費用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1512" y="43708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運用性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ITEC様が保守できるか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873752"/>
            <a:ext cx="3941063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Sprintの順序：仮説1→2→3、各3〜4週</a:t>
            </a:r>
          </a:p>
        </p:txBody>
      </p:sp>
      <p:sp>
        <p:nvSpPr>
          <p:cNvPr id="24" name="Chevron 23"/>
          <p:cNvSpPr/>
          <p:nvPr/>
        </p:nvSpPr>
        <p:spPr>
          <a:xfrm>
            <a:off x="7772400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S1 仮説1</a:t>
            </a:r>
          </a:p>
        </p:txBody>
      </p:sp>
      <p:sp>
        <p:nvSpPr>
          <p:cNvPr id="25" name="Chevron 24"/>
          <p:cNvSpPr/>
          <p:nvPr/>
        </p:nvSpPr>
        <p:spPr>
          <a:xfrm>
            <a:off x="8764524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S2 仮説2</a:t>
            </a:r>
          </a:p>
        </p:txBody>
      </p:sp>
      <p:sp>
        <p:nvSpPr>
          <p:cNvPr id="26" name="Chevron 25"/>
          <p:cNvSpPr/>
          <p:nvPr/>
        </p:nvSpPr>
        <p:spPr>
          <a:xfrm>
            <a:off x="9756648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S3 仮説3</a:t>
            </a:r>
          </a:p>
        </p:txBody>
      </p:sp>
      <p:sp>
        <p:nvSpPr>
          <p:cNvPr id="27" name="Chevron 26"/>
          <p:cNvSpPr/>
          <p:nvPr/>
        </p:nvSpPr>
        <p:spPr>
          <a:xfrm>
            <a:off x="10748772" y="5138928"/>
            <a:ext cx="964692" cy="365760"/>
          </a:xfrm>
          <a:prstGeom prst="chevron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取り込み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5532120"/>
            <a:ext cx="3941063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1の検算が2・3の土台、2の計算が3の数値部分になるため、この順で積む。各Sprintの最終週で評価・改善まで行い、12月中旬から本番取り込み設計・引継ぎ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5943600"/>
            <a:ext cx="11237976" cy="41148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37160" tIns="27432" rIns="137160" bIns="27432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Phase2の出口　</a:t>
            </a:r>
            <a:r>
              <a:rPr sz="9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12月の最終報告で、仮説ごとに「拡大版（12月〜1月）に取り込む／Phase3へ回す」を評価結果つきで判断。取り込みの時期はITEC様の工数と合わせて決定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タスク一覧と役割分担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10月は公開の立ち上げ、11月は定着と検証、12月は自走準備と取り込み判断に力点を置き、B・Cを同じ時間軸で進めます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9" y="1097280"/>
            <a:ext cx="2240280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5648" y="1572768"/>
            <a:ext cx="3197352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bIns="0">
            <a:noAutofit/>
          </a:bodyPr>
          <a:lstStyle/>
          <a:p>
            <a:pPr algn="l"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10月</a:t>
            </a:r>
            <a:r>
              <a:rPr sz="9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立ち上げ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5992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8328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0664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4440" y="1572768"/>
            <a:ext cx="3197352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bIns="0">
            <a:noAutofit/>
          </a:bodyPr>
          <a:lstStyle/>
          <a:p>
            <a:pPr algn="l"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11月</a:t>
            </a:r>
            <a:r>
              <a:rPr sz="9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定着・検証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34784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7120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9456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3232" y="1572768"/>
            <a:ext cx="3197352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bIns="0">
            <a:noAutofit/>
          </a:bodyPr>
          <a:lstStyle/>
          <a:p>
            <a:pPr algn="l"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</a:t>
            </a:r>
            <a:r>
              <a:rPr sz="9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自走準備・取り込み判断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23576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25912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28248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1572768"/>
            <a:ext cx="1188720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121408"/>
            <a:ext cx="11237976" cy="15727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99" y="2450591"/>
            <a:ext cx="310896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34639"/>
            <a:ext cx="1042416" cy="45720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5488" y="3694176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5488" y="3749039"/>
            <a:ext cx="11237976" cy="15727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399" y="4078224"/>
            <a:ext cx="310896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62272"/>
            <a:ext cx="1042416" cy="45720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" y="5321807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75488" y="5376672"/>
            <a:ext cx="11237976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5376672"/>
            <a:ext cx="1188720" cy="8412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共通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5488" y="6217920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55648" y="221284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55648" y="221284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B1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公開前支援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10月上旬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修正案・パッチ／取り込み範囲案／運用ルール案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5992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8328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664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294436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294436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B2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初版フォロー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10月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課題対応記録／拡大版改修リスト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5992" y="294436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8328" y="294436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664" y="294436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44440" y="221284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44440" y="221284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B3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利用定着・品質評価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/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利用状況分析／改修バックログ（優先順位付き）／利用ガイド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34784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7120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39456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3232" y="221284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33232" y="221284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B4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拡大・自走準備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/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回帰テスト一式／変更管理手順／更新ドキュメント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23576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25912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28248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55648" y="384047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55648" y="384047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C1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1｜仮説1 自己検証ループ型の壁打ち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10/1〜23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機能提案書／試作（検証環境）／評価結果（各Sprint共通）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5992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48328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50664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44440" y="384047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44440" y="384047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C2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2｜仮説2 計画の前提ウォッチャー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10/26〜11/13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同上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34784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37120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39456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44440" y="457199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44440" y="457199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C3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3｜仮説3 週次ブリーフの自動作成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11/16〜12/11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同上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34784" y="457199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7120" y="457199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39456" y="457199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3232" y="384047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33232" y="384047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C4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本番取り込み設計・引継ぎ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12/14〜25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評価結果（3仮説の総括）／取り込み設計書／基盤比較評価／引継ぎ資料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23576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25912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28248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55648" y="5468112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55648" y="5468112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週次定例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通期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週次報告資料（進捗・評価結果・論点）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5992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48328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50664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44440" y="5468112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44440" y="5468112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中間報告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11月中旬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中間報告書（Bの利用実態、C仮説1・2の評価、仮説3の設計）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34784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37120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39456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33232" y="5468112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33232" y="5468112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最終報告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12月下旬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最終報告書（拡大版への取り込み判断、Phase3の論点）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23576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25912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28248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5488" y="6318503"/>
            <a:ext cx="1123797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◎ 実施主体　○ 参画・確認（情報共有を含む）　— 対象外　　</a:t>
            </a: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タスクの内容はP2（B）・P3（C）参照。Bの時期は貴社主体の公開スケジュールに合わせて調整。Cの試作は検証環境で行い、10月初版には影響を与えない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スケジュール案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前述のスコープを2026/10/1〜12/25の約3か月で推進し、12月の最終報告で拡大版への取り込みを判断します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8732520" y="1051560"/>
            <a:ext cx="2980944" cy="329184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支援期間：2026/10/1 – 2026/12/25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5768" y="1572768"/>
            <a:ext cx="3460652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5768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7898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00028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2159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4289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5W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420" y="1572768"/>
            <a:ext cx="2768521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11月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6420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68550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0681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2811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4942" y="1572768"/>
            <a:ext cx="2768521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4942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7072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29203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21333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15768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07898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00028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92159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4289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76420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68550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60681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52811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44942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37072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329203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021333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713464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76420" y="2093976"/>
            <a:ext cx="0" cy="3511296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944942" y="2093976"/>
            <a:ext cx="0" cy="3511296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75488" y="2093976"/>
            <a:ext cx="2240280" cy="38404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マイルストーン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5488" y="247802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75488" y="2478024"/>
            <a:ext cx="2240280" cy="5669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貴社主体（ITEC様含む）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5488" y="304495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21208" y="3332988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3332988"/>
            <a:ext cx="1847088" cy="292608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5488" y="391363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21208" y="4407408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4407408"/>
            <a:ext cx="1847088" cy="292608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5488" y="519379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75488" y="5193792"/>
            <a:ext cx="2240280" cy="3657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共通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75488" y="555955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5488" y="2093976"/>
            <a:ext cx="11237976" cy="0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3464028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6052" y="2093976"/>
            <a:ext cx="21945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10/5 初版セキュア公開（限定ユーザー）</a:t>
            </a:r>
          </a:p>
        </p:txBody>
      </p:sp>
      <p:sp>
        <p:nvSpPr>
          <p:cNvPr id="53" name="Diamond 52"/>
          <p:cNvSpPr/>
          <p:nvPr/>
        </p:nvSpPr>
        <p:spPr>
          <a:xfrm>
            <a:off x="7478385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70409" y="2093976"/>
            <a:ext cx="21945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中間報告（11月中旬）</a:t>
            </a:r>
          </a:p>
        </p:txBody>
      </p:sp>
      <p:sp>
        <p:nvSpPr>
          <p:cNvPr id="55" name="Diamond 54"/>
          <p:cNvSpPr/>
          <p:nvPr/>
        </p:nvSpPr>
        <p:spPr>
          <a:xfrm>
            <a:off x="11561954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32570" y="2093976"/>
            <a:ext cx="192024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最終報告・取り込み判断（12月下旬）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43200" y="2532888"/>
            <a:ext cx="3405788" cy="457200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初版の限定利用（BX推進部・一部役員）・問合せ対応</a:t>
            </a:r>
          </a:p>
        </p:txBody>
      </p:sp>
      <p:sp>
        <p:nvSpPr>
          <p:cNvPr id="58" name="Pentagon 57"/>
          <p:cNvSpPr/>
          <p:nvPr/>
        </p:nvSpPr>
        <p:spPr>
          <a:xfrm>
            <a:off x="6203852" y="2532888"/>
            <a:ext cx="2713657" cy="457200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利用・フィードバック／総会QA権限の確定</a:t>
            </a:r>
          </a:p>
        </p:txBody>
      </p:sp>
      <p:sp>
        <p:nvSpPr>
          <p:cNvPr id="59" name="Pentagon 58"/>
          <p:cNvSpPr/>
          <p:nvPr/>
        </p:nvSpPr>
        <p:spPr>
          <a:xfrm>
            <a:off x="8972374" y="2532888"/>
            <a:ext cx="2713657" cy="457200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拡大版の準備 → 年末〜1月に対象拡大</a:t>
            </a:r>
          </a:p>
        </p:txBody>
      </p:sp>
      <p:sp>
        <p:nvSpPr>
          <p:cNvPr id="60" name="Pentagon 59"/>
          <p:cNvSpPr/>
          <p:nvPr/>
        </p:nvSpPr>
        <p:spPr>
          <a:xfrm>
            <a:off x="2743200" y="3099816"/>
            <a:ext cx="914118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公開前支援</a:t>
            </a:r>
          </a:p>
        </p:txBody>
      </p:sp>
      <p:sp>
        <p:nvSpPr>
          <p:cNvPr id="61" name="Pentagon 60"/>
          <p:cNvSpPr/>
          <p:nvPr/>
        </p:nvSpPr>
        <p:spPr>
          <a:xfrm>
            <a:off x="3712182" y="3099816"/>
            <a:ext cx="2436805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初版フォロー（不具合対応・拡大版に回す改修の整理）</a:t>
            </a:r>
          </a:p>
        </p:txBody>
      </p:sp>
      <p:sp>
        <p:nvSpPr>
          <p:cNvPr id="62" name="Pentagon 61"/>
          <p:cNvSpPr/>
          <p:nvPr/>
        </p:nvSpPr>
        <p:spPr>
          <a:xfrm>
            <a:off x="6203852" y="3099816"/>
            <a:ext cx="2713657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利用定着・品質評価（ログ分析・改修優先順位・総会QA権限検証）</a:t>
            </a:r>
          </a:p>
        </p:txBody>
      </p:sp>
      <p:sp>
        <p:nvSpPr>
          <p:cNvPr id="63" name="Pentagon 62"/>
          <p:cNvSpPr/>
          <p:nvPr/>
        </p:nvSpPr>
        <p:spPr>
          <a:xfrm>
            <a:off x="8972374" y="3099816"/>
            <a:ext cx="2713657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拡大・自走準備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3506724"/>
            <a:ext cx="8942832" cy="352044"/>
          </a:xfrm>
          <a:prstGeom prst="rect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改修バックログの管理・ドキュメント更新（継続）</a:t>
            </a:r>
          </a:p>
        </p:txBody>
      </p:sp>
      <p:sp>
        <p:nvSpPr>
          <p:cNvPr id="65" name="Chevron 64"/>
          <p:cNvSpPr/>
          <p:nvPr/>
        </p:nvSpPr>
        <p:spPr>
          <a:xfrm>
            <a:off x="2743200" y="3968496"/>
            <a:ext cx="741086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66" name="Chevron 65"/>
          <p:cNvSpPr/>
          <p:nvPr/>
        </p:nvSpPr>
        <p:spPr>
          <a:xfrm>
            <a:off x="3539150" y="3968496"/>
            <a:ext cx="1917707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67" name="Pentagon 66"/>
          <p:cNvSpPr/>
          <p:nvPr/>
        </p:nvSpPr>
        <p:spPr>
          <a:xfrm>
            <a:off x="2743200" y="4376928"/>
            <a:ext cx="2713657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1｜仮説1 自己検証ループ型の壁打ち（10/1〜23）</a:t>
            </a:r>
          </a:p>
        </p:txBody>
      </p:sp>
      <p:sp>
        <p:nvSpPr>
          <p:cNvPr id="68" name="Chevron 67"/>
          <p:cNvSpPr/>
          <p:nvPr/>
        </p:nvSpPr>
        <p:spPr>
          <a:xfrm>
            <a:off x="5511721" y="3968496"/>
            <a:ext cx="741086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69" name="Chevron 68"/>
          <p:cNvSpPr/>
          <p:nvPr/>
        </p:nvSpPr>
        <p:spPr>
          <a:xfrm>
            <a:off x="6307671" y="3968496"/>
            <a:ext cx="1225577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0" name="Pentagon 69"/>
          <p:cNvSpPr/>
          <p:nvPr/>
        </p:nvSpPr>
        <p:spPr>
          <a:xfrm>
            <a:off x="5511721" y="4376928"/>
            <a:ext cx="2021527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2｜仮説2 計画の前提ウォッチャー（10/26〜11/13）</a:t>
            </a:r>
          </a:p>
        </p:txBody>
      </p:sp>
      <p:sp>
        <p:nvSpPr>
          <p:cNvPr id="71" name="Chevron 70"/>
          <p:cNvSpPr/>
          <p:nvPr/>
        </p:nvSpPr>
        <p:spPr>
          <a:xfrm>
            <a:off x="7588113" y="3968496"/>
            <a:ext cx="741086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72" name="Chevron 71"/>
          <p:cNvSpPr/>
          <p:nvPr/>
        </p:nvSpPr>
        <p:spPr>
          <a:xfrm>
            <a:off x="8384063" y="3968496"/>
            <a:ext cx="1917707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3" name="Pentagon 72"/>
          <p:cNvSpPr/>
          <p:nvPr/>
        </p:nvSpPr>
        <p:spPr>
          <a:xfrm>
            <a:off x="7588113" y="4376928"/>
            <a:ext cx="2713657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3｜仮説3 週次ブリーフの自動作成（11/16〜12/11）</a:t>
            </a:r>
          </a:p>
        </p:txBody>
      </p:sp>
      <p:sp>
        <p:nvSpPr>
          <p:cNvPr id="74" name="Pentagon 73"/>
          <p:cNvSpPr/>
          <p:nvPr/>
        </p:nvSpPr>
        <p:spPr>
          <a:xfrm>
            <a:off x="10356635" y="3968496"/>
            <a:ext cx="1329396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本番取り込み設計・引継ぎ</a:t>
            </a:r>
          </a:p>
        </p:txBody>
      </p:sp>
      <p:sp>
        <p:nvSpPr>
          <p:cNvPr id="75" name="Pentagon 74"/>
          <p:cNvSpPr/>
          <p:nvPr/>
        </p:nvSpPr>
        <p:spPr>
          <a:xfrm>
            <a:off x="10356635" y="4376928"/>
            <a:ext cx="1329396" cy="353568"/>
          </a:xfrm>
          <a:prstGeom prst="homePlate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基盤の比較評価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0" y="4785360"/>
            <a:ext cx="8942832" cy="353568"/>
          </a:xfrm>
          <a:prstGeom prst="rect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各Sprintの評価結果を週次定例で共有し、拡大版への取り込み候補を更新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5248655"/>
            <a:ext cx="8942832" cy="256032"/>
          </a:xfrm>
          <a:prstGeom prst="rect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週次定例（進捗・評価結果・論点の協議）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" y="5715000"/>
            <a:ext cx="1371600" cy="475488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前提・お願い事項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47088" y="5715000"/>
            <a:ext cx="9866376" cy="47548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18288" bIns="18288">
            <a:noAutofit/>
          </a:bodyPr>
          <a:lstStyle/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計画書・予算編成方針の実データ配置（10月上旬。仮説2の前提）</a:t>
            </a:r>
          </a:p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仮説2の評価に用いる経営企画の試算済みケース1〜2件、仮説3の比較対象となる現行の週次資料の有無</a:t>
            </a:r>
          </a:p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拡大版への取り込み工数（ITEC様）と、取り込み時の第2線セキュリティ審査の窓口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5488" y="6336792"/>
            <a:ext cx="292608" cy="146304"/>
          </a:xfrm>
          <a:prstGeom prst="rect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2" y="6281928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デロイト主体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38528" y="6336792"/>
            <a:ext cx="292608" cy="146304"/>
          </a:xfrm>
          <a:prstGeom prst="rect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67712" y="628192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貴社主体（ITEC様含む）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6227064"/>
            <a:ext cx="7507224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貴社主体の公開・拡大スケジュールは弊社想定のため、貴社スケジュールに併せて対応します。Sprintの区切りは目安。中間・最終報告は貴社の役員報告・経営会議の日程に合わせて設定します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41"/>
  <p:tag name="EE4P_STYLE_ID" val="076a8867-8b72-4914-890a-d2f9a5d03d99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507">
  <a:themeElements>
    <a:clrScheme name="Deloitte2025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8E462FA6-9B00-4E7F-BFC0-B6BC63B792EF}"/>
    </a:ext>
  </a:extLst>
</a:theme>
</file>

<file path=ppt/theme/theme2.xml><?xml version="1.0" encoding="utf-8"?>
<a:theme xmlns:a="http://schemas.openxmlformats.org/drawingml/2006/main" name="DT Template_16:9_J_202507_基本版②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EC5F9899-8C00-41A7-90E2-1AA9CB841817}"/>
    </a:ext>
  </a:extLst>
</a:theme>
</file>

<file path=ppt/theme/theme3.xml><?xml version="1.0" encoding="utf-8"?>
<a:theme xmlns:a="http://schemas.openxmlformats.org/drawingml/2006/main" name="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4.xml><?xml version="1.0" encoding="utf-8"?>
<a:theme xmlns:a="http://schemas.openxmlformats.org/drawingml/2006/main" name="1_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4429DF024E5448FC59C7B7B43C1AC" ma:contentTypeVersion="11" ma:contentTypeDescription="Create a new document." ma:contentTypeScope="" ma:versionID="acb135f8ac1bd7cde167a21f1321cadb">
  <xsd:schema xmlns:xsd="http://www.w3.org/2001/XMLSchema" xmlns:xs="http://www.w3.org/2001/XMLSchema" xmlns:p="http://schemas.microsoft.com/office/2006/metadata/properties" xmlns:ns2="736c8bd6-b1a7-463d-a242-abcb0c1a3ab7" xmlns:ns3="25a5c49f-f1be-44ee-b7a9-954566e675d2" targetNamespace="http://schemas.microsoft.com/office/2006/metadata/properties" ma:root="true" ma:fieldsID="72c5b997e5e4c90e17cc0c94290d5872" ns2:_="" ns3:_="">
    <xsd:import namespace="736c8bd6-b1a7-463d-a242-abcb0c1a3ab7"/>
    <xsd:import namespace="25a5c49f-f1be-44ee-b7a9-954566e67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c8bd6-b1a7-463d-a242-abcb0c1a3a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5c49f-f1be-44ee-b7a9-954566e675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a2c12e-9cd8-4bdc-a214-d5fe3fdc3985}" ma:internalName="TaxCatchAll" ma:showField="CatchAllData" ma:web="25a5c49f-f1be-44ee-b7a9-954566e67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c8bd6-b1a7-463d-a242-abcb0c1a3ab7">
      <Terms xmlns="http://schemas.microsoft.com/office/infopath/2007/PartnerControls"/>
    </lcf76f155ced4ddcb4097134ff3c332f>
    <TaxCatchAll xmlns="25a5c49f-f1be-44ee-b7a9-954566e675d2" xsi:nil="true"/>
  </documentManagement>
</p:properties>
</file>

<file path=customXml/itemProps1.xml><?xml version="1.0" encoding="utf-8"?>
<ds:datastoreItem xmlns:ds="http://schemas.openxmlformats.org/officeDocument/2006/customXml" ds:itemID="{6F2A2CF3-6367-444C-AA09-0D41A3DD392F}">
  <ds:schemaRefs>
    <ds:schemaRef ds:uri="25a5c49f-f1be-44ee-b7a9-954566e675d2"/>
    <ds:schemaRef ds:uri="736c8bd6-b1a7-463d-a242-abcb0c1a3a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C562D3-14B2-4A04-B255-084073502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75EE8-E51D-4422-BE39-CF7C0336777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25a5c49f-f1be-44ee-b7a9-954566e675d2"/>
    <ds:schemaRef ds:uri="736c8bd6-b1a7-463d-a242-abcb0c1a3ab7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2409</Words>
  <Application>Microsoft Office PowerPoint</Application>
  <PresentationFormat>ワイド画面</PresentationFormat>
  <Paragraphs>351</Paragraphs>
  <Slides>14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Yu Gothic UI</vt:lpstr>
      <vt:lpstr>游ゴシック</vt:lpstr>
      <vt:lpstr>Aptos</vt:lpstr>
      <vt:lpstr>Arial</vt:lpstr>
      <vt:lpstr>Calibri</vt:lpstr>
      <vt:lpstr>Verdana</vt:lpstr>
      <vt:lpstr>Wingdings</vt:lpstr>
      <vt:lpstr>Wingdings 2</vt:lpstr>
      <vt:lpstr>DT Template_16:9_J_202507</vt:lpstr>
      <vt:lpstr>DT Template_16:9_J_202507_基本版②</vt:lpstr>
      <vt:lpstr>DT Template_16:9_J_202401</vt:lpstr>
      <vt:lpstr>1_DT Template_16:9_J_202401</vt:lpstr>
      <vt:lpstr>thinkcellスライド</vt:lpstr>
      <vt:lpstr>think-cell スライド</vt:lpstr>
      <vt:lpstr>PowerPoint プレゼンテーション</vt:lpstr>
      <vt:lpstr>本日のアジェンダ</vt:lpstr>
      <vt:lpstr>本日時点ではスケジュール通りの進捗です</vt:lpstr>
      <vt:lpstr>本日のアジェンダ</vt:lpstr>
      <vt:lpstr>本取り組みはスケジュール通り推進されています</vt:lpstr>
      <vt:lpstr>本日のアジェンダ</vt:lpstr>
      <vt:lpstr>残課題への対応を反映したアプリを9月末までにITEC様へ引き渡し、今後のバージョンアップデートにて順次適応します</vt:lpstr>
      <vt:lpstr>残課題への対応を反映したアプリを9月末までにITEC様へ引き渡し、今後のバージョンアップデートにて順次適応します</vt:lpstr>
      <vt:lpstr>アプリ画面にてご説明いたします</vt:lpstr>
      <vt:lpstr>本日のアジェンダ</vt:lpstr>
      <vt:lpstr>10月セキュア公開に向けて、9/11にリリース対象版をFIXし、以降はITEC様が統合テスト・移行準備を主導、デロイトは引継ぎ資料整備、エラー・質疑対応、バックログ整理に注力します</vt:lpstr>
      <vt:lpstr>各種無料APIの利用にはHHHD側でのアカウント登録およびAPI Keyの新規発行が必要です</vt:lpstr>
      <vt:lpstr>Appendix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Xinlong</dc:creator>
  <cp:lastModifiedBy>Hu, Xinlong</cp:lastModifiedBy>
  <cp:revision>1</cp:revision>
  <dcterms:created xsi:type="dcterms:W3CDTF">2026-06-25T23:44:23Z</dcterms:created>
  <dcterms:modified xsi:type="dcterms:W3CDTF">2026-09-15T12:05:27Z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0x0101003CF4429DF024E5448FC59C7B7B43C1AC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