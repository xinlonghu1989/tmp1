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Secure Release Plan / Handover</a:t>
            </a:r>
            <a:endParaRPr lang="ja-JP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9/11のFIXを境に主導をITEC様へ移し、2つの判定ゲートを経て10/5にセキュア公開する</a:t>
            </a:r>
            <a:endParaRPr lang="ja-JP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0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9/11以降は新規開発を止め、ITEC様主導の統合テスト・移行判定に時間を集中。デロイトは引継ぎ資料・技術支援・バックログ整理で支える。追加要望は公開後の改善として扱う。</a:t>
            </a:r>
            <a:endParaRPr lang="ja-JP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993392" y="1709928"/>
            <a:ext cx="135142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9/2週</a:t>
            </a:r>
            <a:endParaRPr lang="ja-JP" sz="9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FIX準備</a:t>
            </a:r>
            <a:endParaRPr lang="ja-JP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436261" y="1709928"/>
            <a:ext cx="135142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9/9週</a:t>
            </a:r>
            <a:endParaRPr lang="ja-JP" sz="9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FIX</a:t>
            </a:r>
            <a:endParaRPr lang="ja-JP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879131" y="1709928"/>
            <a:ext cx="135142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9/14週</a:t>
            </a:r>
            <a:endParaRPr lang="ja-JP" sz="9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統合テスト①</a:t>
            </a:r>
            <a:endParaRPr lang="ja-JP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322000" y="1709928"/>
            <a:ext cx="135142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9/21週</a:t>
            </a:r>
            <a:endParaRPr lang="ja-JP" sz="9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統合テスト②</a:t>
            </a:r>
            <a:endParaRPr lang="ja-JP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64870" y="1709928"/>
            <a:ext cx="135142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9/28週</a:t>
            </a:r>
            <a:endParaRPr lang="ja-JP" sz="9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リリース準備</a:t>
            </a:r>
            <a:endParaRPr lang="ja-JP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07739" y="1709928"/>
            <a:ext cx="10628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10/5</a:t>
            </a:r>
            <a:endParaRPr lang="ja-JP" sz="9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</a:t>
            </a:r>
            <a:endParaRPr lang="ja-JP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362035" y="1709928"/>
            <a:ext cx="135142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9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10月以降</a:t>
            </a:r>
            <a:endParaRPr lang="ja-JP" sz="9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継続改善</a:t>
            </a:r>
            <a:endParaRPr lang="ja-JP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11274552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88920"/>
            <a:ext cx="11274552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11274552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526280"/>
            <a:ext cx="11274552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394960"/>
            <a:ext cx="11274552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3109" y="2788920"/>
            <a:ext cx="0" cy="260604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5979" y="2788920"/>
            <a:ext cx="0" cy="260604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8848" y="2788920"/>
            <a:ext cx="0" cy="260604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91718" y="2788920"/>
            <a:ext cx="0" cy="260604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4587" y="2788920"/>
            <a:ext cx="0" cy="260604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88883" y="2788920"/>
            <a:ext cx="0" cy="2606040"/>
          </a:xfrm>
          <a:prstGeom prst="line">
            <a:avLst/>
          </a:prstGeom>
          <a:noFill/>
          <a:ln w="6350">
            <a:solidFill>
              <a:srgbClr val="DFE3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5979" y="2359152"/>
            <a:ext cx="0" cy="3035808"/>
          </a:xfrm>
          <a:prstGeom prst="line">
            <a:avLst/>
          </a:prstGeom>
          <a:noFill/>
          <a:ln w="19050">
            <a:solidFill>
              <a:srgbClr val="1C24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46543" y="2304288"/>
            <a:ext cx="118872" cy="11887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C24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00139" y="2441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ja-JP" altLang="en-US" sz="100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9/11 FIX</a:t>
            </a:r>
            <a:endParaRPr lang="ja-JP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承認：阪急阪神様</a:t>
            </a:r>
            <a:endParaRPr lang="ja-JP" sz="1000" dirty="0"/>
          </a:p>
        </p:txBody>
      </p:sp>
      <p:sp>
        <p:nvSpPr>
          <p:cNvPr id="26" name="Shape 24"/>
          <p:cNvSpPr/>
          <p:nvPr/>
        </p:nvSpPr>
        <p:spPr>
          <a:xfrm>
            <a:off x="4421931" y="2130552"/>
            <a:ext cx="768096" cy="164592"/>
          </a:xfrm>
          <a:prstGeom prst="rect">
            <a:avLst/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21931" y="213055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主導の転換</a:t>
            </a:r>
            <a:endParaRPr lang="ja-JP" sz="800" dirty="0"/>
          </a:p>
        </p:txBody>
      </p:sp>
      <p:sp>
        <p:nvSpPr>
          <p:cNvPr id="28" name="Shape 26"/>
          <p:cNvSpPr/>
          <p:nvPr/>
        </p:nvSpPr>
        <p:spPr>
          <a:xfrm>
            <a:off x="7691718" y="2359152"/>
            <a:ext cx="0" cy="3035808"/>
          </a:xfrm>
          <a:prstGeom prst="line">
            <a:avLst/>
          </a:prstGeom>
          <a:noFill/>
          <a:ln w="12700">
            <a:solidFill>
              <a:srgbClr val="9AA3A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632282" y="2304288"/>
            <a:ext cx="118872" cy="11887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C243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85878" y="2441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ja-JP" altLang="en-US" sz="100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9/25 移行判定</a:t>
            </a:r>
            <a:endParaRPr lang="ja-JP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判定：ITEC様・阪急阪神様</a:t>
            </a:r>
            <a:endParaRPr lang="ja-JP" sz="1000" dirty="0"/>
          </a:p>
        </p:txBody>
      </p:sp>
      <p:sp>
        <p:nvSpPr>
          <p:cNvPr id="31" name="Shape 29"/>
          <p:cNvSpPr/>
          <p:nvPr/>
        </p:nvSpPr>
        <p:spPr>
          <a:xfrm>
            <a:off x="9134587" y="2359152"/>
            <a:ext cx="0" cy="3035808"/>
          </a:xfrm>
          <a:prstGeom prst="line">
            <a:avLst/>
          </a:prstGeom>
          <a:noFill/>
          <a:ln w="12700">
            <a:solidFill>
              <a:srgbClr val="9AA3AD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075151" y="2304288"/>
            <a:ext cx="118872" cy="11887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C243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28747" y="2441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ja-JP" altLang="en-US" sz="100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10/2 公開GO</a:t>
            </a:r>
            <a:endParaRPr lang="ja-JP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判断：阪急阪神様</a:t>
            </a:r>
            <a:endParaRPr lang="ja-JP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2916936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20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阪急阪神様</a:t>
            </a:r>
            <a:endParaRPr lang="ja-JP" sz="1200" dirty="0"/>
          </a:p>
          <a:p>
            <a:pPr indent="0" marL="0">
              <a:lnSpc>
                <a:spcPct val="120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各ゲートでの承認・判断</a:t>
            </a:r>
            <a:endParaRPr lang="ja-JP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785616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200" b="1" dirty="0">
                <a:solidFill>
                  <a:srgbClr val="1E7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ITEC様</a:t>
            </a:r>
            <a:endParaRPr lang="ja-JP" sz="1200" dirty="0"/>
          </a:p>
          <a:p>
            <a:pPr indent="0" marL="0">
              <a:lnSpc>
                <a:spcPct val="120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受入 → 主導</a:t>
            </a:r>
            <a:endParaRPr lang="ja-JP" sz="1200" dirty="0"/>
          </a:p>
          <a:p>
            <a:pPr indent="0" marL="0">
              <a:lnSpc>
                <a:spcPct val="120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統合テスト・移行・公開</a:t>
            </a:r>
            <a:endParaRPr lang="ja-JP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654296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200" b="1" dirty="0">
                <a:solidFill>
                  <a:srgbClr val="2F5D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デロイト</a:t>
            </a:r>
            <a:endParaRPr lang="ja-JP" sz="1200" dirty="0"/>
          </a:p>
          <a:p>
            <a:pPr indent="0" marL="0">
              <a:lnSpc>
                <a:spcPct val="120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主導 → 支援</a:t>
            </a:r>
            <a:endParaRPr lang="ja-JP" sz="1200" dirty="0"/>
          </a:p>
          <a:p>
            <a:pPr indent="0" marL="0">
              <a:lnSpc>
                <a:spcPct val="120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引継ぎ・技術支援</a:t>
            </a:r>
            <a:endParaRPr lang="ja-JP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975104" y="2935224"/>
            <a:ext cx="2776011" cy="576072"/>
          </a:xfrm>
          <a:prstGeom prst="rect">
            <a:avLst/>
          </a:prstGeom>
          <a:solidFill>
            <a:srgbClr val="FFFFFF"/>
          </a:solidFill>
          <a:ln w="15875">
            <a:solidFill>
              <a:srgbClr val="1C243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FIX範囲の承認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9/11 リリース対象版を確定</a:t>
            </a:r>
            <a:endParaRPr lang="ja-JP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860843" y="2935224"/>
            <a:ext cx="2776011" cy="576072"/>
          </a:xfrm>
          <a:prstGeom prst="rect">
            <a:avLst/>
          </a:prstGeom>
          <a:solidFill>
            <a:srgbClr val="FFFFFF"/>
          </a:solidFill>
          <a:ln w="15875">
            <a:solidFill>
              <a:srgbClr val="1C243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移行判定への参画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9/25 テスト結果を踏まえ可否を判断</a:t>
            </a:r>
            <a:endParaRPr lang="ja-JP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746582" y="2935224"/>
            <a:ext cx="1333141" cy="576072"/>
          </a:xfrm>
          <a:prstGeom prst="rect">
            <a:avLst/>
          </a:prstGeom>
          <a:solidFill>
            <a:srgbClr val="FFFFFF"/>
          </a:solidFill>
          <a:ln w="15875">
            <a:solidFill>
              <a:srgbClr val="1C243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公開GO判断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10/2 準備完了を確認</a:t>
            </a:r>
            <a:endParaRPr lang="ja-JP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189451" y="2935224"/>
            <a:ext cx="2487437" cy="576072"/>
          </a:xfrm>
          <a:prstGeom prst="rect">
            <a:avLst/>
          </a:prstGeom>
          <a:solidFill>
            <a:srgbClr val="1C2430"/>
          </a:solidFill>
          <a:ln>
            <a:solidFill>
              <a:srgbClr val="1C243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公開・改善優先度の決定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850" dirty="0">
                <a:solidFill>
                  <a:srgbClr val="C9CE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バックログの優先順位を承認</a:t>
            </a:r>
            <a:endParaRPr lang="ja-JP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975104" y="3803904"/>
            <a:ext cx="2776011" cy="576072"/>
          </a:xfrm>
          <a:prstGeom prst="rect">
            <a:avLst/>
          </a:prstGeom>
          <a:solidFill>
            <a:srgbClr val="DCEFE3"/>
          </a:solidFill>
          <a:ln>
            <a:solidFill>
              <a:srgbClr val="DCEFE3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受入準備・FIX版受領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テスト観点整理、9/11に受領</a:t>
            </a:r>
            <a:endParaRPr lang="ja-JP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860843" y="3803904"/>
            <a:ext cx="4218880" cy="576072"/>
          </a:xfrm>
          <a:prstGeom prst="rect">
            <a:avLst/>
          </a:prstGeom>
          <a:solidFill>
            <a:srgbClr val="1E7F4F"/>
          </a:solidFill>
          <a:ln>
            <a:solidFill>
              <a:srgbClr val="1E7F4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統合テスト①② → 移行判定 → リリース準備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850" dirty="0">
                <a:solidFill>
                  <a:srgbClr val="D6ED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機能・業務・セキュリティ検証、リハーサル、移行手順の確定</a:t>
            </a:r>
            <a:endParaRPr lang="ja-JP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189451" y="3803904"/>
            <a:ext cx="1044568" cy="576072"/>
          </a:xfrm>
          <a:prstGeom prst="rect">
            <a:avLst/>
          </a:prstGeom>
          <a:solidFill>
            <a:srgbClr val="1E7F4F"/>
          </a:solidFill>
          <a:ln>
            <a:solidFill>
              <a:srgbClr val="1E7F4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本番公開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850" dirty="0">
                <a:solidFill>
                  <a:srgbClr val="D6ED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稼働開始</a:t>
            </a:r>
            <a:endParaRPr lang="ja-JP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0343747" y="3803904"/>
            <a:ext cx="1333141" cy="576072"/>
          </a:xfrm>
          <a:prstGeom prst="rect">
            <a:avLst/>
          </a:prstGeom>
          <a:solidFill>
            <a:srgbClr val="1E7F4F"/>
          </a:solidFill>
          <a:ln>
            <a:solidFill>
              <a:srgbClr val="1E7F4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継続改善を主導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850" dirty="0">
                <a:solidFill>
                  <a:srgbClr val="D6ED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改善計画・保守運用</a:t>
            </a:r>
            <a:endParaRPr lang="ja-JP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975104" y="4672584"/>
            <a:ext cx="2776011" cy="576072"/>
          </a:xfrm>
          <a:prstGeom prst="rect">
            <a:avLst/>
          </a:prstGeom>
          <a:solidFill>
            <a:srgbClr val="2F5D9B"/>
          </a:solidFill>
          <a:ln>
            <a:solidFill>
              <a:srgbClr val="2F5D9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残課題の収束 → 9/11 FIX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850" dirty="0">
                <a:solidFill>
                  <a:srgbClr val="D5E0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対応範囲を確定しリリース版を固める</a:t>
            </a:r>
            <a:endParaRPr lang="ja-JP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860843" y="4672584"/>
            <a:ext cx="1333141" cy="576072"/>
          </a:xfrm>
          <a:prstGeom prst="rect">
            <a:avLst/>
          </a:prstGeom>
          <a:solidFill>
            <a:srgbClr val="2F5D9B"/>
          </a:solidFill>
          <a:ln>
            <a:solidFill>
              <a:srgbClr val="2F5D9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引継ぎ資料の完成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850" dirty="0">
                <a:solidFill>
                  <a:srgbClr val="D5E0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9/16までにITEC様へ提供</a:t>
            </a:r>
            <a:endParaRPr lang="ja-JP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303712" y="4672584"/>
            <a:ext cx="2776011" cy="576072"/>
          </a:xfrm>
          <a:prstGeom prst="rect">
            <a:avLst/>
          </a:prstGeom>
          <a:solidFill>
            <a:srgbClr val="DDE7F3"/>
          </a:solidFill>
          <a:ln>
            <a:solidFill>
              <a:srgbClr val="DDE7F3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テスト支援・QA対応・安定化支援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エラー解析、週2回のQ&amp;A、判定後の残論点整理</a:t>
            </a:r>
            <a:endParaRPr lang="ja-JP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9189451" y="4672584"/>
            <a:ext cx="2487437" cy="576072"/>
          </a:xfrm>
          <a:prstGeom prst="rect">
            <a:avLst/>
          </a:prstGeom>
          <a:solidFill>
            <a:srgbClr val="DDE7F3"/>
          </a:solidFill>
          <a:ln>
            <a:solidFill>
              <a:srgbClr val="DDE7F3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初期フォロー・バックログ整理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8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追加要望を整理しITEC様へ引継ぎ</a:t>
            </a:r>
            <a:endParaRPr lang="ja-JP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5596128"/>
            <a:ext cx="11274552" cy="0"/>
          </a:xfrm>
          <a:prstGeom prst="line">
            <a:avLst/>
          </a:prstGeom>
          <a:noFill/>
          <a:ln w="19050">
            <a:solidFill>
              <a:srgbClr val="1C243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5705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役員の皆様にお願いしたい判断</a:t>
            </a:r>
            <a:endParaRPr lang="ja-JP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0076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9/11 FIX範囲の承認</a:t>
            </a:r>
            <a:endParaRPr lang="ja-JP" sz="1050" dirty="0"/>
          </a:p>
          <a:p>
            <a:pPr indent="0" marL="0">
              <a:lnSpc>
                <a:spcPct val="120000"/>
              </a:lnSpc>
              <a:buNone/>
            </a:pPr>
            <a:r>
              <a:rPr lang="ja-JP" altLang="en-US" sz="9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以降の追加要望は公開後バックログで扱う原則も併せて承認</a:t>
            </a:r>
            <a:endParaRPr lang="ja-JP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3108960" y="60076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9/25 移行判定への参画</a:t>
            </a:r>
            <a:endParaRPr lang="ja-JP" sz="1050" dirty="0"/>
          </a:p>
          <a:p>
            <a:pPr indent="0" marL="0">
              <a:lnSpc>
                <a:spcPct val="120000"/>
              </a:lnSpc>
              <a:buNone/>
            </a:pPr>
            <a:r>
              <a:rPr lang="ja-JP" altLang="en-US" sz="9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ITEC様のテスト結果に基づく移行可否の判断</a:t>
            </a:r>
            <a:endParaRPr lang="ja-JP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5760720" y="60076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10/2 公開GOの最終判断</a:t>
            </a:r>
            <a:endParaRPr lang="ja-JP" sz="1050" dirty="0"/>
          </a:p>
          <a:p>
            <a:pPr indent="0" marL="0">
              <a:lnSpc>
                <a:spcPct val="120000"/>
              </a:lnSpc>
              <a:buNone/>
            </a:pPr>
            <a:r>
              <a:rPr lang="ja-JP" altLang="en-US" sz="950" dirty="0">
                <a:solidFill>
                  <a:srgbClr val="5F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リハーサル完了と体制確認を踏まえ10/5公開を決定</a:t>
            </a:r>
            <a:endParaRPr lang="ja-JP" sz="1050" dirty="0"/>
          </a:p>
        </p:txBody>
      </p:sp>
      <p:sp>
        <p:nvSpPr>
          <p:cNvPr id="54" name="Shape 52"/>
          <p:cNvSpPr/>
          <p:nvPr/>
        </p:nvSpPr>
        <p:spPr>
          <a:xfrm>
            <a:off x="8412480" y="5980176"/>
            <a:ext cx="3319272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549640" y="6025896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b="1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運営原則：公開日を守り、スコープで調整する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900" dirty="0">
                <a:solidFill>
                  <a:srgbClr val="1C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判定NGでも10/5は動かさず、対象機能の絞り込みで対応。絞った機能は公開後の改善へ回す。</a:t>
            </a:r>
            <a:endParaRPr lang="ja-JP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2026-09-01T08:41:32Z</dcterms:created>
  <dcterms:modified xsi:type="dcterms:W3CDTF">2026-09-01T08:41:32Z</dcterms:modified>
</cp:coreProperties>
</file>