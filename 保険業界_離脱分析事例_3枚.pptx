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8" r:id="rId4"/>
    <p:sldMasterId id="2147483919" r:id="rId5"/>
    <p:sldMasterId id="2147483986" r:id="rId6"/>
    <p:sldMasterId id="2147484012" r:id="rId7"/>
  </p:sldMasterIdLst>
  <p:notesMasterIdLst>
    <p:notesMasterId r:id="rId22"/>
  </p:notesMasterIdLst>
  <p:handoutMasterIdLst>
    <p:handoutMasterId r:id="rId23"/>
  </p:handoutMasterIdLst>
  <p:sldIdLst>
    <p:sldId id="259" r:id="rId19"/>
    <p:sldId id="265" r:id="rId34"/>
    <p:sldId id="264" r:id="rId33"/>
  </p:sldIdLst>
  <p:sldSz cx="12192000" cy="6858000"/>
  <p:notesSz cx="6735763" cy="9866313"/>
  <p:custDataLst>
    <p:tags r:id="rId2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29768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859536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289304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719072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148840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578608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008376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438144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3" orient="horz" pos="2137" userDrawn="1">
          <p15:clr>
            <a:srgbClr val="A4A3A4"/>
          </p15:clr>
        </p15:guide>
        <p15:guide id="4" pos="386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34F904-F128-8147-A709-5BA0B0EDD907}" name="Kato, Yoshiko 1" initials="K1" userId="S::yoshiko1.kato@tohmatsu.co.jp::0536b235-f5eb-4716-8d5f-c14ea1117cc8" providerId="AD"/>
  <p188:author id="{85B9C713-2719-418F-0DB1-FD33C6FBAE59}" name="Mori, Yukiko" initials="MY" userId="S::yukiko.mori@tohmatsu.co.jp::f6c28165-7909-45e9-8c53-3daca56a9b1c" providerId="AD"/>
  <p188:author id="{1E114F58-398E-C9D2-8536-99ABF1D54C77}" name="DLS" initials="u" userId="DLS" providerId="None"/>
  <p188:author id="{5FF94BAC-1D89-45C0-351C-0BB77D8448C6}" name="Fukushima, Rieko" initials="FR" userId="S::rieko.fukushima@tohmatsu.co.jp::42ea695b-0072-4304-903b-cd25183e2212" providerId="AD"/>
  <p188:author id="{668514CC-2331-AEE1-14A9-653540C09CE5}" name="Ochi, Hana" initials="OH" userId="S::haochi@tohmatsu.co.jp::9fa41629-42c7-428e-8d4f-8f774cfc782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shima, Michiru" initials="TM" lastIdx="16" clrIdx="0">
    <p:extLst>
      <p:ext uri="{19B8F6BF-5375-455C-9EA6-DF929625EA0E}">
        <p15:presenceInfo xmlns:p15="http://schemas.microsoft.com/office/powerpoint/2012/main" userId="S::miteshima@tohmatsu.co.jp::4ce32794-bca9-4413-b02a-c3d46948b27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A38"/>
    <a:srgbClr val="9BE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D6A08-FCAC-4358-BAE4-43561AE9EF14}" v="2376" dt="2026-09-15T09:35:23.863"/>
    <p1510:client id="{AB5C4B94-6472-7803-CE20-A7CD06FA2A8B}" v="102" dt="2026-09-15T08:42:14.940"/>
    <p1510:client id="{F245FC92-33F3-4BB8-AB35-C27D90D97766}" v="1" dt="2026-09-15T12:05:26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中間スタイル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32" y="366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9" Type="http://schemas.openxmlformats.org/officeDocument/2006/relationships/slide" Target="slides/slide1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5/10/relationships/revisionInfo" Target="revisionInfo.xml"/><Relationship Id="rId31" Type="http://schemas.microsoft.com/office/2018/10/relationships/authors" Target="authors.xml"/><Relationship Id="rId33" Type="http://schemas.openxmlformats.org/officeDocument/2006/relationships/slide" Target="slides/slide3.xml"/><Relationship Id="rId34" Type="http://schemas.openxmlformats.org/officeDocument/2006/relationships/slide" Target="slides/slide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C3375-25C1-4132-8356-F0254E04DDEC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4172F-6366-47B3-B3D8-F99B8E17C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479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AAE2C4BB-DD5D-4EF0-8811-528209874544}" type="datetimeFigureOut">
              <a:rPr kumimoji="1" lang="ja-JP" altLang="en-US" smtClean="0">
                <a:latin typeface="Aptos" panose="020B0004020202020204" pitchFamily="34" charset="0"/>
              </a:rPr>
              <a:pPr/>
              <a:t>2026/9/15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>
              <a:latin typeface="Aptos" panose="020B0004020202020204" pitchFamily="34" charset="0"/>
            </a:endParaRPr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24DE13BB-FCB6-4491-A87D-1E9BA7500F8E}" type="slidenum">
              <a:rPr kumimoji="1" lang="ja-JP" altLang="en-US" smtClean="0">
                <a:latin typeface="Aptos" panose="020B0004020202020204" pitchFamily="34" charset="0"/>
              </a:rPr>
              <a:pPr/>
              <a:t>‹#›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852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.emf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6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5.bin"/><Relationship Id="rId4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Relationship Id="rId5" Type="http://schemas.openxmlformats.org/officeDocument/2006/relationships/image" Target="../media/image1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3.bin"/><Relationship Id="rId4" Type="http://schemas.openxmlformats.org/officeDocument/2006/relationships/image" Target="../media/image1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4.bin"/><Relationship Id="rId4" Type="http://schemas.openxmlformats.org/officeDocument/2006/relationships/image" Target="../media/image1.emf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6.jpe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5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6.bin"/><Relationship Id="rId4" Type="http://schemas.openxmlformats.org/officeDocument/2006/relationships/image" Target="../media/image1.emf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7.bin"/><Relationship Id="rId4" Type="http://schemas.openxmlformats.org/officeDocument/2006/relationships/image" Target="../media/image14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slideMaster" Target="../slideMasters/slideMaster4.xml"/><Relationship Id="rId4" Type="http://schemas.openxmlformats.org/officeDocument/2006/relationships/oleObject" Target="../embeddings/oleObject38.bin"/><Relationship Id="rId5" Type="http://schemas.openxmlformats.org/officeDocument/2006/relationships/image" Target="../media/image15.emf"/><Relationship Id="rId6" Type="http://schemas.openxmlformats.org/officeDocument/2006/relationships/oleObject" Target="../embeddings/oleObject39.bin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7.bin"/><Relationship Id="rId4" Type="http://schemas.openxmlformats.org/officeDocument/2006/relationships/image" Target="../media/image1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_ ロゴ入り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72E5A2AA-8632-4C90-834B-AAF8FA2847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7041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72E5A2AA-8632-4C90-834B-AAF8FA284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4680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5999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3201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26CE00B-EF0F-41D9-B6BD-2D199AF6C07D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05815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8617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4680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254373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_ ロゴ入り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1782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4680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4800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914782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0800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4680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816916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1338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8290319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787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89402959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91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63326847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2600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451464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8708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827265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7264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056419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5180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8569957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268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047188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2086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928838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4183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2250517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1777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3595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23414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16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18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697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59539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593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3868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367F1314-1825-435D-8B63-69D515D2D3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168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D3A5278-6D4D-48CD-B33F-E16518FBA520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9" name="図 8" descr="ロゴ, 会社名&#10;&#10;自動的に生成された説明">
              <a:extLst>
                <a:ext uri="{FF2B5EF4-FFF2-40B4-BE49-F238E27FC236}">
                  <a16:creationId xmlns:a16="http://schemas.microsoft.com/office/drawing/2014/main" id="{EE572D97-F5AE-4209-9B5E-6F62708DD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0" name="図 9" descr="ロゴ&#10;&#10;自動的に生成された説明">
              <a:extLst>
                <a:ext uri="{FF2B5EF4-FFF2-40B4-BE49-F238E27FC236}">
                  <a16:creationId xmlns:a16="http://schemas.microsoft.com/office/drawing/2014/main" id="{174BAC09-EE91-4451-95F8-BA04B2385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  <p:pic>
        <p:nvPicPr>
          <p:cNvPr id="5" name="Picture 3">
            <a:extLst>
              <a:ext uri="{FF2B5EF4-FFF2-40B4-BE49-F238E27FC236}">
                <a16:creationId xmlns:a16="http://schemas.microsoft.com/office/drawing/2014/main" id="{68101465-63EE-D2BF-35AA-692852B492F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49305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5665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1A15D5-7B51-4B9F-8EF0-8D771BACAF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478800" y="431005"/>
            <a:ext cx="3721455" cy="63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AA5F3BE-2C73-21B4-1792-CE7804C9094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553D118-33B9-8047-F5CF-3B03F130350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6" name="図 5" descr="ロゴ, 会社名&#10;&#10;自動的に生成された説明">
              <a:extLst>
                <a:ext uri="{FF2B5EF4-FFF2-40B4-BE49-F238E27FC236}">
                  <a16:creationId xmlns:a16="http://schemas.microsoft.com/office/drawing/2014/main" id="{D2C433B9-83A5-C204-17F5-89F2B1D6A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7" name="図 6" descr="ロゴ&#10;&#10;自動的に生成された説明">
              <a:extLst>
                <a:ext uri="{FF2B5EF4-FFF2-40B4-BE49-F238E27FC236}">
                  <a16:creationId xmlns:a16="http://schemas.microsoft.com/office/drawing/2014/main" id="{7E3E8DC4-DA86-93F3-32DB-DBD7E5E7F1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9241581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4675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41D69D-2433-4D11-814D-C797F4E505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45A9EC4-0A34-443E-8A5C-E1C41D6E8ECA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11" name="図 10" descr="ロゴ, 会社名&#10;&#10;自動的に生成された説明">
              <a:extLst>
                <a:ext uri="{FF2B5EF4-FFF2-40B4-BE49-F238E27FC236}">
                  <a16:creationId xmlns:a16="http://schemas.microsoft.com/office/drawing/2014/main" id="{C713905B-35CF-4B24-BCA2-637030354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DEA888C4-18A7-4DB2-A911-C4F477C6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B58FE27E-7473-91AD-522F-C6EE7B389FF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78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19903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0938ED-B2BE-4693-8FA5-820BAD918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gray">
          <a:xfrm>
            <a:off x="478800" y="431997"/>
            <a:ext cx="3722400" cy="63236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366F5FD9-1E58-CDA7-CACE-B242EB6B204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5" name="図 4" descr="ロゴ, 会社名&#10;&#10;自動的に生成された説明">
              <a:extLst>
                <a:ext uri="{FF2B5EF4-FFF2-40B4-BE49-F238E27FC236}">
                  <a16:creationId xmlns:a16="http://schemas.microsoft.com/office/drawing/2014/main" id="{D73EDECA-A512-7669-1691-62C5E111EA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17480D25-DAE4-135D-514C-ADF811A79B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7" name="Picture 3">
            <a:extLst>
              <a:ext uri="{FF2B5EF4-FFF2-40B4-BE49-F238E27FC236}">
                <a16:creationId xmlns:a16="http://schemas.microsoft.com/office/drawing/2014/main" id="{7114BB36-8EE5-0472-5190-1AC8C392D5C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31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 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92992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1036365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2044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2594888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小見出しあり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115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144441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5457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3269081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1525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458450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小見出しあり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88250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2038172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_ ロゴ入り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72E5A2AA-8632-4C90-834B-AAF8FA2847A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64769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72E5A2AA-8632-4C90-834B-AAF8FA284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5999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latin typeface="+mn-lt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3201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26CE00B-EF0F-41D9-B6BD-2D199AF6C07D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208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8766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279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_ ロゴ入り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02002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+mn-lt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4800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955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4050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97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2707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479772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5491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6763812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35881547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742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5312935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41101896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6882777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38070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50532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622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8757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1909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06200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7A7FA105-C4A6-DF57-0985-107BF930716D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0629815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91AFE9C6-AFED-8CEE-9B20-46A57A97A23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5025832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89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18ADE627-CB4D-1BFB-D115-26ACBCADE3F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4731149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010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3F55A360-EB78-06C3-3E59-DD1D2B49526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8433350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50152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367F1314-1825-435D-8B63-69D515D2D3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168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133324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cs typeface="+mn-cs"/>
                <a:sym typeface="+mn-lt"/>
              </a:rPr>
              <a:t>Deloitte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D3A5278-6D4D-48CD-B33F-E16518FBA520}"/>
              </a:ext>
            </a:extLst>
          </p:cNvPr>
          <p:cNvGrpSpPr/>
          <p:nvPr userDrawn="1"/>
        </p:nvGrpSpPr>
        <p:grpSpPr>
          <a:xfrm>
            <a:off x="10270800" y="4114800"/>
            <a:ext cx="1440000" cy="1894801"/>
            <a:chOff x="8050246" y="4451478"/>
            <a:chExt cx="1440000" cy="1894801"/>
          </a:xfrm>
        </p:grpSpPr>
        <p:pic>
          <p:nvPicPr>
            <p:cNvPr id="9" name="図 8" descr="ロゴ, 会社名&#10;&#10;自動的に生成された説明">
              <a:extLst>
                <a:ext uri="{FF2B5EF4-FFF2-40B4-BE49-F238E27FC236}">
                  <a16:creationId xmlns:a16="http://schemas.microsoft.com/office/drawing/2014/main" id="{EE572D97-F5AE-4209-9B5E-6F62708DD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0" name="図 9" descr="ロゴ&#10;&#10;自動的に生成された説明">
              <a:extLst>
                <a:ext uri="{FF2B5EF4-FFF2-40B4-BE49-F238E27FC236}">
                  <a16:creationId xmlns:a16="http://schemas.microsoft.com/office/drawing/2014/main" id="{174BAC09-EE91-4451-95F8-BA04B2385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1349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1642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1A15D5-7B51-4B9F-8EF0-8D771BACAF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478800" y="431005"/>
            <a:ext cx="3721455" cy="6329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1ACB6E8B-BDC4-441B-80D9-3D4F1A7191BA}"/>
              </a:ext>
            </a:extLst>
          </p:cNvPr>
          <p:cNvGrpSpPr/>
          <p:nvPr userDrawn="1"/>
        </p:nvGrpSpPr>
        <p:grpSpPr>
          <a:xfrm>
            <a:off x="10270800" y="4114800"/>
            <a:ext cx="1440000" cy="1894801"/>
            <a:chOff x="8050246" y="4451478"/>
            <a:chExt cx="1440000" cy="1894801"/>
          </a:xfrm>
        </p:grpSpPr>
        <p:pic>
          <p:nvPicPr>
            <p:cNvPr id="10" name="図 9" descr="ロゴ, 会社名&#10;&#10;自動的に生成された説明">
              <a:extLst>
                <a:ext uri="{FF2B5EF4-FFF2-40B4-BE49-F238E27FC236}">
                  <a16:creationId xmlns:a16="http://schemas.microsoft.com/office/drawing/2014/main" id="{58297113-486E-410D-9152-DBAA7813B4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1" name="図 10" descr="ロゴ&#10;&#10;自動的に生成された説明">
              <a:extLst>
                <a:ext uri="{FF2B5EF4-FFF2-40B4-BE49-F238E27FC236}">
                  <a16:creationId xmlns:a16="http://schemas.microsoft.com/office/drawing/2014/main" id="{DBB457B8-2E8C-4715-8CE0-9F6911CA7B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24777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5016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bg1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schemeClr val="bg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bg1"/>
                </a:solidFill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41D69D-2433-4D11-814D-C797F4E505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45A9EC4-0A34-443E-8A5C-E1C41D6E8ECA}"/>
              </a:ext>
            </a:extLst>
          </p:cNvPr>
          <p:cNvGrpSpPr/>
          <p:nvPr userDrawn="1"/>
        </p:nvGrpSpPr>
        <p:grpSpPr>
          <a:xfrm>
            <a:off x="10270800" y="4114800"/>
            <a:ext cx="1440000" cy="1861937"/>
            <a:chOff x="8050925" y="4451478"/>
            <a:chExt cx="1440000" cy="1861937"/>
          </a:xfrm>
        </p:grpSpPr>
        <p:pic>
          <p:nvPicPr>
            <p:cNvPr id="11" name="図 10" descr="ロゴ, 会社名&#10;&#10;自動的に生成された説明">
              <a:extLst>
                <a:ext uri="{FF2B5EF4-FFF2-40B4-BE49-F238E27FC236}">
                  <a16:creationId xmlns:a16="http://schemas.microsoft.com/office/drawing/2014/main" id="{C713905B-35CF-4B24-BCA2-637030354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DEA888C4-18A7-4DB2-A911-C4F477C6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97325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トーマツロゴ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208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bg1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schemeClr val="bg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bg1"/>
                </a:solidFill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0938ED-B2BE-4693-8FA5-820BAD918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gray">
          <a:xfrm>
            <a:off x="478800" y="431997"/>
            <a:ext cx="3722400" cy="632360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32278A0-B6A6-4196-A48B-DD36F4F398E7}"/>
              </a:ext>
            </a:extLst>
          </p:cNvPr>
          <p:cNvGrpSpPr/>
          <p:nvPr userDrawn="1"/>
        </p:nvGrpSpPr>
        <p:grpSpPr>
          <a:xfrm>
            <a:off x="10270800" y="4114800"/>
            <a:ext cx="1440000" cy="1861937"/>
            <a:chOff x="8050925" y="4451478"/>
            <a:chExt cx="1440000" cy="1861937"/>
          </a:xfrm>
        </p:grpSpPr>
        <p:pic>
          <p:nvPicPr>
            <p:cNvPr id="15" name="図 14" descr="ロゴ, 会社名&#10;&#10;自動的に生成された説明">
              <a:extLst>
                <a:ext uri="{FF2B5EF4-FFF2-40B4-BE49-F238E27FC236}">
                  <a16:creationId xmlns:a16="http://schemas.microsoft.com/office/drawing/2014/main" id="{2395C2A1-39CD-425B-94BE-D67F2CCD8D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7CC8C78A-26CC-4239-9442-4410264A93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56877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3290C-9741-F83F-15FD-B8258A14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AD8C58-AEC9-C643-7C2A-EEB47AFED2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EAEBBD-886B-31F9-5308-01B1A3C72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80E722-07C0-6BE3-5FC1-99CE04E80AB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382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BC8BF-6A3A-CCD9-795A-5B3D5A0B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9E84B-517A-6B7B-7B34-BD2C2E277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B77A3F-77BB-42EA-F36D-C1B74CAD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6E2414-BE63-1FB5-A9C1-EA0A1A73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B8169-85F8-F698-3517-15BC0F56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7F2FE-3C3D-4AB2-870D-B4E57AB68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84007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112370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563" imgH="564" progId="TCLayout.ActiveDocument.1">
                  <p:embed/>
                </p:oleObj>
              </mc:Choice>
              <mc:Fallback>
                <p:oleObj name="think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2610" y="1008000"/>
            <a:ext cx="5361231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7535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8766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747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4050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627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2707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50466937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5491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35140892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249779244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742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54201066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6711330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47116240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41185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2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622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14298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1909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6133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7A7FA105-C4A6-DF57-0985-107BF930716D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90230898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91AFE9C6-AFED-8CEE-9B20-46A57A97A23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0165543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89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18ADE627-CB4D-1BFB-D115-26ACBCADE3F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1300218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010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3F55A360-EB78-06C3-3E59-DD1D2B49526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56064518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3290C-9741-F83F-15FD-B8258A14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AD8C58-AEC9-C643-7C2A-EEB47AFED2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EAEBBD-886B-31F9-5308-01B1A3C72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80E722-07C0-6BE3-5FC1-99CE04E80AB6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1403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BC8BF-6A3A-CCD9-795A-5B3D5A0B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9E84B-517A-6B7B-7B34-BD2C2E277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B77A3F-77BB-42EA-F36D-C1B74CAD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6E2414-BE63-1FB5-A9C1-EA0A1A73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B8169-85F8-F698-3517-15BC0F56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7F2FE-3C3D-4AB2-870D-B4E57AB68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535297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4871738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4" imgW="444" imgH="443" progId="TCLayout.ActiveDocument.1">
                  <p:embed/>
                </p:oleObj>
              </mc:Choice>
              <mc:Fallback>
                <p:oleObj name="thinkcellスライド" r:id="rId4" imgW="444" imgH="44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 altLang="en-GB">
              <a:solidFill>
                <a:prstClr val="black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>
          <a:xfrm>
            <a:off x="11458554" y="6588000"/>
            <a:ext cx="221538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A5FCFE5-FE56-4EF1-80A8-07776887C2A1}" type="slidenum">
              <a:rPr lang="ja-JP" altLang="en-US" sz="1200" smtClean="0">
                <a:solidFill>
                  <a:prstClr val="black"/>
                </a:solidFill>
                <a:latin typeface="Arial"/>
                <a:ea typeface="ＭＳ Ｐゴシック"/>
                <a:cs typeface="Arial" pitchFamily="34" charset="0"/>
              </a:rPr>
              <a:pPr>
                <a:defRPr/>
              </a:pPr>
              <a:t>‹#›</a:t>
            </a:fld>
            <a:endParaRPr lang="ja-JP" altLang="en-US" sz="1200">
              <a:solidFill>
                <a:prstClr val="black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3230" y="136800"/>
            <a:ext cx="11166862" cy="432000"/>
          </a:xfrm>
          <a:prstGeom prst="rect">
            <a:avLst/>
          </a:prstGeom>
        </p:spPr>
        <p:txBody>
          <a:bodyPr wrap="none" lIns="0" t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513231" y="678671"/>
            <a:ext cx="11165538" cy="360000"/>
          </a:xfrm>
        </p:spPr>
        <p:txBody>
          <a:bodyPr vert="horz" lIns="0" tIns="0" anchor="t"/>
          <a:lstStyle>
            <a:lvl1pPr>
              <a:defRPr sz="1800" b="0"/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cxnSp>
        <p:nvCxnSpPr>
          <p:cNvPr id="7" name="直線コネクタ 6"/>
          <p:cNvCxnSpPr/>
          <p:nvPr/>
        </p:nvCxnSpPr>
        <p:spPr>
          <a:xfrm>
            <a:off x="513231" y="608882"/>
            <a:ext cx="111655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D9526583-8C8E-82A1-8852-F993675C58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3898332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6" imgW="444" imgH="443" progId="TCLayout.ActiveDocument.1">
                  <p:embed/>
                </p:oleObj>
              </mc:Choice>
              <mc:Fallback>
                <p:oleObj name="think-cell スライド" r:id="rId6" imgW="444" imgH="443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D9526583-8C8E-82A1-8852-F993675C58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5C7EB6A-BE1A-6B26-F25B-752C370BEDF4}"/>
              </a:ext>
            </a:extLst>
          </p:cNvPr>
          <p:cNvCxnSpPr/>
          <p:nvPr userDrawn="1"/>
        </p:nvCxnSpPr>
        <p:spPr>
          <a:xfrm>
            <a:off x="513231" y="608882"/>
            <a:ext cx="111655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12701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112370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563" imgH="564" progId="TCLayout.ActiveDocument.1">
                  <p:embed/>
                </p:oleObj>
              </mc:Choice>
              <mc:Fallback>
                <p:oleObj name="think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2610" y="1008000"/>
            <a:ext cx="5361231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723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Relationship Id="rId25" Type="http://schemas.openxmlformats.org/officeDocument/2006/relationships/oleObject" Target="../embeddings/oleObject1.bin"/><Relationship Id="rId26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theme" Target="../theme/theme2.xml"/><Relationship Id="rId8" Type="http://schemas.openxmlformats.org/officeDocument/2006/relationships/tags" Target="../tags/tag25.xml"/><Relationship Id="rId9" Type="http://schemas.openxmlformats.org/officeDocument/2006/relationships/oleObject" Target="../embeddings/oleObject23.bin"/><Relationship Id="rId10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3.xml"/><Relationship Id="rId26" Type="http://schemas.openxmlformats.org/officeDocument/2006/relationships/theme" Target="../theme/theme3.xml"/><Relationship Id="rId27" Type="http://schemas.openxmlformats.org/officeDocument/2006/relationships/tags" Target="../tags/tag32.xml"/><Relationship Id="rId28" Type="http://schemas.openxmlformats.org/officeDocument/2006/relationships/oleObject" Target="../embeddings/oleObject28.bin"/><Relationship Id="rId29" Type="http://schemas.openxmlformats.org/officeDocument/2006/relationships/image" Target="../media/image1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73.xml"/><Relationship Id="rId21" Type="http://schemas.openxmlformats.org/officeDocument/2006/relationships/theme" Target="../theme/theme4.xml"/><Relationship Id="rId22" Type="http://schemas.openxmlformats.org/officeDocument/2006/relationships/tags" Target="../tags/tag56.xml"/><Relationship Id="rId23" Type="http://schemas.openxmlformats.org/officeDocument/2006/relationships/oleObject" Target="../embeddings/oleObject28.bin"/><Relationship Id="rId2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30926568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5" imgW="444" imgH="443" progId="TCLayout.ActiveDocument.1">
                  <p:embed/>
                </p:oleObj>
              </mc:Choice>
              <mc:Fallback>
                <p:oleObj name="thinkcellスライド" r:id="rId25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ja-JP"/>
              <a:t>DT Template 16:9</a:t>
            </a:r>
            <a:endParaRPr kumimoji="1" lang="en-GB" altLang="en-GB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E0E64AB6-CEBE-4B69-BA95-262258503BE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615099" y="6444000"/>
            <a:ext cx="961802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97765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44" r:id="rId2"/>
    <p:sldLayoutId id="2147483946" r:id="rId3"/>
    <p:sldLayoutId id="2147483947" r:id="rId4"/>
    <p:sldLayoutId id="2147483911" r:id="rId5"/>
    <p:sldLayoutId id="2147483912" r:id="rId6"/>
    <p:sldLayoutId id="2147483934" r:id="rId7"/>
    <p:sldLayoutId id="2147483983" r:id="rId8"/>
    <p:sldLayoutId id="2147483984" r:id="rId9"/>
    <p:sldLayoutId id="2147483985" r:id="rId10"/>
    <p:sldLayoutId id="2147483959" r:id="rId11"/>
    <p:sldLayoutId id="2147483969" r:id="rId12"/>
    <p:sldLayoutId id="2147483960" r:id="rId13"/>
    <p:sldLayoutId id="2147483961" r:id="rId14"/>
    <p:sldLayoutId id="2147483976" r:id="rId15"/>
    <p:sldLayoutId id="2147483977" r:id="rId16"/>
    <p:sldLayoutId id="2147483978" r:id="rId17"/>
    <p:sldLayoutId id="2147483979" r:id="rId18"/>
    <p:sldLayoutId id="2147483952" r:id="rId19"/>
    <p:sldLayoutId id="2147483957" r:id="rId20"/>
    <p:sldLayoutId id="2147483956" r:id="rId21"/>
    <p:sldLayoutId id="2147483958" r:id="rId22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 userDrawn="1">
          <p15:clr>
            <a:srgbClr val="A4A3A4"/>
          </p15:clr>
        </p15:guide>
        <p15:guide id="1" orient="horz" pos="96" userDrawn="1">
          <p15:clr>
            <a:srgbClr val="A4A3A4"/>
          </p15:clr>
        </p15:guide>
        <p15:guide id="2" pos="3727" userDrawn="1">
          <p15:clr>
            <a:srgbClr val="A4A3A4"/>
          </p15:clr>
        </p15:guide>
        <p15:guide id="3" pos="3953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5" pos="302" userDrawn="1">
          <p15:clr>
            <a:srgbClr val="A4A3A4"/>
          </p15:clr>
        </p15:guide>
        <p15:guide id="6" orient="horz" pos="527" userDrawn="1">
          <p15:clr>
            <a:srgbClr val="A4A3A4"/>
          </p15:clr>
        </p15:guide>
        <p15:guide id="8" orient="horz" pos="935" userDrawn="1">
          <p15:clr>
            <a:srgbClr val="A4A3A4"/>
          </p15:clr>
        </p15:guide>
        <p15:guide id="9" orient="horz" pos="3974" userDrawn="1">
          <p15:clr>
            <a:srgbClr val="A4A3A4"/>
          </p15:clr>
        </p15:guide>
        <p15:guide id="10" orient="horz" pos="4156" userDrawn="1">
          <p15:clr>
            <a:srgbClr val="A4A3A4"/>
          </p15:clr>
        </p15:guide>
        <p15:guide id="11" orient="horz" pos="4269" userDrawn="1">
          <p15:clr>
            <a:srgbClr val="A4A3A4"/>
          </p15:clr>
        </p15:guide>
        <p15:guide id="12" orient="horz" pos="640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710619-D609-4ABA-8EC3-1DBA3A476E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7085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9" imgW="444" imgH="443" progId="TCLayout.ActiveDocument.1">
                  <p:embed/>
                </p:oleObj>
              </mc:Choice>
              <mc:Fallback>
                <p:oleObj name="thinkcellスライド" r:id="rId9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710619-D609-4ABA-8EC3-1DBA3A476E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52400"/>
            <a:ext cx="11232000" cy="6477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kumimoji="1" lang="ja-JP" altLang="en-US"/>
              <a:t>スライドタイトル</a:t>
            </a:r>
            <a:r>
              <a:rPr lang="ja-JP" altLang="en-US" noProof="0"/>
              <a:t>（入力が必要）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GB" altLang="en-GB"/>
              <a:t>DT Template 16:9</a:t>
            </a:r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788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4725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308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75" r:id="rId2"/>
    <p:sldLayoutId id="2147483970" r:id="rId3"/>
    <p:sldLayoutId id="2147483980" r:id="rId4"/>
    <p:sldLayoutId id="2147483981" r:id="rId5"/>
    <p:sldLayoutId id="2147483982" r:id="rId6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anose="020B0604020202020204" pitchFamily="34" charset="0"/>
        <a:buNone/>
        <a:defRPr kumimoji="1" sz="1600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80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96" userDrawn="1">
          <p15:clr>
            <a:srgbClr val="A4A3A4"/>
          </p15:clr>
        </p15:guide>
        <p15:guide id="3" pos="3727" userDrawn="1">
          <p15:clr>
            <a:srgbClr val="A4A3A4"/>
          </p15:clr>
        </p15:guide>
        <p15:guide id="4" pos="3953" userDrawn="1">
          <p15:clr>
            <a:srgbClr val="A4A3A4"/>
          </p15:clr>
        </p15:guide>
        <p15:guide id="5" pos="7378" userDrawn="1">
          <p15:clr>
            <a:srgbClr val="A4A3A4"/>
          </p15:clr>
        </p15:guide>
        <p15:guide id="6" pos="302" userDrawn="1">
          <p15:clr>
            <a:srgbClr val="A4A3A4"/>
          </p15:clr>
        </p15:guide>
        <p15:guide id="7" orient="horz" pos="50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  <p15:guide id="9" orient="horz" pos="935" userDrawn="1">
          <p15:clr>
            <a:srgbClr val="A4A3A4"/>
          </p15:clr>
        </p15:guide>
        <p15:guide id="10" orient="horz" pos="3974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  <p15:guide id="12" orient="horz" pos="4269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714237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8" imgW="444" imgH="443" progId="TCLayout.ActiveDocument.1">
                  <p:embed/>
                </p:oleObj>
              </mc:Choice>
              <mc:Fallback>
                <p:oleObj name="thinkcellスライド" r:id="rId28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E0E64AB6-CEBE-4B69-BA95-262258503BE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rgbClr val="75787B"/>
                </a:solidFill>
                <a:latin typeface="+mn-lt"/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9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3998" r:id="rId12"/>
    <p:sldLayoutId id="2147483999" r:id="rId13"/>
    <p:sldLayoutId id="2147484000" r:id="rId14"/>
    <p:sldLayoutId id="2147484001" r:id="rId15"/>
    <p:sldLayoutId id="2147484002" r:id="rId16"/>
    <p:sldLayoutId id="2147484003" r:id="rId17"/>
    <p:sldLayoutId id="2147484004" r:id="rId18"/>
    <p:sldLayoutId id="2147484005" r:id="rId19"/>
    <p:sldLayoutId id="2147484006" r:id="rId20"/>
    <p:sldLayoutId id="2147484007" r:id="rId21"/>
    <p:sldLayoutId id="2147484008" r:id="rId22"/>
    <p:sldLayoutId id="2147484009" r:id="rId23"/>
    <p:sldLayoutId id="2147484011" r:id="rId24"/>
    <p:sldLayoutId id="2147484033" r:id="rId25"/>
  </p:sldLayoutIdLst>
  <p:hf hdr="0" ftr="0" dt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A4A3A4"/>
          </p15:clr>
        </p15:guide>
        <p15:guide id="1" orient="horz" pos="96">
          <p15:clr>
            <a:srgbClr val="A4A3A4"/>
          </p15:clr>
        </p15:guide>
        <p15:guide id="2" pos="3727">
          <p15:clr>
            <a:srgbClr val="A4A3A4"/>
          </p15:clr>
        </p15:guide>
        <p15:guide id="3" pos="3953">
          <p15:clr>
            <a:srgbClr val="A4A3A4"/>
          </p15:clr>
        </p15:guide>
        <p15:guide id="4" pos="7378">
          <p15:clr>
            <a:srgbClr val="A4A3A4"/>
          </p15:clr>
        </p15:guide>
        <p15:guide id="5" pos="302">
          <p15:clr>
            <a:srgbClr val="A4A3A4"/>
          </p15:clr>
        </p15:guide>
        <p15:guide id="6" orient="horz" pos="527">
          <p15:clr>
            <a:srgbClr val="A4A3A4"/>
          </p15:clr>
        </p15:guide>
        <p15:guide id="8" orient="horz" pos="935">
          <p15:clr>
            <a:srgbClr val="A4A3A4"/>
          </p15:clr>
        </p15:guide>
        <p15:guide id="9" orient="horz" pos="3974">
          <p15:clr>
            <a:srgbClr val="A4A3A4"/>
          </p15:clr>
        </p15:guide>
        <p15:guide id="10" orient="horz" pos="4156">
          <p15:clr>
            <a:srgbClr val="A4A3A4"/>
          </p15:clr>
        </p15:guide>
        <p15:guide id="11" orient="horz" pos="4269">
          <p15:clr>
            <a:srgbClr val="A4A3A4"/>
          </p15:clr>
        </p15:guide>
        <p15:guide id="12" orient="horz" pos="640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714237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3" imgW="444" imgH="443" progId="TCLayout.ActiveDocument.1">
                  <p:embed/>
                </p:oleObj>
              </mc:Choice>
              <mc:Fallback>
                <p:oleObj name="thinkcellスライド" r:id="rId2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3157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  <p:sldLayoutId id="2147484025" r:id="rId13"/>
    <p:sldLayoutId id="2147484026" r:id="rId14"/>
    <p:sldLayoutId id="2147484027" r:id="rId15"/>
    <p:sldLayoutId id="2147484028" r:id="rId16"/>
    <p:sldLayoutId id="2147484029" r:id="rId17"/>
    <p:sldLayoutId id="2147484030" r:id="rId18"/>
    <p:sldLayoutId id="2147484031" r:id="rId19"/>
    <p:sldLayoutId id="2147484032" r:id="rId20"/>
  </p:sldLayoutIdLst>
  <p:hf hdr="0" ftr="0" dt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A4A3A4"/>
          </p15:clr>
        </p15:guide>
        <p15:guide id="1" orient="horz" pos="96">
          <p15:clr>
            <a:srgbClr val="A4A3A4"/>
          </p15:clr>
        </p15:guide>
        <p15:guide id="2" pos="3727">
          <p15:clr>
            <a:srgbClr val="A4A3A4"/>
          </p15:clr>
        </p15:guide>
        <p15:guide id="3" pos="3953">
          <p15:clr>
            <a:srgbClr val="A4A3A4"/>
          </p15:clr>
        </p15:guide>
        <p15:guide id="4" pos="7378">
          <p15:clr>
            <a:srgbClr val="A4A3A4"/>
          </p15:clr>
        </p15:guide>
        <p15:guide id="5" pos="302">
          <p15:clr>
            <a:srgbClr val="A4A3A4"/>
          </p15:clr>
        </p15:guide>
        <p15:guide id="6" orient="horz" pos="527">
          <p15:clr>
            <a:srgbClr val="A4A3A4"/>
          </p15:clr>
        </p15:guide>
        <p15:guide id="8" orient="horz" pos="935">
          <p15:clr>
            <a:srgbClr val="A4A3A4"/>
          </p15:clr>
        </p15:guide>
        <p15:guide id="9" orient="horz" pos="3974">
          <p15:clr>
            <a:srgbClr val="A4A3A4"/>
          </p15:clr>
        </p15:guide>
        <p15:guide id="10" orient="horz" pos="4156">
          <p15:clr>
            <a:srgbClr val="A4A3A4"/>
          </p15:clr>
        </p15:guide>
        <p15:guide id="11" orient="horz" pos="4269">
          <p15:clr>
            <a:srgbClr val="A4A3A4"/>
          </p15:clr>
        </p15:guide>
        <p15:guide id="12" orient="horz" pos="640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87.xml"/><Relationship Id="rId2" Type="http://schemas.openxmlformats.org/officeDocument/2006/relationships/slideLayout" Target="../slideLayouts/slideLayout4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87.xml"/><Relationship Id="rId2" Type="http://schemas.openxmlformats.org/officeDocument/2006/relationships/slideLayout" Target="../slideLayouts/slideLayout4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87.xml"/><Relationship Id="rId2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2E02-6136-F336-E97C-B10F9164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569B64-2801-5CAF-2CA4-0C36569673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 dirty="0"/>
              <a:t>事例A｜大手生命保険会社｜高予定利率の年金保険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29AC0418-4874-281A-CB95-967790A4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ja-JP" altLang="en-US" dirty="0"/>
              <a:t>機械学習の予測モデルで効いた変数を生成AIに渡し、顧客一人ひとりへの話法まで一気通貫でつなげました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F89B437-8F29-ECC1-7D5D-DD922EC427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80000" y="6588000"/>
            <a:ext cx="180000" cy="1692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5FCFE5-FE56-4EF1-80A8-07776887C2A1}" type="slidenum">
              <a:rPr kumimoji="0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Yu Gothic UI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ja-JP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 UI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0060" y="1536192"/>
            <a:ext cx="2560320" cy="256032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54864" tIns="36576" rIns="54864" bIns="36576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FFFFFF"/>
                </a:solidFill>
              </a:rPr>
              <a:t>課題感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1847088"/>
            <a:ext cx="2560320" cy="1283589"/>
          </a:xfrm>
          <a:prstGeom prst="rect">
            <a:avLst/>
          </a:prstGeom>
          <a:noFill/>
        </p:spPr>
        <p:txBody>
          <a:bodyPr wrap="square" anchor="t" lIns="36576" tIns="18288" rIns="36576" bIns="0">
            <a:spAutoFit/>
          </a:bodyPr>
          <a:lstStyle/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高予定利率の長期契約が逆ざやとなり、保有し続けるほど収益を圧迫</a:t>
            </a:r>
          </a:p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一律の案内では契約者が動かず、解約・一時金受取の意向が読めない</a:t>
            </a:r>
          </a:p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「誰に・何を・どう伝えるか」が営業職員の経験任せ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" y="3295269"/>
            <a:ext cx="2560320" cy="256032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54864" tIns="36576" rIns="54864" bIns="36576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FFFFFF"/>
                </a:solidFill>
              </a:rPr>
              <a:t>効果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3606165"/>
            <a:ext cx="2560320" cy="2063115"/>
          </a:xfrm>
          <a:prstGeom prst="rect">
            <a:avLst/>
          </a:prstGeom>
          <a:noFill/>
        </p:spPr>
        <p:txBody>
          <a:bodyPr wrap="square" anchor="t" lIns="36576" tIns="18288" rIns="36576" bIns="0">
            <a:spAutoFit/>
          </a:bodyPr>
          <a:lstStyle/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動きやすい顧客から順に接触でき、限られた営業リソースを集中</a:t>
            </a:r>
          </a:p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話法が標準化され、職員の経験差による成果のばらつきが縮小</a:t>
            </a:r>
          </a:p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モデルの出力がスコア表で終わらず、現場でそのまま使える形に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36192"/>
            <a:ext cx="4069080" cy="256032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54864" tIns="36576" rIns="54864" bIns="36576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FFFFFF"/>
                </a:solidFill>
              </a:rPr>
              <a:t>ソリューション構造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865376"/>
            <a:ext cx="4069080" cy="592074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865376"/>
            <a:ext cx="548640" cy="592074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データ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79" y="1938528"/>
            <a:ext cx="1063752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45720" tIns="18288" rIns="36576" bIns="18288"/>
          <a:lstStyle/>
          <a:p>
            <a:pPr algn="ctr">
              <a:spcAft>
                <a:spcPts val="0"/>
              </a:spcAft>
            </a:pPr>
            <a:r>
              <a:rPr sz="900" b="0" lang="ja-JP" altLang="en-US">
                <a:solidFill>
                  <a:srgbClr val="53565A"/>
                </a:solidFill>
              </a:rPr>
              <a:t>契約情報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77383" y="1938528"/>
            <a:ext cx="1063752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45720" tIns="18288" rIns="36576" bIns="18288"/>
          <a:lstStyle/>
          <a:p>
            <a:pPr algn="ctr">
              <a:spcAft>
                <a:spcPts val="0"/>
              </a:spcAft>
            </a:pPr>
            <a:r>
              <a:rPr sz="900" b="0" lang="ja-JP" altLang="en-US">
                <a:solidFill>
                  <a:srgbClr val="53565A"/>
                </a:solidFill>
              </a:rPr>
              <a:t>顧客属性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4287" y="1938528"/>
            <a:ext cx="1063752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45720" tIns="18288" rIns="36576" bIns="18288"/>
          <a:lstStyle/>
          <a:p>
            <a:pPr algn="ctr">
              <a:spcAft>
                <a:spcPts val="0"/>
              </a:spcAft>
            </a:pPr>
            <a:r>
              <a:rPr sz="900" b="0" lang="ja-JP" altLang="en-US">
                <a:solidFill>
                  <a:srgbClr val="53565A"/>
                </a:solidFill>
              </a:rPr>
              <a:t>接点・照会履歴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436107" y="2494026"/>
            <a:ext cx="146304" cy="146303"/>
          </a:xfrm>
          <a:prstGeom prst="down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2676906"/>
            <a:ext cx="4069080" cy="756666"/>
          </a:xfrm>
          <a:prstGeom prst="rect">
            <a:avLst/>
          </a:prstGeom>
          <a:solidFill>
            <a:srgbClr val="F2F2F1"/>
          </a:solidFill>
          <a:ln w="9525">
            <a:solidFill>
              <a:srgbClr val="D0D0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2676906"/>
            <a:ext cx="548640" cy="756666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機械</a:t>
            </a:r>
          </a:p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学習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79" y="2750058"/>
            <a:ext cx="1063752" cy="61036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0" lang="ja-JP" altLang="en-US">
                <a:solidFill>
                  <a:srgbClr val="000000"/>
                </a:solidFill>
              </a:rPr>
              <a:t>顧客セグメンテーション</a:t>
            </a:r>
          </a:p>
        </p:txBody>
      </p:sp>
      <p:sp>
        <p:nvSpPr>
          <p:cNvPr id="22" name="Oval 21"/>
          <p:cNvSpPr/>
          <p:nvPr/>
        </p:nvSpPr>
        <p:spPr>
          <a:xfrm>
            <a:off x="3886199" y="2963799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7383" y="2750058"/>
            <a:ext cx="1063752" cy="61036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0" lang="ja-JP" altLang="en-US">
                <a:solidFill>
                  <a:srgbClr val="000000"/>
                </a:solidFill>
              </a:rPr>
              <a:t>解約パターン分析</a:t>
            </a:r>
          </a:p>
        </p:txBody>
      </p:sp>
      <p:sp>
        <p:nvSpPr>
          <p:cNvPr id="24" name="Oval 23"/>
          <p:cNvSpPr/>
          <p:nvPr/>
        </p:nvSpPr>
        <p:spPr>
          <a:xfrm>
            <a:off x="5023103" y="2963799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4287" y="2750058"/>
            <a:ext cx="1063752" cy="61036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0" lang="ja-JP" altLang="en-US">
                <a:solidFill>
                  <a:srgbClr val="000000"/>
                </a:solidFill>
              </a:rPr>
              <a:t>解約予測モデル</a:t>
            </a:r>
          </a:p>
        </p:txBody>
      </p:sp>
      <p:sp>
        <p:nvSpPr>
          <p:cNvPr id="26" name="Oval 25"/>
          <p:cNvSpPr/>
          <p:nvPr/>
        </p:nvSpPr>
        <p:spPr>
          <a:xfrm>
            <a:off x="6160007" y="2963799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4604702" y="3470148"/>
            <a:ext cx="146304" cy="146303"/>
          </a:xfrm>
          <a:prstGeom prst="down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7582" y="3433572"/>
            <a:ext cx="1534795" cy="219456"/>
          </a:xfrm>
          <a:prstGeom prst="rect">
            <a:avLst/>
          </a:prstGeom>
          <a:noFill/>
        </p:spPr>
        <p:txBody>
          <a:bodyPr wrap="square" anchor="ctr" lIns="27432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 altLang="en-US">
                <a:solidFill>
                  <a:srgbClr val="53565A"/>
                </a:solidFill>
              </a:rPr>
              <a:t>顧客別スコア ＋ 寄与変数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653028"/>
            <a:ext cx="4069080" cy="1003553"/>
          </a:xfrm>
          <a:prstGeom prst="rect">
            <a:avLst/>
          </a:prstGeom>
          <a:solidFill>
            <a:srgbClr val="F1F7E4"/>
          </a:solidFill>
          <a:ln w="22225">
            <a:solidFill>
              <a:srgbClr val="86BC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653028"/>
            <a:ext cx="548640" cy="1003553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生成</a:t>
            </a:r>
          </a:p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79" y="3726180"/>
            <a:ext cx="1632204" cy="610362"/>
          </a:xfrm>
          <a:prstGeom prst="rect">
            <a:avLst/>
          </a:prstGeom>
          <a:solidFill>
            <a:srgbClr val="FFFFFF"/>
          </a:solidFill>
          <a:ln w="12700">
            <a:solidFill>
              <a:srgbClr val="86BC25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1" lang="ja-JP" altLang="en-US">
                <a:solidFill>
                  <a:srgbClr val="000000"/>
                </a:solidFill>
              </a:rPr>
              <a:t>寄与変数の言語化（動機仮説）</a:t>
            </a:r>
          </a:p>
        </p:txBody>
      </p:sp>
      <p:sp>
        <p:nvSpPr>
          <p:cNvPr id="32" name="Oval 31"/>
          <p:cNvSpPr/>
          <p:nvPr/>
        </p:nvSpPr>
        <p:spPr>
          <a:xfrm>
            <a:off x="3886199" y="3939921"/>
            <a:ext cx="182880" cy="18288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45836" y="3726180"/>
            <a:ext cx="1632204" cy="610362"/>
          </a:xfrm>
          <a:prstGeom prst="rect">
            <a:avLst/>
          </a:prstGeom>
          <a:solidFill>
            <a:srgbClr val="FFFFFF"/>
          </a:solidFill>
          <a:ln w="12700">
            <a:solidFill>
              <a:srgbClr val="86BC25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1" lang="ja-JP" altLang="en-US">
                <a:solidFill>
                  <a:srgbClr val="000000"/>
                </a:solidFill>
              </a:rPr>
              <a:t>アプローチ方針・話法の生成</a:t>
            </a:r>
          </a:p>
        </p:txBody>
      </p:sp>
      <p:sp>
        <p:nvSpPr>
          <p:cNvPr id="34" name="Oval 33"/>
          <p:cNvSpPr/>
          <p:nvPr/>
        </p:nvSpPr>
        <p:spPr>
          <a:xfrm>
            <a:off x="5591555" y="3939921"/>
            <a:ext cx="182880" cy="18288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79" y="4382262"/>
            <a:ext cx="746760" cy="2194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lang="ja-JP" altLang="en-US">
                <a:solidFill>
                  <a:srgbClr val="26890D"/>
                </a:solidFill>
              </a:rPr>
              <a:t>入力に追加：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6656" y="4400550"/>
            <a:ext cx="8534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750" b="0" lang="ja-JP" altLang="en-US">
                <a:solidFill>
                  <a:srgbClr val="26890D"/>
                </a:solidFill>
              </a:rPr>
              <a:t>顧客プロファイル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85816" y="4400550"/>
            <a:ext cx="94869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750" b="0" lang="ja-JP" altLang="en-US">
                <a:solidFill>
                  <a:srgbClr val="26890D"/>
                </a:solidFill>
              </a:rPr>
              <a:t>セグメント別訴求軸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80226" y="4400550"/>
            <a:ext cx="56769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750" b="0" lang="ja-JP" altLang="en-US">
                <a:solidFill>
                  <a:srgbClr val="26890D"/>
                </a:solidFill>
              </a:rPr>
              <a:t>募集ルール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4664074" y="4693158"/>
            <a:ext cx="146304" cy="146303"/>
          </a:xfrm>
          <a:prstGeom prst="down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954" y="4656582"/>
            <a:ext cx="1416050" cy="219456"/>
          </a:xfrm>
          <a:prstGeom prst="rect">
            <a:avLst/>
          </a:prstGeom>
          <a:noFill/>
        </p:spPr>
        <p:txBody>
          <a:bodyPr wrap="square" anchor="ctr" lIns="27432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 altLang="en-US">
                <a:solidFill>
                  <a:srgbClr val="53565A"/>
                </a:solidFill>
              </a:rPr>
              <a:t>顧客別アプローチシート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4876038"/>
            <a:ext cx="4069080" cy="72009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4876038"/>
            <a:ext cx="548640" cy="720090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現場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79" y="4949190"/>
            <a:ext cx="3337560" cy="57378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45720" tIns="18288" rIns="36576" bIns="18288"/>
          <a:lstStyle/>
          <a:p>
            <a:pPr algn="ctr">
              <a:spcAft>
                <a:spcPts val="0"/>
              </a:spcAft>
            </a:pPr>
            <a:r>
              <a:rPr sz="900" b="0" lang="ja-JP" altLang="en-US">
                <a:solidFill>
                  <a:srgbClr val="53565A"/>
                </a:solidFill>
              </a:rPr>
              <a:t>営業職員が確認・修正して活用 → 結果をフィードバック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34072" y="1536192"/>
            <a:ext cx="4279392" cy="256032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54864" tIns="36576" rIns="54864" bIns="36576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FFFFFF"/>
                </a:solidFill>
              </a:rPr>
              <a:t>アプローチ（生成AIの活用ポイント）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34072" y="1865376"/>
            <a:ext cx="4279392" cy="746760"/>
          </a:xfrm>
          <a:prstGeom prst="rect">
            <a:avLst/>
          </a:prstGeom>
          <a:solidFill>
            <a:srgbClr val="F2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07224" y="1947672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7" name="Oval 46"/>
          <p:cNvSpPr/>
          <p:nvPr/>
        </p:nvSpPr>
        <p:spPr>
          <a:xfrm>
            <a:off x="7717536" y="1947672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Oval 47"/>
          <p:cNvSpPr/>
          <p:nvPr/>
        </p:nvSpPr>
        <p:spPr>
          <a:xfrm>
            <a:off x="7927848" y="1947672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8" y="1920240"/>
            <a:ext cx="3502151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 altLang="en-US">
                <a:solidFill>
                  <a:srgbClr val="000000"/>
                </a:solidFill>
              </a:rPr>
              <a:t>機械学習：誰が・いつ動きやすいかを特定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07224" y="2176272"/>
            <a:ext cx="4133087" cy="362712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lang="ja-JP" altLang="en-US">
                <a:solidFill>
                  <a:srgbClr val="53565A"/>
                </a:solidFill>
              </a:rPr>
              <a:t>顧客像を類型化し、過去解約者のライフイベント・時期・経路から型を抽出。顧客単位でスコアリングし優先順位を付与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34072" y="2740152"/>
            <a:ext cx="4279392" cy="1109472"/>
          </a:xfrm>
          <a:prstGeom prst="rect">
            <a:avLst/>
          </a:prstGeom>
          <a:solidFill>
            <a:srgbClr val="F1F7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07224" y="2822448"/>
            <a:ext cx="182880" cy="18288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35824" y="2795016"/>
            <a:ext cx="3922775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 altLang="en-US">
                <a:solidFill>
                  <a:srgbClr val="000000"/>
                </a:solidFill>
              </a:rPr>
              <a:t>寄与変数を「動機仮説」に翻訳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07224" y="3051048"/>
            <a:ext cx="4133087" cy="762000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 marL="128016" indent="-128016">
              <a:spcAft>
                <a:spcPts val="2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顧客ごとに効いた上位変数（受取開始までの残年数、直近の手続き・照会など）を自然言語に変換</a:t>
            </a:r>
          </a:p>
          <a:p>
            <a:pPr algn="l" marL="128016" indent="-128016">
              <a:spcAft>
                <a:spcPts val="2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「なぜこの方は動きやすいか」を一文で示し、スコアだけでは解釈できない問題を解消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34072" y="3977639"/>
            <a:ext cx="4279392" cy="1472184"/>
          </a:xfrm>
          <a:prstGeom prst="rect">
            <a:avLst/>
          </a:prstGeom>
          <a:solidFill>
            <a:srgbClr val="F1F7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507224" y="4059935"/>
            <a:ext cx="182880" cy="18288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35824" y="4032503"/>
            <a:ext cx="3922775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 altLang="en-US">
                <a:solidFill>
                  <a:srgbClr val="000000"/>
                </a:solidFill>
              </a:rPr>
              <a:t>顧客単位のアプローチ方針・話法を生成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07224" y="4288536"/>
            <a:ext cx="4133087" cy="1124711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 marL="128016" indent="-128016">
              <a:spcAft>
                <a:spcPts val="2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動機仮説 × セグメント別訴求軸（老後資金の見直し、相続、資金ニーズ等）から、切り出し方・訴求点・想定問答を生成</a:t>
            </a:r>
          </a:p>
          <a:p>
            <a:pPr algn="l" marL="128016" indent="-128016">
              <a:spcAft>
                <a:spcPts val="2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募集ルール上の必須説明・禁止表現をプロンプトの制約として組み込み</a:t>
            </a:r>
          </a:p>
          <a:p>
            <a:pPr algn="l" marL="128016" indent="-128016">
              <a:spcAft>
                <a:spcPts val="2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職員が確認・修正して使う前提とし、現場の反応を次回生成に反映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0060" y="5760720"/>
            <a:ext cx="11233404" cy="43891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37160" tIns="0" rIns="137160" bIns="0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86BC25"/>
                </a:solidFill>
              </a:rPr>
              <a:t>本件への示唆　</a:t>
            </a:r>
            <a:r>
              <a:rPr sz="1100" b="0" lang="ja-JP" altLang="en-US">
                <a:solidFill>
                  <a:srgbClr val="FFFFFF"/>
                </a:solidFill>
              </a:rPr>
              <a:t>予測モデルを内製化しても、説明変数を生成AIの入力に変換する「接続設計」が付加価値の源泉になる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060" y="6236208"/>
            <a:ext cx="8229600" cy="182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lang="ja-JP" altLang="en-US">
                <a:solidFill>
                  <a:srgbClr val="53565A"/>
                </a:solidFill>
              </a:rPr>
              <a:t>過去の支援経験に基づく。社名・数値は非開示</a:t>
            </a:r>
          </a:p>
        </p:txBody>
      </p:sp>
    </p:spTree>
    <p:extLst>
      <p:ext uri="{BB962C8B-B14F-4D97-AF65-F5344CB8AC3E}">
        <p14:creationId xmlns:p14="http://schemas.microsoft.com/office/powerpoint/2010/main" val="1734936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2E02-6136-F336-E97C-B10F9164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569B64-2801-5CAF-2CA4-0C36569673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 dirty="0"/>
              <a:t>事例B｜生命保険会社2社｜苦情解析を入り口にした離脱防止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29AC0418-4874-281A-CB95-967790A4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ja-JP" altLang="en-US" dirty="0"/>
              <a:t>苦情の声を生成AIで構造化し、対応規定と顧客プロファイルに照らした対応策・話法を顧客単位で生成しました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F89B437-8F29-ECC1-7D5D-DD922EC427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80000" y="6588000"/>
            <a:ext cx="180000" cy="1692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5FCFE5-FE56-4EF1-80A8-07776887C2A1}" type="slidenum">
              <a:rPr kumimoji="0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Yu Gothic UI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ja-JP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 UI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0060" y="1536192"/>
            <a:ext cx="2560320" cy="256032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54864" tIns="36576" rIns="54864" bIns="36576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FFFFFF"/>
                </a:solidFill>
              </a:rPr>
              <a:t>課題感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1847088"/>
            <a:ext cx="2560320" cy="1450276"/>
          </a:xfrm>
          <a:prstGeom prst="rect">
            <a:avLst/>
          </a:prstGeom>
          <a:noFill/>
        </p:spPr>
        <p:txBody>
          <a:bodyPr wrap="square" anchor="t" lIns="36576" tIns="18288" rIns="36576" bIns="0">
            <a:spAutoFit/>
          </a:bodyPr>
          <a:lstStyle/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寄せられる声を社員が毎日読み、手作業で分類。時間がかかり判断にばらつき</a:t>
            </a:r>
          </a:p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1件の通話に複数の不満が混在し、重要な申出を拾い切れない</a:t>
            </a:r>
          </a:p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苦情は離脱の予兆だが、対応が個人の力量に依存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" y="3461956"/>
            <a:ext cx="2560320" cy="256032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54864" tIns="36576" rIns="54864" bIns="36576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FFFFFF"/>
                </a:solidFill>
              </a:rPr>
              <a:t>効果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3772852"/>
            <a:ext cx="2560320" cy="1896427"/>
          </a:xfrm>
          <a:prstGeom prst="rect">
            <a:avLst/>
          </a:prstGeom>
          <a:noFill/>
        </p:spPr>
        <p:txBody>
          <a:bodyPr wrap="square" anchor="t" lIns="36576" tIns="18288" rIns="36576" bIns="0">
            <a:spAutoFit/>
          </a:bodyPr>
          <a:lstStyle/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作業時間を減らしつつ、正確で平準的な分類を実現</a:t>
            </a:r>
          </a:p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不満・要望のトレンドを即時に把握し、改善サイクルを短縮</a:t>
            </a:r>
          </a:p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実証を経て本番業務へ導入。対応品質を底上げし、苦情起点の離脱抑制へ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36192"/>
            <a:ext cx="4069080" cy="256032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54864" tIns="36576" rIns="54864" bIns="36576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FFFFFF"/>
                </a:solidFill>
              </a:rPr>
              <a:t>ソリューション構造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865376"/>
            <a:ext cx="4069080" cy="526694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865376"/>
            <a:ext cx="548640" cy="526694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データ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79" y="1938528"/>
            <a:ext cx="3337560" cy="38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0" lang="ja-JP" altLang="en-US">
                <a:solidFill>
                  <a:srgbClr val="000000"/>
                </a:solidFill>
              </a:rPr>
              <a:t>通話記録・対応メモの前処理（NLP）</a:t>
            </a:r>
          </a:p>
        </p:txBody>
      </p:sp>
      <p:sp>
        <p:nvSpPr>
          <p:cNvPr id="16" name="Oval 15"/>
          <p:cNvSpPr/>
          <p:nvPr/>
        </p:nvSpPr>
        <p:spPr>
          <a:xfrm>
            <a:off x="3886199" y="2037283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436107" y="2428646"/>
            <a:ext cx="146304" cy="146303"/>
          </a:xfrm>
          <a:prstGeom prst="down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2611526"/>
            <a:ext cx="4069080" cy="1364284"/>
          </a:xfrm>
          <a:prstGeom prst="rect">
            <a:avLst/>
          </a:prstGeom>
          <a:solidFill>
            <a:srgbClr val="F1F7E4"/>
          </a:solidFill>
          <a:ln w="22225">
            <a:solidFill>
              <a:srgbClr val="86BC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2611526"/>
            <a:ext cx="548640" cy="1364284"/>
          </a:xfrm>
          <a:prstGeom prst="rect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生成</a:t>
            </a:r>
          </a:p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AI</a:t>
            </a:r>
          </a:p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＋RAG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79" y="2684678"/>
            <a:ext cx="1632204" cy="453542"/>
          </a:xfrm>
          <a:prstGeom prst="rect">
            <a:avLst/>
          </a:prstGeom>
          <a:solidFill>
            <a:srgbClr val="FFFFFF"/>
          </a:solidFill>
          <a:ln w="12700">
            <a:solidFill>
              <a:srgbClr val="86BC25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1" lang="ja-JP" altLang="en-US">
                <a:solidFill>
                  <a:srgbClr val="000000"/>
                </a:solidFill>
              </a:rPr>
              <a:t>申出事項の理解・切り分け</a:t>
            </a:r>
          </a:p>
        </p:txBody>
      </p:sp>
      <p:sp>
        <p:nvSpPr>
          <p:cNvPr id="21" name="Oval 20"/>
          <p:cNvSpPr/>
          <p:nvPr/>
        </p:nvSpPr>
        <p:spPr>
          <a:xfrm>
            <a:off x="3886199" y="2820009"/>
            <a:ext cx="182880" cy="18288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45836" y="2684678"/>
            <a:ext cx="1632204" cy="453542"/>
          </a:xfrm>
          <a:prstGeom prst="rect">
            <a:avLst/>
          </a:prstGeom>
          <a:solidFill>
            <a:srgbClr val="FFFFFF"/>
          </a:solidFill>
          <a:ln w="12700">
            <a:solidFill>
              <a:srgbClr val="86BC25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1" lang="ja-JP" altLang="en-US">
                <a:solidFill>
                  <a:srgbClr val="000000"/>
                </a:solidFill>
              </a:rPr>
              <a:t>定義表に沿った自動分類</a:t>
            </a:r>
          </a:p>
        </p:txBody>
      </p:sp>
      <p:sp>
        <p:nvSpPr>
          <p:cNvPr id="23" name="Oval 22"/>
          <p:cNvSpPr/>
          <p:nvPr/>
        </p:nvSpPr>
        <p:spPr>
          <a:xfrm>
            <a:off x="5591555" y="2820009"/>
            <a:ext cx="182880" cy="18288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79" y="3202228"/>
            <a:ext cx="1632204" cy="453542"/>
          </a:xfrm>
          <a:prstGeom prst="rect">
            <a:avLst/>
          </a:prstGeom>
          <a:solidFill>
            <a:srgbClr val="FFFFFF"/>
          </a:solidFill>
          <a:ln w="12700">
            <a:solidFill>
              <a:srgbClr val="86BC25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1" lang="ja-JP" altLang="en-US">
                <a:solidFill>
                  <a:srgbClr val="000000"/>
                </a:solidFill>
              </a:rPr>
              <a:t>規定・顧客情報との突合</a:t>
            </a:r>
          </a:p>
        </p:txBody>
      </p:sp>
      <p:sp>
        <p:nvSpPr>
          <p:cNvPr id="25" name="Oval 24"/>
          <p:cNvSpPr/>
          <p:nvPr/>
        </p:nvSpPr>
        <p:spPr>
          <a:xfrm>
            <a:off x="3886199" y="3337560"/>
            <a:ext cx="182880" cy="18288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45836" y="3202228"/>
            <a:ext cx="1632204" cy="453542"/>
          </a:xfrm>
          <a:prstGeom prst="rect">
            <a:avLst/>
          </a:prstGeom>
          <a:solidFill>
            <a:srgbClr val="FFFFFF"/>
          </a:solidFill>
          <a:ln w="12700">
            <a:solidFill>
              <a:srgbClr val="86BC25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1" lang="ja-JP" altLang="en-US">
                <a:solidFill>
                  <a:srgbClr val="000000"/>
                </a:solidFill>
              </a:rPr>
              <a:t>対応策・話法の生成</a:t>
            </a:r>
          </a:p>
        </p:txBody>
      </p:sp>
      <p:sp>
        <p:nvSpPr>
          <p:cNvPr id="27" name="Oval 26"/>
          <p:cNvSpPr/>
          <p:nvPr/>
        </p:nvSpPr>
        <p:spPr>
          <a:xfrm>
            <a:off x="5591555" y="3337560"/>
            <a:ext cx="182880" cy="18288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79" y="3701491"/>
            <a:ext cx="711200" cy="2194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lang="ja-JP" altLang="en-US">
                <a:solidFill>
                  <a:srgbClr val="26890D"/>
                </a:solidFill>
              </a:rPr>
              <a:t>RAG参照先：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51095" y="3719779"/>
            <a:ext cx="56769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750" b="0" lang="ja-JP" altLang="en-US">
                <a:solidFill>
                  <a:srgbClr val="26890D"/>
                </a:solidFill>
              </a:rPr>
              <a:t>分類定義表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64505" y="3719779"/>
            <a:ext cx="6629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750" b="0" lang="ja-JP" altLang="en-US">
                <a:solidFill>
                  <a:srgbClr val="26890D"/>
                </a:solidFill>
              </a:rPr>
              <a:t>苦情対応規定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3165" y="3719779"/>
            <a:ext cx="8534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750" b="0" lang="ja-JP" altLang="en-US">
                <a:solidFill>
                  <a:srgbClr val="26890D"/>
                </a:solidFill>
              </a:rPr>
              <a:t>顧客プロファイル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4202588" y="4012387"/>
            <a:ext cx="146304" cy="146303"/>
          </a:xfrm>
          <a:prstGeom prst="down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5468" y="3975811"/>
            <a:ext cx="2339022" cy="219456"/>
          </a:xfrm>
          <a:prstGeom prst="rect">
            <a:avLst/>
          </a:prstGeom>
          <a:noFill/>
        </p:spPr>
        <p:txBody>
          <a:bodyPr wrap="square" anchor="ctr" lIns="27432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 altLang="en-US">
                <a:solidFill>
                  <a:srgbClr val="53565A"/>
                </a:solidFill>
              </a:rPr>
              <a:t>分類結果（根拠付き）＋ 顧客別対応シート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4195267"/>
            <a:ext cx="4069080" cy="59984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0" y="4195267"/>
            <a:ext cx="548640" cy="599846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現場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79" y="4268419"/>
            <a:ext cx="1632204" cy="45354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45720" tIns="18288" rIns="36576" bIns="18288"/>
          <a:lstStyle/>
          <a:p>
            <a:pPr algn="ctr">
              <a:spcAft>
                <a:spcPts val="0"/>
              </a:spcAft>
            </a:pPr>
            <a:r>
              <a:rPr sz="900" b="0" lang="ja-JP" altLang="en-US">
                <a:solidFill>
                  <a:srgbClr val="53565A"/>
                </a:solidFill>
              </a:rPr>
              <a:t>対応担当者が確認・確定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45836" y="4268419"/>
            <a:ext cx="1632204" cy="45354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45720" tIns="18288" rIns="36576" bIns="18288"/>
          <a:lstStyle/>
          <a:p>
            <a:pPr algn="ctr">
              <a:spcAft>
                <a:spcPts val="0"/>
              </a:spcAft>
            </a:pPr>
            <a:r>
              <a:rPr sz="900" b="0" lang="ja-JP" altLang="en-US">
                <a:solidFill>
                  <a:srgbClr val="53565A"/>
                </a:solidFill>
              </a:rPr>
              <a:t>品質管理部門がトレンド把握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4772024" y="4831689"/>
            <a:ext cx="146304" cy="146303"/>
          </a:xfrm>
          <a:prstGeom prst="down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4904" y="4795113"/>
            <a:ext cx="1200150" cy="219456"/>
          </a:xfrm>
          <a:prstGeom prst="rect">
            <a:avLst/>
          </a:prstGeom>
          <a:noFill/>
        </p:spPr>
        <p:txBody>
          <a:bodyPr wrap="square" anchor="ctr" lIns="27432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 altLang="en-US">
                <a:solidFill>
                  <a:srgbClr val="53565A"/>
                </a:solidFill>
              </a:rPr>
              <a:t>構造化された「声」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014569"/>
            <a:ext cx="4069080" cy="581558"/>
          </a:xfrm>
          <a:prstGeom prst="rect">
            <a:avLst/>
          </a:prstGeom>
          <a:solidFill>
            <a:srgbClr val="F2F2F1"/>
          </a:solidFill>
          <a:ln w="9525">
            <a:solidFill>
              <a:srgbClr val="D0D0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5014569"/>
            <a:ext cx="548640" cy="581558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機械</a:t>
            </a:r>
          </a:p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学習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79" y="5087721"/>
            <a:ext cx="3337560" cy="435254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0" lang="ja-JP" altLang="en-US">
                <a:solidFill>
                  <a:srgbClr val="000000"/>
                </a:solidFill>
              </a:rPr>
              <a:t>離脱予測モデルの特徴量として還流（拡張）</a:t>
            </a:r>
          </a:p>
        </p:txBody>
      </p:sp>
      <p:sp>
        <p:nvSpPr>
          <p:cNvPr id="43" name="Oval 42"/>
          <p:cNvSpPr/>
          <p:nvPr/>
        </p:nvSpPr>
        <p:spPr>
          <a:xfrm>
            <a:off x="3886199" y="5213908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34072" y="1536192"/>
            <a:ext cx="4279392" cy="256032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54864" tIns="36576" rIns="54864" bIns="36576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FFFFFF"/>
                </a:solidFill>
              </a:rPr>
              <a:t>アプローチ（生成AIの活用ポイント）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34072" y="1865376"/>
            <a:ext cx="4279392" cy="715263"/>
          </a:xfrm>
          <a:prstGeom prst="rect">
            <a:avLst/>
          </a:prstGeom>
          <a:solidFill>
            <a:srgbClr val="F1F7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07224" y="1947672"/>
            <a:ext cx="182880" cy="18288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35824" y="1920240"/>
            <a:ext cx="3922775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 altLang="en-US">
                <a:solidFill>
                  <a:srgbClr val="000000"/>
                </a:solidFill>
              </a:rPr>
              <a:t>申出事項の理解・切り分け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07224" y="2176272"/>
            <a:ext cx="4133087" cy="367791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 marL="128016" indent="-128016">
              <a:spcAft>
                <a:spcPts val="2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950" b="0" lang="ja-JP" altLang="en-US">
                <a:solidFill>
                  <a:srgbClr val="000000"/>
                </a:solidFill>
              </a:rPr>
              <a:t>1通話に混在する複数の申出を個別に抽出し、事実・要望・感情を分けて整理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34072" y="2690368"/>
            <a:ext cx="4279392" cy="896874"/>
          </a:xfrm>
          <a:prstGeom prst="rect">
            <a:avLst/>
          </a:prstGeom>
          <a:solidFill>
            <a:srgbClr val="F1F7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507224" y="2772663"/>
            <a:ext cx="182880" cy="18288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35824" y="2745232"/>
            <a:ext cx="3922775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 altLang="en-US">
                <a:solidFill>
                  <a:srgbClr val="000000"/>
                </a:solidFill>
              </a:rPr>
              <a:t>分類定義表に沿った自動分類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07224" y="3001263"/>
            <a:ext cx="4133087" cy="549402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 marL="128016" indent="-128016">
              <a:spcAft>
                <a:spcPts val="2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950" b="0" lang="ja-JP" altLang="en-US">
                <a:solidFill>
                  <a:srgbClr val="000000"/>
                </a:solidFill>
              </a:rPr>
              <a:t>社内の分類定義表をRAGで参照し、分類候補を根拠とともに提示。担当者が確定</a:t>
            </a:r>
          </a:p>
          <a:p>
            <a:pPr algn="l" marL="128016" indent="-128016">
              <a:spcAft>
                <a:spcPts val="2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950" b="0" lang="ja-JP" altLang="en-US">
                <a:solidFill>
                  <a:srgbClr val="000000"/>
                </a:solidFill>
              </a:rPr>
              <a:t>定義の改定は参照文書の差し替えで対応でき、再学習が不要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34072" y="3696969"/>
            <a:ext cx="4279392" cy="896874"/>
          </a:xfrm>
          <a:prstGeom prst="rect">
            <a:avLst/>
          </a:prstGeom>
          <a:solidFill>
            <a:srgbClr val="F1F7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507224" y="3779265"/>
            <a:ext cx="182880" cy="18288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5" name="Oval 54"/>
          <p:cNvSpPr/>
          <p:nvPr/>
        </p:nvSpPr>
        <p:spPr>
          <a:xfrm>
            <a:off x="7717536" y="3779265"/>
            <a:ext cx="182880" cy="182880"/>
          </a:xfrm>
          <a:prstGeom prst="ellips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46136" y="3751833"/>
            <a:ext cx="3712463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 altLang="en-US">
                <a:solidFill>
                  <a:srgbClr val="000000"/>
                </a:solidFill>
              </a:rPr>
              <a:t>規定・顧客情報と突合し、対応策・話法を生成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07224" y="4007865"/>
            <a:ext cx="4133087" cy="549401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 marL="128016" indent="-128016">
              <a:spcAft>
                <a:spcPts val="2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950" b="0" lang="ja-JP" altLang="en-US">
                <a:solidFill>
                  <a:srgbClr val="000000"/>
                </a:solidFill>
              </a:rPr>
              <a:t>苦情対応規定から該当箇所を検索し、契約・属性情報と照合</a:t>
            </a:r>
          </a:p>
          <a:p>
            <a:pPr algn="l" marL="128016" indent="-128016">
              <a:spcAft>
                <a:spcPts val="2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950" b="0" lang="ja-JP" altLang="en-US">
                <a:solidFill>
                  <a:srgbClr val="000000"/>
                </a:solidFill>
              </a:rPr>
              <a:t>顧客単位で対応方針と伝え方を生成し、根拠となる規定を併記して確認可能に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34072" y="4703571"/>
            <a:ext cx="4279392" cy="715263"/>
          </a:xfrm>
          <a:prstGeom prst="rect">
            <a:avLst/>
          </a:prstGeom>
          <a:solidFill>
            <a:srgbClr val="F2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07224" y="4785867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0" name="Oval 59"/>
          <p:cNvSpPr/>
          <p:nvPr/>
        </p:nvSpPr>
        <p:spPr>
          <a:xfrm>
            <a:off x="7717536" y="4785867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46136" y="4758435"/>
            <a:ext cx="3712463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 altLang="en-US">
                <a:solidFill>
                  <a:srgbClr val="000000"/>
                </a:solidFill>
              </a:rPr>
              <a:t>前後の工程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07224" y="5014467"/>
            <a:ext cx="4133087" cy="331216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lang="ja-JP" altLang="en-US">
                <a:solidFill>
                  <a:srgbClr val="53565A"/>
                </a:solidFill>
              </a:rPr>
              <a:t>NLPで記録を整形。構造化結果は契約データと組み合わせ、属性・商品別の分析や離脱予測へ拡張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0060" y="5760720"/>
            <a:ext cx="11233404" cy="43891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37160" tIns="0" rIns="137160" bIns="0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86BC25"/>
                </a:solidFill>
              </a:rPr>
              <a:t>本件への示唆　</a:t>
            </a:r>
            <a:r>
              <a:rPr sz="1100" b="0" lang="ja-JP" altLang="en-US">
                <a:solidFill>
                  <a:srgbClr val="FFFFFF"/>
                </a:solidFill>
              </a:rPr>
              <a:t>構造化した「声」は契約データと組み合わせることで、内製の離脱予測モデルの特徴量にそのまま還流できる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060" y="6236208"/>
            <a:ext cx="8229600" cy="182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lang="ja-JP" altLang="en-US">
                <a:solidFill>
                  <a:srgbClr val="53565A"/>
                </a:solidFill>
              </a:rPr>
              <a:t>過去の支援経験に基づく。社名非開示（分類・分析部分は一部公開事例）</a:t>
            </a:r>
          </a:p>
        </p:txBody>
      </p:sp>
    </p:spTree>
    <p:extLst>
      <p:ext uri="{BB962C8B-B14F-4D97-AF65-F5344CB8AC3E}">
        <p14:creationId xmlns:p14="http://schemas.microsoft.com/office/powerpoint/2010/main" val="173493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2E02-6136-F336-E97C-B10F9164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569B64-2801-5CAF-2CA4-0C36569673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 dirty="0"/>
              <a:t>事例C｜大手損害保険グループ｜生保・医療・火災・自動車の全種目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29AC0418-4874-281A-CB95-967790A4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ja-JP" altLang="en-US" dirty="0"/>
              <a:t>全種目横断の機械学習で離脱ドライバーは特定できましたが、「なぜ・どう動くか」は人手の解釈に残りました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F89B437-8F29-ECC1-7D5D-DD922EC427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80000" y="6588000"/>
            <a:ext cx="180000" cy="1692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5FCFE5-FE56-4EF1-80A8-07776887C2A1}" type="slidenum">
              <a:rPr kumimoji="0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Yu Gothic UI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ja-JP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 UI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0060" y="1536192"/>
            <a:ext cx="2560320" cy="256032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54864" tIns="36576" rIns="54864" bIns="36576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FFFFFF"/>
                </a:solidFill>
              </a:rPr>
              <a:t>課題感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1847088"/>
            <a:ext cx="2560320" cy="1283589"/>
          </a:xfrm>
          <a:prstGeom prst="rect">
            <a:avLst/>
          </a:prstGeom>
          <a:noFill/>
        </p:spPr>
        <p:txBody>
          <a:bodyPr wrap="square" anchor="t" lIns="36576" tIns="18288" rIns="36576" bIns="0">
            <a:spAutoFit/>
          </a:bodyPr>
          <a:lstStyle/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種目ごとにデータと施策が分断され、顧客単位で離脱兆候を捉えられない</a:t>
            </a:r>
          </a:p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1種目の離脱が他種目へ連鎖するが、その構造が見えていない</a:t>
            </a:r>
          </a:p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離脱防止とクロスセルが別々に企画され、同じ顧客への提案が不整合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" y="3295269"/>
            <a:ext cx="2560320" cy="256032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54864" tIns="36576" rIns="54864" bIns="36576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FFFFFF"/>
                </a:solidFill>
              </a:rPr>
              <a:t>効果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3606165"/>
            <a:ext cx="2560320" cy="2063115"/>
          </a:xfrm>
          <a:prstGeom prst="rect">
            <a:avLst/>
          </a:prstGeom>
          <a:noFill/>
        </p:spPr>
        <p:txBody>
          <a:bodyPr wrap="square" anchor="t" lIns="36576" tIns="18288" rIns="36576" bIns="0">
            <a:spAutoFit/>
          </a:bodyPr>
          <a:lstStyle/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種目別の離脱ドライバーと連鎖パターンを特定し、施策の優先度を明確化</a:t>
            </a:r>
          </a:p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高リスク層を絞り込み、接触リソースを集中</a:t>
            </a:r>
          </a:p>
          <a:p>
            <a:pPr algn="l" marL="128016" indent="-128016">
              <a:spcAft>
                <a:spcPts val="5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1050" b="0" lang="ja-JP" altLang="en-US">
                <a:solidFill>
                  <a:srgbClr val="000000"/>
                </a:solidFill>
              </a:rPr>
              <a:t>離脱防止とクロスセルを同一の顧客ビューで企画できる土台を構築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36192"/>
            <a:ext cx="4069080" cy="256032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54864" tIns="36576" rIns="54864" bIns="36576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FFFFFF"/>
                </a:solidFill>
              </a:rPr>
              <a:t>ソリューション構造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865376"/>
            <a:ext cx="4069080" cy="927201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865376"/>
            <a:ext cx="548640" cy="927201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データ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79" y="1938528"/>
            <a:ext cx="779526" cy="34015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45720" tIns="18288" rIns="36576" bIns="18288"/>
          <a:lstStyle/>
          <a:p>
            <a:pPr algn="ctr">
              <a:spcAft>
                <a:spcPts val="0"/>
              </a:spcAft>
            </a:pPr>
            <a:r>
              <a:rPr sz="900" b="0" lang="ja-JP" altLang="en-US">
                <a:solidFill>
                  <a:srgbClr val="53565A"/>
                </a:solidFill>
              </a:rPr>
              <a:t>生保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93157" y="1938528"/>
            <a:ext cx="779526" cy="34015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45720" tIns="18288" rIns="36576" bIns="18288"/>
          <a:lstStyle/>
          <a:p>
            <a:pPr algn="ctr">
              <a:spcAft>
                <a:spcPts val="0"/>
              </a:spcAft>
            </a:pPr>
            <a:r>
              <a:rPr sz="900" b="0" lang="ja-JP" altLang="en-US">
                <a:solidFill>
                  <a:srgbClr val="53565A"/>
                </a:solidFill>
              </a:rPr>
              <a:t>医療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45836" y="1938528"/>
            <a:ext cx="779526" cy="34015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45720" tIns="18288" rIns="36576" bIns="18288"/>
          <a:lstStyle/>
          <a:p>
            <a:pPr algn="ctr">
              <a:spcAft>
                <a:spcPts val="0"/>
              </a:spcAft>
            </a:pPr>
            <a:r>
              <a:rPr sz="900" b="0" lang="ja-JP" altLang="en-US">
                <a:solidFill>
                  <a:srgbClr val="53565A"/>
                </a:solidFill>
              </a:rPr>
              <a:t>火災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98513" y="1938528"/>
            <a:ext cx="779526" cy="340156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45720" tIns="18288" rIns="36576" bIns="18288"/>
          <a:lstStyle/>
          <a:p>
            <a:pPr algn="ctr">
              <a:spcAft>
                <a:spcPts val="0"/>
              </a:spcAft>
            </a:pPr>
            <a:r>
              <a:rPr sz="900" b="0" lang="ja-JP" altLang="en-US">
                <a:solidFill>
                  <a:srgbClr val="53565A"/>
                </a:solidFill>
              </a:rPr>
              <a:t>自動車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79" y="2342692"/>
            <a:ext cx="3337560" cy="3767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0" lang="ja-JP" altLang="en-US">
                <a:solidFill>
                  <a:srgbClr val="000000"/>
                </a:solidFill>
              </a:rPr>
              <a:t>顧客単位に名寄せ・統合</a:t>
            </a:r>
          </a:p>
        </p:txBody>
      </p:sp>
      <p:sp>
        <p:nvSpPr>
          <p:cNvPr id="20" name="Oval 19"/>
          <p:cNvSpPr/>
          <p:nvPr/>
        </p:nvSpPr>
        <p:spPr>
          <a:xfrm>
            <a:off x="3886199" y="2439619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436107" y="2829153"/>
            <a:ext cx="146304" cy="146303"/>
          </a:xfrm>
          <a:prstGeom prst="down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3012033"/>
            <a:ext cx="4069080" cy="687628"/>
          </a:xfrm>
          <a:prstGeom prst="rect">
            <a:avLst/>
          </a:prstGeom>
          <a:solidFill>
            <a:srgbClr val="F2F2F1"/>
          </a:solidFill>
          <a:ln w="9525">
            <a:solidFill>
              <a:srgbClr val="D0D0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0" y="3012033"/>
            <a:ext cx="548640" cy="687628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機械</a:t>
            </a:r>
          </a:p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学習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79" y="3085185"/>
            <a:ext cx="1063752" cy="5413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0" lang="ja-JP" altLang="en-US">
                <a:solidFill>
                  <a:srgbClr val="000000"/>
                </a:solidFill>
              </a:rPr>
              <a:t>種目別 離脱パターン可視化</a:t>
            </a:r>
          </a:p>
        </p:txBody>
      </p:sp>
      <p:sp>
        <p:nvSpPr>
          <p:cNvPr id="25" name="Oval 24"/>
          <p:cNvSpPr/>
          <p:nvPr/>
        </p:nvSpPr>
        <p:spPr>
          <a:xfrm>
            <a:off x="3886199" y="3264408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77383" y="3085185"/>
            <a:ext cx="1063752" cy="5413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0" lang="ja-JP" altLang="en-US">
                <a:solidFill>
                  <a:srgbClr val="000000"/>
                </a:solidFill>
              </a:rPr>
              <a:t>離脱予測モデル検証</a:t>
            </a:r>
          </a:p>
        </p:txBody>
      </p:sp>
      <p:sp>
        <p:nvSpPr>
          <p:cNvPr id="27" name="Oval 26"/>
          <p:cNvSpPr/>
          <p:nvPr/>
        </p:nvSpPr>
        <p:spPr>
          <a:xfrm>
            <a:off x="5023103" y="3264408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4287" y="3085185"/>
            <a:ext cx="1063752" cy="5413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0" lang="ja-JP" altLang="en-US">
                <a:solidFill>
                  <a:srgbClr val="000000"/>
                </a:solidFill>
              </a:rPr>
              <a:t>クロスセル余地の特定</a:t>
            </a:r>
          </a:p>
        </p:txBody>
      </p:sp>
      <p:sp>
        <p:nvSpPr>
          <p:cNvPr id="29" name="Oval 28"/>
          <p:cNvSpPr/>
          <p:nvPr/>
        </p:nvSpPr>
        <p:spPr>
          <a:xfrm>
            <a:off x="6160007" y="3264408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4113530" y="3736238"/>
            <a:ext cx="146304" cy="146303"/>
          </a:xfrm>
          <a:prstGeom prst="down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6410" y="3699662"/>
            <a:ext cx="2517140" cy="219456"/>
          </a:xfrm>
          <a:prstGeom prst="rect">
            <a:avLst/>
          </a:prstGeom>
          <a:noFill/>
        </p:spPr>
        <p:txBody>
          <a:bodyPr wrap="square" anchor="ctr" lIns="27432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lang="ja-JP" altLang="en-US">
                <a:solidFill>
                  <a:srgbClr val="53565A"/>
                </a:solidFill>
              </a:rPr>
              <a:t>種目別スコア ＋ 離脱ドライバー ＋ 提案候補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919118"/>
            <a:ext cx="4069080" cy="916228"/>
          </a:xfrm>
          <a:prstGeom prst="rect">
            <a:avLst/>
          </a:prstGeom>
          <a:solidFill>
            <a:srgbClr val="FFFFFF"/>
          </a:solidFill>
          <a:ln w="19050">
            <a:solidFill>
              <a:srgbClr val="26890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0" y="3919118"/>
            <a:ext cx="548640" cy="916228"/>
          </a:xfrm>
          <a:prstGeom prst="rect">
            <a:avLst/>
          </a:prstGeom>
          <a:solidFill>
            <a:srgbClr val="FFFFFF"/>
          </a:solidFill>
          <a:ln w="19050">
            <a:solidFill>
              <a:srgbClr val="26890D"/>
            </a:solidFill>
            <a:prstDash val="dash"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26890D"/>
                </a:solidFill>
              </a:rPr>
              <a:t>生成</a:t>
            </a:r>
          </a:p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26890D"/>
                </a:solidFill>
              </a:rPr>
              <a:t>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79" y="3992270"/>
            <a:ext cx="3337560" cy="523036"/>
          </a:xfrm>
          <a:prstGeom prst="rect">
            <a:avLst/>
          </a:prstGeom>
          <a:solidFill>
            <a:srgbClr val="FFFFFF"/>
          </a:solidFill>
          <a:ln w="12700">
            <a:solidFill>
              <a:srgbClr val="26890D"/>
            </a:solidFill>
            <a:prstDash val="dash"/>
          </a:ln>
          <a:effectLst/>
        </p:spPr>
        <p:txBody>
          <a:bodyPr rtlCol="0" anchor="ctr" wrap="square" lIns="246888" tIns="18288" rIns="36576" bIns="18288"/>
          <a:lstStyle/>
          <a:p>
            <a:pPr algn="l">
              <a:spcAft>
                <a:spcPts val="0"/>
              </a:spcAft>
            </a:pPr>
            <a:r>
              <a:rPr sz="900" b="0" lang="ja-JP" altLang="en-US">
                <a:solidFill>
                  <a:srgbClr val="000000"/>
                </a:solidFill>
              </a:rPr>
              <a:t>顧客単位の解釈と、離脱防止×クロスセルの統合シナリオ・話法</a:t>
            </a:r>
          </a:p>
        </p:txBody>
      </p:sp>
      <p:sp>
        <p:nvSpPr>
          <p:cNvPr id="35" name="Oval 34"/>
          <p:cNvSpPr/>
          <p:nvPr/>
        </p:nvSpPr>
        <p:spPr>
          <a:xfrm>
            <a:off x="3886199" y="41623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890D"/>
            </a:solidFill>
            <a:prstDash val="dash"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26890D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79" y="4561027"/>
            <a:ext cx="1513840" cy="2194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lang="ja-JP" altLang="en-US">
                <a:solidFill>
                  <a:srgbClr val="26890D"/>
                </a:solidFill>
              </a:rPr>
              <a:t>※当時は人手で対応（未実施）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5436107" y="4871923"/>
            <a:ext cx="146304" cy="146303"/>
          </a:xfrm>
          <a:prstGeom prst="down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5054803"/>
            <a:ext cx="4069080" cy="5413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0" y="5054803"/>
            <a:ext cx="548640" cy="541324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900" b="1" lang="ja-JP" altLang="en-US">
                <a:solidFill>
                  <a:srgbClr val="FFFFFF"/>
                </a:solidFill>
              </a:rPr>
              <a:t>現場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79" y="5127955"/>
            <a:ext cx="3337560" cy="3950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txBody>
          <a:bodyPr rtlCol="0" anchor="ctr" wrap="square" lIns="45720" tIns="18288" rIns="36576" bIns="18288"/>
          <a:lstStyle/>
          <a:p>
            <a:pPr algn="ctr">
              <a:spcAft>
                <a:spcPts val="0"/>
              </a:spcAft>
            </a:pPr>
            <a:r>
              <a:rPr sz="900" b="0" lang="ja-JP" altLang="en-US">
                <a:solidFill>
                  <a:srgbClr val="53565A"/>
                </a:solidFill>
              </a:rPr>
              <a:t>営業・代理店・コンタクトセンター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34072" y="1536192"/>
            <a:ext cx="4279392" cy="256032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54864" tIns="36576" rIns="54864" bIns="36576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FFFFFF"/>
                </a:solidFill>
              </a:rPr>
              <a:t>アプローチ（生成AIの活用ポイント）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34072" y="1865376"/>
            <a:ext cx="4279392" cy="715263"/>
          </a:xfrm>
          <a:prstGeom prst="rect">
            <a:avLst/>
          </a:prstGeom>
          <a:solidFill>
            <a:srgbClr val="F2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07224" y="1947672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35824" y="1920240"/>
            <a:ext cx="3922775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 altLang="en-US">
                <a:solidFill>
                  <a:srgbClr val="000000"/>
                </a:solidFill>
              </a:rPr>
              <a:t>データ統合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07224" y="2176272"/>
            <a:ext cx="4133087" cy="331216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lang="ja-JP" altLang="en-US">
                <a:solidFill>
                  <a:srgbClr val="53565A"/>
                </a:solidFill>
              </a:rPr>
              <a:t>種目別に管理されていた契約を顧客単位に名寄せし、横断分析の基盤を整備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34072" y="2726944"/>
            <a:ext cx="4279392" cy="864870"/>
          </a:xfrm>
          <a:prstGeom prst="rect">
            <a:avLst/>
          </a:prstGeom>
          <a:solidFill>
            <a:srgbClr val="F2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07224" y="2809239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Oval 47"/>
          <p:cNvSpPr/>
          <p:nvPr/>
        </p:nvSpPr>
        <p:spPr>
          <a:xfrm>
            <a:off x="7717536" y="2809239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9" name="Oval 48"/>
          <p:cNvSpPr/>
          <p:nvPr/>
        </p:nvSpPr>
        <p:spPr>
          <a:xfrm>
            <a:off x="7927848" y="2809239"/>
            <a:ext cx="182880" cy="182880"/>
          </a:xfrm>
          <a:prstGeom prst="ellipse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56448" y="2781808"/>
            <a:ext cx="3502151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 altLang="en-US">
                <a:solidFill>
                  <a:srgbClr val="000000"/>
                </a:solidFill>
              </a:rPr>
              <a:t>機械学習：種目別に離脱とクロスセルを定量化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07224" y="3037839"/>
            <a:ext cx="4133087" cy="480821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lang="ja-JP" altLang="en-US">
                <a:solidFill>
                  <a:srgbClr val="53565A"/>
                </a:solidFill>
              </a:rPr>
              <a:t>更改時期、事故・請求、チャネル別に離脱の型を抽出。種目別にモデルを構築し精度と主要ドライバーを評価。保有種目の組み合わせから追加提案の候補層を抽出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34072" y="3738117"/>
            <a:ext cx="4279392" cy="1501140"/>
          </a:xfrm>
          <a:prstGeom prst="rect">
            <a:avLst/>
          </a:prstGeom>
          <a:solidFill>
            <a:srgbClr val="FFFFFF"/>
          </a:solidFill>
          <a:ln w="15875">
            <a:solidFill>
              <a:srgbClr val="26890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507224" y="3820413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890D"/>
            </a:solidFill>
            <a:prstDash val="dash"/>
          </a:ln>
          <a:effectLst/>
        </p:spPr>
        <p:txBody>
          <a:bodyPr rtlCol="0" anchor="ctr" wrap="square" lIns="0" tIns="0" rIns="0" bIns="0"/>
          <a:lstStyle/>
          <a:p>
            <a:pPr algn="ctr">
              <a:spcAft>
                <a:spcPts val="0"/>
              </a:spcAft>
            </a:pPr>
            <a:r>
              <a:rPr sz="800" b="1" lang="ja-JP" altLang="en-US">
                <a:solidFill>
                  <a:srgbClr val="26890D"/>
                </a:solidFill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35824" y="3792981"/>
            <a:ext cx="3922775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lang="ja-JP" altLang="en-US">
                <a:solidFill>
                  <a:srgbClr val="000000"/>
                </a:solidFill>
              </a:rPr>
              <a:t>残った工程：スコアを打ち手に変える（生成AIの補完領域）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07224" y="4049013"/>
            <a:ext cx="4133087" cy="480821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lang="ja-JP" altLang="en-US">
                <a:solidFill>
                  <a:srgbClr val="000000"/>
                </a:solidFill>
              </a:rPr>
              <a:t>当時は担当者が手作業で解釈・企画。種目×セグメントの組み合わせが膨大で、顧客単位までは落とし切れなかった。現在であれば生成AIで以下を担える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07224" y="4529835"/>
            <a:ext cx="4133087" cy="672846"/>
          </a:xfrm>
          <a:prstGeom prst="rect">
            <a:avLst/>
          </a:prstGeom>
          <a:noFill/>
        </p:spPr>
        <p:txBody>
          <a:bodyPr wrap="square" anchor="t" lIns="18288" tIns="0" rIns="18288" bIns="0">
            <a:spAutoFit/>
          </a:bodyPr>
          <a:lstStyle/>
          <a:p>
            <a:pPr algn="l" marL="128016" indent="-128016">
              <a:spcAft>
                <a:spcPts val="2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950" b="0" lang="ja-JP" altLang="en-US">
                <a:solidFill>
                  <a:srgbClr val="000000"/>
                </a:solidFill>
              </a:rPr>
              <a:t>種目をまたぐドライバーを顧客単位で要約し、離脱理由の仮説を提示</a:t>
            </a:r>
          </a:p>
          <a:p>
            <a:pPr algn="l" marL="128016" indent="-128016">
              <a:spcAft>
                <a:spcPts val="2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950" b="0" lang="ja-JP" altLang="en-US">
                <a:solidFill>
                  <a:srgbClr val="000000"/>
                </a:solidFill>
              </a:rPr>
              <a:t>離脱防止とクロスセルを一本化した提案シナリオを生成</a:t>
            </a:r>
          </a:p>
          <a:p>
            <a:pPr algn="l" marL="128016" indent="-128016">
              <a:spcAft>
                <a:spcPts val="200"/>
              </a:spcAft>
              <a:buClr>
                <a:srgbClr val="26890D"/>
              </a:buClr>
              <a:buSzPct val="70000"/>
              <a:buFont typeface="Arial"/>
              <a:buChar char="■"/>
            </a:pPr>
            <a:r>
              <a:rPr sz="950" b="0" lang="ja-JP" altLang="en-US">
                <a:solidFill>
                  <a:srgbClr val="000000"/>
                </a:solidFill>
              </a:rPr>
              <a:t>チャネル（営業・代理店・コンタクトセンター）別に話法を出し分け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0060" y="5760720"/>
            <a:ext cx="11233404" cy="43891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37160" tIns="0" rIns="137160" bIns="0"/>
          <a:lstStyle/>
          <a:p>
            <a:pPr algn="l">
              <a:spcAft>
                <a:spcPts val="0"/>
              </a:spcAft>
            </a:pPr>
            <a:r>
              <a:rPr sz="1100" b="1" lang="ja-JP" altLang="en-US">
                <a:solidFill>
                  <a:srgbClr val="86BC25"/>
                </a:solidFill>
              </a:rPr>
              <a:t>本件への示唆　</a:t>
            </a:r>
            <a:r>
              <a:rPr sz="1100" b="0" lang="ja-JP" altLang="en-US">
                <a:solidFill>
                  <a:srgbClr val="FFFFFF"/>
                </a:solidFill>
              </a:rPr>
              <a:t>大規模データでも予測までは機械学習で到達できる。差が付くのは、スコアを打ち手に変える最後の工程に生成AIを充てられるか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060" y="6236208"/>
            <a:ext cx="8229600" cy="182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lang="ja-JP" altLang="en-US">
                <a:solidFill>
                  <a:srgbClr val="53565A"/>
                </a:solidFill>
              </a:rPr>
              <a:t>過去の支援経験に基づく。社名・数値は非開示</a:t>
            </a:r>
          </a:p>
        </p:txBody>
      </p:sp>
    </p:spTree>
    <p:extLst>
      <p:ext uri="{BB962C8B-B14F-4D97-AF65-F5344CB8AC3E}">
        <p14:creationId xmlns:p14="http://schemas.microsoft.com/office/powerpoint/2010/main" val="17349367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LANGUAGE_ID" val="1041"/>
  <p:tag name="EE4P_STYLE_ID" val="076a8867-8b72-4914-890a-d2f9a5d03d99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T Template_16:9_J_202507">
  <a:themeElements>
    <a:clrScheme name="Deloitte2025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eloitte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T Template_16_9_J_Short.pptx" id="{013DFF10-7174-409E-AC1D-80AE4A6172B2}" vid="{8E462FA6-9B00-4E7F-BFC0-B6BC63B792EF}"/>
    </a:ext>
  </a:extLst>
</a:theme>
</file>

<file path=ppt/theme/theme2.xml><?xml version="1.0" encoding="utf-8"?>
<a:theme xmlns:a="http://schemas.openxmlformats.org/drawingml/2006/main" name="DT Template_16:9_J_202507_基本版②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eloitte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T Template_16_9_J_Short.pptx" id="{013DFF10-7174-409E-AC1D-80AE4A6172B2}" vid="{EC5F9899-8C00-41A7-90E2-1AA9CB841817}"/>
    </a:ext>
  </a:extLst>
</a:theme>
</file>

<file path=ppt/theme/theme3.xml><?xml version="1.0" encoding="utf-8"?>
<a:theme xmlns:a="http://schemas.openxmlformats.org/drawingml/2006/main" name="DT Template_16:9_J_202401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2024Deloitte">
      <a:majorFont>
        <a:latin typeface="Calibri"/>
        <a:ea typeface="Yu Gothic UI"/>
        <a:cs typeface=""/>
      </a:majorFont>
      <a:minorFont>
        <a:latin typeface="Calibr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プレゼンテーション1" id="{0E36F0E6-4249-4ADB-A6A6-342A0C1EC870}" vid="{3D35B912-24B8-40FF-9725-DA43E876BB86}"/>
    </a:ext>
  </a:extLst>
</a:theme>
</file>

<file path=ppt/theme/theme4.xml><?xml version="1.0" encoding="utf-8"?>
<a:theme xmlns:a="http://schemas.openxmlformats.org/drawingml/2006/main" name="1_DT Template_16:9_J_202401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2024Deloitte">
      <a:majorFont>
        <a:latin typeface="Calibri"/>
        <a:ea typeface="Yu Gothic UI"/>
        <a:cs typeface=""/>
      </a:majorFont>
      <a:minorFont>
        <a:latin typeface="Calibr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プレゼンテーション1" id="{0E36F0E6-4249-4ADB-A6A6-342A0C1EC870}" vid="{3D35B912-24B8-40FF-9725-DA43E876BB86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F4429DF024E5448FC59C7B7B43C1AC" ma:contentTypeVersion="11" ma:contentTypeDescription="Create a new document." ma:contentTypeScope="" ma:versionID="acb135f8ac1bd7cde167a21f1321cadb">
  <xsd:schema xmlns:xsd="http://www.w3.org/2001/XMLSchema" xmlns:xs="http://www.w3.org/2001/XMLSchema" xmlns:p="http://schemas.microsoft.com/office/2006/metadata/properties" xmlns:ns2="736c8bd6-b1a7-463d-a242-abcb0c1a3ab7" xmlns:ns3="25a5c49f-f1be-44ee-b7a9-954566e675d2" targetNamespace="http://schemas.microsoft.com/office/2006/metadata/properties" ma:root="true" ma:fieldsID="72c5b997e5e4c90e17cc0c94290d5872" ns2:_="" ns3:_="">
    <xsd:import namespace="736c8bd6-b1a7-463d-a242-abcb0c1a3ab7"/>
    <xsd:import namespace="25a5c49f-f1be-44ee-b7a9-954566e675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6c8bd6-b1a7-463d-a242-abcb0c1a3a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a5c49f-f1be-44ee-b7a9-954566e675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8a2c12e-9cd8-4bdc-a214-d5fe3fdc3985}" ma:internalName="TaxCatchAll" ma:showField="CatchAllData" ma:web="25a5c49f-f1be-44ee-b7a9-954566e675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6c8bd6-b1a7-463d-a242-abcb0c1a3ab7">
      <Terms xmlns="http://schemas.microsoft.com/office/infopath/2007/PartnerControls"/>
    </lcf76f155ced4ddcb4097134ff3c332f>
    <TaxCatchAll xmlns="25a5c49f-f1be-44ee-b7a9-954566e675d2" xsi:nil="true"/>
  </documentManagement>
</p:properties>
</file>

<file path=customXml/itemProps1.xml><?xml version="1.0" encoding="utf-8"?>
<ds:datastoreItem xmlns:ds="http://schemas.openxmlformats.org/officeDocument/2006/customXml" ds:itemID="{6F2A2CF3-6367-444C-AA09-0D41A3DD392F}">
  <ds:schemaRefs>
    <ds:schemaRef ds:uri="25a5c49f-f1be-44ee-b7a9-954566e675d2"/>
    <ds:schemaRef ds:uri="736c8bd6-b1a7-463d-a242-abcb0c1a3a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C562D3-14B2-4A04-B255-084073502B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F75EE8-E51D-4422-BE39-CF7C03367777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25a5c49f-f1be-44ee-b7a9-954566e675d2"/>
    <ds:schemaRef ds:uri="736c8bd6-b1a7-463d-a242-abcb0c1a3ab7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2409</Words>
  <Application>Microsoft Office PowerPoint</Application>
  <PresentationFormat>ワイド画面</PresentationFormat>
  <Paragraphs>351</Paragraphs>
  <Slides>14</Slides>
  <Notes>8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4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Yu Gothic UI</vt:lpstr>
      <vt:lpstr>游ゴシック</vt:lpstr>
      <vt:lpstr>Aptos</vt:lpstr>
      <vt:lpstr>Arial</vt:lpstr>
      <vt:lpstr>Calibri</vt:lpstr>
      <vt:lpstr>Verdana</vt:lpstr>
      <vt:lpstr>Wingdings</vt:lpstr>
      <vt:lpstr>Wingdings 2</vt:lpstr>
      <vt:lpstr>DT Template_16:9_J_202507</vt:lpstr>
      <vt:lpstr>DT Template_16:9_J_202507_基本版②</vt:lpstr>
      <vt:lpstr>DT Template_16:9_J_202401</vt:lpstr>
      <vt:lpstr>1_DT Template_16:9_J_202401</vt:lpstr>
      <vt:lpstr>thinkcellスライド</vt:lpstr>
      <vt:lpstr>think-cell スライド</vt:lpstr>
      <vt:lpstr>PowerPoint プレゼンテーション</vt:lpstr>
      <vt:lpstr>本日のアジェンダ</vt:lpstr>
      <vt:lpstr>本日時点ではスケジュール通りの進捗です</vt:lpstr>
      <vt:lpstr>本日のアジェンダ</vt:lpstr>
      <vt:lpstr>本取り組みはスケジュール通り推進されています</vt:lpstr>
      <vt:lpstr>本日のアジェンダ</vt:lpstr>
      <vt:lpstr>残課題への対応を反映したアプリを9月末までにITEC様へ引き渡し、今後のバージョンアップデートにて順次適応します</vt:lpstr>
      <vt:lpstr>残課題への対応を反映したアプリを9月末までにITEC様へ引き渡し、今後のバージョンアップデートにて順次適応します</vt:lpstr>
      <vt:lpstr>アプリ画面にてご説明いたします</vt:lpstr>
      <vt:lpstr>本日のアジェンダ</vt:lpstr>
      <vt:lpstr>10月セキュア公開に向けて、9/11にリリース対象版をFIXし、以降はITEC様が統合テスト・移行準備を主導、デロイトは引継ぎ資料整備、エラー・質疑対応、バックログ整理に注力します</vt:lpstr>
      <vt:lpstr>各種無料APIの利用にはHHHD側でのアカウント登録およびAPI Keyの新規発行が必要です</vt:lpstr>
      <vt:lpstr>Appendix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Hu, Xinlong</dc:creator>
  <cp:lastModifiedBy>Hu, Xinlong</cp:lastModifiedBy>
  <cp:revision>1</cp:revision>
  <dcterms:created xsi:type="dcterms:W3CDTF">2026-06-25T23:44:23Z</dcterms:created>
  <dcterms:modified xsi:type="dcterms:W3CDTF">2026-09-15T12:05:27Z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0x0101003CF4429DF024E5448FC59C7B7B43C1AC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2021-11-30T06:12:18Z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177f38b9-1e8a-4270-81d8-98c657c22e6c</vt:lpwstr>
  </property>
  <property fmtid="{D5CDD505-2E9C-101B-9397-08002B2CF9AE}" pid="9" name="MSIP_Label_ea60d57e-af5b-4752-ac57-3e4f28ca11dc_ContentBits">
    <vt:lpwstr>0</vt:lpwstr>
  </property>
  <property fmtid="{D5CDD505-2E9C-101B-9397-08002B2CF9AE}" pid="10" name="MediaServiceImageTags">
    <vt:lpwstr/>
  </property>
</Properties>
</file>