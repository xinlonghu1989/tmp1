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35.bin" ContentType="application/vnd.openxmlformats-officedocument.oleObject"/>
  <Override PartName="/ppt/embeddings/oleObject36.bin" ContentType="application/vnd.openxmlformats-officedocument.oleObject"/>
  <Override PartName="/ppt/embeddings/oleObject37.bin" ContentType="application/vnd.openxmlformats-officedocument.oleObject"/>
  <Override PartName="/ppt/embeddings/oleObject38.bin" ContentType="application/vnd.openxmlformats-officedocument.oleObject"/>
  <Override PartName="/ppt/embeddings/oleObject39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8" r:id="rId4"/>
    <p:sldMasterId id="2147483919" r:id="rId5"/>
    <p:sldMasterId id="2147483986" r:id="rId6"/>
    <p:sldMasterId id="2147484012" r:id="rId7"/>
  </p:sldMasterIdLst>
  <p:notesMasterIdLst>
    <p:notesMasterId r:id="rId22"/>
  </p:notesMasterIdLst>
  <p:handoutMasterIdLst>
    <p:handoutMasterId r:id="rId23"/>
  </p:handoutMasterIdLst>
  <p:sldIdLst>
    <p:sldId id="256" r:id="rId18"/>
    <p:sldId id="257" r:id="rId19"/>
    <p:sldId id="258" r:id="rId20"/>
    <p:sldId id="259" r:id="rId21"/>
    <p:sldId id="260" r:id="rId17"/>
    <p:sldId id="261" r:id="rId16"/>
  </p:sldIdLst>
  <p:sldSz cx="12192000" cy="6858000"/>
  <p:notesSz cx="6735763" cy="9866313"/>
  <p:custDataLst>
    <p:tags r:id="rId2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29768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859536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289304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719072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148840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578608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008376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438144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3" orient="horz" pos="2137" userDrawn="1">
          <p15:clr>
            <a:srgbClr val="A4A3A4"/>
          </p15:clr>
        </p15:guide>
        <p15:guide id="4" pos="3863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A34F904-F128-8147-A709-5BA0B0EDD907}" name="Kato, Yoshiko 1" initials="K1" userId="S::yoshiko1.kato@tohmatsu.co.jp::0536b235-f5eb-4716-8d5f-c14ea1117cc8" providerId="AD"/>
  <p188:author id="{85B9C713-2719-418F-0DB1-FD33C6FBAE59}" name="Mori, Yukiko" initials="MY" userId="S::yukiko.mori@tohmatsu.co.jp::f6c28165-7909-45e9-8c53-3daca56a9b1c" providerId="AD"/>
  <p188:author id="{1E114F58-398E-C9D2-8536-99ABF1D54C77}" name="DLS" initials="u" userId="DLS" providerId="None"/>
  <p188:author id="{5FF94BAC-1D89-45C0-351C-0BB77D8448C6}" name="Fukushima, Rieko" initials="FR" userId="S::rieko.fukushima@tohmatsu.co.jp::42ea695b-0072-4304-903b-cd25183e2212" providerId="AD"/>
  <p188:author id="{668514CC-2331-AEE1-14A9-653540C09CE5}" name="Ochi, Hana" initials="OH" userId="S::haochi@tohmatsu.co.jp::9fa41629-42c7-428e-8d4f-8f774cfc782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shima, Michiru" initials="TM" lastIdx="16" clrIdx="0">
    <p:extLst>
      <p:ext uri="{19B8F6BF-5375-455C-9EA6-DF929625EA0E}">
        <p15:presenceInfo xmlns:p15="http://schemas.microsoft.com/office/powerpoint/2012/main" userId="S::miteshima@tohmatsu.co.jp::4ce32794-bca9-4413-b02a-c3d46948b27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6A38"/>
    <a:srgbClr val="9BE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8D6A08-FCAC-4358-BAE4-43561AE9EF14}" v="2376" dt="2026-09-15T09:35:23.863"/>
    <p1510:client id="{AB5C4B94-6472-7803-CE20-A7CD06FA2A8B}" v="102" dt="2026-09-15T08:42:14.940"/>
    <p1510:client id="{F245FC92-33F3-4BB8-AB35-C27D90D97766}" v="1" dt="2026-09-15T12:05:26.9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間スタイル 1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中間スタイル 1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32" y="366"/>
      </p:cViewPr>
      <p:guideLst>
        <p:guide orient="horz" pos="2137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16" Type="http://schemas.openxmlformats.org/officeDocument/2006/relationships/slide" Target="slides/slide6.xml"/><Relationship Id="rId17" Type="http://schemas.openxmlformats.org/officeDocument/2006/relationships/slide" Target="slides/slide5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tags" Target="tags/tag1.xml"/><Relationship Id="rId25" Type="http://schemas.openxmlformats.org/officeDocument/2006/relationships/commentAuthors" Target="commentAuthors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5/10/relationships/revisionInfo" Target="revisionInfo.xml"/><Relationship Id="rId31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EC3375-25C1-4132-8356-F0254E04DDEC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64172F-6366-47B3-B3D8-F99B8E17CF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84794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endParaRPr kumimoji="1" lang="ja-JP" altLang="en-US">
              <a:latin typeface="Aptos" panose="020B0004020202020204" pitchFamily="34" charset="0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fld id="{AAE2C4BB-DD5D-4EF0-8811-528209874544}" type="datetimeFigureOut">
              <a:rPr kumimoji="1" lang="ja-JP" altLang="en-US" smtClean="0">
                <a:latin typeface="Aptos" panose="020B0004020202020204" pitchFamily="34" charset="0"/>
              </a:rPr>
              <a:pPr/>
              <a:t>2026/9/15</a:t>
            </a:fld>
            <a:endParaRPr kumimoji="1" lang="ja-JP" altLang="en-US">
              <a:latin typeface="Aptos" panose="020B0004020202020204" pitchFamily="34" charset="0"/>
            </a:endParaRPr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>
              <a:latin typeface="Aptos" panose="020B0004020202020204" pitchFamily="34" charset="0"/>
            </a:endParaRPr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endParaRPr kumimoji="1" lang="ja-JP" altLang="en-US">
              <a:latin typeface="Aptos" panose="020B0004020202020204" pitchFamily="34" charset="0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fld id="{24DE13BB-FCB6-4491-A87D-1E9BA7500F8E}" type="slidenum">
              <a:rPr kumimoji="1" lang="ja-JP" altLang="en-US" smtClean="0">
                <a:latin typeface="Aptos" panose="020B0004020202020204" pitchFamily="34" charset="0"/>
              </a:rPr>
              <a:pPr/>
              <a:t>‹#›</a:t>
            </a:fld>
            <a:endParaRPr kumimoji="1" lang="ja-JP" alt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852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Relationship Id="rId5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1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3.bin"/><Relationship Id="rId4" Type="http://schemas.openxmlformats.org/officeDocument/2006/relationships/image" Target="../media/image1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1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1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8.bin"/><Relationship Id="rId4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1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1.e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eg"/><Relationship Id="rId8" Type="http://schemas.openxmlformats.org/officeDocument/2006/relationships/image" Target="../media/image7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1.bin"/><Relationship Id="rId4" Type="http://schemas.openxmlformats.org/officeDocument/2006/relationships/image" Target="../media/image1.emf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8" Type="http://schemas.openxmlformats.org/officeDocument/2006/relationships/image" Target="../media/image6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.emf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.emf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5.bin"/><Relationship Id="rId4" Type="http://schemas.openxmlformats.org/officeDocument/2006/relationships/image" Target="../media/image1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6.bin"/><Relationship Id="rId4" Type="http://schemas.openxmlformats.org/officeDocument/2006/relationships/image" Target="../media/image1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7.bin"/><Relationship Id="rId4" Type="http://schemas.openxmlformats.org/officeDocument/2006/relationships/image" Target="../media/image1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6.bin"/><Relationship Id="rId4" Type="http://schemas.openxmlformats.org/officeDocument/2006/relationships/image" Target="../media/image1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Relationship Id="rId5" Type="http://schemas.openxmlformats.org/officeDocument/2006/relationships/image" Target="../media/image13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Relationship Id="rId5" Type="http://schemas.openxmlformats.org/officeDocument/2006/relationships/image" Target="../media/image3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0.bin"/><Relationship Id="rId4" Type="http://schemas.openxmlformats.org/officeDocument/2006/relationships/image" Target="../media/image1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tags" Target="../tags/tag41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4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tags" Target="../tags/tag47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tags" Target="../tags/tag51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3.bin"/><Relationship Id="rId4" Type="http://schemas.openxmlformats.org/officeDocument/2006/relationships/image" Target="../media/image1.e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e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4.bin"/><Relationship Id="rId4" Type="http://schemas.openxmlformats.org/officeDocument/2006/relationships/image" Target="../media/image1.emf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6.jpe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5.bin"/><Relationship Id="rId4" Type="http://schemas.openxmlformats.org/officeDocument/2006/relationships/image" Target="../media/image1.emf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6.bin"/><Relationship Id="rId4" Type="http://schemas.openxmlformats.org/officeDocument/2006/relationships/image" Target="../media/image1.emf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5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37.bin"/><Relationship Id="rId4" Type="http://schemas.openxmlformats.org/officeDocument/2006/relationships/image" Target="../media/image14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tags" Target="../tags/tag57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0.bin"/><Relationship Id="rId4" Type="http://schemas.openxmlformats.org/officeDocument/2006/relationships/image" Target="../media/image1.emf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tags" Target="../tags/tag61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tags" Target="../tags/tag62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tags" Target="../tags/tag65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slideMaster" Target="../slideMasters/slideMaster4.xml"/><Relationship Id="rId4" Type="http://schemas.openxmlformats.org/officeDocument/2006/relationships/oleObject" Target="../embeddings/oleObject38.bin"/><Relationship Id="rId5" Type="http://schemas.openxmlformats.org/officeDocument/2006/relationships/image" Target="../media/image15.emf"/><Relationship Id="rId6" Type="http://schemas.openxmlformats.org/officeDocument/2006/relationships/oleObject" Target="../embeddings/oleObject39.bin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tags" Target="../tags/tag75.xml"/><Relationship Id="rId2" Type="http://schemas.openxmlformats.org/officeDocument/2006/relationships/slideMaster" Target="../slideMasters/slideMaster4.xml"/><Relationship Id="rId3" Type="http://schemas.openxmlformats.org/officeDocument/2006/relationships/oleObject" Target="../embeddings/oleObject37.bin"/><Relationship Id="rId4" Type="http://schemas.openxmlformats.org/officeDocument/2006/relationships/image" Target="../media/image1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タイトル_ ロゴ入り_16:9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72E5A2AA-8632-4C90-834B-AAF8FA2847A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7041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72E5A2AA-8632-4C90-834B-AAF8FA2847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799" y="5292000"/>
            <a:ext cx="4680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799" y="5760001"/>
            <a:ext cx="4680000" cy="307777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799" y="6408000"/>
            <a:ext cx="4680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095999" y="396000"/>
            <a:ext cx="5616000" cy="676800"/>
          </a:xfrm>
          <a:prstGeom prst="rect">
            <a:avLst/>
          </a:prstGeom>
        </p:spPr>
        <p:txBody>
          <a:bodyPr lIns="0" tIns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200">
                <a:latin typeface="+mn-lt"/>
                <a:ea typeface="+mn-ea"/>
                <a:cs typeface="+mn-cs"/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kumimoji="1" lang="ja-JP" altLang="en-US"/>
              <a:t>クライアント社名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78800" y="432000"/>
            <a:ext cx="2016000" cy="633201"/>
          </a:xfrm>
          <a:prstGeom prst="rect">
            <a:avLst/>
          </a:prstGeom>
        </p:spPr>
      </p:pic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F26CE00B-EF0F-41D9-B6BD-2D199AF6C07D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1058155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タイトル ロゴ無_16:9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F3F91AC-B9F8-4593-AC14-9A64CBC9995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86175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F3F91AC-B9F8-4593-AC14-9A64CBC999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5292000"/>
            <a:ext cx="4680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760001"/>
            <a:ext cx="4680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800" y="6408000"/>
            <a:ext cx="4680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123FC496-31C5-46DB-A99D-560417973E7D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2543739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黒_タイトル_ ロゴ入り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A7976D6E-C49A-4F4A-AE13-FFFBECE614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41782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A7976D6E-C49A-4F4A-AE13-FFFBECE614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5292000"/>
            <a:ext cx="4680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760001"/>
            <a:ext cx="4680000" cy="307777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800" y="6408000"/>
            <a:ext cx="4680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094800" y="396000"/>
            <a:ext cx="5616000" cy="676800"/>
          </a:xfrm>
          <a:prstGeom prst="rect">
            <a:avLst/>
          </a:prstGeom>
        </p:spPr>
        <p:txBody>
          <a:bodyPr lIns="0" tIns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kumimoji="1" lang="ja-JP" altLang="en-US"/>
              <a:t>クライアント社名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78800" y="431999"/>
            <a:ext cx="2016000" cy="627200"/>
          </a:xfrm>
          <a:prstGeom prst="rect">
            <a:avLst/>
          </a:prstGeom>
        </p:spPr>
      </p:pic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3C714361-BA49-499D-BC89-8E0AF24FD365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1914782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黒_タイトル ロゴ無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B84D28BC-667A-4B82-8BF2-52395A1B86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0800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B84D28BC-667A-4B82-8BF2-52395A1B86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799" y="5292000"/>
            <a:ext cx="4680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799" y="5760001"/>
            <a:ext cx="4680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799" y="6408000"/>
            <a:ext cx="4680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9E461804-808B-4C49-B40D-446D892A3BF8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816916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目次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D6642530-2487-4EE6-BEA5-E8FB44599D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13388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D6642530-2487-4EE6-BEA5-E8FB44599D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 bwMode="gray">
          <a:xfrm>
            <a:off x="480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2pPr>
            <a:lvl3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3pPr>
            <a:lvl4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6276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2pPr>
            <a:lvl3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3pPr>
            <a:lvl4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82903191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白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978727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/>
          </p:nvPr>
        </p:nvSpPr>
        <p:spPr bwMode="gray">
          <a:xfrm>
            <a:off x="1596000" y="2556000"/>
            <a:ext cx="9000000" cy="1440000"/>
          </a:xfrm>
          <a:prstGeom prst="rect">
            <a:avLst/>
          </a:prstGeom>
        </p:spPr>
        <p:txBody>
          <a:bodyPr/>
          <a:lstStyle>
            <a:lvl1pPr>
              <a:defRPr sz="2400" baseline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385A94CF-8CB1-C466-40C6-FF0115BA7D94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2025.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2894029594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中表紙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0910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1633268474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Green_中表紙_16: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26008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3451464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Teal_中表紙_16:9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8708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3827265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Blue_中表紙_16:9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87264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10564197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5180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5951022"/>
            <a:ext cx="11233150" cy="360000"/>
          </a:xfrm>
        </p:spPr>
        <p:txBody>
          <a:bodyPr anchor="b"/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5436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8569957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出所・脚注なし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62689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5436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6047188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両サイド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20863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>
            <a:lvl1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1pPr>
            <a:lvl2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2pPr>
            <a:lvl3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3pPr>
            <a:lvl4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4pPr>
            <a:lvl5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1pPr>
            <a:lvl2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2pPr>
            <a:lvl3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3pPr>
            <a:lvl4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4pPr>
            <a:lvl5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lang="ja-JP" altLang="en-US" sz="1800" b="1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425" y="5951022"/>
            <a:ext cx="11232000" cy="360000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ja-JP" altLang="en-US" sz="1200" b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0928838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全面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41836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buNone/>
              <a:defRPr sz="1600" baseline="0"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5951022"/>
            <a:ext cx="11233150" cy="360000"/>
          </a:xfrm>
        </p:spPr>
        <p:txBody>
          <a:bodyPr anchor="b"/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2250517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71777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5951022"/>
            <a:ext cx="11233150" cy="360000"/>
          </a:xfrm>
        </p:spPr>
        <p:txBody>
          <a:bodyPr anchor="b"/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5436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35959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出所・脚注なし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23414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5436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616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両サイド_レベル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18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>
            <a:lvl1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1pPr>
            <a:lvl2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2pPr>
            <a:lvl3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3pPr>
            <a:lvl4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4pPr>
            <a:lvl5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>
            <a:lvl1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1pPr>
            <a:lvl2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2pPr>
            <a:lvl3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3pPr>
            <a:lvl4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4pPr>
            <a:lvl5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425" y="5951022"/>
            <a:ext cx="11232000" cy="360000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ja-JP" altLang="en-US" sz="1200" b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ja-JP" altLang="en-US" sz="1800" b="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76976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全面_レベル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59539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buNone/>
              <a:defRPr sz="1600" baseline="0"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5951022"/>
            <a:ext cx="11233150" cy="360000"/>
          </a:xfrm>
        </p:spPr>
        <p:txBody>
          <a:bodyPr anchor="b"/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2593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3868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図 6">
            <a:extLst>
              <a:ext uri="{FF2B5EF4-FFF2-40B4-BE49-F238E27FC236}">
                <a16:creationId xmlns:a16="http://schemas.microsoft.com/office/drawing/2014/main" id="{367F1314-1825-435D-8B63-69D515D2D34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78800" y="432000"/>
            <a:ext cx="2016000" cy="631680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604606" cy="2528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Deloitte </a:t>
            </a:r>
            <a:r>
              <a:rPr kumimoji="1" lang="en-US" altLang="ja-JP" sz="800" b="1" err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Touche</a:t>
            </a:r>
            <a:r>
              <a:rPr kumimoji="1" lang="en-US" altLang="ja-JP" sz="800" b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 Tohmatsu Limited</a:t>
            </a:r>
            <a:endParaRPr kumimoji="1" lang="ja-JP" altLang="en-US" sz="800" b="1">
              <a:solidFill>
                <a:prstClr val="black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latin typeface="+mn-lt"/>
                <a:ea typeface="+mn-ea"/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6048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2025. For information, contact Deloitte Tohmatsu Group.</a:t>
            </a: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6D3A5278-6D4D-48CD-B33F-E16518FBA520}"/>
              </a:ext>
            </a:extLst>
          </p:cNvPr>
          <p:cNvGrpSpPr/>
          <p:nvPr userDrawn="1"/>
        </p:nvGrpSpPr>
        <p:grpSpPr>
          <a:xfrm>
            <a:off x="10270800" y="3222000"/>
            <a:ext cx="1440000" cy="1894801"/>
            <a:chOff x="8050246" y="4451478"/>
            <a:chExt cx="1440000" cy="1894801"/>
          </a:xfrm>
        </p:grpSpPr>
        <p:pic>
          <p:nvPicPr>
            <p:cNvPr id="9" name="図 8" descr="ロゴ, 会社名&#10;&#10;自動的に生成された説明">
              <a:extLst>
                <a:ext uri="{FF2B5EF4-FFF2-40B4-BE49-F238E27FC236}">
                  <a16:creationId xmlns:a16="http://schemas.microsoft.com/office/drawing/2014/main" id="{EE572D97-F5AE-4209-9B5E-6F62708DD6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246" y="4451478"/>
              <a:ext cx="1440000" cy="873777"/>
            </a:xfrm>
            <a:prstGeom prst="rect">
              <a:avLst/>
            </a:prstGeom>
          </p:spPr>
        </p:pic>
        <p:pic>
          <p:nvPicPr>
            <p:cNvPr id="10" name="図 9" descr="ロゴ&#10;&#10;自動的に生成された説明">
              <a:extLst>
                <a:ext uri="{FF2B5EF4-FFF2-40B4-BE49-F238E27FC236}">
                  <a16:creationId xmlns:a16="http://schemas.microsoft.com/office/drawing/2014/main" id="{174BAC09-EE91-4451-95F8-BA04B23856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44450" cy="872742"/>
            </a:xfrm>
            <a:prstGeom prst="rect">
              <a:avLst/>
            </a:prstGeom>
          </p:spPr>
        </p:pic>
      </p:grpSp>
      <p:pic>
        <p:nvPicPr>
          <p:cNvPr id="5" name="Picture 3">
            <a:extLst>
              <a:ext uri="{FF2B5EF4-FFF2-40B4-BE49-F238E27FC236}">
                <a16:creationId xmlns:a16="http://schemas.microsoft.com/office/drawing/2014/main" id="{68101465-63EE-D2BF-35AA-692852B492F9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0694852" y="5436000"/>
            <a:ext cx="1198880" cy="119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249305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トーマツロゴ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56650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604606" cy="2528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Deloitte </a:t>
            </a:r>
            <a:r>
              <a:rPr kumimoji="1" lang="en-US" altLang="ja-JP" sz="800" b="1" err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Touche</a:t>
            </a:r>
            <a:r>
              <a:rPr kumimoji="1" lang="en-US" altLang="ja-JP" sz="800" b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 Tohmatsu Limited</a:t>
            </a:r>
            <a:endParaRPr kumimoji="1" lang="ja-JP" altLang="en-US" sz="800" b="1">
              <a:solidFill>
                <a:prstClr val="black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latin typeface="+mn-lt"/>
                <a:ea typeface="+mn-ea"/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6048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2025. For information, contact Deloitte Tohmatsu Group.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01A15D5-7B51-4B9F-8EF0-8D771BACAF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>
          <a:xfrm>
            <a:off x="478800" y="431005"/>
            <a:ext cx="3721455" cy="632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AA5F3BE-2C73-21B4-1792-CE7804C9094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0694852" y="5436000"/>
            <a:ext cx="1198880" cy="1198880"/>
          </a:xfrm>
          <a:prstGeom prst="rect">
            <a:avLst/>
          </a:prstGeom>
        </p:spPr>
      </p:pic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E553D118-33B9-8047-F5CF-3B03F130350F}"/>
              </a:ext>
            </a:extLst>
          </p:cNvPr>
          <p:cNvGrpSpPr/>
          <p:nvPr userDrawn="1"/>
        </p:nvGrpSpPr>
        <p:grpSpPr>
          <a:xfrm>
            <a:off x="10270800" y="3222000"/>
            <a:ext cx="1440000" cy="1894801"/>
            <a:chOff x="8050246" y="4451478"/>
            <a:chExt cx="1440000" cy="1894801"/>
          </a:xfrm>
        </p:grpSpPr>
        <p:pic>
          <p:nvPicPr>
            <p:cNvPr id="6" name="図 5" descr="ロゴ, 会社名&#10;&#10;自動的に生成された説明">
              <a:extLst>
                <a:ext uri="{FF2B5EF4-FFF2-40B4-BE49-F238E27FC236}">
                  <a16:creationId xmlns:a16="http://schemas.microsoft.com/office/drawing/2014/main" id="{D2C433B9-83A5-C204-17F5-89F2B1D6A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246" y="4451478"/>
              <a:ext cx="1440000" cy="873777"/>
            </a:xfrm>
            <a:prstGeom prst="rect">
              <a:avLst/>
            </a:prstGeom>
          </p:spPr>
        </p:pic>
        <p:pic>
          <p:nvPicPr>
            <p:cNvPr id="7" name="図 6" descr="ロゴ&#10;&#10;自動的に生成された説明">
              <a:extLst>
                <a:ext uri="{FF2B5EF4-FFF2-40B4-BE49-F238E27FC236}">
                  <a16:creationId xmlns:a16="http://schemas.microsoft.com/office/drawing/2014/main" id="{7E3E8DC4-DA86-93F3-32DB-DBD7E5E7F1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44450" cy="8727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9241581"/>
      </p:ext>
    </p:extLst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黒_背表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46754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604606" cy="2528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Deloitte </a:t>
            </a:r>
            <a:r>
              <a:rPr kumimoji="1" lang="en-US" altLang="ja-JP" sz="800" b="1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Touche</a:t>
            </a:r>
            <a:r>
              <a:rPr kumimoji="1" lang="en-US" altLang="ja-JP" sz="8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 Tohmatsu Limited</a:t>
            </a:r>
            <a:endParaRPr kumimoji="1" lang="ja-JP" altLang="en-US" sz="800" b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6048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2025. For information, contact Deloitte Tohmatsu Group.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E41D69D-2433-4D11-814D-C797F4E5053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78800" y="431999"/>
            <a:ext cx="2016000" cy="627200"/>
          </a:xfrm>
          <a:prstGeom prst="rect">
            <a:avLst/>
          </a:prstGeom>
        </p:spPr>
      </p:pic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245A9EC4-0A34-443E-8A5C-E1C41D6E8ECA}"/>
              </a:ext>
            </a:extLst>
          </p:cNvPr>
          <p:cNvGrpSpPr/>
          <p:nvPr userDrawn="1"/>
        </p:nvGrpSpPr>
        <p:grpSpPr>
          <a:xfrm>
            <a:off x="10270800" y="3222000"/>
            <a:ext cx="1440000" cy="1861937"/>
            <a:chOff x="8050925" y="4451478"/>
            <a:chExt cx="1440000" cy="1861937"/>
          </a:xfrm>
        </p:grpSpPr>
        <p:pic>
          <p:nvPicPr>
            <p:cNvPr id="11" name="図 10" descr="ロゴ, 会社名&#10;&#10;自動的に生成された説明">
              <a:extLst>
                <a:ext uri="{FF2B5EF4-FFF2-40B4-BE49-F238E27FC236}">
                  <a16:creationId xmlns:a16="http://schemas.microsoft.com/office/drawing/2014/main" id="{C713905B-35CF-4B24-BCA2-637030354B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925" y="4451478"/>
              <a:ext cx="1440000" cy="873777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DEA888C4-18A7-4DB2-A911-C4F477C66E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29139" cy="839878"/>
            </a:xfrm>
            <a:prstGeom prst="rect">
              <a:avLst/>
            </a:prstGeom>
          </p:spPr>
        </p:pic>
      </p:grpSp>
      <p:pic>
        <p:nvPicPr>
          <p:cNvPr id="3" name="Picture 3">
            <a:extLst>
              <a:ext uri="{FF2B5EF4-FFF2-40B4-BE49-F238E27FC236}">
                <a16:creationId xmlns:a16="http://schemas.microsoft.com/office/drawing/2014/main" id="{B58FE27E-7473-91AD-522F-C6EE7B389FF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0694852" y="5436000"/>
            <a:ext cx="1198880" cy="119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78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黒_背表紙_トーマツロゴ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19903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604606" cy="2528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Deloitte </a:t>
            </a:r>
            <a:r>
              <a:rPr kumimoji="1" lang="en-US" altLang="ja-JP" sz="800" b="1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Touche</a:t>
            </a:r>
            <a:r>
              <a:rPr kumimoji="1" lang="en-US" altLang="ja-JP" sz="8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 Tohmatsu Limited</a:t>
            </a:r>
            <a:endParaRPr kumimoji="1" lang="ja-JP" altLang="en-US" sz="800" b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6048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2025. For information, contact Deloitte Tohmatsu Group.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9C0938ED-B2BE-4693-8FA5-820BAD918B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gray">
          <a:xfrm>
            <a:off x="478800" y="431997"/>
            <a:ext cx="3722400" cy="632360"/>
          </a:xfrm>
          <a:prstGeom prst="rect">
            <a:avLst/>
          </a:prstGeom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366F5FD9-1E58-CDA7-CACE-B242EB6B204F}"/>
              </a:ext>
            </a:extLst>
          </p:cNvPr>
          <p:cNvGrpSpPr/>
          <p:nvPr userDrawn="1"/>
        </p:nvGrpSpPr>
        <p:grpSpPr>
          <a:xfrm>
            <a:off x="10270800" y="3222000"/>
            <a:ext cx="1440000" cy="1861937"/>
            <a:chOff x="8050925" y="4451478"/>
            <a:chExt cx="1440000" cy="1861937"/>
          </a:xfrm>
        </p:grpSpPr>
        <p:pic>
          <p:nvPicPr>
            <p:cNvPr id="5" name="図 4" descr="ロゴ, 会社名&#10;&#10;自動的に生成された説明">
              <a:extLst>
                <a:ext uri="{FF2B5EF4-FFF2-40B4-BE49-F238E27FC236}">
                  <a16:creationId xmlns:a16="http://schemas.microsoft.com/office/drawing/2014/main" id="{D73EDECA-A512-7669-1691-62C5E111EA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925" y="4451478"/>
              <a:ext cx="1440000" cy="873777"/>
            </a:xfrm>
            <a:prstGeom prst="rect">
              <a:avLst/>
            </a:prstGeom>
          </p:spPr>
        </p:pic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17480D25-DAE4-135D-514C-ADF811A79B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29139" cy="839878"/>
            </a:xfrm>
            <a:prstGeom prst="rect">
              <a:avLst/>
            </a:prstGeom>
          </p:spPr>
        </p:pic>
      </p:grpSp>
      <p:pic>
        <p:nvPicPr>
          <p:cNvPr id="7" name="Picture 3">
            <a:extLst>
              <a:ext uri="{FF2B5EF4-FFF2-40B4-BE49-F238E27FC236}">
                <a16:creationId xmlns:a16="http://schemas.microsoft.com/office/drawing/2014/main" id="{7114BB36-8EE5-0472-5190-1AC8C392D5C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0694852" y="5436000"/>
            <a:ext cx="1198880" cy="119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31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 タイトルのみ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92992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B5C48E74-0194-96FD-16F5-39F7833E8E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798" y="5951022"/>
            <a:ext cx="11233150" cy="360000"/>
          </a:xfrm>
        </p:spPr>
        <p:txBody>
          <a:bodyPr anchor="b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</p:spTree>
    <p:extLst>
      <p:ext uri="{BB962C8B-B14F-4D97-AF65-F5344CB8AC3E}">
        <p14:creationId xmlns:p14="http://schemas.microsoft.com/office/powerpoint/2010/main" val="10363655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タイトルのみ_出所・脚注なし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420444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</p:spTree>
    <p:extLst>
      <p:ext uri="{BB962C8B-B14F-4D97-AF65-F5344CB8AC3E}">
        <p14:creationId xmlns:p14="http://schemas.microsoft.com/office/powerpoint/2010/main" val="25948881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小見出しあり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9115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B5C48E74-0194-96FD-16F5-39F7833E8E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798" y="5951022"/>
            <a:ext cx="11233150" cy="360000"/>
          </a:xfrm>
        </p:spPr>
        <p:txBody>
          <a:bodyPr anchor="b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7" name="テキスト プレースホルダー 3">
            <a:extLst>
              <a:ext uri="{FF2B5EF4-FFF2-40B4-BE49-F238E27FC236}">
                <a16:creationId xmlns:a16="http://schemas.microsoft.com/office/drawing/2014/main" id="{22111ABA-B7FF-8C45-F205-C96EDB6F8C5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1494000"/>
            <a:ext cx="5437188" cy="468000"/>
          </a:xfrm>
        </p:spPr>
        <p:txBody>
          <a:bodyPr anchor="ctr">
            <a:noAutofit/>
          </a:bodyPr>
          <a:lstStyle>
            <a:lvl1pPr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小見出し（オプション）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</p:spTree>
    <p:extLst>
      <p:ext uri="{BB962C8B-B14F-4D97-AF65-F5344CB8AC3E}">
        <p14:creationId xmlns:p14="http://schemas.microsoft.com/office/powerpoint/2010/main" val="1444419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黒_タイトルのみ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54579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B5C48E74-0194-96FD-16F5-39F7833E8E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798" y="5951022"/>
            <a:ext cx="11233150" cy="360000"/>
          </a:xfrm>
        </p:spPr>
        <p:txBody>
          <a:bodyPr anchor="b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</p:spTree>
    <p:extLst>
      <p:ext uri="{BB962C8B-B14F-4D97-AF65-F5344CB8AC3E}">
        <p14:creationId xmlns:p14="http://schemas.microsoft.com/office/powerpoint/2010/main" val="3269081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黒_タイトルのみ_出所・脚注なし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1525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</p:spTree>
    <p:extLst>
      <p:ext uri="{BB962C8B-B14F-4D97-AF65-F5344CB8AC3E}">
        <p14:creationId xmlns:p14="http://schemas.microsoft.com/office/powerpoint/2010/main" val="4584503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黒_小見出しあり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588250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B5C48E74-0194-96FD-16F5-39F7833E8E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798" y="5951022"/>
            <a:ext cx="11233150" cy="360000"/>
          </a:xfrm>
        </p:spPr>
        <p:txBody>
          <a:bodyPr anchor="b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7" name="テキスト プレースホルダー 3">
            <a:extLst>
              <a:ext uri="{FF2B5EF4-FFF2-40B4-BE49-F238E27FC236}">
                <a16:creationId xmlns:a16="http://schemas.microsoft.com/office/drawing/2014/main" id="{22111ABA-B7FF-8C45-F205-C96EDB6F8C5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1494000"/>
            <a:ext cx="5437188" cy="468000"/>
          </a:xfrm>
        </p:spPr>
        <p:txBody>
          <a:bodyPr anchor="ctr">
            <a:noAutofit/>
          </a:bodyPr>
          <a:lstStyle>
            <a:lvl1pPr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小見出し（オプション）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</p:spTree>
    <p:extLst>
      <p:ext uri="{BB962C8B-B14F-4D97-AF65-F5344CB8AC3E}">
        <p14:creationId xmlns:p14="http://schemas.microsoft.com/office/powerpoint/2010/main" val="2038172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タイトル_ ロゴ入り_16:9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72E5A2AA-8632-4C90-834B-AAF8FA2847A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64769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72E5A2AA-8632-4C90-834B-AAF8FA2847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799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799" y="5760001"/>
            <a:ext cx="5616000" cy="307777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799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095999" y="396000"/>
            <a:ext cx="5616000" cy="676800"/>
          </a:xfrm>
          <a:prstGeom prst="rect">
            <a:avLst/>
          </a:prstGeom>
        </p:spPr>
        <p:txBody>
          <a:bodyPr lIns="0" tIns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200">
                <a:latin typeface="+mn-lt"/>
                <a:cs typeface="+mn-cs"/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kumimoji="1" lang="ja-JP" altLang="en-US"/>
              <a:t>クライアント社名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8800" y="432000"/>
            <a:ext cx="2016000" cy="633201"/>
          </a:xfrm>
          <a:prstGeom prst="rect">
            <a:avLst/>
          </a:prstGeom>
        </p:spPr>
      </p:pic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F26CE00B-EF0F-41D9-B6BD-2D199AF6C07D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7208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タイトル ロゴ無_16:9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F3F91AC-B9F8-4593-AC14-9A64CBC99950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987666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F3F91AC-B9F8-4593-AC14-9A64CBC999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760001"/>
            <a:ext cx="5616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800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123FC496-31C5-46DB-A99D-560417973E7D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0279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黒_タイトル_ ロゴ入り_16:9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A7976D6E-C49A-4F4A-AE13-FFFBECE6140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502002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A7976D6E-C49A-4F4A-AE13-FFFBECE614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760001"/>
            <a:ext cx="5616000" cy="307777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  <a:latin typeface="+mn-lt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800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  <a:latin typeface="+mn-lt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094800" y="396000"/>
            <a:ext cx="5616000" cy="676800"/>
          </a:xfrm>
          <a:prstGeom prst="rect">
            <a:avLst/>
          </a:prstGeom>
        </p:spPr>
        <p:txBody>
          <a:bodyPr lIns="0" tIns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bg1"/>
                </a:solidFill>
                <a:latin typeface="+mn-lt"/>
                <a:cs typeface="+mn-cs"/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kumimoji="1" lang="ja-JP" altLang="en-US"/>
              <a:t>クライアント社名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8800" y="431999"/>
            <a:ext cx="2016000" cy="627200"/>
          </a:xfrm>
          <a:prstGeom prst="rect">
            <a:avLst/>
          </a:prstGeom>
        </p:spPr>
      </p:pic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3C714361-BA49-499D-BC89-8E0AF24FD365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8955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黒_タイトル ロゴ無_16:9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B84D28BC-667A-4B82-8BF2-52395A1B866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40505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B84D28BC-667A-4B82-8BF2-52395A1B86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799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799" y="5760001"/>
            <a:ext cx="5616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799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9E461804-808B-4C49-B40D-446D892A3BF8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497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目次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D6642530-2487-4EE6-BEA5-E8FB44599D7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27074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D6642530-2487-4EE6-BEA5-E8FB44599D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 bwMode="gray">
          <a:xfrm>
            <a:off x="480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tabLst>
                <a:tab pos="5448101" algn="r"/>
              </a:tabLst>
              <a:defRPr>
                <a:cs typeface="+mn-cs"/>
              </a:defRPr>
            </a:lvl1pPr>
            <a:lvl2pPr>
              <a:tabLst>
                <a:tab pos="5448101" algn="r"/>
              </a:tabLst>
              <a:defRPr>
                <a:cs typeface="+mn-cs"/>
              </a:defRPr>
            </a:lvl2pPr>
            <a:lvl3pPr>
              <a:tabLst>
                <a:tab pos="5448101" algn="r"/>
              </a:tabLst>
              <a:defRPr>
                <a:cs typeface="+mn-cs"/>
              </a:defRPr>
            </a:lvl3pPr>
            <a:lvl4pPr>
              <a:tabLst>
                <a:tab pos="5448101" algn="r"/>
              </a:tabLst>
              <a:defRPr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6276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tabLst>
                <a:tab pos="5448101" algn="r"/>
              </a:tabLst>
              <a:defRPr>
                <a:cs typeface="+mn-cs"/>
              </a:defRPr>
            </a:lvl1pPr>
            <a:lvl2pPr>
              <a:tabLst>
                <a:tab pos="5448101" algn="r"/>
              </a:tabLst>
              <a:defRPr>
                <a:cs typeface="+mn-cs"/>
              </a:defRPr>
            </a:lvl2pPr>
            <a:lvl3pPr>
              <a:tabLst>
                <a:tab pos="5448101" algn="r"/>
              </a:tabLst>
              <a:defRPr>
                <a:cs typeface="+mn-cs"/>
              </a:defRPr>
            </a:lvl3pPr>
            <a:lvl4pPr>
              <a:tabLst>
                <a:tab pos="5448101" algn="r"/>
              </a:tabLst>
              <a:defRPr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479772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白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54917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/>
          </p:nvPr>
        </p:nvSpPr>
        <p:spPr bwMode="gray">
          <a:xfrm>
            <a:off x="1596000" y="2556000"/>
            <a:ext cx="9000000" cy="1440000"/>
          </a:xfrm>
          <a:prstGeom prst="rect">
            <a:avLst/>
          </a:prstGeom>
        </p:spPr>
        <p:txBody>
          <a:bodyPr/>
          <a:lstStyle>
            <a:lvl1pPr>
              <a:defRPr sz="2400" baseline="0"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385A94CF-8CB1-C466-40C6-FF0115BA7D94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26763812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中表紙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</p:spTree>
    <p:extLst>
      <p:ext uri="{BB962C8B-B14F-4D97-AF65-F5344CB8AC3E}">
        <p14:creationId xmlns:p14="http://schemas.microsoft.com/office/powerpoint/2010/main" val="35881547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Green_中表紙_16: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07426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25312935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Teal_中表紙_16:9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41101896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Blue_中表紙_16:9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36882777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16588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380704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出所・脚注なし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16588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505327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両サイド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4622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ja-JP" altLang="en-US" sz="1800" b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9425" y="6001200"/>
            <a:ext cx="11231563" cy="309600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48757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全面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19098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buNone/>
              <a:defRPr sz="1600" baseline="0"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062006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67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7A7FA105-C4A6-DF57-0985-107BF930716D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20629815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出所・脚注なし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67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91AFE9C6-AFED-8CEE-9B20-46A57A97A23C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350258327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両サイド_レベル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89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9425" y="6001200"/>
            <a:ext cx="11231563" cy="309600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ja-JP" altLang="en-US" sz="1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18ADE627-CB4D-1BFB-D115-26ACBCADE3FF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147311490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全面_レベル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30104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buNone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3F55A360-EB78-06C3-3E59-DD1D2B495269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384333506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950152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図 6">
            <a:extLst>
              <a:ext uri="{FF2B5EF4-FFF2-40B4-BE49-F238E27FC236}">
                <a16:creationId xmlns:a16="http://schemas.microsoft.com/office/drawing/2014/main" id="{367F1314-1825-435D-8B63-69D515D2D34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8800" y="432000"/>
            <a:ext cx="2016000" cy="631680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133324" cy="251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prstClr val="black"/>
                </a:solidFill>
                <a:latin typeface="+mn-lt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prstClr val="black"/>
                </a:solidFill>
                <a:latin typeface="+mn-lt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prstClr val="black"/>
                </a:solidFill>
                <a:latin typeface="+mn-lt"/>
                <a:cs typeface="+mn-cs"/>
                <a:sym typeface="+mn-lt"/>
              </a:rPr>
              <a:t>Deloitte Tohmatsu Limited</a:t>
            </a:r>
            <a:endParaRPr kumimoji="1" lang="ja-JP" altLang="en-US" sz="800" b="1">
              <a:solidFill>
                <a:prstClr val="black"/>
              </a:solidFill>
              <a:latin typeface="+mn-lt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48786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2026. For information, contact Deloitte Tohmatsu Group.</a:t>
            </a: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6D3A5278-6D4D-48CD-B33F-E16518FBA520}"/>
              </a:ext>
            </a:extLst>
          </p:cNvPr>
          <p:cNvGrpSpPr/>
          <p:nvPr userDrawn="1"/>
        </p:nvGrpSpPr>
        <p:grpSpPr>
          <a:xfrm>
            <a:off x="10270800" y="4114800"/>
            <a:ext cx="1440000" cy="1894801"/>
            <a:chOff x="8050246" y="4451478"/>
            <a:chExt cx="1440000" cy="1894801"/>
          </a:xfrm>
        </p:grpSpPr>
        <p:pic>
          <p:nvPicPr>
            <p:cNvPr id="9" name="図 8" descr="ロゴ, 会社名&#10;&#10;自動的に生成された説明">
              <a:extLst>
                <a:ext uri="{FF2B5EF4-FFF2-40B4-BE49-F238E27FC236}">
                  <a16:creationId xmlns:a16="http://schemas.microsoft.com/office/drawing/2014/main" id="{EE572D97-F5AE-4209-9B5E-6F62708DD6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246" y="4451478"/>
              <a:ext cx="1440000" cy="873777"/>
            </a:xfrm>
            <a:prstGeom prst="rect">
              <a:avLst/>
            </a:prstGeom>
          </p:spPr>
        </p:pic>
        <p:pic>
          <p:nvPicPr>
            <p:cNvPr id="10" name="図 9" descr="ロゴ&#10;&#10;自動的に生成された説明">
              <a:extLst>
                <a:ext uri="{FF2B5EF4-FFF2-40B4-BE49-F238E27FC236}">
                  <a16:creationId xmlns:a16="http://schemas.microsoft.com/office/drawing/2014/main" id="{174BAC09-EE91-4451-95F8-BA04B23856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44450" cy="8727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13493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トーマツロゴ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216422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402628" cy="251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prstClr val="black"/>
                </a:solidFill>
                <a:latin typeface="+mn-lt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prstClr val="black"/>
                </a:solidFill>
                <a:latin typeface="+mn-lt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prstClr val="black"/>
                </a:solidFill>
                <a:latin typeface="+mn-lt"/>
                <a:cs typeface="+mn-cs"/>
                <a:sym typeface="+mn-lt"/>
              </a:rPr>
              <a:t>Deloitte Touche Tohmatsu Limited</a:t>
            </a:r>
            <a:endParaRPr kumimoji="1" lang="ja-JP" altLang="en-US" sz="800" b="1">
              <a:solidFill>
                <a:prstClr val="black"/>
              </a:solidFill>
              <a:latin typeface="+mn-lt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48786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2026. For information, contact Deloitte Tohmatsu Group.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01A15D5-7B51-4B9F-8EF0-8D771BACAF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478800" y="431005"/>
            <a:ext cx="3721455" cy="6329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1ACB6E8B-BDC4-441B-80D9-3D4F1A7191BA}"/>
              </a:ext>
            </a:extLst>
          </p:cNvPr>
          <p:cNvGrpSpPr/>
          <p:nvPr userDrawn="1"/>
        </p:nvGrpSpPr>
        <p:grpSpPr>
          <a:xfrm>
            <a:off x="10270800" y="4114800"/>
            <a:ext cx="1440000" cy="1894801"/>
            <a:chOff x="8050246" y="4451478"/>
            <a:chExt cx="1440000" cy="1894801"/>
          </a:xfrm>
        </p:grpSpPr>
        <p:pic>
          <p:nvPicPr>
            <p:cNvPr id="10" name="図 9" descr="ロゴ, 会社名&#10;&#10;自動的に生成された説明">
              <a:extLst>
                <a:ext uri="{FF2B5EF4-FFF2-40B4-BE49-F238E27FC236}">
                  <a16:creationId xmlns:a16="http://schemas.microsoft.com/office/drawing/2014/main" id="{58297113-486E-410D-9152-DBAA7813B4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246" y="4451478"/>
              <a:ext cx="1440000" cy="873777"/>
            </a:xfrm>
            <a:prstGeom prst="rect">
              <a:avLst/>
            </a:prstGeom>
          </p:spPr>
        </p:pic>
        <p:pic>
          <p:nvPicPr>
            <p:cNvPr id="11" name="図 10" descr="ロゴ&#10;&#10;自動的に生成された説明">
              <a:extLst>
                <a:ext uri="{FF2B5EF4-FFF2-40B4-BE49-F238E27FC236}">
                  <a16:creationId xmlns:a16="http://schemas.microsoft.com/office/drawing/2014/main" id="{DBB457B8-2E8C-4715-8CE0-9F6911CA7B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44450" cy="8727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247776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黒_背表紙_16:9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350161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402628" cy="251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schemeClr val="bg1"/>
                </a:solidFill>
                <a:latin typeface="+mn-lt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schemeClr val="bg1"/>
                </a:solidFill>
                <a:latin typeface="+mn-lt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schemeClr val="bg1"/>
                </a:solidFill>
                <a:latin typeface="+mn-lt"/>
                <a:cs typeface="+mn-cs"/>
                <a:sym typeface="+mn-lt"/>
              </a:rPr>
              <a:t>Deloitte Touche Tohmatsu Limited</a:t>
            </a:r>
            <a:endParaRPr kumimoji="1" lang="ja-JP" altLang="en-US" sz="800" b="1">
              <a:solidFill>
                <a:schemeClr val="bg1"/>
              </a:solidFill>
              <a:latin typeface="+mn-lt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solidFill>
                  <a:schemeClr val="bg1"/>
                </a:solidFill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48786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© 2026. For information, contact Deloitte Tohmatsu Group.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E41D69D-2433-4D11-814D-C797F4E5053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8800" y="431999"/>
            <a:ext cx="2016000" cy="627200"/>
          </a:xfrm>
          <a:prstGeom prst="rect">
            <a:avLst/>
          </a:prstGeom>
        </p:spPr>
      </p:pic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245A9EC4-0A34-443E-8A5C-E1C41D6E8ECA}"/>
              </a:ext>
            </a:extLst>
          </p:cNvPr>
          <p:cNvGrpSpPr/>
          <p:nvPr userDrawn="1"/>
        </p:nvGrpSpPr>
        <p:grpSpPr>
          <a:xfrm>
            <a:off x="10270800" y="4114800"/>
            <a:ext cx="1440000" cy="1861937"/>
            <a:chOff x="8050925" y="4451478"/>
            <a:chExt cx="1440000" cy="1861937"/>
          </a:xfrm>
        </p:grpSpPr>
        <p:pic>
          <p:nvPicPr>
            <p:cNvPr id="11" name="図 10" descr="ロゴ, 会社名&#10;&#10;自動的に生成された説明">
              <a:extLst>
                <a:ext uri="{FF2B5EF4-FFF2-40B4-BE49-F238E27FC236}">
                  <a16:creationId xmlns:a16="http://schemas.microsoft.com/office/drawing/2014/main" id="{C713905B-35CF-4B24-BCA2-637030354B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925" y="4451478"/>
              <a:ext cx="1440000" cy="873777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DEA888C4-18A7-4DB2-A911-C4F477C66E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29139" cy="8398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973251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黒_背表紙_トーマツロゴ_16:9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52082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402628" cy="2515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schemeClr val="bg1"/>
                </a:solidFill>
                <a:latin typeface="+mn-lt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schemeClr val="bg1"/>
                </a:solidFill>
                <a:latin typeface="+mn-lt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schemeClr val="bg1"/>
                </a:solidFill>
                <a:latin typeface="+mn-lt"/>
                <a:cs typeface="+mn-cs"/>
                <a:sym typeface="+mn-lt"/>
              </a:rPr>
              <a:t>Deloitte Touche Tohmatsu Limited</a:t>
            </a:r>
            <a:endParaRPr kumimoji="1" lang="ja-JP" altLang="en-US" sz="800" b="1">
              <a:solidFill>
                <a:schemeClr val="bg1"/>
              </a:solidFill>
              <a:latin typeface="+mn-lt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solidFill>
                  <a:schemeClr val="bg1"/>
                </a:solidFill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487861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© 2026. For information, contact Deloitte Tohmatsu Group.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9C0938ED-B2BE-4693-8FA5-820BAD918B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gray">
          <a:xfrm>
            <a:off x="478800" y="431997"/>
            <a:ext cx="3722400" cy="632360"/>
          </a:xfrm>
          <a:prstGeom prst="rect">
            <a:avLst/>
          </a:prstGeom>
        </p:spPr>
      </p:pic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A32278A0-B6A6-4196-A48B-DD36F4F398E7}"/>
              </a:ext>
            </a:extLst>
          </p:cNvPr>
          <p:cNvGrpSpPr/>
          <p:nvPr userDrawn="1"/>
        </p:nvGrpSpPr>
        <p:grpSpPr>
          <a:xfrm>
            <a:off x="10270800" y="4114800"/>
            <a:ext cx="1440000" cy="1861937"/>
            <a:chOff x="8050925" y="4451478"/>
            <a:chExt cx="1440000" cy="1861937"/>
          </a:xfrm>
        </p:grpSpPr>
        <p:pic>
          <p:nvPicPr>
            <p:cNvPr id="15" name="図 14" descr="ロゴ, 会社名&#10;&#10;自動的に生成された説明">
              <a:extLst>
                <a:ext uri="{FF2B5EF4-FFF2-40B4-BE49-F238E27FC236}">
                  <a16:creationId xmlns:a16="http://schemas.microsoft.com/office/drawing/2014/main" id="{2395C2A1-39CD-425B-94BE-D67F2CCD8D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925" y="4451478"/>
              <a:ext cx="1440000" cy="873777"/>
            </a:xfrm>
            <a:prstGeom prst="rect">
              <a:avLst/>
            </a:prstGeom>
          </p:spPr>
        </p:pic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7CC8C78A-26CC-4239-9442-4410264A93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29139" cy="8398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568777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03290C-9741-F83F-15FD-B8258A147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6AD8C58-AEC9-C643-7C2A-EEB47AFED2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1" lang="en-GB" alt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EAEBBD-886B-31F9-5308-01B1A3C720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480E722-07C0-6BE3-5FC1-99CE04E80AB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83827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6BC8BF-6A3A-CCD9-795A-5B3D5A0B9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B9E84B-517A-6B7B-7B34-BD2C2E277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B77A3F-77BB-42EA-F36D-C1B74CADE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6E2414-BE63-1FB5-A9C1-EA0A1A73F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FB8169-85F8-F698-3517-15BC0F56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7F2FE-3C3D-4AB2-870D-B4E57AB68C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840074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（基本版） タイトルのみ_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0112370"/>
              </p:ext>
            </p:extLst>
          </p:nvPr>
        </p:nvGraphicFramePr>
        <p:xfrm>
          <a:off x="1955" y="1588"/>
          <a:ext cx="1954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563" imgH="564" progId="TCLayout.ActiveDocument.1">
                  <p:embed/>
                </p:oleObj>
              </mc:Choice>
              <mc:Fallback>
                <p:oleObj name="thinkcellスライド" r:id="rId3" imgW="563" imgH="564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8"/>
                        <a:ext cx="1954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12610" y="1008000"/>
            <a:ext cx="5361231" cy="468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Header</a:t>
            </a:r>
            <a:r>
              <a:rPr kumimoji="1" lang="ja-JP" altLang="en-US"/>
              <a:t>を入力（スライドタイトル）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27535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タイトル ロゴ無_16:9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F3F91AC-B9F8-4593-AC14-9A64CBC99950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987666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F3F91AC-B9F8-4593-AC14-9A64CBC999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760001"/>
            <a:ext cx="5616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800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123FC496-31C5-46DB-A99D-560417973E7D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>
          <a:xfrm>
            <a:off x="5651167" y="6444000"/>
            <a:ext cx="889666" cy="169277"/>
          </a:xfrm>
          <a:prstGeom prst="rect">
            <a:avLst/>
          </a:prstGeo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7479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黒_タイトル ロゴ無_16:9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B84D28BC-667A-4B82-8BF2-52395A1B866F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40505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B84D28BC-667A-4B82-8BF2-52395A1B86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799" y="5292000"/>
            <a:ext cx="5616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799" y="5760001"/>
            <a:ext cx="5616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bg1"/>
                </a:solidFill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799" y="6408000"/>
            <a:ext cx="5616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9E461804-808B-4C49-B40D-446D892A3BF8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>
          <a:xfrm>
            <a:off x="5651167" y="6444000"/>
            <a:ext cx="889666" cy="169277"/>
          </a:xfrm>
          <a:prstGeom prst="rect">
            <a:avLst/>
          </a:prstGeo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16279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目次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D6642530-2487-4EE6-BEA5-E8FB44599D7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27074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D6642530-2487-4EE6-BEA5-E8FB44599D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 bwMode="gray">
          <a:xfrm>
            <a:off x="480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tabLst>
                <a:tab pos="5448101" algn="r"/>
              </a:tabLst>
              <a:defRPr>
                <a:cs typeface="+mn-cs"/>
              </a:defRPr>
            </a:lvl1pPr>
            <a:lvl2pPr>
              <a:tabLst>
                <a:tab pos="5448101" algn="r"/>
              </a:tabLst>
              <a:defRPr>
                <a:cs typeface="+mn-cs"/>
              </a:defRPr>
            </a:lvl2pPr>
            <a:lvl3pPr>
              <a:tabLst>
                <a:tab pos="5448101" algn="r"/>
              </a:tabLst>
              <a:defRPr>
                <a:cs typeface="+mn-cs"/>
              </a:defRPr>
            </a:lvl3pPr>
            <a:lvl4pPr>
              <a:tabLst>
                <a:tab pos="5448101" algn="r"/>
              </a:tabLst>
              <a:defRPr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6276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tabLst>
                <a:tab pos="5448101" algn="r"/>
              </a:tabLst>
              <a:defRPr>
                <a:cs typeface="+mn-cs"/>
              </a:defRPr>
            </a:lvl1pPr>
            <a:lvl2pPr>
              <a:tabLst>
                <a:tab pos="5448101" algn="r"/>
              </a:tabLst>
              <a:defRPr>
                <a:cs typeface="+mn-cs"/>
              </a:defRPr>
            </a:lvl2pPr>
            <a:lvl3pPr>
              <a:tabLst>
                <a:tab pos="5448101" algn="r"/>
              </a:tabLst>
              <a:defRPr>
                <a:cs typeface="+mn-cs"/>
              </a:defRPr>
            </a:lvl3pPr>
            <a:lvl4pPr>
              <a:tabLst>
                <a:tab pos="5448101" algn="r"/>
              </a:tabLst>
              <a:defRPr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50466937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白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054917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/>
          </p:nvPr>
        </p:nvSpPr>
        <p:spPr bwMode="gray">
          <a:xfrm>
            <a:off x="1596000" y="2556000"/>
            <a:ext cx="9000000" cy="1440000"/>
          </a:xfrm>
          <a:prstGeom prst="rect">
            <a:avLst/>
          </a:prstGeom>
        </p:spPr>
        <p:txBody>
          <a:bodyPr/>
          <a:lstStyle>
            <a:lvl1pPr>
              <a:defRPr sz="2400" baseline="0"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385A94CF-8CB1-C466-40C6-FF0115BA7D94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235140892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中表紙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</p:spTree>
    <p:extLst>
      <p:ext uri="{BB962C8B-B14F-4D97-AF65-F5344CB8AC3E}">
        <p14:creationId xmlns:p14="http://schemas.microsoft.com/office/powerpoint/2010/main" val="249779244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Green_中表紙_16: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07426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54201066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Teal_中表紙_16:9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67113303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Blue_中表紙_16:9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7032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bg1"/>
                </a:solidFill>
                <a:latin typeface="+mj-lt"/>
                <a:ea typeface="+mj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3" name="Text Box 37">
            <a:extLst>
              <a:ext uri="{FF2B5EF4-FFF2-40B4-BE49-F238E27FC236}">
                <a16:creationId xmlns:a16="http://schemas.microsoft.com/office/drawing/2014/main" id="{1189BAA9-A2FE-C864-E76C-25CFD4B2F5F2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47116240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16588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411856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出所・脚注なし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16588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629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両サイド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4622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ja-JP" altLang="en-US" sz="1800" b="1" dirty="0">
                <a:solidFill>
                  <a:schemeClr val="accent3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9425" y="6001200"/>
            <a:ext cx="11231563" cy="309600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14298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全面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19098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buNone/>
              <a:defRPr sz="1600" baseline="0"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accent3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261337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67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7A7FA105-C4A6-DF57-0985-107BF930716D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190230898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出所・脚注なし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670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91AFE9C6-AFED-8CEE-9B20-46A57A97A23C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101655431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両サイド_レベル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89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79425" y="6001200"/>
            <a:ext cx="11231563" cy="309600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ja-JP" altLang="en-US" sz="1800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18ADE627-CB4D-1BFB-D115-26ACBCADE3FF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31300218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全面_レベル_16: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30104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buNone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1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6000750"/>
            <a:ext cx="11233150" cy="310272"/>
          </a:xfrm>
        </p:spPr>
        <p:txBody>
          <a:bodyPr anchor="b"/>
          <a:lstStyle>
            <a:lvl1pPr font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1800" b="1">
                <a:solidFill>
                  <a:schemeClr val="bg1"/>
                </a:solidFill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id="{3F55A360-EB78-06C3-3E59-DD1D2B495269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56064518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03290C-9741-F83F-15FD-B8258A147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6AD8C58-AEC9-C643-7C2A-EEB47AFED2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1" lang="en-GB" altLang="en-GB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EAEBBD-886B-31F9-5308-01B1A3C720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480E722-07C0-6BE3-5FC1-99CE04E80AB6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651167" y="6444000"/>
            <a:ext cx="889666" cy="169277"/>
          </a:xfrm>
          <a:prstGeom prst="rect">
            <a:avLst/>
          </a:prstGeom>
        </p:spPr>
        <p:txBody>
          <a:bodyPr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81403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6BC8BF-6A3A-CCD9-795A-5B3D5A0B9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B9E84B-517A-6B7B-7B34-BD2C2E277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B77A3F-77BB-42EA-F36D-C1B74CADE7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51167" y="6444000"/>
            <a:ext cx="889666" cy="169277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6E2414-BE63-1FB5-A9C1-EA0A1A73F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2FB8169-85F8-F698-3517-15BC0F56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7F2FE-3C3D-4AB2-870D-B4E57AB68C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535297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（基本版） タイトルのみ_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4871738"/>
              </p:ext>
            </p:ext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4" imgW="444" imgH="443" progId="TCLayout.ActiveDocument.1">
                  <p:embed/>
                </p:oleObj>
              </mc:Choice>
              <mc:Fallback>
                <p:oleObj name="thinkcellスライド" r:id="rId4" imgW="444" imgH="443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 altLang="en-GB">
              <a:solidFill>
                <a:prstClr val="black"/>
              </a:solidFill>
              <a:latin typeface="Arial"/>
              <a:ea typeface="ＭＳ Ｐゴシック"/>
              <a:cs typeface="Arial" pitchFamily="34" charset="0"/>
            </a:endParaRP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>
          <a:xfrm>
            <a:off x="11458554" y="6588000"/>
            <a:ext cx="221538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A5FCFE5-FE56-4EF1-80A8-07776887C2A1}" type="slidenum">
              <a:rPr lang="ja-JP" altLang="en-US" sz="1200" smtClean="0">
                <a:solidFill>
                  <a:prstClr val="black"/>
                </a:solidFill>
                <a:latin typeface="Arial"/>
                <a:ea typeface="ＭＳ Ｐゴシック"/>
                <a:cs typeface="Arial" pitchFamily="34" charset="0"/>
              </a:rPr>
              <a:pPr>
                <a:defRPr/>
              </a:pPr>
              <a:t>‹#›</a:t>
            </a:fld>
            <a:endParaRPr lang="ja-JP" altLang="en-US" sz="1200">
              <a:solidFill>
                <a:prstClr val="black"/>
              </a:solidFill>
              <a:latin typeface="Arial"/>
              <a:ea typeface="ＭＳ Ｐゴシック"/>
              <a:cs typeface="Arial" pitchFamily="34" charset="0"/>
            </a:endParaRPr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13230" y="136800"/>
            <a:ext cx="11166862" cy="432000"/>
          </a:xfrm>
          <a:prstGeom prst="rect">
            <a:avLst/>
          </a:prstGeom>
        </p:spPr>
        <p:txBody>
          <a:bodyPr wrap="none" lIns="0" tIns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/>
              <a:t>Header</a:t>
            </a:r>
            <a:r>
              <a:rPr kumimoji="1" lang="ja-JP" altLang="en-US"/>
              <a:t>を入力（スライドタイトル）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513231" y="678671"/>
            <a:ext cx="11165538" cy="360000"/>
          </a:xfrm>
        </p:spPr>
        <p:txBody>
          <a:bodyPr vert="horz" lIns="0" tIns="0" anchor="t"/>
          <a:lstStyle>
            <a:lvl1pPr>
              <a:defRPr sz="1800" b="0"/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cxnSp>
        <p:nvCxnSpPr>
          <p:cNvPr id="7" name="直線コネクタ 6"/>
          <p:cNvCxnSpPr/>
          <p:nvPr/>
        </p:nvCxnSpPr>
        <p:spPr>
          <a:xfrm>
            <a:off x="513231" y="608882"/>
            <a:ext cx="111655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オブジェクト 4" hidden="1">
            <a:extLst>
              <a:ext uri="{FF2B5EF4-FFF2-40B4-BE49-F238E27FC236}">
                <a16:creationId xmlns:a16="http://schemas.microsoft.com/office/drawing/2014/main" id="{D9526583-8C8E-82A1-8852-F993675C587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03898332"/>
              </p:ext>
            </p:ext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6" imgW="444" imgH="443" progId="TCLayout.ActiveDocument.1">
                  <p:embed/>
                </p:oleObj>
              </mc:Choice>
              <mc:Fallback>
                <p:oleObj name="think-cell スライド" r:id="rId6" imgW="444" imgH="443" progId="TCLayout.ActiveDocument.1">
                  <p:embed/>
                  <p:pic>
                    <p:nvPicPr>
                      <p:cNvPr id="5" name="オブジェクト 4" hidden="1">
                        <a:extLst>
                          <a:ext uri="{FF2B5EF4-FFF2-40B4-BE49-F238E27FC236}">
                            <a16:creationId xmlns:a16="http://schemas.microsoft.com/office/drawing/2014/main" id="{D9526583-8C8E-82A1-8852-F993675C58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F5C7EB6A-BE1A-6B26-F25B-752C370BEDF4}"/>
              </a:ext>
            </a:extLst>
          </p:cNvPr>
          <p:cNvCxnSpPr/>
          <p:nvPr userDrawn="1"/>
        </p:nvCxnSpPr>
        <p:spPr>
          <a:xfrm>
            <a:off x="513231" y="608882"/>
            <a:ext cx="111655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12701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（基本版） タイトルのみ_Propo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0112370"/>
              </p:ext>
            </p:extLst>
          </p:nvPr>
        </p:nvGraphicFramePr>
        <p:xfrm>
          <a:off x="1955" y="1588"/>
          <a:ext cx="1954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563" imgH="564" progId="TCLayout.ActiveDocument.1">
                  <p:embed/>
                </p:oleObj>
              </mc:Choice>
              <mc:Fallback>
                <p:oleObj name="thinkcellスライド" r:id="rId3" imgW="563" imgH="564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8"/>
                        <a:ext cx="1954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altLang="en-GB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12610" y="1008000"/>
            <a:ext cx="5361231" cy="468000"/>
          </a:xfrm>
          <a:prstGeom prst="rect">
            <a:avLst/>
          </a:prstGeom>
        </p:spPr>
        <p:txBody>
          <a:bodyPr wrap="non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Header</a:t>
            </a:r>
            <a:r>
              <a:rPr kumimoji="1" lang="ja-JP" altLang="en-US"/>
              <a:t>を入力（スライドタイトル）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27231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Relationship Id="rId24" Type="http://schemas.openxmlformats.org/officeDocument/2006/relationships/tags" Target="../tags/tag2.xml"/><Relationship Id="rId25" Type="http://schemas.openxmlformats.org/officeDocument/2006/relationships/oleObject" Target="../embeddings/oleObject1.bin"/><Relationship Id="rId26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theme" Target="../theme/theme2.xml"/><Relationship Id="rId8" Type="http://schemas.openxmlformats.org/officeDocument/2006/relationships/tags" Target="../tags/tag25.xml"/><Relationship Id="rId9" Type="http://schemas.openxmlformats.org/officeDocument/2006/relationships/oleObject" Target="../embeddings/oleObject23.bin"/><Relationship Id="rId10" Type="http://schemas.openxmlformats.org/officeDocument/2006/relationships/image" Target="../media/image1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53.xml"/><Relationship Id="rId26" Type="http://schemas.openxmlformats.org/officeDocument/2006/relationships/theme" Target="../theme/theme3.xml"/><Relationship Id="rId27" Type="http://schemas.openxmlformats.org/officeDocument/2006/relationships/tags" Target="../tags/tag32.xml"/><Relationship Id="rId28" Type="http://schemas.openxmlformats.org/officeDocument/2006/relationships/oleObject" Target="../embeddings/oleObject28.bin"/><Relationship Id="rId29" Type="http://schemas.openxmlformats.org/officeDocument/2006/relationships/image" Target="../media/image1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0.xml"/><Relationship Id="rId8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1.xml"/><Relationship Id="rId19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73.xml"/><Relationship Id="rId21" Type="http://schemas.openxmlformats.org/officeDocument/2006/relationships/theme" Target="../theme/theme4.xml"/><Relationship Id="rId22" Type="http://schemas.openxmlformats.org/officeDocument/2006/relationships/tags" Target="../tags/tag56.xml"/><Relationship Id="rId23" Type="http://schemas.openxmlformats.org/officeDocument/2006/relationships/oleObject" Target="../embeddings/oleObject28.bin"/><Relationship Id="rId2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86ACD3C-B1FD-4D8B-B85B-1B25921C344F}"/>
              </a:ext>
            </a:extLst>
          </p:cNvPr>
          <p:cNvGraphicFramePr>
            <a:graphicFrameLocks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30926568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25" imgW="444" imgH="443" progId="TCLayout.ActiveDocument.1">
                  <p:embed/>
                </p:oleObj>
              </mc:Choice>
              <mc:Fallback>
                <p:oleObj name="thinkcellスライド" r:id="rId25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86ACD3C-B1FD-4D8B-B85B-1B25921C34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ja-JP" altLang="en-US" noProof="0"/>
              <a:t>キーメッセージを入力（本スライドで一番伝えたいこと＜名詞止め・体言止め不可＞）</a:t>
            </a:r>
            <a:endParaRPr lang="en-US" noProof="0"/>
          </a:p>
        </p:txBody>
      </p:sp>
      <p:sp>
        <p:nvSpPr>
          <p:cNvPr id="8" name="フッター プレースホルダ 8"/>
          <p:cNvSpPr>
            <a:spLocks noGrp="1"/>
          </p:cNvSpPr>
          <p:nvPr>
            <p:ph type="ftr" sz="quarter" idx="3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ja-JP"/>
              <a:t>DT Template 16:9</a:t>
            </a:r>
            <a:endParaRPr kumimoji="1" lang="en-GB" altLang="en-GB"/>
          </a:p>
        </p:txBody>
      </p:sp>
      <p:sp>
        <p:nvSpPr>
          <p:cNvPr id="9" name="スライド番号プレースホルダ 9"/>
          <p:cNvSpPr>
            <a:spLocks noGrp="1"/>
          </p:cNvSpPr>
          <p:nvPr>
            <p:ph type="sldNum" sz="quarter" idx="4"/>
          </p:nvPr>
        </p:nvSpPr>
        <p:spPr bwMode="gray">
          <a:xfrm>
            <a:off x="480000" y="6588000"/>
            <a:ext cx="180000" cy="169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15" name="Text Box 37"/>
          <p:cNvSpPr txBox="1">
            <a:spLocks noChangeArrowheads="1"/>
          </p:cNvSpPr>
          <p:nvPr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2025. For information, contact Deloitte Tohmatsu Group.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1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日付プレースホルダー 3">
            <a:extLst>
              <a:ext uri="{FF2B5EF4-FFF2-40B4-BE49-F238E27FC236}">
                <a16:creationId xmlns:a16="http://schemas.microsoft.com/office/drawing/2014/main" id="{E0E64AB6-CEBE-4B69-BA95-262258503BE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5615099" y="6444000"/>
            <a:ext cx="961802" cy="169277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>
              <a:defRPr kumimoji="1" lang="en-US" altLang="ja-JP" sz="11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1977651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44" r:id="rId2"/>
    <p:sldLayoutId id="2147483946" r:id="rId3"/>
    <p:sldLayoutId id="2147483947" r:id="rId4"/>
    <p:sldLayoutId id="2147483911" r:id="rId5"/>
    <p:sldLayoutId id="2147483912" r:id="rId6"/>
    <p:sldLayoutId id="2147483934" r:id="rId7"/>
    <p:sldLayoutId id="2147483983" r:id="rId8"/>
    <p:sldLayoutId id="2147483984" r:id="rId9"/>
    <p:sldLayoutId id="2147483985" r:id="rId10"/>
    <p:sldLayoutId id="2147483959" r:id="rId11"/>
    <p:sldLayoutId id="2147483969" r:id="rId12"/>
    <p:sldLayoutId id="2147483960" r:id="rId13"/>
    <p:sldLayoutId id="2147483961" r:id="rId14"/>
    <p:sldLayoutId id="2147483976" r:id="rId15"/>
    <p:sldLayoutId id="2147483977" r:id="rId16"/>
    <p:sldLayoutId id="2147483978" r:id="rId17"/>
    <p:sldLayoutId id="2147483979" r:id="rId18"/>
    <p:sldLayoutId id="2147483952" r:id="rId19"/>
    <p:sldLayoutId id="2147483957" r:id="rId20"/>
    <p:sldLayoutId id="2147483956" r:id="rId21"/>
    <p:sldLayoutId id="2147483958" r:id="rId22"/>
  </p:sldLayoutIdLst>
  <p:hf hdr="0"/>
  <p:txStyles>
    <p:titleStyle>
      <a:lvl1pPr algn="l" defTabSz="990564" rtl="0" eaLnBrk="1" latinLnBrk="0" hangingPunct="1">
        <a:spcBef>
          <a:spcPct val="0"/>
        </a:spcBef>
        <a:buNone/>
        <a:defRPr kumimoji="1"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None/>
        <a:tabLst/>
        <a:defRPr kumimoji="1"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n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04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Ø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marR="0" indent="-180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36000" indent="-252000" algn="l" defTabSz="86502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Verdana" panose="020B0604030504040204" pitchFamily="34" charset="0"/>
        <a:buChar char="−"/>
        <a:tabLst/>
        <a:defRPr kumimoji="1" lang="en-US" sz="16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188000" indent="-252000" algn="l" defTabSz="99056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Wingdings" panose="05000000000000000000" pitchFamily="2" charset="2"/>
        <a:buChar char="ü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64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46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27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1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2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7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55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840" userDrawn="1">
          <p15:clr>
            <a:srgbClr val="A4A3A4"/>
          </p15:clr>
        </p15:guide>
        <p15:guide id="1" orient="horz" pos="96" userDrawn="1">
          <p15:clr>
            <a:srgbClr val="A4A3A4"/>
          </p15:clr>
        </p15:guide>
        <p15:guide id="2" pos="3727" userDrawn="1">
          <p15:clr>
            <a:srgbClr val="A4A3A4"/>
          </p15:clr>
        </p15:guide>
        <p15:guide id="3" pos="3953" userDrawn="1">
          <p15:clr>
            <a:srgbClr val="A4A3A4"/>
          </p15:clr>
        </p15:guide>
        <p15:guide id="4" pos="7378" userDrawn="1">
          <p15:clr>
            <a:srgbClr val="A4A3A4"/>
          </p15:clr>
        </p15:guide>
        <p15:guide id="5" pos="302" userDrawn="1">
          <p15:clr>
            <a:srgbClr val="A4A3A4"/>
          </p15:clr>
        </p15:guide>
        <p15:guide id="6" orient="horz" pos="527" userDrawn="1">
          <p15:clr>
            <a:srgbClr val="A4A3A4"/>
          </p15:clr>
        </p15:guide>
        <p15:guide id="8" orient="horz" pos="935" userDrawn="1">
          <p15:clr>
            <a:srgbClr val="A4A3A4"/>
          </p15:clr>
        </p15:guide>
        <p15:guide id="9" orient="horz" pos="3974" userDrawn="1">
          <p15:clr>
            <a:srgbClr val="A4A3A4"/>
          </p15:clr>
        </p15:guide>
        <p15:guide id="10" orient="horz" pos="4156" userDrawn="1">
          <p15:clr>
            <a:srgbClr val="A4A3A4"/>
          </p15:clr>
        </p15:guide>
        <p15:guide id="11" orient="horz" pos="4269" userDrawn="1">
          <p15:clr>
            <a:srgbClr val="A4A3A4"/>
          </p15:clr>
        </p15:guide>
        <p15:guide id="12" orient="horz" pos="640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8710619-D609-4ABA-8EC3-1DBA3A476E1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6970859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9" imgW="444" imgH="443" progId="TCLayout.ActiveDocument.1">
                  <p:embed/>
                </p:oleObj>
              </mc:Choice>
              <mc:Fallback>
                <p:oleObj name="thinkcellスライド" r:id="rId9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8710619-D609-4ABA-8EC3-1DBA3A476E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80000" y="152400"/>
            <a:ext cx="11232000" cy="6477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kumimoji="1" lang="ja-JP" altLang="en-US"/>
              <a:t>スライドタイトル</a:t>
            </a:r>
            <a:r>
              <a:rPr lang="ja-JP" altLang="en-US" noProof="0"/>
              <a:t>（入力が必要）</a:t>
            </a:r>
            <a:endParaRPr lang="en-US" noProof="0"/>
          </a:p>
        </p:txBody>
      </p:sp>
      <p:sp>
        <p:nvSpPr>
          <p:cNvPr id="8" name="フッター プレースホルダ 8"/>
          <p:cNvSpPr>
            <a:spLocks noGrp="1"/>
          </p:cNvSpPr>
          <p:nvPr>
            <p:ph type="ftr" sz="quarter" idx="3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GB" altLang="en-GB"/>
              <a:t>DT Template 16:9</a:t>
            </a:r>
          </a:p>
        </p:txBody>
      </p:sp>
      <p:sp>
        <p:nvSpPr>
          <p:cNvPr id="9" name="スライド番号プレースホルダ 9"/>
          <p:cNvSpPr>
            <a:spLocks noGrp="1"/>
          </p:cNvSpPr>
          <p:nvPr>
            <p:ph type="sldNum" sz="quarter" idx="4"/>
          </p:nvPr>
        </p:nvSpPr>
        <p:spPr bwMode="gray">
          <a:xfrm>
            <a:off x="478800" y="6588000"/>
            <a:ext cx="180000" cy="169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15" name="Text Box 37"/>
          <p:cNvSpPr txBox="1">
            <a:spLocks noChangeArrowheads="1"/>
          </p:cNvSpPr>
          <p:nvPr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2025. For information, contact Deloitte Tohmatsu Group.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 bwMode="gray">
          <a:xfrm>
            <a:off x="480000" y="1484725"/>
            <a:ext cx="11232000" cy="482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1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53086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0" r:id="rId1"/>
    <p:sldLayoutId id="2147483975" r:id="rId2"/>
    <p:sldLayoutId id="2147483970" r:id="rId3"/>
    <p:sldLayoutId id="2147483980" r:id="rId4"/>
    <p:sldLayoutId id="2147483981" r:id="rId5"/>
    <p:sldLayoutId id="2147483982" r:id="rId6"/>
  </p:sldLayoutIdLst>
  <p:hf hdr="0"/>
  <p:txStyles>
    <p:titleStyle>
      <a:lvl1pPr algn="l" defTabSz="990564" rtl="0" eaLnBrk="1" latinLnBrk="0" hangingPunct="1">
        <a:spcBef>
          <a:spcPct val="0"/>
        </a:spcBef>
        <a:buNone/>
        <a:defRPr kumimoji="1"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9056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 panose="020B0604020202020204" pitchFamily="34" charset="0"/>
        <a:buNone/>
        <a:defRPr kumimoji="1" sz="1600" b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99056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n"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99056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Ø"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indent="-180000" algn="l" defTabSz="99056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36000" indent="-252000" algn="l" defTabSz="86502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Verdana" panose="020B0604030504040204" pitchFamily="34" charset="0"/>
        <a:buChar char="−"/>
        <a:tabLst/>
        <a:defRPr kumimoji="1" lang="en-US" sz="16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188000" indent="-252000" algn="l" defTabSz="99056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Wingdings" panose="05000000000000000000" pitchFamily="2" charset="2"/>
        <a:buChar char="ü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64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46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27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1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2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7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55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96" userDrawn="1">
          <p15:clr>
            <a:srgbClr val="A4A3A4"/>
          </p15:clr>
        </p15:guide>
        <p15:guide id="3" pos="3727" userDrawn="1">
          <p15:clr>
            <a:srgbClr val="A4A3A4"/>
          </p15:clr>
        </p15:guide>
        <p15:guide id="4" pos="3953" userDrawn="1">
          <p15:clr>
            <a:srgbClr val="A4A3A4"/>
          </p15:clr>
        </p15:guide>
        <p15:guide id="5" pos="7378" userDrawn="1">
          <p15:clr>
            <a:srgbClr val="A4A3A4"/>
          </p15:clr>
        </p15:guide>
        <p15:guide id="6" pos="302" userDrawn="1">
          <p15:clr>
            <a:srgbClr val="A4A3A4"/>
          </p15:clr>
        </p15:guide>
        <p15:guide id="7" orient="horz" pos="504" userDrawn="1">
          <p15:clr>
            <a:srgbClr val="A4A3A4"/>
          </p15:clr>
        </p15:guide>
        <p15:guide id="8" orient="horz" pos="527" userDrawn="1">
          <p15:clr>
            <a:srgbClr val="A4A3A4"/>
          </p15:clr>
        </p15:guide>
        <p15:guide id="9" orient="horz" pos="935" userDrawn="1">
          <p15:clr>
            <a:srgbClr val="A4A3A4"/>
          </p15:clr>
        </p15:guide>
        <p15:guide id="10" orient="horz" pos="3974" userDrawn="1">
          <p15:clr>
            <a:srgbClr val="A4A3A4"/>
          </p15:clr>
        </p15:guide>
        <p15:guide id="11" orient="horz" pos="4156" userDrawn="1">
          <p15:clr>
            <a:srgbClr val="A4A3A4"/>
          </p15:clr>
        </p15:guide>
        <p15:guide id="12" orient="horz" pos="4269" userDrawn="1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86ACD3C-B1FD-4D8B-B85B-1B25921C344F}"/>
              </a:ext>
            </a:extLst>
          </p:cNvPr>
          <p:cNvGraphicFramePr>
            <a:graphicFrameLocks/>
          </p:cNvGraphicFramePr>
          <p:nvPr userDrawn="1"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7142377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28" imgW="444" imgH="443" progId="TCLayout.ActiveDocument.1">
                  <p:embed/>
                </p:oleObj>
              </mc:Choice>
              <mc:Fallback>
                <p:oleObj name="thinkcellスライド" r:id="rId28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86ACD3C-B1FD-4D8B-B85B-1B25921C34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ja-JP" altLang="en-US" noProof="0"/>
              <a:t>キーメッセージを入力（本スライドで一番伝えたいこと＜名詞止め・体言止め不可＞）</a:t>
            </a:r>
            <a:endParaRPr lang="en-US" noProof="0"/>
          </a:p>
        </p:txBody>
      </p:sp>
      <p:sp>
        <p:nvSpPr>
          <p:cNvPr id="8" name="フッター プレースホルダ 8"/>
          <p:cNvSpPr>
            <a:spLocks noGrp="1"/>
          </p:cNvSpPr>
          <p:nvPr>
            <p:ph type="ftr" sz="quarter" idx="3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1" lang="en-GB" altLang="en-GB"/>
          </a:p>
        </p:txBody>
      </p:sp>
      <p:sp>
        <p:nvSpPr>
          <p:cNvPr id="9" name="スライド番号プレースホルダ 9"/>
          <p:cNvSpPr>
            <a:spLocks noGrp="1"/>
          </p:cNvSpPr>
          <p:nvPr>
            <p:ph type="sldNum" sz="quarter" idx="4"/>
          </p:nvPr>
        </p:nvSpPr>
        <p:spPr bwMode="gray">
          <a:xfrm>
            <a:off x="480000" y="6588000"/>
            <a:ext cx="180000" cy="169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15" name="Text Box 37"/>
          <p:cNvSpPr txBox="1">
            <a:spLocks noChangeArrowheads="1"/>
          </p:cNvSpPr>
          <p:nvPr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2026. For information, contact Deloitte Tohmatsu Group.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1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日付プレースホルダー 3">
            <a:extLst>
              <a:ext uri="{FF2B5EF4-FFF2-40B4-BE49-F238E27FC236}">
                <a16:creationId xmlns:a16="http://schemas.microsoft.com/office/drawing/2014/main" id="{E0E64AB6-CEBE-4B69-BA95-262258503BE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5651167" y="6444000"/>
            <a:ext cx="889666" cy="169277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>
              <a:defRPr kumimoji="1" lang="en-US" altLang="ja-JP" sz="1100" smtClean="0">
                <a:solidFill>
                  <a:srgbClr val="75787B"/>
                </a:solidFill>
                <a:latin typeface="+mn-lt"/>
                <a:cs typeface="+mn-cs"/>
              </a:defRPr>
            </a:lvl1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91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  <p:sldLayoutId id="2147483988" r:id="rId2"/>
    <p:sldLayoutId id="2147483989" r:id="rId3"/>
    <p:sldLayoutId id="2147483990" r:id="rId4"/>
    <p:sldLayoutId id="2147483991" r:id="rId5"/>
    <p:sldLayoutId id="2147483992" r:id="rId6"/>
    <p:sldLayoutId id="2147483993" r:id="rId7"/>
    <p:sldLayoutId id="2147483994" r:id="rId8"/>
    <p:sldLayoutId id="2147483995" r:id="rId9"/>
    <p:sldLayoutId id="2147483996" r:id="rId10"/>
    <p:sldLayoutId id="2147483997" r:id="rId11"/>
    <p:sldLayoutId id="2147483998" r:id="rId12"/>
    <p:sldLayoutId id="2147483999" r:id="rId13"/>
    <p:sldLayoutId id="2147484000" r:id="rId14"/>
    <p:sldLayoutId id="2147484001" r:id="rId15"/>
    <p:sldLayoutId id="2147484002" r:id="rId16"/>
    <p:sldLayoutId id="2147484003" r:id="rId17"/>
    <p:sldLayoutId id="2147484004" r:id="rId18"/>
    <p:sldLayoutId id="2147484005" r:id="rId19"/>
    <p:sldLayoutId id="2147484006" r:id="rId20"/>
    <p:sldLayoutId id="2147484007" r:id="rId21"/>
    <p:sldLayoutId id="2147484008" r:id="rId22"/>
    <p:sldLayoutId id="2147484009" r:id="rId23"/>
    <p:sldLayoutId id="2147484011" r:id="rId24"/>
    <p:sldLayoutId id="2147484033" r:id="rId25"/>
  </p:sldLayoutIdLst>
  <p:hf hdr="0" ftr="0" dt="0"/>
  <p:txStyles>
    <p:titleStyle>
      <a:lvl1pPr algn="l" defTabSz="990564" rtl="0" eaLnBrk="1" latinLnBrk="0" hangingPunct="1">
        <a:spcBef>
          <a:spcPct val="0"/>
        </a:spcBef>
        <a:buNone/>
        <a:defRPr kumimoji="1"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None/>
        <a:tabLst/>
        <a:defRPr kumimoji="1"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n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04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Ø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marR="0" indent="-180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36000" indent="-252000" algn="l" defTabSz="86502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Verdana" panose="020B0604030504040204" pitchFamily="34" charset="0"/>
        <a:buChar char="−"/>
        <a:tabLst/>
        <a:defRPr kumimoji="1" lang="en-US" sz="16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188000" indent="-252000" algn="l" defTabSz="99056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Wingdings" panose="05000000000000000000" pitchFamily="2" charset="2"/>
        <a:buChar char="ü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64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46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27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1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2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7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55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840">
          <p15:clr>
            <a:srgbClr val="A4A3A4"/>
          </p15:clr>
        </p15:guide>
        <p15:guide id="1" orient="horz" pos="96">
          <p15:clr>
            <a:srgbClr val="A4A3A4"/>
          </p15:clr>
        </p15:guide>
        <p15:guide id="2" pos="3727">
          <p15:clr>
            <a:srgbClr val="A4A3A4"/>
          </p15:clr>
        </p15:guide>
        <p15:guide id="3" pos="3953">
          <p15:clr>
            <a:srgbClr val="A4A3A4"/>
          </p15:clr>
        </p15:guide>
        <p15:guide id="4" pos="7378">
          <p15:clr>
            <a:srgbClr val="A4A3A4"/>
          </p15:clr>
        </p15:guide>
        <p15:guide id="5" pos="302">
          <p15:clr>
            <a:srgbClr val="A4A3A4"/>
          </p15:clr>
        </p15:guide>
        <p15:guide id="6" orient="horz" pos="527">
          <p15:clr>
            <a:srgbClr val="A4A3A4"/>
          </p15:clr>
        </p15:guide>
        <p15:guide id="8" orient="horz" pos="935">
          <p15:clr>
            <a:srgbClr val="A4A3A4"/>
          </p15:clr>
        </p15:guide>
        <p15:guide id="9" orient="horz" pos="3974">
          <p15:clr>
            <a:srgbClr val="A4A3A4"/>
          </p15:clr>
        </p15:guide>
        <p15:guide id="10" orient="horz" pos="4156">
          <p15:clr>
            <a:srgbClr val="A4A3A4"/>
          </p15:clr>
        </p15:guide>
        <p15:guide id="11" orient="horz" pos="4269">
          <p15:clr>
            <a:srgbClr val="A4A3A4"/>
          </p15:clr>
        </p15:guide>
        <p15:guide id="12" orient="horz" pos="640">
          <p15:clr>
            <a:srgbClr val="A4A3A4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86ACD3C-B1FD-4D8B-B85B-1B25921C344F}"/>
              </a:ext>
            </a:extLst>
          </p:cNvPr>
          <p:cNvGraphicFramePr>
            <a:graphicFrameLocks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7142377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23" imgW="444" imgH="443" progId="TCLayout.ActiveDocument.1">
                  <p:embed/>
                </p:oleObj>
              </mc:Choice>
              <mc:Fallback>
                <p:oleObj name="thinkcellスライド" r:id="rId2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86ACD3C-B1FD-4D8B-B85B-1B25921C34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ja-JP" altLang="en-US" noProof="0"/>
              <a:t>キーメッセージを入力（本スライドで一番伝えたいこと＜名詞止め・体言止め不可＞）</a:t>
            </a:r>
            <a:endParaRPr lang="en-US" noProof="0"/>
          </a:p>
        </p:txBody>
      </p:sp>
      <p:sp>
        <p:nvSpPr>
          <p:cNvPr id="9" name="スライド番号プレースホルダ 9"/>
          <p:cNvSpPr>
            <a:spLocks noGrp="1"/>
          </p:cNvSpPr>
          <p:nvPr>
            <p:ph type="sldNum" sz="quarter" idx="4"/>
          </p:nvPr>
        </p:nvSpPr>
        <p:spPr bwMode="gray">
          <a:xfrm>
            <a:off x="480000" y="6588000"/>
            <a:ext cx="180000" cy="169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1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631573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3" r:id="rId1"/>
    <p:sldLayoutId id="2147484014" r:id="rId2"/>
    <p:sldLayoutId id="2147484015" r:id="rId3"/>
    <p:sldLayoutId id="2147484016" r:id="rId4"/>
    <p:sldLayoutId id="2147484017" r:id="rId5"/>
    <p:sldLayoutId id="2147484018" r:id="rId6"/>
    <p:sldLayoutId id="2147484019" r:id="rId7"/>
    <p:sldLayoutId id="2147484020" r:id="rId8"/>
    <p:sldLayoutId id="2147484021" r:id="rId9"/>
    <p:sldLayoutId id="2147484022" r:id="rId10"/>
    <p:sldLayoutId id="2147484023" r:id="rId11"/>
    <p:sldLayoutId id="2147484024" r:id="rId12"/>
    <p:sldLayoutId id="2147484025" r:id="rId13"/>
    <p:sldLayoutId id="2147484026" r:id="rId14"/>
    <p:sldLayoutId id="2147484027" r:id="rId15"/>
    <p:sldLayoutId id="2147484028" r:id="rId16"/>
    <p:sldLayoutId id="2147484029" r:id="rId17"/>
    <p:sldLayoutId id="2147484030" r:id="rId18"/>
    <p:sldLayoutId id="2147484031" r:id="rId19"/>
    <p:sldLayoutId id="2147484032" r:id="rId20"/>
  </p:sldLayoutIdLst>
  <p:hf hdr="0" ftr="0" dt="0"/>
  <p:txStyles>
    <p:titleStyle>
      <a:lvl1pPr algn="l" defTabSz="990564" rtl="0" eaLnBrk="1" latinLnBrk="0" hangingPunct="1">
        <a:spcBef>
          <a:spcPct val="0"/>
        </a:spcBef>
        <a:buNone/>
        <a:defRPr kumimoji="1"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None/>
        <a:tabLst/>
        <a:defRPr kumimoji="1"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n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04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Ø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marR="0" indent="-180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36000" indent="-252000" algn="l" defTabSz="86502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Verdana" panose="020B0604030504040204" pitchFamily="34" charset="0"/>
        <a:buChar char="−"/>
        <a:tabLst/>
        <a:defRPr kumimoji="1" lang="en-US" sz="16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188000" indent="-252000" algn="l" defTabSz="99056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Wingdings" panose="05000000000000000000" pitchFamily="2" charset="2"/>
        <a:buChar char="ü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64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46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27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1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2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7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55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840">
          <p15:clr>
            <a:srgbClr val="A4A3A4"/>
          </p15:clr>
        </p15:guide>
        <p15:guide id="1" orient="horz" pos="96">
          <p15:clr>
            <a:srgbClr val="A4A3A4"/>
          </p15:clr>
        </p15:guide>
        <p15:guide id="2" pos="3727">
          <p15:clr>
            <a:srgbClr val="A4A3A4"/>
          </p15:clr>
        </p15:guide>
        <p15:guide id="3" pos="3953">
          <p15:clr>
            <a:srgbClr val="A4A3A4"/>
          </p15:clr>
        </p15:guide>
        <p15:guide id="4" pos="7378">
          <p15:clr>
            <a:srgbClr val="A4A3A4"/>
          </p15:clr>
        </p15:guide>
        <p15:guide id="5" pos="302">
          <p15:clr>
            <a:srgbClr val="A4A3A4"/>
          </p15:clr>
        </p15:guide>
        <p15:guide id="6" orient="horz" pos="527">
          <p15:clr>
            <a:srgbClr val="A4A3A4"/>
          </p15:clr>
        </p15:guide>
        <p15:guide id="8" orient="horz" pos="935">
          <p15:clr>
            <a:srgbClr val="A4A3A4"/>
          </p15:clr>
        </p15:guide>
        <p15:guide id="9" orient="horz" pos="3974">
          <p15:clr>
            <a:srgbClr val="A4A3A4"/>
          </p15:clr>
        </p15:guide>
        <p15:guide id="10" orient="horz" pos="4156">
          <p15:clr>
            <a:srgbClr val="A4A3A4"/>
          </p15:clr>
        </p15:guide>
        <p15:guide id="11" orient="horz" pos="4269">
          <p15:clr>
            <a:srgbClr val="A4A3A4"/>
          </p15:clr>
        </p15:guide>
        <p15:guide id="12" orient="horz" pos="640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>
          <a:xfrm>
            <a:off x="475488" y="1005840"/>
            <a:ext cx="6035040" cy="466344"/>
          </a:xfrm>
        </p:spPr>
        <p:txBody>
          <a:bodyPr/>
          <a:lstStyle/>
          <a:p>
            <a:r>
              <a:rPr lang="ja-JP" altLang="en-US"/>
              <a:t>既存AIアプリ推進の支援イメージ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BX推進部主導のもとITEC様と協力し、既存アプリの公開後の運用（B）と、エージェント型への機能拡張の検証（C）を両輪で支援します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4"/>
          <p:cNvSpPr/>
          <p:nvPr/>
        </p:nvSpPr>
        <p:spPr>
          <a:xfrm>
            <a:off x="6720840" y="1097280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B</a:t>
            </a:r>
          </a:p>
        </p:txBody>
      </p:sp>
      <p:sp>
        <p:nvSpPr>
          <p:cNvPr id="6" name="Rectangle 5"/>
          <p:cNvSpPr/>
          <p:nvPr/>
        </p:nvSpPr>
        <p:spPr>
          <a:xfrm>
            <a:off x="6995159" y="1097280"/>
            <a:ext cx="2240280" cy="274320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algn="ctr"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既存Quick-Winアプリの品質対応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1097280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C</a:t>
            </a:r>
          </a:p>
        </p:txBody>
      </p:sp>
      <p:sp>
        <p:nvSpPr>
          <p:cNvPr id="8" name="Rectangle 7"/>
          <p:cNvSpPr/>
          <p:nvPr/>
        </p:nvSpPr>
        <p:spPr>
          <a:xfrm>
            <a:off x="9692640" y="1097280"/>
            <a:ext cx="2020824" cy="274320"/>
          </a:xfrm>
          <a:prstGeom prst="rect">
            <a:avLst/>
          </a:prstGeom>
          <a:solidFill>
            <a:srgbClr val="BDD7EE"/>
          </a:solidFill>
          <a:ln w="9525">
            <a:solidFill>
              <a:srgbClr val="2C6693"/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algn="ctr"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Quick-winアプリの機能拡張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1572768"/>
            <a:ext cx="594360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10月以降のAIアプリの運用体制※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34440" y="1856231"/>
            <a:ext cx="5943600" cy="0"/>
          </a:xfrm>
          <a:prstGeom prst="line">
            <a:avLst/>
          </a:prstGeom>
          <a:ln w="12700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406640" y="1572768"/>
            <a:ext cx="31546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支援イメージ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06640" y="1856231"/>
            <a:ext cx="3154680" cy="0"/>
          </a:xfrm>
          <a:prstGeom prst="line">
            <a:avLst/>
          </a:prstGeom>
          <a:ln w="12700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0698480" y="1572768"/>
            <a:ext cx="1014984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担当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698480" y="1856231"/>
            <a:ext cx="1014983" cy="0"/>
          </a:xfrm>
          <a:prstGeom prst="line">
            <a:avLst/>
          </a:prstGeom>
          <a:ln w="12700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75488" y="2240280"/>
            <a:ext cx="685800" cy="822960"/>
          </a:xfrm>
          <a:prstGeom prst="rect">
            <a:avLst/>
          </a:prstGeom>
          <a:solidFill>
            <a:srgbClr val="0D8390"/>
          </a:solidFill>
          <a:ln w="9525">
            <a:solidFill>
              <a:srgbClr val="FFFFFF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85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第2線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リスク管理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機能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3703320"/>
            <a:ext cx="685800" cy="2011680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第1線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AI活用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推進機能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34440" y="1965960"/>
            <a:ext cx="4526280" cy="3977639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98448" y="1984248"/>
            <a:ext cx="13716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27432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HHHD（株）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25880" y="2240280"/>
            <a:ext cx="43434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2258568"/>
            <a:ext cx="2011680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27432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情報セキュリティ推進部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251460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セキュリティ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審査チーム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2514600"/>
            <a:ext cx="1554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社内規程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作成・更改チーム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25880" y="3154680"/>
            <a:ext cx="56692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セキュリ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ティ規程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20240" y="3154680"/>
            <a:ext cx="82296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社内ルール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として展開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1508760" y="3538728"/>
            <a:ext cx="146304" cy="182880"/>
          </a:xfrm>
          <a:prstGeom prst="downArrow">
            <a:avLst/>
          </a:prstGeom>
          <a:solidFill>
            <a:srgbClr val="6C70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2926080" y="3063240"/>
            <a:ext cx="0" cy="685799"/>
          </a:xfrm>
          <a:prstGeom prst="line">
            <a:avLst/>
          </a:prstGeom>
          <a:ln w="12700">
            <a:solidFill>
              <a:srgbClr val="6C7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Up Arrow 26"/>
          <p:cNvSpPr/>
          <p:nvPr/>
        </p:nvSpPr>
        <p:spPr>
          <a:xfrm>
            <a:off x="2852928" y="3063240"/>
            <a:ext cx="146304" cy="128016"/>
          </a:xfrm>
          <a:prstGeom prst="upArrow">
            <a:avLst/>
          </a:prstGeom>
          <a:solidFill>
            <a:srgbClr val="6C70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3291840" y="3063240"/>
            <a:ext cx="0" cy="685799"/>
          </a:xfrm>
          <a:prstGeom prst="line">
            <a:avLst/>
          </a:prstGeom>
          <a:ln w="12700">
            <a:solidFill>
              <a:srgbClr val="6C707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own Arrow 28"/>
          <p:cNvSpPr/>
          <p:nvPr/>
        </p:nvSpPr>
        <p:spPr>
          <a:xfrm>
            <a:off x="3218688" y="3621024"/>
            <a:ext cx="146304" cy="128016"/>
          </a:xfrm>
          <a:prstGeom prst="downArrow">
            <a:avLst/>
          </a:prstGeom>
          <a:solidFill>
            <a:srgbClr val="6C70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0" y="3291840"/>
            <a:ext cx="4572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18288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申請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3291840"/>
            <a:ext cx="457200" cy="2011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8288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承認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25880" y="3749039"/>
            <a:ext cx="2697480" cy="2103120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371600" y="3767328"/>
            <a:ext cx="1371600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27432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BX推進部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63040" y="4023360"/>
            <a:ext cx="242316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リスク管理者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08760" y="4389120"/>
            <a:ext cx="8686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AIリスク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チェックリスト</a:t>
            </a:r>
          </a:p>
        </p:txBody>
      </p:sp>
      <p:sp>
        <p:nvSpPr>
          <p:cNvPr id="36" name="Left-Right Arrow 35"/>
          <p:cNvSpPr/>
          <p:nvPr/>
        </p:nvSpPr>
        <p:spPr>
          <a:xfrm>
            <a:off x="2450592" y="4480560"/>
            <a:ext cx="274320" cy="128016"/>
          </a:xfrm>
          <a:prstGeom prst="leftRightArrow">
            <a:avLst/>
          </a:prstGeom>
          <a:solidFill>
            <a:srgbClr val="6C70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61488" y="4389120"/>
            <a:ext cx="1097280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リスク状況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セルフチェック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63040" y="4846320"/>
            <a:ext cx="24231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6C7074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推進チーム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3749039"/>
            <a:ext cx="1463040" cy="2103120"/>
          </a:xfrm>
          <a:prstGeom prst="rect">
            <a:avLst/>
          </a:prstGeom>
          <a:solidFill>
            <a:srgbClr val="F3F5F6"/>
          </a:solidFill>
          <a:ln w="9525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06240" y="3767328"/>
            <a:ext cx="1463040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ITEC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4041648"/>
            <a:ext cx="1280160" cy="365760"/>
          </a:xfrm>
          <a:prstGeom prst="rect">
            <a:avLst/>
          </a:prstGeom>
          <a:solidFill>
            <a:srgbClr val="EAF4EF"/>
          </a:solidFill>
          <a:ln w="9525">
            <a:solidFill>
              <a:srgbClr val="86BC25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アプリ機能拡張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情報共有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4526280"/>
            <a:ext cx="12801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AI開発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担当チーム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5148072"/>
            <a:ext cx="1280160" cy="365760"/>
          </a:xfrm>
          <a:prstGeom prst="rect">
            <a:avLst/>
          </a:prstGeom>
          <a:solidFill>
            <a:srgbClr val="EAF4EF"/>
          </a:solidFill>
          <a:ln w="9525">
            <a:solidFill>
              <a:srgbClr val="86BC25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アプリ公開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バックサポート</a:t>
            </a:r>
          </a:p>
        </p:txBody>
      </p:sp>
      <p:sp>
        <p:nvSpPr>
          <p:cNvPr id="44" name="Left-Right Arrow 43"/>
          <p:cNvSpPr/>
          <p:nvPr/>
        </p:nvSpPr>
        <p:spPr>
          <a:xfrm>
            <a:off x="3886200" y="4690872"/>
            <a:ext cx="365760" cy="118872"/>
          </a:xfrm>
          <a:prstGeom prst="leftRightArrow">
            <a:avLst/>
          </a:prstGeom>
          <a:solidFill>
            <a:srgbClr val="6C707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858768" y="4828032"/>
            <a:ext cx="420624" cy="16459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連携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97880" y="3520440"/>
            <a:ext cx="1280160" cy="2331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897880" y="3538728"/>
            <a:ext cx="128016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デロイト支援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3858768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89320" y="4133087"/>
            <a:ext cx="1097280" cy="621792"/>
          </a:xfrm>
          <a:prstGeom prst="rect">
            <a:avLst/>
          </a:prstGeom>
          <a:solidFill>
            <a:srgbClr val="BDD7EE"/>
          </a:solidFill>
          <a:ln w="9525">
            <a:solidFill>
              <a:srgbClr val="2C6693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Quick-Win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アプリの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改善対応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4892040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89320" y="5166360"/>
            <a:ext cx="1097280" cy="621792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既存Quick-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Winアプリの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品質対応</a:t>
            </a:r>
          </a:p>
        </p:txBody>
      </p:sp>
      <p:sp>
        <p:nvSpPr>
          <p:cNvPr id="52" name="Left-Right Arrow 51"/>
          <p:cNvSpPr/>
          <p:nvPr/>
        </p:nvSpPr>
        <p:spPr>
          <a:xfrm>
            <a:off x="5650992" y="4370832"/>
            <a:ext cx="274320" cy="118872"/>
          </a:xfrm>
          <a:prstGeom prst="leftRightArrow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Left-Right Arrow 52"/>
          <p:cNvSpPr/>
          <p:nvPr/>
        </p:nvSpPr>
        <p:spPr>
          <a:xfrm>
            <a:off x="5650992" y="5413248"/>
            <a:ext cx="274320" cy="118872"/>
          </a:xfrm>
          <a:prstGeom prst="leftRightArrow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406640" y="1965960"/>
            <a:ext cx="31546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177272" y="2039112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06640" y="1965960"/>
            <a:ext cx="2743200" cy="17830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09728" tIns="54864" rIns="18288" bIns="54864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エージェント型への機能拡張を3つの仮説で検証し、拡大版への取り込みを判断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自己検証ループ型の壁打ち（既存機能の高度化）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計画の前提ウォッチャー（新機能）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週次ブリーフの自動作成（新機能）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検証環境で試作し、10月初版には影響を与えない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None/>
            </a:pPr>
            <a:r>
              <a:rPr sz="8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12月末の到達点　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3仮説の評価結果と、拡大版への取り込み判断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▶ 詳細：P13・P13-2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06640" y="3767328"/>
            <a:ext cx="315468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8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▲ Cの試作評価 → Bの拡大版　　▼ Bの利用実態 → Cの改善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06640" y="4023360"/>
            <a:ext cx="3154680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177272" y="4096512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B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06640" y="4023360"/>
            <a:ext cx="2743200" cy="193852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09728" tIns="54864" rIns="18288" bIns="54864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buNone/>
            </a:pP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公開後の3か月を「立ち上げ・定着・自走」の3局面で技術支援し、拡大版（年末〜1月の対象拡大リリース）へ繋ぐ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不具合の切り分け・修正案の提供、初版の取り込み範囲の整理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回答品質の物差しと、利用実態に基づく改修優先順位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回帰テスト・変更管理の型と、ITEC様への保守性の引継ぎ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None/>
            </a:pPr>
            <a:r>
              <a:rPr sz="8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12月末の到達点　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拡大版を貴社・ITEC様主体で運用できる状態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▶ 詳細：次頁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698480" y="2578608"/>
            <a:ext cx="1014984" cy="566928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シンロン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698480" y="4709160"/>
            <a:ext cx="1014984" cy="566928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朱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75488" y="6144768"/>
            <a:ext cx="1123797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※ 出所：阪急阪神ホールディングス様提供資料「HHHD_AIガバナンスプロセス_v01_20260826Deloitte初版.pptx」2-2. BX推進部内AIガバナンス体制案より一部改変。デロイト支援の2領域は、ITEC様のAI開発担当チームと連携して実施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>
          <a:xfrm>
            <a:off x="475488" y="1005840"/>
            <a:ext cx="6035040" cy="466344"/>
          </a:xfrm>
        </p:spPr>
        <p:txBody>
          <a:bodyPr/>
          <a:lstStyle/>
          <a:p>
            <a:r>
              <a:rPr lang="ja-JP" altLang="en-US"/>
              <a:t>既存AIアプリ推進の課題・ニーズと支援内容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公開後の3か月で貴社が直面する課題は「立ち上げ・定着・自走」の3局面に集約され、各局面で作った側にしか担えない技術支援を提供します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4"/>
          <p:cNvSpPr/>
          <p:nvPr/>
        </p:nvSpPr>
        <p:spPr>
          <a:xfrm>
            <a:off x="9189720" y="1097280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B</a:t>
            </a:r>
          </a:p>
        </p:txBody>
      </p:sp>
      <p:sp>
        <p:nvSpPr>
          <p:cNvPr id="6" name="Rectangle 5"/>
          <p:cNvSpPr/>
          <p:nvPr/>
        </p:nvSpPr>
        <p:spPr>
          <a:xfrm>
            <a:off x="9464040" y="1097280"/>
            <a:ext cx="2249424" cy="274320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algn="ctr"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既存Quick-Winアプリの品質対応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" y="1572768"/>
          <a:ext cx="11237976" cy="4581144"/>
        </p:xfrm>
        <a:graphic>
          <a:graphicData uri="http://schemas.openxmlformats.org/drawingml/2006/table">
            <a:tbl>
              <a:tblPr firstRow="0" bandRow="0"/>
              <a:tblGrid>
                <a:gridCol w="1554480"/>
                <a:gridCol w="3657600"/>
                <a:gridCol w="3657600"/>
                <a:gridCol w="2368296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局面（時期）</a:t>
                      </a:r>
                    </a:p>
                  </a:txBody>
                  <a:tcPr marL="91440" marT="91440" marR="91440" marB="54864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貴社の課題・ニーズ</a:t>
                      </a:r>
                    </a:p>
                  </a:txBody>
                  <a:tcPr marL="91440" marT="91440" marR="91440" marB="54864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デロイトの実施事項</a:t>
                      </a:r>
                    </a:p>
                  </a:txBody>
                  <a:tcPr marL="91440" marT="91440" marR="91440" marB="54864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000" b="1" i="0" lang="ja-JP" altLang="en-US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付加価値</a:t>
                      </a:r>
                    </a:p>
                  </a:txBody>
                  <a:tcPr marL="91440" marT="91440" marR="91440" marB="54864" anchor="ctr">
                    <a:solidFill>
                      <a:srgbClr val="046A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046A38"/>
                      </a:solidFill>
                      <a:prstDash val="solid"/>
                    </a:lnB>
                  </a:tcPr>
                </a:tc>
              </a:tr>
              <a:tr h="1417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850" b="1" i="0" lang="ja-JP" altLang="en-US">
                          <a:solidFill>
                            <a:srgbClr val="26890D"/>
                          </a:solidFill>
                          <a:latin typeface="Yu Gothic"/>
                          <a:ea typeface="Yu Gothic"/>
                        </a:rPr>
                        <a:t>局面 1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60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立ち上げ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10月：移行判定 → 初版セキュア公開</a:t>
                      </a:r>
                    </a:p>
                  </a:txBody>
                  <a:tcPr marL="91440" marT="91440" marR="91440" marB="54864" anchor="ctr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統合テストで判明する事象のうち、AI固有の挙動（プロンプト・検索・外部取得）の切り分け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初版に含めるFIX後改修の範囲の判断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実データ配置と運用ルール（定期取得・受け渡し箱）の確定</a:t>
                      </a:r>
                    </a:p>
                  </a:txBody>
                  <a:tcPr marL="91440" marT="91440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不具合の切り分けと修正案・パッチの提供（適用はITEC様）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改修の影響・工数を整理し、初版／拡大版へ振り分け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実データ配置の伴走と運用ルールの設計</a:t>
                      </a:r>
                    </a:p>
                  </a:txBody>
                  <a:tcPr marL="91440" marT="91440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05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公開遅延リスクを最小化</a:t>
                      </a:r>
                    </a:p>
                    <a:p>
                      <a:pPr algn="l">
                        <a:buNone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作った側にしか分からない挙動へ即応し、ITEC様の初動負荷を下げる</a:t>
                      </a:r>
                    </a:p>
                  </a:txBody>
                  <a:tcPr marL="91440" marT="91440" marR="91440" marB="54864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  <a:tr h="1417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850" b="1" i="0" lang="ja-JP" altLang="en-US">
                          <a:solidFill>
                            <a:srgbClr val="26890D"/>
                          </a:solidFill>
                          <a:latin typeface="Yu Gothic"/>
                          <a:ea typeface="Yu Gothic"/>
                        </a:rPr>
                        <a:t>局面 2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60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定着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10〜11月：限定ユーザーでの利用</a:t>
                      </a:r>
                    </a:p>
                  </a:txBody>
                  <a:tcPr marL="91440" marT="91440" marR="91440" marB="54864" anchor="ctr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役員・経営企画が使い続けるかの見極め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「実務に足る」品質の基準と、改修の優先順位づけ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総会QA公開の前提となる権限の確定・検証</a:t>
                      </a:r>
                    </a:p>
                  </a:txBody>
                  <a:tcPr marL="91440" marT="91440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貴社から受領する伏字化済みログ・利用者評価の分析と、改修バックログの優先順位づけ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回答品質の物差し（10観点・数値検算）による定点評価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総会QA権限の検証支援、利用ガイドとハンズオン</a:t>
                      </a:r>
                    </a:p>
                  </a:txBody>
                  <a:tcPr marL="91440" marT="91440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05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「使われないPoC」化を回避</a:t>
                      </a:r>
                    </a:p>
                    <a:p>
                      <a:pPr algn="l">
                        <a:buNone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拡大版に載せる改修を、感覚ではなく利用データで選べる</a:t>
                      </a:r>
                    </a:p>
                  </a:txBody>
                  <a:tcPr marL="91440" marT="91440" marR="91440" marB="54864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  <a:tr h="14173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850" b="1" i="0" lang="ja-JP" altLang="en-US">
                          <a:solidFill>
                            <a:srgbClr val="26890D"/>
                          </a:solidFill>
                          <a:latin typeface="Yu Gothic"/>
                          <a:ea typeface="Yu Gothic"/>
                        </a:rPr>
                        <a:t>局面 3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sz="160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自走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850" b="0" i="0" lang="ja-JP" altLang="en-US">
                          <a:solidFill>
                            <a:srgbClr val="6C7074"/>
                          </a:solidFill>
                          <a:latin typeface="Yu Gothic"/>
                          <a:ea typeface="Yu Gothic"/>
                        </a:rPr>
                        <a:t>12月〜：対象拡大と定常運用</a:t>
                      </a:r>
                    </a:p>
                  </a:txBody>
                  <a:tcPr marL="91440" marT="91440" marR="91440" marB="54864" anchor="ctr">
                    <a:solidFill>
                      <a:srgbClr val="F3F5F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拡大版に向けた権限・オンボーディング・回帰テストの整備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プロンプト・モデル更新の変更管理と、第2線への説明の型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PoC段階（速度優先）の構造を、運用向け（保守性優先）に整える</a:t>
                      </a:r>
                    </a:p>
                  </a:txBody>
                  <a:tcPr marL="91440" marT="91440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拡大版リリース計画の策定支援と、回帰テストの型の整備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変更管理・プロンプト管理の手順化、AIリスクチェックリスト対応の技術説明</a:t>
                      </a:r>
                    </a:p>
                    <a:p>
                      <a:pPr algn="l" marL="109728" indent="-109728">
                        <a:spcAft>
                          <a:spcPts val="500"/>
                        </a:spcAft>
                        <a:buClr>
                          <a:srgbClr val="26890D"/>
                        </a:buClr>
                        <a:buFont typeface="Arial"/>
                        <a:buChar char="•"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保守性改善のバックログ化とドキュメントの継続更新</a:t>
                      </a:r>
                    </a:p>
                  </a:txBody>
                  <a:tcPr marL="91440" marT="91440" marR="91440" marB="54864" anchor="ctr">
                    <a:noFill/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400"/>
                        </a:spcAft>
                        <a:buNone/>
                      </a:pPr>
                      <a:r>
                        <a:rPr sz="1050" b="1" i="0" lang="ja-JP" altLang="en-US">
                          <a:solidFill>
                            <a:srgbClr val="046A38"/>
                          </a:solidFill>
                          <a:latin typeface="Yu Gothic"/>
                          <a:ea typeface="Yu Gothic"/>
                        </a:rPr>
                        <a:t>貴社・ITEC様主体で運用できる状態に</a:t>
                      </a:r>
                    </a:p>
                    <a:p>
                      <a:pPr algn="l">
                        <a:buNone/>
                      </a:pPr>
                      <a:r>
                        <a:rPr sz="1000" b="0" i="0" lang="ja-JP" altLang="en-US">
                          <a:solidFill>
                            <a:srgbClr val="1F2933"/>
                          </a:solidFill>
                          <a:latin typeface="Yu Gothic"/>
                          <a:ea typeface="Yu Gothic"/>
                        </a:rPr>
                        <a:t>ITEC様の保守負荷を下げ、横展開（Phase3）の下地を作る</a:t>
                      </a:r>
                    </a:p>
                  </a:txBody>
                  <a:tcPr marL="91440" marT="91440" marR="91440" marB="54864" anchor="ctr">
                    <a:solidFill>
                      <a:srgbClr val="EAF4E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C8CDD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75488" y="6236208"/>
            <a:ext cx="11237976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※ 課題は第12回週次報告（9/24）時点の「主なリスクと課題」および移行判定に向けた論点を踏まえて整理。局面は重なり合い、時期は目安。拡大版＝年末〜1月の対象拡大時のリリース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>
          <a:xfrm>
            <a:off x="475488" y="1005840"/>
            <a:ext cx="6035040" cy="466344"/>
          </a:xfrm>
        </p:spPr>
        <p:txBody>
          <a:bodyPr/>
          <a:lstStyle/>
          <a:p>
            <a:r>
              <a:rPr lang="ja-JP" altLang="en-US"/>
              <a:t>AI Agent追加検証：導入価値と機能仮説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初期仮説のPROCESSを実現するため、エージェント型に「確かめる・計算する・自ら回す」を担わせ、3つの仮説で検証します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4"/>
          <p:cNvSpPr/>
          <p:nvPr/>
        </p:nvSpPr>
        <p:spPr>
          <a:xfrm>
            <a:off x="9418320" y="1097280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C</a:t>
            </a:r>
          </a:p>
        </p:txBody>
      </p:sp>
      <p:sp>
        <p:nvSpPr>
          <p:cNvPr id="6" name="Rectangle 5"/>
          <p:cNvSpPr/>
          <p:nvPr/>
        </p:nvSpPr>
        <p:spPr>
          <a:xfrm>
            <a:off x="9692640" y="1097280"/>
            <a:ext cx="2020824" cy="274320"/>
          </a:xfrm>
          <a:prstGeom prst="rect">
            <a:avLst/>
          </a:prstGeom>
          <a:solidFill>
            <a:srgbClr val="BDD7EE"/>
          </a:solidFill>
          <a:ln w="9525">
            <a:solidFill>
              <a:srgbClr val="2C6693"/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algn="ctr"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Quick-winアプリの機能拡張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536192"/>
            <a:ext cx="5486400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経営管理AI 初期仮説（P13）と現行アプリの到達点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1792224"/>
            <a:ext cx="3623767" cy="658368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 wrap="square" lIns="109728" tIns="36576" bIns="36576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INPUT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経営管理データ・公開情報</a:t>
            </a:r>
          </a:p>
          <a:p>
            <a:pPr algn="l">
              <a:buNone/>
            </a:pPr>
            <a:r>
              <a:rPr sz="8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現行：</a:t>
            </a:r>
            <a:r>
              <a:rPr sz="8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整備済み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監視指標12年分・社内資料・指定サイト約220</a:t>
            </a:r>
          </a:p>
        </p:txBody>
      </p:sp>
      <p:sp>
        <p:nvSpPr>
          <p:cNvPr id="9" name="Chevron 8"/>
          <p:cNvSpPr/>
          <p:nvPr/>
        </p:nvSpPr>
        <p:spPr>
          <a:xfrm>
            <a:off x="4131259" y="2029968"/>
            <a:ext cx="118872" cy="182880"/>
          </a:xfrm>
          <a:prstGeom prst="chevron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2135" y="1792224"/>
            <a:ext cx="3623767" cy="658368"/>
          </a:xfrm>
          <a:prstGeom prst="rect">
            <a:avLst/>
          </a:prstGeom>
          <a:solidFill>
            <a:srgbClr val="FBECEE"/>
          </a:solidFill>
          <a:ln w="15875">
            <a:solidFill>
              <a:srgbClr val="C9242B"/>
            </a:solidFill>
          </a:ln>
          <a:effectLst/>
        </p:spPr>
        <p:txBody>
          <a:bodyPr rtlCol="0" anchor="ctr" wrap="square" lIns="109728" tIns="36576" bIns="36576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PROCESS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データ集計・シナリオ／リスク分析・将来予測</a:t>
            </a:r>
          </a:p>
          <a:p>
            <a:pPr algn="l">
              <a:buNone/>
            </a:pPr>
            <a:r>
              <a:rPr sz="850" b="1" i="0" lang="ja-JP" altLang="en-US">
                <a:solidFill>
                  <a:srgbClr val="C9242B"/>
                </a:solidFill>
                <a:latin typeface="Yu Gothic"/>
                <a:ea typeface="Yu Gothic"/>
              </a:rPr>
              <a:t>現行：</a:t>
            </a:r>
            <a:r>
              <a:rPr sz="850" b="1" i="0" lang="ja-JP" altLang="en-US">
                <a:solidFill>
                  <a:srgbClr val="C9242B"/>
                </a:solidFill>
                <a:latin typeface="Yu Gothic"/>
                <a:ea typeface="Yu Gothic"/>
              </a:rPr>
              <a:t>根拠を読んで答える段階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次に埋めるギャップ3つ</a:t>
            </a:r>
          </a:p>
        </p:txBody>
      </p:sp>
      <p:sp>
        <p:nvSpPr>
          <p:cNvPr id="11" name="Chevron 10"/>
          <p:cNvSpPr/>
          <p:nvPr/>
        </p:nvSpPr>
        <p:spPr>
          <a:xfrm>
            <a:off x="7937906" y="2029968"/>
            <a:ext cx="118872" cy="182880"/>
          </a:xfrm>
          <a:prstGeom prst="chevron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88782" y="1792224"/>
            <a:ext cx="3623767" cy="658368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 wrap="square" lIns="109728" tIns="36576" bIns="36576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OUTPUT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分析結果・意思決定材料</a:t>
            </a:r>
          </a:p>
          <a:p>
            <a:pPr algn="l">
              <a:buNone/>
            </a:pPr>
            <a:r>
              <a:rPr sz="8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現行：</a:t>
            </a:r>
            <a:r>
              <a:rPr sz="8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形は整った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会話・分析レポート・スライド出力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560320"/>
            <a:ext cx="11237976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8288" tIns="0" rIns="0" bIns="0">
            <a:noAutofit/>
          </a:bodyPr>
          <a:lstStyle/>
          <a:p>
            <a:pPr algn="l">
              <a:buNone/>
            </a:pPr>
            <a:r>
              <a:rPr sz="9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エージェント型＝</a:t>
            </a:r>
            <a:r>
              <a:rPr sz="9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目的を与えると、AIが手順を決め、道具（検索・計算・検証）を使い、確かめてから答える／動く。</a:t>
            </a: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PROCESSの3つのギャップを、それぞれ1つの仮説で埋める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2926080"/>
            <a:ext cx="362376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242B"/>
            </a:solidFill>
          </a:ln>
          <a:effectLst/>
        </p:spPr>
        <p:txBody>
          <a:bodyPr rtlCol="0" anchor="ctr" wrap="square" lIns="109728" tIns="27432" bIns="27432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sz="800" b="1" i="0" lang="ja-JP" altLang="en-US">
                <a:solidFill>
                  <a:srgbClr val="C9242B"/>
                </a:solidFill>
                <a:latin typeface="Yu Gothic"/>
                <a:ea typeface="Yu Gothic"/>
              </a:rPr>
              <a:t>ギャップ 1　</a:t>
            </a: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確かめない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根拠と数値の照合を自分で行わず、足りない根拠を取りに戻れない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186787" y="3529584"/>
            <a:ext cx="201168" cy="182880"/>
          </a:xfrm>
          <a:prstGeom prst="downArrow">
            <a:avLst/>
          </a:prstGeom>
          <a:solidFill>
            <a:srgbClr val="26890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" y="3749039"/>
            <a:ext cx="3623767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" y="3749039"/>
            <a:ext cx="3623767" cy="310896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109728" tIns="0" rIns="109728" bIns="0">
            <a:noAutofit/>
          </a:bodyPr>
          <a:lstStyle/>
          <a:p>
            <a:pPr algn="l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仮説 1</a:t>
            </a:r>
            <a:r>
              <a:rPr sz="85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　｜　既存機能の高度化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84855" y="3794759"/>
            <a:ext cx="8229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価値：正確さ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4078224"/>
            <a:ext cx="3623767" cy="15910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109728" tIns="54864" rIns="109728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2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自己検証ループ型の壁打ち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0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計画→探索→根拠と数値の検算を繰り返し、根拠が揃ってから答える。壁打ちから計画点検・生成資料の検証へ適用を広げる</a:t>
            </a:r>
          </a:p>
          <a:p>
            <a:pPr algn="l">
              <a:buNone/>
            </a:pPr>
            <a:r>
              <a:rPr sz="9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検証で確かめること　</a:t>
            </a:r>
            <a:r>
              <a:rPr sz="9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根拠との一致（数値・記述）／根拠の網羅性／所要時間／費用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82135" y="2926080"/>
            <a:ext cx="362376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242B"/>
            </a:solidFill>
          </a:ln>
          <a:effectLst/>
        </p:spPr>
        <p:txBody>
          <a:bodyPr rtlCol="0" anchor="ctr" wrap="square" lIns="109728" tIns="27432" bIns="27432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sz="800" b="1" i="0" lang="ja-JP" altLang="en-US">
                <a:solidFill>
                  <a:srgbClr val="C9242B"/>
                </a:solidFill>
                <a:latin typeface="Yu Gothic"/>
                <a:ea typeface="Yu Gothic"/>
              </a:rPr>
              <a:t>ギャップ 2　</a:t>
            </a: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計算しない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資料に書かれた数字しか出せず、「感応度の数値は資料に無い」で止まる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993434" y="3529584"/>
            <a:ext cx="201168" cy="182880"/>
          </a:xfrm>
          <a:prstGeom prst="downArrow">
            <a:avLst/>
          </a:prstGeom>
          <a:solidFill>
            <a:srgbClr val="26890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82135" y="3749039"/>
            <a:ext cx="3623767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82135" y="3749039"/>
            <a:ext cx="3623767" cy="310896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109728" tIns="0" rIns="109728" bIns="0">
            <a:noAutofit/>
          </a:bodyPr>
          <a:lstStyle/>
          <a:p>
            <a:pPr algn="l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仮説 2</a:t>
            </a:r>
            <a:r>
              <a:rPr sz="85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　｜　新機能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91502" y="3794759"/>
            <a:ext cx="8229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価値：分析力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82135" y="4078224"/>
            <a:ext cx="3623767" cy="15910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109728" tIns="54864" rIns="109728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2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計画の前提ウォッチャー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0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計画書から前提（為替・訪日客・人件費…）を抽出して台帳化し、監視指標と常時照合。崩れた前提の影響額を数値計画の構造に沿って試算し、分析レポートとスライドで届ける</a:t>
            </a:r>
          </a:p>
          <a:p>
            <a:pPr algn="l">
              <a:buNone/>
            </a:pPr>
            <a:r>
              <a:rPr sz="9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検証で確かめること　</a:t>
            </a:r>
            <a:r>
              <a:rPr sz="9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前提抽出の網羅性／影響額の妥当性／検知から報告までの時間／誤検知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8782" y="2926080"/>
            <a:ext cx="3623767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242B"/>
            </a:solidFill>
          </a:ln>
          <a:effectLst/>
        </p:spPr>
        <p:txBody>
          <a:bodyPr rtlCol="0" anchor="ctr" wrap="square" lIns="109728" tIns="27432" bIns="27432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sz="800" b="1" i="0" lang="ja-JP" altLang="en-US">
                <a:solidFill>
                  <a:srgbClr val="C9242B"/>
                </a:solidFill>
                <a:latin typeface="Yu Gothic"/>
                <a:ea typeface="Yu Gothic"/>
              </a:rPr>
              <a:t>ギャップ 3　</a:t>
            </a: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問われないと動かない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指標・競合巡回・SNSの材料は揃うが、束ねて読む作業は人任せ（「情報が古新聞」の根）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9800082" y="3529584"/>
            <a:ext cx="201168" cy="182880"/>
          </a:xfrm>
          <a:prstGeom prst="downArrow">
            <a:avLst/>
          </a:prstGeom>
          <a:solidFill>
            <a:srgbClr val="26890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88782" y="3749039"/>
            <a:ext cx="3623767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88782" y="3749039"/>
            <a:ext cx="3623767" cy="310896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109728" tIns="0" rIns="109728" bIns="0">
            <a:noAutofit/>
          </a:bodyPr>
          <a:lstStyle/>
          <a:p>
            <a:pPr algn="l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仮説 3</a:t>
            </a:r>
            <a:r>
              <a:rPr sz="85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　｜　新機能（1・2の組み合わせ）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798149" y="3794759"/>
            <a:ext cx="822960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価値：継続性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88782" y="4078224"/>
            <a:ext cx="3623767" cy="15910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109728" tIns="54864" rIns="109728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  <a:buNone/>
            </a:pPr>
            <a:r>
              <a:rPr sz="12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週次ブリーフの自動作成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0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毎週月曜、AIが変化を拾い、調べ、検算し、「今週の変化／崩れた前提／自社への効き方／想定される質問」を分析レポートとスライドで届ける。当面はBX推進部の確認後に役員へ</a:t>
            </a:r>
          </a:p>
          <a:p>
            <a:pPr algn="l">
              <a:buNone/>
            </a:pPr>
            <a:r>
              <a:rPr sz="9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検証で確かめること　</a:t>
            </a:r>
            <a:r>
              <a:rPr sz="9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読む価値（役員・経営企画の評価）／見落とし・誤報／作成時間の削減／費用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" y="6053328"/>
            <a:ext cx="11237976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8288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※ 仮説2の影響額は数値計画の構造に沿った概算であり、経営企画の精緻な再計算を置き換えるものではない。仮説3の配信は当面BX推進部の確認を経る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5760720"/>
            <a:ext cx="11237976" cy="29260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8288" tIns="0" rIns="0" bIns="0">
            <a:noAutofit/>
          </a:bodyPr>
          <a:lstStyle/>
          <a:p>
            <a:pPr algn="l"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AIと人の分担・自社で持つ理由は初期仮説（P13）のとおり　</a:t>
            </a:r>
            <a:r>
              <a:rPr sz="85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AIは分析・示唆・不足データの提示まで、意思決定と実行は人。閉じた根拠と人の承認を前提にした設計は、汎用AIのエージェントでは代替できない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>
          <a:xfrm>
            <a:off x="475488" y="1005840"/>
            <a:ext cx="6035040" cy="466344"/>
          </a:xfrm>
        </p:spPr>
        <p:txBody>
          <a:bodyPr/>
          <a:lstStyle/>
          <a:p>
            <a:r>
              <a:rPr lang="ja-JP" altLang="en-US"/>
              <a:t>AI Agent追加検証：実装アプローチと進め方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検証は現行構成の延長で安全に進め、新たな基盤や審査を待たず10月から着手します。出口は12月の拡大版への取り込み判断です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4"/>
          <p:cNvSpPr/>
          <p:nvPr/>
        </p:nvSpPr>
        <p:spPr>
          <a:xfrm>
            <a:off x="9418320" y="1097280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C</a:t>
            </a:r>
          </a:p>
        </p:txBody>
      </p:sp>
      <p:sp>
        <p:nvSpPr>
          <p:cNvPr id="6" name="Rectangle 5"/>
          <p:cNvSpPr/>
          <p:nvPr/>
        </p:nvSpPr>
        <p:spPr>
          <a:xfrm>
            <a:off x="9692640" y="1097280"/>
            <a:ext cx="2020824" cy="274320"/>
          </a:xfrm>
          <a:prstGeom prst="rect">
            <a:avLst/>
          </a:prstGeom>
          <a:solidFill>
            <a:srgbClr val="BDD7EE"/>
          </a:solidFill>
          <a:ln w="9525">
            <a:solidFill>
              <a:srgbClr val="2C6693"/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algn="ctr"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Quick-winアプリの機能拡張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572768"/>
            <a:ext cx="70408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実装アプローチ：現行構成（EC2＋Bedrock）の延長で、アプリ内にエージェントのループを組む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" y="2377440"/>
            <a:ext cx="960120" cy="566928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目的・質問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人が与える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481328" y="2578608"/>
            <a:ext cx="182880" cy="164592"/>
          </a:xfrm>
          <a:prstGeom prst="rightArrow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09928" y="2176272"/>
            <a:ext cx="2148840" cy="969264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  <a:buNone/>
            </a:pPr>
            <a:r>
              <a:rPr sz="95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主モデル（Claude Opus）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次の手を決め、道具を使い、結果を確かめる。根拠が揃うまで反復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3163824"/>
            <a:ext cx="2148840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反復はBedrock Converse APIのツール呼び出しで制御</a:t>
            </a:r>
          </a:p>
        </p:txBody>
      </p:sp>
      <p:sp>
        <p:nvSpPr>
          <p:cNvPr id="12" name="Left-Right Arrow 11"/>
          <p:cNvSpPr/>
          <p:nvPr/>
        </p:nvSpPr>
        <p:spPr>
          <a:xfrm>
            <a:off x="3904487" y="2578608"/>
            <a:ext cx="256032" cy="164592"/>
          </a:xfrm>
          <a:prstGeom prst="leftRightArrow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901952"/>
            <a:ext cx="2240280" cy="219456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18288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道具（追加するもの）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2139696"/>
            <a:ext cx="2240280" cy="237744"/>
          </a:xfrm>
          <a:prstGeom prst="rect">
            <a:avLst/>
          </a:prstGeom>
          <a:solidFill>
            <a:srgbClr val="F3F5F6"/>
          </a:solidFill>
          <a:ln w="6350">
            <a:solidFill>
              <a:srgbClr val="C8CDD0"/>
            </a:solidFill>
          </a:ln>
          <a:effectLst/>
        </p:spPr>
        <p:txBody>
          <a:bodyPr rtlCol="0" anchor="ctr" wrap="square" lIns="73152" tIns="0" rIns="45720" bIns="0">
            <a:noAutofit/>
          </a:bodyPr>
          <a:lstStyle/>
          <a:p>
            <a:pPr algn="l">
              <a:buNone/>
            </a:pPr>
            <a:r>
              <a:rPr sz="8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社内検索・指定サイト読取</a:t>
            </a:r>
            <a:r>
              <a:rPr sz="700" b="1" i="0" lang="ja-JP" altLang="en-US">
                <a:solidFill>
                  <a:srgbClr val="6C7074"/>
                </a:solidFill>
                <a:latin typeface="Yu Gothic"/>
                <a:ea typeface="Yu Gothic"/>
              </a:rPr>
              <a:t>　既存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414015"/>
            <a:ext cx="2240280" cy="237744"/>
          </a:xfrm>
          <a:prstGeom prst="rect">
            <a:avLst/>
          </a:prstGeom>
          <a:solidFill>
            <a:srgbClr val="EAF4EF"/>
          </a:solidFill>
          <a:ln w="6350">
            <a:solidFill>
              <a:srgbClr val="86BC25"/>
            </a:solidFill>
          </a:ln>
          <a:effectLst/>
        </p:spPr>
        <p:txBody>
          <a:bodyPr rtlCol="0" anchor="ctr" wrap="square" lIns="73152" tIns="0" rIns="45720" bIns="0">
            <a:noAutofit/>
          </a:bodyPr>
          <a:lstStyle/>
          <a:p>
            <a:pPr algn="l"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根拠・数値の照合</a:t>
            </a:r>
            <a:r>
              <a:rPr sz="7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　仮説1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688336"/>
            <a:ext cx="2240280" cy="237744"/>
          </a:xfrm>
          <a:prstGeom prst="rect">
            <a:avLst/>
          </a:prstGeom>
          <a:solidFill>
            <a:srgbClr val="EAF4EF"/>
          </a:solidFill>
          <a:ln w="6350">
            <a:solidFill>
              <a:srgbClr val="86BC25"/>
            </a:solidFill>
          </a:ln>
          <a:effectLst/>
        </p:spPr>
        <p:txBody>
          <a:bodyPr rtlCol="0" anchor="ctr" wrap="square" lIns="73152" tIns="0" rIns="45720" bIns="0">
            <a:noAutofit/>
          </a:bodyPr>
          <a:lstStyle/>
          <a:p>
            <a:pPr algn="l"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データ取得（監視指標・計画数値）</a:t>
            </a:r>
            <a:r>
              <a:rPr sz="7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　仮説2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2962656"/>
            <a:ext cx="2240280" cy="237744"/>
          </a:xfrm>
          <a:prstGeom prst="rect">
            <a:avLst/>
          </a:prstGeom>
          <a:solidFill>
            <a:srgbClr val="EAF4EF"/>
          </a:solidFill>
          <a:ln w="6350">
            <a:solidFill>
              <a:srgbClr val="86BC25"/>
            </a:solidFill>
          </a:ln>
          <a:effectLst/>
        </p:spPr>
        <p:txBody>
          <a:bodyPr rtlCol="0" anchor="ctr" wrap="square" lIns="73152" tIns="0" rIns="45720" bIns="0">
            <a:noAutofit/>
          </a:bodyPr>
          <a:lstStyle/>
          <a:p>
            <a:pPr algn="l"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計算実行（閉じたサンドボックス）</a:t>
            </a:r>
            <a:r>
              <a:rPr sz="7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　仮説2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3236976"/>
            <a:ext cx="2240280" cy="237744"/>
          </a:xfrm>
          <a:prstGeom prst="rect">
            <a:avLst/>
          </a:prstGeom>
          <a:solidFill>
            <a:srgbClr val="EAF4EF"/>
          </a:solidFill>
          <a:ln w="6350">
            <a:solidFill>
              <a:srgbClr val="86BC25"/>
            </a:solidFill>
          </a:ln>
          <a:effectLst/>
        </p:spPr>
        <p:txBody>
          <a:bodyPr rtlCol="0" anchor="ctr" wrap="square" lIns="73152" tIns="0" rIns="45720" bIns="0">
            <a:noAutofit/>
          </a:bodyPr>
          <a:lstStyle/>
          <a:p>
            <a:pPr algn="l"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定期実行・配信</a:t>
            </a:r>
            <a:r>
              <a:rPr sz="7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　仮説3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492240" y="2578608"/>
            <a:ext cx="182880" cy="164592"/>
          </a:xfrm>
          <a:prstGeom prst="rightArrow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20840" y="2304288"/>
            <a:ext cx="795528" cy="713232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答える／動く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根拠つきの回答・資料・ブリーフ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3493008"/>
            <a:ext cx="22860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t" wrap="square" tIns="54864" bIns="36576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9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新規インフラ・審査は不要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EC2＋Bedrockの現構成と、閉域・許可リスト・ログ・エラーIDをそのまま流用。第2線の審査は取り込み時に受ける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52928" y="3493008"/>
            <a:ext cx="22860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t" wrap="square" tIns="54864" bIns="36576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9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ITEC様が保守できる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既存コードの延長で実装し、引継ぎ済みの知識で追える。専用の基盤やライブラリを持ち込まない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30368" y="3493008"/>
            <a:ext cx="228600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t" wrap="square" tIns="54864" bIns="36576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9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10月から即着手できる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試作がそのまま本番構成に近く、取り込み時の作り直しが小さい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" y="4498848"/>
            <a:ext cx="7040880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ガバナンス設計：エージェントに与える権限の線引き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" y="4791456"/>
            <a:ext cx="7040880" cy="1060704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t" wrap="square" lIns="109728" tIns="54864" rIns="109728" bIns="36576">
            <a:noAutofit/>
          </a:bodyPr>
          <a:lstStyle/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権限は「読む・下書きする」まで　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通知・台帳登録・資料の確定は提案止まりとし、人が承認する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計算は閉じたサンドボックスで　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外部通信なし・読み取り専用で実行し、データの書き換えはしない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定期実行で作る資料は下書き扱い　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人の確認を経て配布し、精度が確認できてから自動掲示に切り替える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すべての手を記録　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ツール呼び出しごとに入出力・所要・費用をログとエラーIDに残し、あとから追える</a:t>
            </a:r>
          </a:p>
          <a:p>
            <a:pPr algn="l" marL="109728" indent="-109728">
              <a:spcAft>
                <a:spcPts val="200"/>
              </a:spcAft>
              <a:buClr>
                <a:srgbClr val="26890D"/>
              </a:buClr>
              <a:buFont typeface="Arial"/>
              <a:buChar char="•"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上限を設ける　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1回の実行にステップ数・時間・トークンの上限を置き、暴走と費用の膨張を防ぐ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1572768"/>
            <a:ext cx="3941063" cy="27432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検証の進め方：仮説ごとに同じ型で回す</a:t>
            </a:r>
          </a:p>
        </p:txBody>
      </p:sp>
      <p:sp>
        <p:nvSpPr>
          <p:cNvPr id="27" name="Pentagon 26"/>
          <p:cNvSpPr/>
          <p:nvPr/>
        </p:nvSpPr>
        <p:spPr>
          <a:xfrm>
            <a:off x="7772400" y="1920240"/>
            <a:ext cx="1051560" cy="475488"/>
          </a:xfrm>
          <a:prstGeom prst="homePlate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18288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機能提案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1週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87968" y="1920240"/>
            <a:ext cx="2825496" cy="47548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54864" tIns="0" rIns="4572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利用シーン・仕様・評価方法を提示し合意</a:t>
            </a:r>
          </a:p>
        </p:txBody>
      </p:sp>
      <p:sp>
        <p:nvSpPr>
          <p:cNvPr id="29" name="Pentagon 28"/>
          <p:cNvSpPr/>
          <p:nvPr/>
        </p:nvSpPr>
        <p:spPr>
          <a:xfrm>
            <a:off x="7772400" y="2487168"/>
            <a:ext cx="1051560" cy="475488"/>
          </a:xfrm>
          <a:prstGeom prst="homePlate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18288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試作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1.5〜2週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87968" y="2487168"/>
            <a:ext cx="2825496" cy="47548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54864" tIns="0" rIns="4572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検証環境に実装（初版には触れない）</a:t>
            </a:r>
          </a:p>
        </p:txBody>
      </p:sp>
      <p:sp>
        <p:nvSpPr>
          <p:cNvPr id="31" name="Pentagon 30"/>
          <p:cNvSpPr/>
          <p:nvPr/>
        </p:nvSpPr>
        <p:spPr>
          <a:xfrm>
            <a:off x="7772400" y="3054096"/>
            <a:ext cx="1051560" cy="475488"/>
          </a:xfrm>
          <a:prstGeom prst="homePlate">
            <a:avLst/>
          </a:prstGeom>
          <a:solidFill>
            <a:srgbClr val="26890D"/>
          </a:solidFill>
          <a:ln>
            <a:noFill/>
          </a:ln>
          <a:effectLst/>
        </p:spPr>
        <p:txBody>
          <a:bodyPr rtlCol="0" anchor="ctr" wrap="square" lIns="18288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評価・改善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1週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87968" y="3054096"/>
            <a:ext cx="2825496" cy="47548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54864" tIns="0" rIns="4572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同一質問セットで前後比較し、利用フィードバックを反映して仕上げる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0" y="3639312"/>
            <a:ext cx="3941063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評価軸（4つ）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3913632"/>
            <a:ext cx="1901951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 wrap="square" tIns="0" rIns="54864" bIns="0">
            <a:noAutofit/>
          </a:bodyPr>
          <a:lstStyle/>
          <a:p>
            <a:pPr algn="l">
              <a:buNone/>
            </a:pPr>
            <a:r>
              <a:rPr sz="9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品質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根拠との一致（数値・記述）・網羅性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11512" y="3913632"/>
            <a:ext cx="1901951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 wrap="square" tIns="0" rIns="54864" bIns="0">
            <a:noAutofit/>
          </a:bodyPr>
          <a:lstStyle/>
          <a:p>
            <a:pPr algn="l">
              <a:buNone/>
            </a:pPr>
            <a:r>
              <a:rPr sz="9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速さ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体感の所要時間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4370832"/>
            <a:ext cx="1901951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 wrap="square" tIns="0" rIns="54864" bIns="0">
            <a:noAutofit/>
          </a:bodyPr>
          <a:lstStyle/>
          <a:p>
            <a:pPr algn="l">
              <a:buNone/>
            </a:pPr>
            <a:r>
              <a:rPr sz="9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コスト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トークン費用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11512" y="4370832"/>
            <a:ext cx="1901951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C8CDD0"/>
            </a:solidFill>
          </a:ln>
          <a:effectLst/>
        </p:spPr>
        <p:txBody>
          <a:bodyPr rtlCol="0" anchor="ctr" wrap="square" tIns="0" rIns="54864" bIns="0">
            <a:noAutofit/>
          </a:bodyPr>
          <a:lstStyle/>
          <a:p>
            <a:pPr algn="l">
              <a:buNone/>
            </a:pPr>
            <a:r>
              <a:rPr sz="9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運用性</a:t>
            </a: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　ITEC様が保守できるか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4873752"/>
            <a:ext cx="3941063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Sprintの順序：仮説1→2→3、各3〜4週</a:t>
            </a:r>
          </a:p>
        </p:txBody>
      </p:sp>
      <p:sp>
        <p:nvSpPr>
          <p:cNvPr id="39" name="Chevron 38"/>
          <p:cNvSpPr/>
          <p:nvPr/>
        </p:nvSpPr>
        <p:spPr>
          <a:xfrm>
            <a:off x="7772400" y="5138928"/>
            <a:ext cx="964692" cy="365760"/>
          </a:xfrm>
          <a:prstGeom prst="chevron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0" tIns="0" rIns="45720" bIns="0">
            <a:noAutofit/>
          </a:bodyPr>
          <a:lstStyle/>
          <a:p>
            <a:pPr algn="ctr">
              <a:buNone/>
            </a:pPr>
            <a:r>
              <a:rPr sz="8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S1 仮説1</a:t>
            </a:r>
          </a:p>
        </p:txBody>
      </p:sp>
      <p:sp>
        <p:nvSpPr>
          <p:cNvPr id="40" name="Chevron 39"/>
          <p:cNvSpPr/>
          <p:nvPr/>
        </p:nvSpPr>
        <p:spPr>
          <a:xfrm>
            <a:off x="8764524" y="5138928"/>
            <a:ext cx="964692" cy="365760"/>
          </a:xfrm>
          <a:prstGeom prst="chevron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0" tIns="0" rIns="45720" bIns="0">
            <a:noAutofit/>
          </a:bodyPr>
          <a:lstStyle/>
          <a:p>
            <a:pPr algn="ctr">
              <a:buNone/>
            </a:pPr>
            <a:r>
              <a:rPr sz="8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S2 仮説2</a:t>
            </a:r>
          </a:p>
        </p:txBody>
      </p:sp>
      <p:sp>
        <p:nvSpPr>
          <p:cNvPr id="41" name="Chevron 40"/>
          <p:cNvSpPr/>
          <p:nvPr/>
        </p:nvSpPr>
        <p:spPr>
          <a:xfrm>
            <a:off x="9756648" y="5138928"/>
            <a:ext cx="964692" cy="365760"/>
          </a:xfrm>
          <a:prstGeom prst="chevron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0" tIns="0" rIns="45720" bIns="0">
            <a:noAutofit/>
          </a:bodyPr>
          <a:lstStyle/>
          <a:p>
            <a:pPr algn="ctr">
              <a:buNone/>
            </a:pPr>
            <a:r>
              <a:rPr sz="8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S3 仮説3</a:t>
            </a:r>
          </a:p>
        </p:txBody>
      </p:sp>
      <p:sp>
        <p:nvSpPr>
          <p:cNvPr id="42" name="Chevron 41"/>
          <p:cNvSpPr/>
          <p:nvPr/>
        </p:nvSpPr>
        <p:spPr>
          <a:xfrm>
            <a:off x="10748772" y="5138928"/>
            <a:ext cx="964692" cy="365760"/>
          </a:xfrm>
          <a:prstGeom prst="chevron">
            <a:avLst/>
          </a:prstGeom>
          <a:solidFill>
            <a:srgbClr val="EAF4EF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0" tIns="0" rIns="45720" bIns="0">
            <a:noAutofit/>
          </a:bodyPr>
          <a:lstStyle/>
          <a:p>
            <a:pPr algn="ctr">
              <a:buNone/>
            </a:pPr>
            <a:r>
              <a:rPr sz="8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取り込み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0" y="5532120"/>
            <a:ext cx="3941063" cy="32918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18288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1の検算が2・3の土台、2の計算が3の数値部分になるため、この順で積む。各Sprintの最終週で評価・改善まで行い、12月中旬から本番取り込み設計・引継ぎ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" y="5943600"/>
            <a:ext cx="11237976" cy="411480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137160" tIns="27432" rIns="137160" bIns="27432">
            <a:noAutofit/>
          </a:bodyPr>
          <a:lstStyle/>
          <a:p>
            <a:pPr algn="l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Phase2の出口　</a:t>
            </a:r>
            <a:r>
              <a:rPr sz="95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12月の最終報告で、仮説ごとに「拡大版（12月〜1月）に取り込む／Phase3へ回す」を評価結果つきで判断。取り込みの時期はITEC様の工数と合わせて決定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>
          <a:xfrm>
            <a:off x="475488" y="1005840"/>
            <a:ext cx="6035040" cy="466344"/>
          </a:xfrm>
        </p:spPr>
        <p:txBody>
          <a:bodyPr/>
          <a:lstStyle/>
          <a:p>
            <a:r>
              <a:rPr lang="ja-JP" altLang="en-US"/>
              <a:t>タスク一覧と役割分担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10月は公開の立ち上げ、11月は定着と検証、12月は自走準備と取り込み判断に力点を置き、B・Cを同じ時間軸で進めます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4"/>
          <p:cNvSpPr/>
          <p:nvPr/>
        </p:nvSpPr>
        <p:spPr>
          <a:xfrm>
            <a:off x="6720840" y="1097280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B</a:t>
            </a:r>
          </a:p>
        </p:txBody>
      </p:sp>
      <p:sp>
        <p:nvSpPr>
          <p:cNvPr id="6" name="Rectangle 5"/>
          <p:cNvSpPr/>
          <p:nvPr/>
        </p:nvSpPr>
        <p:spPr>
          <a:xfrm>
            <a:off x="6995159" y="1097280"/>
            <a:ext cx="2240280" cy="274320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algn="ctr"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既存Quick-Winアプリの品質対応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0" y="1097280"/>
            <a:ext cx="274320" cy="274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C</a:t>
            </a:r>
          </a:p>
        </p:txBody>
      </p:sp>
      <p:sp>
        <p:nvSpPr>
          <p:cNvPr id="8" name="Rectangle 7"/>
          <p:cNvSpPr/>
          <p:nvPr/>
        </p:nvSpPr>
        <p:spPr>
          <a:xfrm>
            <a:off x="9692640" y="1097280"/>
            <a:ext cx="2020824" cy="274320"/>
          </a:xfrm>
          <a:prstGeom prst="rect">
            <a:avLst/>
          </a:prstGeom>
          <a:solidFill>
            <a:srgbClr val="BDD7EE"/>
          </a:solidFill>
          <a:ln w="9525">
            <a:solidFill>
              <a:srgbClr val="2C6693"/>
            </a:solidFill>
          </a:ln>
          <a:effectLst/>
        </p:spPr>
        <p:txBody>
          <a:bodyPr rtlCol="0" anchor="ctr" wrap="square" lIns="36576" tIns="0" rIns="36576" bIns="0">
            <a:noAutofit/>
          </a:bodyPr>
          <a:lstStyle/>
          <a:p>
            <a:pPr algn="ctr">
              <a:buNone/>
            </a:pPr>
            <a:r>
              <a:rPr sz="9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Quick-winアプリの機能拡張</a:t>
            </a:r>
          </a:p>
        </p:txBody>
      </p:sp>
      <p:sp>
        <p:nvSpPr>
          <p:cNvPr id="9" name="Rectangle 8"/>
          <p:cNvSpPr/>
          <p:nvPr/>
        </p:nvSpPr>
        <p:spPr>
          <a:xfrm>
            <a:off x="1755648" y="1572768"/>
            <a:ext cx="3197352" cy="310896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109728" tIns="0" bIns="0">
            <a:noAutofit/>
          </a:bodyPr>
          <a:lstStyle/>
          <a:p>
            <a:pPr algn="l">
              <a:buNone/>
            </a:pPr>
            <a:r>
              <a:rPr sz="11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10月</a:t>
            </a:r>
            <a:r>
              <a:rPr sz="90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　立ち上げ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5992" y="1901952"/>
            <a:ext cx="402336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貴社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48328" y="1901952"/>
            <a:ext cx="402336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ITEC様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50664" y="1901952"/>
            <a:ext cx="402336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デロイト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44440" y="1572768"/>
            <a:ext cx="3197352" cy="310896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109728" tIns="0" bIns="0">
            <a:noAutofit/>
          </a:bodyPr>
          <a:lstStyle/>
          <a:p>
            <a:pPr algn="l">
              <a:buNone/>
            </a:pPr>
            <a:r>
              <a:rPr sz="11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11月</a:t>
            </a:r>
            <a:r>
              <a:rPr sz="90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　定着・検証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34784" y="1901952"/>
            <a:ext cx="402336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貴社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37120" y="1901952"/>
            <a:ext cx="402336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ITEC様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39456" y="1901952"/>
            <a:ext cx="402336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デロイト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33232" y="1572768"/>
            <a:ext cx="3197352" cy="310896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109728" tIns="0" bIns="0">
            <a:noAutofit/>
          </a:bodyPr>
          <a:lstStyle/>
          <a:p>
            <a:pPr algn="l">
              <a:buNone/>
            </a:pPr>
            <a:r>
              <a:rPr sz="11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12月</a:t>
            </a:r>
            <a:r>
              <a:rPr sz="900" b="0" i="0" lang="ja-JP" altLang="en-US">
                <a:solidFill>
                  <a:srgbClr val="FFFFFF"/>
                </a:solidFill>
                <a:latin typeface="Yu Gothic"/>
                <a:ea typeface="Yu Gothic"/>
              </a:rPr>
              <a:t>　自走準備・取り込み判断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23576" y="1901952"/>
            <a:ext cx="402336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貴社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25912" y="1901952"/>
            <a:ext cx="402336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ITEC様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128248" y="1901952"/>
            <a:ext cx="402336" cy="18288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6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デロイト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1572768"/>
            <a:ext cx="1188720" cy="310896"/>
          </a:xfrm>
          <a:prstGeom prst="rect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" y="2121408"/>
            <a:ext cx="11237976" cy="1572768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399" y="2450591"/>
            <a:ext cx="310896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834639"/>
            <a:ext cx="1042416" cy="457200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既存Quick-Winアプリの品質対応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75488" y="3694176"/>
            <a:ext cx="11237976" cy="0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75488" y="3749039"/>
            <a:ext cx="11237976" cy="1572768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399" y="4078224"/>
            <a:ext cx="310896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462272"/>
            <a:ext cx="1042416" cy="457200"/>
          </a:xfrm>
          <a:prstGeom prst="rect">
            <a:avLst/>
          </a:prstGeom>
          <a:solidFill>
            <a:srgbClr val="BDD7EE"/>
          </a:solidFill>
          <a:ln w="9525">
            <a:solidFill>
              <a:srgbClr val="2C6693"/>
            </a:solidFill>
          </a:ln>
          <a:effectLst/>
        </p:spPr>
        <p:txBody>
          <a:bodyPr rtlCol="0" anchor="ctr" wrap="square" lIns="18288" tIns="0" rIns="1828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Quick-winアプリの機能拡張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75488" y="5321807"/>
            <a:ext cx="11237976" cy="0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475488" y="5376672"/>
            <a:ext cx="11237976" cy="8412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5488" y="5376672"/>
            <a:ext cx="1188720" cy="84124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共通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75488" y="6217920"/>
            <a:ext cx="11237976" cy="0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755648" y="2212848"/>
            <a:ext cx="31973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755648" y="2212848"/>
            <a:ext cx="1898904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tIns="27432" rIns="45720" bIns="27432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B1　</a:t>
            </a: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公開前支援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　10月上旬</a:t>
            </a:r>
          </a:p>
          <a:p>
            <a:pPr algn="l">
              <a:buNone/>
            </a:pPr>
            <a:r>
              <a:rPr sz="750" b="1" i="0" lang="ja-JP" altLang="en-US">
                <a:solidFill>
                  <a:srgbClr val="6C7074"/>
                </a:solidFill>
                <a:latin typeface="Yu Gothic"/>
                <a:ea typeface="Yu Gothic"/>
              </a:rPr>
              <a:t>アウトプット　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修正案・パッチ／取り込み範囲案／運用ルール案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5992" y="2212848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48328" y="2212848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50664" y="2212848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55648" y="2944368"/>
            <a:ext cx="31973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55648" y="2944368"/>
            <a:ext cx="1898904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tIns="27432" rIns="45720" bIns="27432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B2　</a:t>
            </a: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初版フォロー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　10月</a:t>
            </a:r>
          </a:p>
          <a:p>
            <a:pPr algn="l">
              <a:buNone/>
            </a:pPr>
            <a:r>
              <a:rPr sz="750" b="1" i="0" lang="ja-JP" altLang="en-US">
                <a:solidFill>
                  <a:srgbClr val="6C7074"/>
                </a:solidFill>
                <a:latin typeface="Yu Gothic"/>
                <a:ea typeface="Yu Gothic"/>
              </a:rPr>
              <a:t>アウトプット　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課題対応記録／拡大版改修リスト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5992" y="2944368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48328" y="2944368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50664" y="2944368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44440" y="2212848"/>
            <a:ext cx="31973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44440" y="2212848"/>
            <a:ext cx="1898904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tIns="27432" rIns="45720" bIns="27432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B3　</a:t>
            </a: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利用定着・品質評価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/>
            </a:r>
          </a:p>
          <a:p>
            <a:pPr algn="l">
              <a:buNone/>
            </a:pPr>
            <a:r>
              <a:rPr sz="750" b="1" i="0" lang="ja-JP" altLang="en-US">
                <a:solidFill>
                  <a:srgbClr val="6C7074"/>
                </a:solidFill>
                <a:latin typeface="Yu Gothic"/>
                <a:ea typeface="Yu Gothic"/>
              </a:rPr>
              <a:t>アウトプット　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利用状況分析／改修バックログ（優先順位付き）／利用ガイド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34784" y="2212848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37120" y="2212848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39456" y="2212848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33232" y="2212848"/>
            <a:ext cx="31973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333232" y="2212848"/>
            <a:ext cx="1898904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tIns="27432" rIns="45720" bIns="27432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B4　</a:t>
            </a: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拡大・自走準備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/>
            </a:r>
          </a:p>
          <a:p>
            <a:pPr algn="l">
              <a:buNone/>
            </a:pPr>
            <a:r>
              <a:rPr sz="750" b="1" i="0" lang="ja-JP" altLang="en-US">
                <a:solidFill>
                  <a:srgbClr val="6C7074"/>
                </a:solidFill>
                <a:latin typeface="Yu Gothic"/>
                <a:ea typeface="Yu Gothic"/>
              </a:rPr>
              <a:t>アウトプット　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回帰テスト一式／変更管理手順／更新ドキュメント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323576" y="2212848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725912" y="2212848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128248" y="2212848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55648" y="3840479"/>
            <a:ext cx="31973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755648" y="3840479"/>
            <a:ext cx="1898904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tIns="27432" rIns="45720" bIns="27432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1" i="0" lang="ja-JP" altLang="en-US">
                <a:solidFill>
                  <a:srgbClr val="2C6693"/>
                </a:solidFill>
                <a:latin typeface="Yu Gothic"/>
                <a:ea typeface="Yu Gothic"/>
              </a:rPr>
              <a:t>C1　</a:t>
            </a: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Sprint 1｜仮説1 自己検証ループ型の壁打ち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　10/1〜23</a:t>
            </a:r>
          </a:p>
          <a:p>
            <a:pPr algn="l">
              <a:buNone/>
            </a:pPr>
            <a:r>
              <a:rPr sz="750" b="1" i="0" lang="ja-JP" altLang="en-US">
                <a:solidFill>
                  <a:srgbClr val="6C7074"/>
                </a:solidFill>
                <a:latin typeface="Yu Gothic"/>
                <a:ea typeface="Yu Gothic"/>
              </a:rPr>
              <a:t>アウトプット　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機能提案書／試作（検証環境）／評価結果（各Sprint共通）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745992" y="3840479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48328" y="3840479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50664" y="3840479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44440" y="3840479"/>
            <a:ext cx="31973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44440" y="3840479"/>
            <a:ext cx="1898904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tIns="27432" rIns="45720" bIns="27432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1" i="0" lang="ja-JP" altLang="en-US">
                <a:solidFill>
                  <a:srgbClr val="2C6693"/>
                </a:solidFill>
                <a:latin typeface="Yu Gothic"/>
                <a:ea typeface="Yu Gothic"/>
              </a:rPr>
              <a:t>C2　</a:t>
            </a: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Sprint 2｜仮説2 計画の前提ウォッチャー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　10/26〜11/13</a:t>
            </a:r>
          </a:p>
          <a:p>
            <a:pPr algn="l">
              <a:buNone/>
            </a:pPr>
            <a:r>
              <a:rPr sz="750" b="1" i="0" lang="ja-JP" altLang="en-US">
                <a:solidFill>
                  <a:srgbClr val="6C7074"/>
                </a:solidFill>
                <a:latin typeface="Yu Gothic"/>
                <a:ea typeface="Yu Gothic"/>
              </a:rPr>
              <a:t>アウトプット　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同上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34784" y="3840479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37120" y="3840479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39456" y="3840479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44440" y="4571999"/>
            <a:ext cx="31973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44440" y="4571999"/>
            <a:ext cx="1898904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tIns="27432" rIns="45720" bIns="27432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1" i="0" lang="ja-JP" altLang="en-US">
                <a:solidFill>
                  <a:srgbClr val="2C6693"/>
                </a:solidFill>
                <a:latin typeface="Yu Gothic"/>
                <a:ea typeface="Yu Gothic"/>
              </a:rPr>
              <a:t>C3　</a:t>
            </a: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Sprint 3｜仮説3 週次ブリーフの自動作成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　11/16〜12/11</a:t>
            </a:r>
          </a:p>
          <a:p>
            <a:pPr algn="l">
              <a:buNone/>
            </a:pPr>
            <a:r>
              <a:rPr sz="750" b="1" i="0" lang="ja-JP" altLang="en-US">
                <a:solidFill>
                  <a:srgbClr val="6C7074"/>
                </a:solidFill>
                <a:latin typeface="Yu Gothic"/>
                <a:ea typeface="Yu Gothic"/>
              </a:rPr>
              <a:t>アウトプット　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同上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034784" y="4571999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37120" y="4571999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839456" y="4571999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33232" y="3840479"/>
            <a:ext cx="31973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333232" y="3840479"/>
            <a:ext cx="1898904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tIns="27432" rIns="45720" bIns="27432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1" i="0" lang="ja-JP" altLang="en-US">
                <a:solidFill>
                  <a:srgbClr val="2C6693"/>
                </a:solidFill>
                <a:latin typeface="Yu Gothic"/>
                <a:ea typeface="Yu Gothic"/>
              </a:rPr>
              <a:t>C4　</a:t>
            </a: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本番取り込み設計・引継ぎ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　12/14〜25</a:t>
            </a:r>
          </a:p>
          <a:p>
            <a:pPr algn="l">
              <a:buNone/>
            </a:pPr>
            <a:r>
              <a:rPr sz="750" b="1" i="0" lang="ja-JP" altLang="en-US">
                <a:solidFill>
                  <a:srgbClr val="6C7074"/>
                </a:solidFill>
                <a:latin typeface="Yu Gothic"/>
                <a:ea typeface="Yu Gothic"/>
              </a:rPr>
              <a:t>アウトプット　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評価結果（3仮説の総括）／取り込み設計書／引継ぎ資料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323576" y="3840479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725912" y="3840479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128248" y="3840479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755648" y="5468112"/>
            <a:ext cx="31973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755648" y="5468112"/>
            <a:ext cx="1898904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tIns="27432" rIns="45720" bIns="27432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　</a:t>
            </a: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週次定例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　通期</a:t>
            </a:r>
          </a:p>
          <a:p>
            <a:pPr algn="l">
              <a:buNone/>
            </a:pPr>
            <a:r>
              <a:rPr sz="750" b="1" i="0" lang="ja-JP" altLang="en-US">
                <a:solidFill>
                  <a:srgbClr val="6C7074"/>
                </a:solidFill>
                <a:latin typeface="Yu Gothic"/>
                <a:ea typeface="Yu Gothic"/>
              </a:rPr>
              <a:t>アウトプット　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週次報告資料（進捗・評価結果・論点）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45992" y="5468112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48328" y="5468112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50664" y="5468112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044440" y="5468112"/>
            <a:ext cx="31973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044440" y="5468112"/>
            <a:ext cx="1898904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tIns="27432" rIns="45720" bIns="27432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　</a:t>
            </a: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中間報告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　11月中旬</a:t>
            </a:r>
          </a:p>
          <a:p>
            <a:pPr algn="l">
              <a:buNone/>
            </a:pPr>
            <a:r>
              <a:rPr sz="750" b="1" i="0" lang="ja-JP" altLang="en-US">
                <a:solidFill>
                  <a:srgbClr val="6C7074"/>
                </a:solidFill>
                <a:latin typeface="Yu Gothic"/>
                <a:ea typeface="Yu Gothic"/>
              </a:rPr>
              <a:t>アウトプット　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中間報告書（Bの利用実態、C仮説1・2の評価、仮説3の設計）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034784" y="5468112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37120" y="5468112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839456" y="5468112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33232" y="5468112"/>
            <a:ext cx="319735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8CD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333232" y="5468112"/>
            <a:ext cx="1898904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tIns="27432" rIns="45720" bIns="27432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sz="9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　</a:t>
            </a:r>
            <a:r>
              <a:rPr sz="9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最終報告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　12月下旬</a:t>
            </a:r>
          </a:p>
          <a:p>
            <a:pPr algn="l">
              <a:buNone/>
            </a:pPr>
            <a:r>
              <a:rPr sz="750" b="1" i="0" lang="ja-JP" altLang="en-US">
                <a:solidFill>
                  <a:srgbClr val="6C7074"/>
                </a:solidFill>
                <a:latin typeface="Yu Gothic"/>
                <a:ea typeface="Yu Gothic"/>
              </a:rPr>
              <a:t>アウトプット　</a:t>
            </a:r>
            <a:r>
              <a:rPr sz="75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最終報告書（拡大版への取り込み判断、Phase3の論点）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323576" y="5468112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725912" y="5468112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○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128248" y="5468112"/>
            <a:ext cx="402336" cy="6583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lang="ja-JP" altLang="en-US">
                <a:solidFill>
                  <a:srgbClr val="046A38"/>
                </a:solidFill>
                <a:latin typeface="Yu Gothic"/>
                <a:ea typeface="Yu Gothic"/>
              </a:rPr>
              <a:t>◎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75488" y="6318503"/>
            <a:ext cx="11237976" cy="23774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0" tIns="0" rIns="0" bIns="0">
            <a:noAutofit/>
          </a:bodyPr>
          <a:lstStyle/>
          <a:p>
            <a:pPr algn="l">
              <a:buNone/>
            </a:pPr>
            <a:r>
              <a:rPr sz="80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◎ 実施主体　○ 参画・確認（情報共有を含む）　— 対象外　　</a:t>
            </a:r>
            <a:r>
              <a:rPr sz="80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※ タスクの内容はP2（B）・P3（C）参照。Bの時期は貴社主体の公開スケジュールに合わせて調整。Cの試作は検証環境で行い、10月初版には影響を与えない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>
          <a:xfrm>
            <a:off x="475488" y="1005840"/>
            <a:ext cx="6035040" cy="466344"/>
          </a:xfrm>
        </p:spPr>
        <p:txBody>
          <a:bodyPr/>
          <a:lstStyle/>
          <a:p>
            <a:r>
              <a:rPr lang="ja-JP" altLang="en-US"/>
              <a:t>スケジュール案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前述のスコープを2026/10/1〜12/25の約3か月で推進し、12月の最終報告で拡大版への取り込みを判断します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4"/>
          <p:cNvSpPr/>
          <p:nvPr/>
        </p:nvSpPr>
        <p:spPr>
          <a:xfrm>
            <a:off x="8732520" y="1051560"/>
            <a:ext cx="2980944" cy="329184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支援期間：2026/10/1 – 2026/12/25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15768" y="1572768"/>
            <a:ext cx="3460652" cy="274320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10月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2715768" y="1847088"/>
            <a:ext cx="692130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1W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7898" y="1847088"/>
            <a:ext cx="692130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2W</a:t>
            </a:r>
          </a:p>
        </p:txBody>
      </p:sp>
      <p:sp>
        <p:nvSpPr>
          <p:cNvPr id="9" name="Rectangle 8"/>
          <p:cNvSpPr/>
          <p:nvPr/>
        </p:nvSpPr>
        <p:spPr>
          <a:xfrm>
            <a:off x="4100028" y="1847088"/>
            <a:ext cx="692130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3W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2159" y="1847088"/>
            <a:ext cx="692130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4W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4289" y="1847088"/>
            <a:ext cx="692130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5W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420" y="1572768"/>
            <a:ext cx="2768521" cy="274320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11月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6420" y="1847088"/>
            <a:ext cx="692130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1W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68550" y="1847088"/>
            <a:ext cx="692130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2W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60681" y="1847088"/>
            <a:ext cx="692130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3W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52811" y="1847088"/>
            <a:ext cx="692130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4W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44942" y="1572768"/>
            <a:ext cx="2768521" cy="274320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12月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44942" y="1847088"/>
            <a:ext cx="692130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1W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37072" y="1847088"/>
            <a:ext cx="692130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2W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29203" y="1847088"/>
            <a:ext cx="692130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3W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21333" y="1847088"/>
            <a:ext cx="692130" cy="246888"/>
          </a:xfrm>
          <a:prstGeom prst="rect">
            <a:avLst/>
          </a:prstGeom>
          <a:solidFill>
            <a:srgbClr val="E8EAEC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4W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715768" y="2093976"/>
            <a:ext cx="0" cy="351129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407898" y="2093976"/>
            <a:ext cx="0" cy="351129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100028" y="2093976"/>
            <a:ext cx="0" cy="351129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792159" y="2093976"/>
            <a:ext cx="0" cy="351129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484289" y="2093976"/>
            <a:ext cx="0" cy="351129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176420" y="2093976"/>
            <a:ext cx="0" cy="351129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68550" y="2093976"/>
            <a:ext cx="0" cy="351129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560681" y="2093976"/>
            <a:ext cx="0" cy="351129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52811" y="2093976"/>
            <a:ext cx="0" cy="351129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44942" y="2093976"/>
            <a:ext cx="0" cy="351129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637072" y="2093976"/>
            <a:ext cx="0" cy="351129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329203" y="2093976"/>
            <a:ext cx="0" cy="351129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021333" y="2093976"/>
            <a:ext cx="0" cy="351129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713464" y="2093976"/>
            <a:ext cx="0" cy="3511296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176420" y="2093976"/>
            <a:ext cx="0" cy="3511296"/>
          </a:xfrm>
          <a:prstGeom prst="line">
            <a:avLst/>
          </a:prstGeom>
          <a:ln w="9525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944942" y="2093976"/>
            <a:ext cx="0" cy="3511296"/>
          </a:xfrm>
          <a:prstGeom prst="line">
            <a:avLst/>
          </a:prstGeom>
          <a:ln w="9525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475488" y="2093976"/>
            <a:ext cx="2240280" cy="384048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 wrap="square" tIns="0" rIns="4572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マイルストーン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75488" y="2478024"/>
            <a:ext cx="11237976" cy="0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475488" y="2478024"/>
            <a:ext cx="2240280" cy="566928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 wrap="square" tIns="0" rIns="4572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貴社主体（ITEC様含む）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75488" y="3044952"/>
            <a:ext cx="11237976" cy="0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521208" y="3332988"/>
            <a:ext cx="274320" cy="2926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" y="3332988"/>
            <a:ext cx="1847088" cy="292608"/>
          </a:xfrm>
          <a:prstGeom prst="rect">
            <a:avLst/>
          </a:prstGeom>
          <a:solidFill>
            <a:srgbClr val="D9EEE2"/>
          </a:solidFill>
          <a:ln w="9525">
            <a:solidFill>
              <a:srgbClr val="046A38"/>
            </a:solidFill>
          </a:ln>
          <a:effectLst/>
        </p:spPr>
        <p:txBody>
          <a:bodyPr rtlCol="0" anchor="ctr" wrap="square" lIns="27432" tIns="0" rIns="27432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既存Quick-Winアプリの品質対応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75488" y="3913632"/>
            <a:ext cx="11237976" cy="0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21208" y="4407408"/>
            <a:ext cx="274320" cy="29260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" y="4407408"/>
            <a:ext cx="1847088" cy="292608"/>
          </a:xfrm>
          <a:prstGeom prst="rect">
            <a:avLst/>
          </a:prstGeom>
          <a:solidFill>
            <a:srgbClr val="BDD7EE"/>
          </a:solidFill>
          <a:ln w="9525">
            <a:solidFill>
              <a:srgbClr val="2C6693"/>
            </a:solidFill>
          </a:ln>
          <a:effectLst/>
        </p:spPr>
        <p:txBody>
          <a:bodyPr rtlCol="0" anchor="ctr" wrap="square" lIns="27432" tIns="0" rIns="27432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Quick-winアプリの機能拡張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75488" y="5193792"/>
            <a:ext cx="11237976" cy="0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475488" y="5193792"/>
            <a:ext cx="2240280" cy="3657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 wrap="square" tIns="0" rIns="4572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53565A"/>
                </a:solidFill>
                <a:latin typeface="Yu Gothic"/>
                <a:ea typeface="Yu Gothic"/>
              </a:rPr>
              <a:t>共通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75488" y="5559552"/>
            <a:ext cx="11237976" cy="0"/>
          </a:xfrm>
          <a:prstGeom prst="line">
            <a:avLst/>
          </a:prstGeom>
          <a:ln w="6350">
            <a:solidFill>
              <a:srgbClr val="C8CD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5488" y="2093976"/>
            <a:ext cx="11237976" cy="0"/>
          </a:xfrm>
          <a:prstGeom prst="line">
            <a:avLst/>
          </a:prstGeom>
          <a:ln w="9525">
            <a:solidFill>
              <a:srgbClr val="535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Diamond 50"/>
          <p:cNvSpPr/>
          <p:nvPr/>
        </p:nvSpPr>
        <p:spPr>
          <a:xfrm>
            <a:off x="3464028" y="2203704"/>
            <a:ext cx="164592" cy="164592"/>
          </a:xfrm>
          <a:prstGeom prst="diamond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56052" y="2093976"/>
            <a:ext cx="219456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10/5 初版セキュア公開（限定ユーザー）</a:t>
            </a:r>
          </a:p>
        </p:txBody>
      </p:sp>
      <p:sp>
        <p:nvSpPr>
          <p:cNvPr id="53" name="Diamond 52"/>
          <p:cNvSpPr/>
          <p:nvPr/>
        </p:nvSpPr>
        <p:spPr>
          <a:xfrm>
            <a:off x="7478385" y="2203704"/>
            <a:ext cx="164592" cy="164592"/>
          </a:xfrm>
          <a:prstGeom prst="diamond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70409" y="2093976"/>
            <a:ext cx="219456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中間報告（11月中旬）</a:t>
            </a:r>
          </a:p>
        </p:txBody>
      </p:sp>
      <p:sp>
        <p:nvSpPr>
          <p:cNvPr id="55" name="Diamond 54"/>
          <p:cNvSpPr/>
          <p:nvPr/>
        </p:nvSpPr>
        <p:spPr>
          <a:xfrm>
            <a:off x="11561954" y="2203704"/>
            <a:ext cx="164592" cy="164592"/>
          </a:xfrm>
          <a:prstGeom prst="diamond">
            <a:avLst/>
          </a:prstGeom>
          <a:solidFill>
            <a:srgbClr val="046A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632570" y="2093976"/>
            <a:ext cx="1920240" cy="3840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最終報告・取り込み判断（12月下旬）</a:t>
            </a:r>
          </a:p>
        </p:txBody>
      </p:sp>
      <p:sp>
        <p:nvSpPr>
          <p:cNvPr id="57" name="Pentagon 56"/>
          <p:cNvSpPr/>
          <p:nvPr/>
        </p:nvSpPr>
        <p:spPr>
          <a:xfrm>
            <a:off x="2743200" y="2532888"/>
            <a:ext cx="3405788" cy="457200"/>
          </a:xfrm>
          <a:prstGeom prst="homePlate">
            <a:avLst/>
          </a:prstGeom>
          <a:solidFill>
            <a:srgbClr val="E8EAEC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初版の限定利用（BX推進部・一部役員）・問合せ対応</a:t>
            </a:r>
          </a:p>
        </p:txBody>
      </p:sp>
      <p:sp>
        <p:nvSpPr>
          <p:cNvPr id="58" name="Pentagon 57"/>
          <p:cNvSpPr/>
          <p:nvPr/>
        </p:nvSpPr>
        <p:spPr>
          <a:xfrm>
            <a:off x="6203852" y="2532888"/>
            <a:ext cx="2713657" cy="457200"/>
          </a:xfrm>
          <a:prstGeom prst="homePlate">
            <a:avLst/>
          </a:prstGeom>
          <a:solidFill>
            <a:srgbClr val="E8EAEC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利用・フィードバック／総会QA権限の確定</a:t>
            </a:r>
          </a:p>
        </p:txBody>
      </p:sp>
      <p:sp>
        <p:nvSpPr>
          <p:cNvPr id="59" name="Pentagon 58"/>
          <p:cNvSpPr/>
          <p:nvPr/>
        </p:nvSpPr>
        <p:spPr>
          <a:xfrm>
            <a:off x="8972374" y="2532888"/>
            <a:ext cx="2713657" cy="457200"/>
          </a:xfrm>
          <a:prstGeom prst="homePlate">
            <a:avLst/>
          </a:prstGeom>
          <a:solidFill>
            <a:srgbClr val="E8EAEC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拡大版の準備 → 年末〜1月に対象拡大</a:t>
            </a:r>
          </a:p>
        </p:txBody>
      </p:sp>
      <p:sp>
        <p:nvSpPr>
          <p:cNvPr id="60" name="Pentagon 59"/>
          <p:cNvSpPr/>
          <p:nvPr/>
        </p:nvSpPr>
        <p:spPr>
          <a:xfrm>
            <a:off x="2743200" y="3099816"/>
            <a:ext cx="914118" cy="352044"/>
          </a:xfrm>
          <a:prstGeom prst="homePlate">
            <a:avLst/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公開前支援</a:t>
            </a:r>
          </a:p>
        </p:txBody>
      </p:sp>
      <p:sp>
        <p:nvSpPr>
          <p:cNvPr id="61" name="Pentagon 60"/>
          <p:cNvSpPr/>
          <p:nvPr/>
        </p:nvSpPr>
        <p:spPr>
          <a:xfrm>
            <a:off x="3712182" y="3099816"/>
            <a:ext cx="2436805" cy="352044"/>
          </a:xfrm>
          <a:prstGeom prst="homePlate">
            <a:avLst/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初版フォロー（不具合対応・拡大版に回す改修の整理）</a:t>
            </a:r>
          </a:p>
        </p:txBody>
      </p:sp>
      <p:sp>
        <p:nvSpPr>
          <p:cNvPr id="62" name="Pentagon 61"/>
          <p:cNvSpPr/>
          <p:nvPr/>
        </p:nvSpPr>
        <p:spPr>
          <a:xfrm>
            <a:off x="6203852" y="3099816"/>
            <a:ext cx="2713657" cy="352044"/>
          </a:xfrm>
          <a:prstGeom prst="homePlate">
            <a:avLst/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利用定着・品質評価（ログ分析・改修優先順位・総会QA権限検証）</a:t>
            </a:r>
          </a:p>
        </p:txBody>
      </p:sp>
      <p:sp>
        <p:nvSpPr>
          <p:cNvPr id="63" name="Pentagon 62"/>
          <p:cNvSpPr/>
          <p:nvPr/>
        </p:nvSpPr>
        <p:spPr>
          <a:xfrm>
            <a:off x="8972374" y="3099816"/>
            <a:ext cx="2713657" cy="352044"/>
          </a:xfrm>
          <a:prstGeom prst="homePlate">
            <a:avLst/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拡大・自走準備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0" y="3506724"/>
            <a:ext cx="8942832" cy="352044"/>
          </a:xfrm>
          <a:prstGeom prst="rect">
            <a:avLst/>
          </a:prstGeom>
          <a:solidFill>
            <a:srgbClr val="EAF4EF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4572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改修バックログの管理・ドキュメント更新（継続）</a:t>
            </a:r>
          </a:p>
        </p:txBody>
      </p:sp>
      <p:sp>
        <p:nvSpPr>
          <p:cNvPr id="65" name="Chevron 64"/>
          <p:cNvSpPr/>
          <p:nvPr/>
        </p:nvSpPr>
        <p:spPr>
          <a:xfrm>
            <a:off x="2743200" y="3968496"/>
            <a:ext cx="741086" cy="353568"/>
          </a:xfrm>
          <a:prstGeom prst="chevron">
            <a:avLst>
              <a:gd name="adj" fmla="val 30000"/>
            </a:avLst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18288" tIns="0" rIns="82296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提案</a:t>
            </a:r>
          </a:p>
        </p:txBody>
      </p:sp>
      <p:sp>
        <p:nvSpPr>
          <p:cNvPr id="66" name="Chevron 65"/>
          <p:cNvSpPr/>
          <p:nvPr/>
        </p:nvSpPr>
        <p:spPr>
          <a:xfrm>
            <a:off x="3539150" y="3968496"/>
            <a:ext cx="1917707" cy="353568"/>
          </a:xfrm>
          <a:prstGeom prst="chevron">
            <a:avLst>
              <a:gd name="adj" fmla="val 30000"/>
            </a:avLst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18288" tIns="0" rIns="82296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試作 → 評価・改善</a:t>
            </a:r>
          </a:p>
        </p:txBody>
      </p:sp>
      <p:sp>
        <p:nvSpPr>
          <p:cNvPr id="67" name="Pentagon 66"/>
          <p:cNvSpPr/>
          <p:nvPr/>
        </p:nvSpPr>
        <p:spPr>
          <a:xfrm>
            <a:off x="2743200" y="4376928"/>
            <a:ext cx="2713657" cy="353568"/>
          </a:xfrm>
          <a:prstGeom prst="homePlate">
            <a:avLst/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Sprint 1｜仮説1 自己検証ループ型の壁打ち（10/1〜23）</a:t>
            </a:r>
          </a:p>
        </p:txBody>
      </p:sp>
      <p:sp>
        <p:nvSpPr>
          <p:cNvPr id="68" name="Chevron 67"/>
          <p:cNvSpPr/>
          <p:nvPr/>
        </p:nvSpPr>
        <p:spPr>
          <a:xfrm>
            <a:off x="5511721" y="3968496"/>
            <a:ext cx="741086" cy="353568"/>
          </a:xfrm>
          <a:prstGeom prst="chevron">
            <a:avLst>
              <a:gd name="adj" fmla="val 30000"/>
            </a:avLst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18288" tIns="0" rIns="82296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提案</a:t>
            </a:r>
          </a:p>
        </p:txBody>
      </p:sp>
      <p:sp>
        <p:nvSpPr>
          <p:cNvPr id="69" name="Chevron 68"/>
          <p:cNvSpPr/>
          <p:nvPr/>
        </p:nvSpPr>
        <p:spPr>
          <a:xfrm>
            <a:off x="6307671" y="3968496"/>
            <a:ext cx="1225577" cy="353568"/>
          </a:xfrm>
          <a:prstGeom prst="chevron">
            <a:avLst>
              <a:gd name="adj" fmla="val 30000"/>
            </a:avLst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18288" tIns="0" rIns="82296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試作 → 評価・改善</a:t>
            </a:r>
          </a:p>
        </p:txBody>
      </p:sp>
      <p:sp>
        <p:nvSpPr>
          <p:cNvPr id="70" name="Pentagon 69"/>
          <p:cNvSpPr/>
          <p:nvPr/>
        </p:nvSpPr>
        <p:spPr>
          <a:xfrm>
            <a:off x="5511721" y="4376928"/>
            <a:ext cx="2021527" cy="353568"/>
          </a:xfrm>
          <a:prstGeom prst="homePlate">
            <a:avLst/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Sprint 2｜仮説2 計画の前提ウォッチャー（10/26〜11/13）</a:t>
            </a:r>
          </a:p>
        </p:txBody>
      </p:sp>
      <p:sp>
        <p:nvSpPr>
          <p:cNvPr id="71" name="Chevron 70"/>
          <p:cNvSpPr/>
          <p:nvPr/>
        </p:nvSpPr>
        <p:spPr>
          <a:xfrm>
            <a:off x="7588113" y="3968496"/>
            <a:ext cx="741086" cy="353568"/>
          </a:xfrm>
          <a:prstGeom prst="chevron">
            <a:avLst>
              <a:gd name="adj" fmla="val 30000"/>
            </a:avLst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18288" tIns="0" rIns="82296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提案</a:t>
            </a:r>
          </a:p>
        </p:txBody>
      </p:sp>
      <p:sp>
        <p:nvSpPr>
          <p:cNvPr id="72" name="Chevron 71"/>
          <p:cNvSpPr/>
          <p:nvPr/>
        </p:nvSpPr>
        <p:spPr>
          <a:xfrm>
            <a:off x="8384063" y="3968496"/>
            <a:ext cx="1917707" cy="353568"/>
          </a:xfrm>
          <a:prstGeom prst="chevron">
            <a:avLst>
              <a:gd name="adj" fmla="val 30000"/>
            </a:avLst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18288" tIns="0" rIns="82296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試作 → 評価・改善</a:t>
            </a:r>
          </a:p>
        </p:txBody>
      </p:sp>
      <p:sp>
        <p:nvSpPr>
          <p:cNvPr id="73" name="Pentagon 72"/>
          <p:cNvSpPr/>
          <p:nvPr/>
        </p:nvSpPr>
        <p:spPr>
          <a:xfrm>
            <a:off x="7588113" y="4376928"/>
            <a:ext cx="2713657" cy="353568"/>
          </a:xfrm>
          <a:prstGeom prst="homePlate">
            <a:avLst/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Sprint 3｜仮説3 週次ブリーフの自動作成（11/16〜12/11）</a:t>
            </a:r>
          </a:p>
        </p:txBody>
      </p:sp>
      <p:sp>
        <p:nvSpPr>
          <p:cNvPr id="74" name="Pentagon 73"/>
          <p:cNvSpPr/>
          <p:nvPr/>
        </p:nvSpPr>
        <p:spPr>
          <a:xfrm>
            <a:off x="10356635" y="3968496"/>
            <a:ext cx="1329396" cy="353568"/>
          </a:xfrm>
          <a:prstGeom prst="homePlate">
            <a:avLst/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本番取り込み設計・引継ぎ</a:t>
            </a:r>
          </a:p>
        </p:txBody>
      </p:sp>
      <p:sp>
        <p:nvSpPr>
          <p:cNvPr id="75" name="Pentagon 74"/>
          <p:cNvSpPr/>
          <p:nvPr/>
        </p:nvSpPr>
        <p:spPr>
          <a:xfrm>
            <a:off x="10356635" y="4376928"/>
            <a:ext cx="1329396" cy="353568"/>
          </a:xfrm>
          <a:prstGeom prst="homePlate">
            <a:avLst/>
          </a:prstGeom>
          <a:solidFill>
            <a:srgbClr val="EAF4EF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109728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lang="ja-JP" altLang="en-US">
                <a:solidFill>
                  <a:srgbClr val="1F2933"/>
                </a:solidFill>
                <a:latin typeface="Yu Gothic"/>
                <a:ea typeface="Yu Gothic"/>
              </a:rPr>
              <a:t>3仮説の評価総括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0" y="4785360"/>
            <a:ext cx="8942832" cy="353568"/>
          </a:xfrm>
          <a:prstGeom prst="rect">
            <a:avLst/>
          </a:prstGeom>
          <a:solidFill>
            <a:srgbClr val="EAF4EF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4572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各Sprintの評価結果を週次定例で共有し、拡大版への取り込み候補を更新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0" y="5248655"/>
            <a:ext cx="8942832" cy="256032"/>
          </a:xfrm>
          <a:prstGeom prst="rect">
            <a:avLst/>
          </a:prstGeom>
          <a:solidFill>
            <a:srgbClr val="EAF4EF"/>
          </a:solidFill>
          <a:ln w="9525">
            <a:solidFill>
              <a:srgbClr val="26890D"/>
            </a:solidFill>
          </a:ln>
          <a:effectLst/>
        </p:spPr>
        <p:txBody>
          <a:bodyPr rtlCol="0" anchor="ctr" wrap="square" lIns="45720" tIns="0" rIns="4572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週次定例（進捗・評価結果・論点の協議）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75488" y="5715000"/>
            <a:ext cx="1371600" cy="475488"/>
          </a:xfrm>
          <a:prstGeom prst="rect">
            <a:avLst/>
          </a:prstGeom>
          <a:solidFill>
            <a:srgbClr val="53565A"/>
          </a:solidFill>
          <a:ln>
            <a:noFill/>
          </a:ln>
          <a:effectLst/>
        </p:spPr>
        <p:txBody>
          <a:bodyPr rtlCol="0" anchor="ctr" wrap="square" lIns="45720" tIns="0" rIns="4572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lang="ja-JP" altLang="en-US">
                <a:solidFill>
                  <a:srgbClr val="FFFFFF"/>
                </a:solidFill>
                <a:latin typeface="Yu Gothic"/>
                <a:ea typeface="Yu Gothic"/>
              </a:rPr>
              <a:t>前提・お願い事項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847088" y="5715000"/>
            <a:ext cx="9866376" cy="475488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txBody>
          <a:bodyPr rtlCol="0" anchor="ctr" wrap="square" lIns="109728" tIns="18288" bIns="18288">
            <a:noAutofit/>
          </a:bodyPr>
          <a:lstStyle/>
          <a:p>
            <a:pPr algn="l" marL="109728" indent="-109728">
              <a:spcAft>
                <a:spcPts val="0"/>
              </a:spcAft>
              <a:buClr>
                <a:srgbClr val="26890D"/>
              </a:buClr>
              <a:buFont typeface="Arial"/>
              <a:buChar char="•"/>
            </a:pPr>
            <a:r>
              <a:rPr sz="8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計画書・予算編成方針の実データ配置（10月上旬。仮説2の前提）</a:t>
            </a:r>
          </a:p>
          <a:p>
            <a:pPr algn="l" marL="109728" indent="-109728">
              <a:spcAft>
                <a:spcPts val="0"/>
              </a:spcAft>
              <a:buClr>
                <a:srgbClr val="26890D"/>
              </a:buClr>
              <a:buFont typeface="Arial"/>
              <a:buChar char="•"/>
            </a:pPr>
            <a:r>
              <a:rPr sz="8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仮説2の評価に用いる経営企画の試算済みケース1〜2件、仮説3の比較対象となる現行の週次資料の有無</a:t>
            </a:r>
          </a:p>
          <a:p>
            <a:pPr algn="l" marL="109728" indent="-109728">
              <a:spcAft>
                <a:spcPts val="0"/>
              </a:spcAft>
              <a:buClr>
                <a:srgbClr val="26890D"/>
              </a:buClr>
              <a:buFont typeface="Arial"/>
              <a:buChar char="•"/>
            </a:pPr>
            <a:r>
              <a:rPr sz="800" b="0" i="0" lang="ja-JP" altLang="en-US">
                <a:solidFill>
                  <a:srgbClr val="1F2933"/>
                </a:solidFill>
                <a:latin typeface="Yu Gothic"/>
                <a:ea typeface="Yu Gothic"/>
              </a:rPr>
              <a:t>拡大版への取り込み工数（ITEC様）と、取り込み時の第2線セキュリティ審査の窓口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75488" y="6336792"/>
            <a:ext cx="292608" cy="146304"/>
          </a:xfrm>
          <a:prstGeom prst="rect">
            <a:avLst/>
          </a:prstGeom>
          <a:solidFill>
            <a:srgbClr val="D9EEE2"/>
          </a:solidFill>
          <a:ln w="9525">
            <a:solidFill>
              <a:srgbClr val="26890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04672" y="6281928"/>
            <a:ext cx="118872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デロイト主体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38528" y="6336792"/>
            <a:ext cx="292608" cy="146304"/>
          </a:xfrm>
          <a:prstGeom prst="rect">
            <a:avLst/>
          </a:prstGeom>
          <a:solidFill>
            <a:srgbClr val="E8EAEC"/>
          </a:solidFill>
          <a:ln w="9525">
            <a:solidFill>
              <a:srgbClr val="6C7074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267712" y="6281928"/>
            <a:ext cx="1737360" cy="25603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53565A"/>
                </a:solidFill>
                <a:latin typeface="Yu Gothic"/>
                <a:ea typeface="Yu Gothic"/>
              </a:rPr>
              <a:t>貴社主体（ITEC様含む）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06240" y="6227064"/>
            <a:ext cx="7507224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tIns="0" r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lang="ja-JP" altLang="en-US">
                <a:solidFill>
                  <a:srgbClr val="6C7074"/>
                </a:solidFill>
                <a:latin typeface="Yu Gothic"/>
                <a:ea typeface="Yu Gothic"/>
              </a:rPr>
              <a:t>※ 貴社主体の公開・拡大スケジュールは弊社想定のため、貴社スケジュールに併せて対応します。Sprintの区切りは目安。中間・最終報告は貴社の役員報告・経営会議の日程に合わせて設定します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LANGUAGE_ID" val="1041"/>
  <p:tag name="EE4P_STYLE_ID" val="076a8867-8b72-4914-890a-d2f9a5d03d99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T Template_16:9_J_202507">
  <a:themeElements>
    <a:clrScheme name="Deloitte2025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Deloittefont">
      <a:majorFont>
        <a:latin typeface="Aptos"/>
        <a:ea typeface="Yu Gothic UI"/>
        <a:cs typeface=""/>
      </a:majorFont>
      <a:minorFont>
        <a:latin typeface="Aptos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BBBCBC"/>
        </a:solidFill>
        <a:ln w="12700" algn="ctr">
          <a:solidFill>
            <a:srgbClr val="BBBCBC"/>
          </a:solidFill>
          <a:miter lim="800000"/>
          <a:headEnd/>
          <a:tailEnd/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spDef>
    <a:lnDef>
      <a:spPr bwMode="gray"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spAutoFit/>
      </a:bodyPr>
      <a:lstStyle>
        <a:defPPr marL="0" marR="0" indent="0" algn="l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T Template_16_9_J_Short.pptx" id="{013DFF10-7174-409E-AC1D-80AE4A6172B2}" vid="{8E462FA6-9B00-4E7F-BFC0-B6BC63B792EF}"/>
    </a:ext>
  </a:extLst>
</a:theme>
</file>

<file path=ppt/theme/theme2.xml><?xml version="1.0" encoding="utf-8"?>
<a:theme xmlns:a="http://schemas.openxmlformats.org/drawingml/2006/main" name="DT Template_16:9_J_202507_基本版②">
  <a:themeElements>
    <a:clrScheme name="DT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Deloittefont">
      <a:majorFont>
        <a:latin typeface="Aptos"/>
        <a:ea typeface="Yu Gothic UI"/>
        <a:cs typeface=""/>
      </a:majorFont>
      <a:minorFont>
        <a:latin typeface="Aptos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BBBCBC"/>
        </a:solidFill>
        <a:ln w="12700" algn="ctr">
          <a:solidFill>
            <a:srgbClr val="BBBCBC"/>
          </a:solidFill>
          <a:miter lim="800000"/>
          <a:headEnd/>
          <a:tailEnd/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spDef>
    <a:lnDef>
      <a:spPr bwMode="gray"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spAutoFit/>
      </a:bodyPr>
      <a:lstStyle>
        <a:defPPr marL="0" marR="0" indent="0" algn="l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T Template_16_9_J_Short.pptx" id="{013DFF10-7174-409E-AC1D-80AE4A6172B2}" vid="{EC5F9899-8C00-41A7-90E2-1AA9CB841817}"/>
    </a:ext>
  </a:extLst>
</a:theme>
</file>

<file path=ppt/theme/theme3.xml><?xml version="1.0" encoding="utf-8"?>
<a:theme xmlns:a="http://schemas.openxmlformats.org/drawingml/2006/main" name="DT Template_16:9_J_202401">
  <a:themeElements>
    <a:clrScheme name="DT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2024Deloitte">
      <a:majorFont>
        <a:latin typeface="Calibri"/>
        <a:ea typeface="Yu Gothic UI"/>
        <a:cs typeface=""/>
      </a:majorFont>
      <a:minorFont>
        <a:latin typeface="Calibri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BBBCBC"/>
        </a:solidFill>
        <a:ln w="12700" algn="ctr">
          <a:solidFill>
            <a:srgbClr val="BBBCBC"/>
          </a:solidFill>
          <a:miter lim="800000"/>
          <a:headEnd/>
          <a:tailEnd/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spDef>
    <a:lnDef>
      <a:spPr bwMode="gray"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spAutoFit/>
      </a:bodyPr>
      <a:lstStyle>
        <a:defPPr marL="0" marR="0" indent="0" algn="l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プレゼンテーション1" id="{0E36F0E6-4249-4ADB-A6A6-342A0C1EC870}" vid="{3D35B912-24B8-40FF-9725-DA43E876BB86}"/>
    </a:ext>
  </a:extLst>
</a:theme>
</file>

<file path=ppt/theme/theme4.xml><?xml version="1.0" encoding="utf-8"?>
<a:theme xmlns:a="http://schemas.openxmlformats.org/drawingml/2006/main" name="1_DT Template_16:9_J_202401">
  <a:themeElements>
    <a:clrScheme name="DT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2024Deloitte">
      <a:majorFont>
        <a:latin typeface="Calibri"/>
        <a:ea typeface="Yu Gothic UI"/>
        <a:cs typeface=""/>
      </a:majorFont>
      <a:minorFont>
        <a:latin typeface="Calibri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12700" algn="ctr">
          <a:solidFill>
            <a:srgbClr val="BBBCBC"/>
          </a:solidFill>
          <a:miter lim="800000"/>
          <a:headEnd/>
          <a:tailEnd/>
        </a:ln>
      </a:spPr>
      <a:bodyPr rot="0" spcFirstLastPara="0" vertOverflow="overflow" horzOverflow="overflow" vert="horz" wrap="square" lIns="72000" tIns="36000" rIns="72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spDef>
    <a:lnDef>
      <a:spPr bwMode="gray"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spAutoFit/>
      </a:bodyPr>
      <a:lstStyle>
        <a:defPPr marL="0" marR="0" indent="0" algn="l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プレゼンテーション1" id="{0E36F0E6-4249-4ADB-A6A6-342A0C1EC870}" vid="{3D35B912-24B8-40FF-9725-DA43E876BB86}"/>
    </a:ext>
  </a:extLst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F4429DF024E5448FC59C7B7B43C1AC" ma:contentTypeVersion="11" ma:contentTypeDescription="Create a new document." ma:contentTypeScope="" ma:versionID="acb135f8ac1bd7cde167a21f1321cadb">
  <xsd:schema xmlns:xsd="http://www.w3.org/2001/XMLSchema" xmlns:xs="http://www.w3.org/2001/XMLSchema" xmlns:p="http://schemas.microsoft.com/office/2006/metadata/properties" xmlns:ns2="736c8bd6-b1a7-463d-a242-abcb0c1a3ab7" xmlns:ns3="25a5c49f-f1be-44ee-b7a9-954566e675d2" targetNamespace="http://schemas.microsoft.com/office/2006/metadata/properties" ma:root="true" ma:fieldsID="72c5b997e5e4c90e17cc0c94290d5872" ns2:_="" ns3:_="">
    <xsd:import namespace="736c8bd6-b1a7-463d-a242-abcb0c1a3ab7"/>
    <xsd:import namespace="25a5c49f-f1be-44ee-b7a9-954566e675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6c8bd6-b1a7-463d-a242-abcb0c1a3ab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a5c49f-f1be-44ee-b7a9-954566e675d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8a2c12e-9cd8-4bdc-a214-d5fe3fdc3985}" ma:internalName="TaxCatchAll" ma:showField="CatchAllData" ma:web="25a5c49f-f1be-44ee-b7a9-954566e675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36c8bd6-b1a7-463d-a242-abcb0c1a3ab7">
      <Terms xmlns="http://schemas.microsoft.com/office/infopath/2007/PartnerControls"/>
    </lcf76f155ced4ddcb4097134ff3c332f>
    <TaxCatchAll xmlns="25a5c49f-f1be-44ee-b7a9-954566e675d2" xsi:nil="true"/>
  </documentManagement>
</p:properties>
</file>

<file path=customXml/itemProps1.xml><?xml version="1.0" encoding="utf-8"?>
<ds:datastoreItem xmlns:ds="http://schemas.openxmlformats.org/officeDocument/2006/customXml" ds:itemID="{6F2A2CF3-6367-444C-AA09-0D41A3DD392F}">
  <ds:schemaRefs>
    <ds:schemaRef ds:uri="25a5c49f-f1be-44ee-b7a9-954566e675d2"/>
    <ds:schemaRef ds:uri="736c8bd6-b1a7-463d-a242-abcb0c1a3ab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3C562D3-14B2-4A04-B255-084073502BB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F75EE8-E51D-4422-BE39-CF7C03367777}">
  <ds:schemaRefs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25a5c49f-f1be-44ee-b7a9-954566e675d2"/>
    <ds:schemaRef ds:uri="736c8bd6-b1a7-463d-a242-abcb0c1a3ab7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2409</Words>
  <Application>Microsoft Office PowerPoint</Application>
  <PresentationFormat>ワイド画面</PresentationFormat>
  <Paragraphs>351</Paragraphs>
  <Slides>14</Slides>
  <Notes>8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4</vt:i4>
      </vt:variant>
      <vt:variant>
        <vt:lpstr>埋め込まれた OLE サーバー</vt:lpstr>
      </vt:variant>
      <vt:variant>
        <vt:i4>2</vt:i4>
      </vt:variant>
      <vt:variant>
        <vt:lpstr>スライド タイトル</vt:lpstr>
      </vt:variant>
      <vt:variant>
        <vt:i4>14</vt:i4>
      </vt:variant>
    </vt:vector>
  </HeadingPairs>
  <TitlesOfParts>
    <vt:vector size="28" baseType="lpstr">
      <vt:lpstr>Yu Gothic UI</vt:lpstr>
      <vt:lpstr>游ゴシック</vt:lpstr>
      <vt:lpstr>Aptos</vt:lpstr>
      <vt:lpstr>Arial</vt:lpstr>
      <vt:lpstr>Calibri</vt:lpstr>
      <vt:lpstr>Verdana</vt:lpstr>
      <vt:lpstr>Wingdings</vt:lpstr>
      <vt:lpstr>Wingdings 2</vt:lpstr>
      <vt:lpstr>DT Template_16:9_J_202507</vt:lpstr>
      <vt:lpstr>DT Template_16:9_J_202507_基本版②</vt:lpstr>
      <vt:lpstr>DT Template_16:9_J_202401</vt:lpstr>
      <vt:lpstr>1_DT Template_16:9_J_202401</vt:lpstr>
      <vt:lpstr>thinkcellスライド</vt:lpstr>
      <vt:lpstr>think-cell スライド</vt:lpstr>
      <vt:lpstr>PowerPoint プレゼンテーション</vt:lpstr>
      <vt:lpstr>本日のアジェンダ</vt:lpstr>
      <vt:lpstr>本日時点ではスケジュール通りの進捗です</vt:lpstr>
      <vt:lpstr>本日のアジェンダ</vt:lpstr>
      <vt:lpstr>本取り組みはスケジュール通り推進されています</vt:lpstr>
      <vt:lpstr>本日のアジェンダ</vt:lpstr>
      <vt:lpstr>残課題への対応を反映したアプリを9月末までにITEC様へ引き渡し、今後のバージョンアップデートにて順次適応します</vt:lpstr>
      <vt:lpstr>残課題への対応を反映したアプリを9月末までにITEC様へ引き渡し、今後のバージョンアップデートにて順次適応します</vt:lpstr>
      <vt:lpstr>アプリ画面にてご説明いたします</vt:lpstr>
      <vt:lpstr>本日のアジェンダ</vt:lpstr>
      <vt:lpstr>10月セキュア公開に向けて、9/11にリリース対象版をFIXし、以降はITEC様が統合テスト・移行準備を主導、デロイトは引継ぎ資料整備、エラー・質疑対応、バックログ整理に注力します</vt:lpstr>
      <vt:lpstr>各種無料APIの利用にはHHHD側でのアカウント登録およびAPI Keyの新規発行が必要です</vt:lpstr>
      <vt:lpstr>Appendix</vt:lpstr>
      <vt:lpstr>PowerPoint プレゼンテーション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Hu, Xinlong</dc:creator>
  <cp:lastModifiedBy>Hu, Xinlong</cp:lastModifiedBy>
  <cp:revision>1</cp:revision>
  <dcterms:created xsi:type="dcterms:W3CDTF">2026-06-25T23:44:23Z</dcterms:created>
  <dcterms:modified xsi:type="dcterms:W3CDTF">2026-09-15T12:05:27Z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0x0101003CF4429DF024E5448FC59C7B7B43C1AC</vt:lpwstr>
  </property>
  <property fmtid="{D5CDD505-2E9C-101B-9397-08002B2CF9AE}" pid="3" name="MSIP_Label_ea60d57e-af5b-4752-ac57-3e4f28ca11dc_Enabled">
    <vt:lpwstr>true</vt:lpwstr>
  </property>
  <property fmtid="{D5CDD505-2E9C-101B-9397-08002B2CF9AE}" pid="4" name="MSIP_Label_ea60d57e-af5b-4752-ac57-3e4f28ca11dc_SetDate">
    <vt:lpwstr>2021-11-30T06:12:18Z</vt:lpwstr>
  </property>
  <property fmtid="{D5CDD505-2E9C-101B-9397-08002B2CF9AE}" pid="5" name="MSIP_Label_ea60d57e-af5b-4752-ac57-3e4f28ca11dc_Method">
    <vt:lpwstr>Standard</vt:lpwstr>
  </property>
  <property fmtid="{D5CDD505-2E9C-101B-9397-08002B2CF9AE}" pid="6" name="MSIP_Label_ea60d57e-af5b-4752-ac57-3e4f28ca11dc_Name">
    <vt:lpwstr>ea60d57e-af5b-4752-ac57-3e4f28ca11dc</vt:lpwstr>
  </property>
  <property fmtid="{D5CDD505-2E9C-101B-9397-08002B2CF9AE}" pid="7" name="MSIP_Label_ea60d57e-af5b-4752-ac57-3e4f28ca11dc_SiteId">
    <vt:lpwstr>36da45f1-dd2c-4d1f-af13-5abe46b99921</vt:lpwstr>
  </property>
  <property fmtid="{D5CDD505-2E9C-101B-9397-08002B2CF9AE}" pid="8" name="MSIP_Label_ea60d57e-af5b-4752-ac57-3e4f28ca11dc_ActionId">
    <vt:lpwstr>177f38b9-1e8a-4270-81d8-98c657c22e6c</vt:lpwstr>
  </property>
  <property fmtid="{D5CDD505-2E9C-101B-9397-08002B2CF9AE}" pid="9" name="MSIP_Label_ea60d57e-af5b-4752-ac57-3e4f28ca11dc_ContentBits">
    <vt:lpwstr>0</vt:lpwstr>
  </property>
  <property fmtid="{D5CDD505-2E9C-101B-9397-08002B2CF9AE}" pid="10" name="MediaServiceImageTags">
    <vt:lpwstr/>
  </property>
</Properties>
</file>