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3.bin" ContentType="application/vnd.openxmlformats-officedocument.oleObject"/>
  <Override PartName="/ppt/embeddings/oleObject45.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4.xml" ContentType="application/vnd.openxmlformats-officedocument.presentationml.tags+xml"/>
  <Override PartName="/ppt/tags/tag8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 id="2147483986" r:id="rId6"/>
    <p:sldMasterId id="2147484012" r:id="rId7"/>
  </p:sldMasterIdLst>
  <p:notesMasterIdLst>
    <p:notesMasterId r:id="rId22"/>
  </p:notesMasterIdLst>
  <p:handoutMasterIdLst>
    <p:handoutMasterId r:id="rId23"/>
  </p:handoutMasterIdLst>
  <p:sldIdLst>
    <p:sldId id="2147483641" r:id="rId8"/>
    <p:sldId id="2147483646" r:id="rId9"/>
    <p:sldId id="2146847607" r:id="rId12"/>
    <p:sldId id="267" r:id="rId35"/>
    <p:sldId id="273" r:id="rId16"/>
    <p:sldId id="269" r:id="rId37"/>
    <p:sldId id="259" r:id="rId19"/>
    <p:sldId id="264" r:id="rId33"/>
    <p:sldId id="270" r:id="rId38"/>
    <p:sldId id="274" r:id="rId21"/>
  </p:sldIdLst>
  <p:sldSz cx="12192000" cy="6858000"/>
  <p:notesSz cx="6735763" cy="9866313"/>
  <p:custDataLst>
    <p:tags r:id="rId24"/>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3" orient="horz" pos="2137" userDrawn="1">
          <p15:clr>
            <a:srgbClr val="A4A3A4"/>
          </p15:clr>
        </p15:guide>
        <p15:guide id="4"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4F904-F128-8147-A709-5BA0B0EDD907}" name="Kato, Yoshiko 1" initials="K1" userId="S::yoshiko1.kato@tohmatsu.co.jp::0536b235-f5eb-4716-8d5f-c14ea1117cc8" providerId="AD"/>
  <p188:author id="{85B9C713-2719-418F-0DB1-FD33C6FBAE59}" name="Mori, Yukiko" initials="MY" userId="S::yukiko.mori@tohmatsu.co.jp::f6c28165-7909-45e9-8c53-3daca56a9b1c" providerId="AD"/>
  <p188:author id="{1E114F58-398E-C9D2-8536-99ABF1D54C77}" name="DLS" initials="u" userId="DLS" providerId="None"/>
  <p188:author id="{5FF94BAC-1D89-45C0-351C-0BB77D8448C6}" name="Fukushima, Rieko" initials="FR" userId="S::rieko.fukushima@tohmatsu.co.jp::42ea695b-0072-4304-903b-cd25183e2212" providerId="AD"/>
  <p188:author id="{668514CC-2331-AEE1-14A9-653540C09CE5}" name="Ochi, Hana" initials="OH" userId="S::haochi@tohmatsu.co.jp::9fa41629-42c7-428e-8d4f-8f774cfc78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16"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38"/>
    <a:srgbClr val="9B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D6A08-FCAC-4358-BAE4-43561AE9EF14}" v="2376" dt="2026-09-15T09:35:23.863"/>
    <p1510:client id="{AB5C4B94-6472-7803-CE20-A7CD06FA2A8B}" v="102" dt="2026-09-15T08:42:14.940"/>
    <p1510:client id="{F245FC92-33F3-4BB8-AB35-C27D90D97766}" v="1" dt="2026-09-15T12:05:26.99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32" y="366"/>
      </p:cViewPr>
      <p:guideLst>
        <p:guide orient="horz" pos="2137"/>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2" Type="http://schemas.openxmlformats.org/officeDocument/2006/relationships/slide" Target="slides/slide5.xml"/><Relationship Id="rId16" Type="http://schemas.openxmlformats.org/officeDocument/2006/relationships/slide" Target="slides/slide13.xml"/><Relationship Id="rId19" Type="http://schemas.openxmlformats.org/officeDocument/2006/relationships/slide" Target="slides/slide7.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3" Type="http://schemas.openxmlformats.org/officeDocument/2006/relationships/slide" Target="slides/slide8.xml"/><Relationship Id="rId35" Type="http://schemas.openxmlformats.org/officeDocument/2006/relationships/slide" Target="slides/slide11.xml"/><Relationship Id="rId37" Type="http://schemas.openxmlformats.org/officeDocument/2006/relationships/slide" Target="slides/slide14.xml"/><Relationship Id="rId38"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B2EC3375-25C1-4132-8356-F0254E04DDEC}"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BC64172F-6366-47B3-B3D8-F99B8E17CF95}" type="slidenum">
              <a:rPr kumimoji="1" lang="ja-JP" altLang="en-US" smtClean="0"/>
              <a:t>‹#›</a:t>
            </a:fld>
            <a:endParaRPr kumimoji="1" lang="ja-JP" altLang="en-US"/>
          </a:p>
        </p:txBody>
      </p:sp>
    </p:spTree>
    <p:extLst>
      <p:ext uri="{BB962C8B-B14F-4D97-AF65-F5344CB8AC3E}">
        <p14:creationId xmlns:p14="http://schemas.microsoft.com/office/powerpoint/2010/main" val="182847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3" name="日付プレースホルダー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latin typeface="Aptos" panose="020B0004020202020204" pitchFamily="34" charset="0"/>
              </a:rPr>
              <a:pPr/>
              <a:t>2026/9/15</a:t>
            </a:fld>
            <a:endParaRPr kumimoji="1" lang="ja-JP" altLang="en-US">
              <a:latin typeface="Aptos" panose="020B0004020202020204" pitchFamily="34" charset="0"/>
            </a:endParaRPr>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latin typeface="Aptos" panose="020B0004020202020204" pitchFamily="34" charset="0"/>
            </a:endParaRPr>
          </a:p>
        </p:txBody>
      </p:sp>
      <p:sp>
        <p:nvSpPr>
          <p:cNvPr id="5" name="ノート プレースホルダー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7" name="スライド番号プレースホルダー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latin typeface="Aptos" panose="020B0004020202020204" pitchFamily="34" charset="0"/>
              </a:rPr>
              <a:pPr/>
              <a:t>‹#›</a:t>
            </a:fld>
            <a:endParaRPr kumimoji="1" lang="ja-JP" altLang="en-US">
              <a:latin typeface="Aptos" panose="020B0004020202020204" pitchFamily="34" charset="0"/>
            </a:endParaRPr>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88B299-FBEB-47AA-8879-672851374028}" type="slidenum">
              <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ja-JP" altLang="ja-JP"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
        <p:nvSpPr>
          <p:cNvPr id="3243010" name="Rectangle 2"/>
          <p:cNvSpPr>
            <a:spLocks noGrp="1" noRot="1" noChangeAspect="1" noChangeArrowheads="1" noTextEdit="1"/>
          </p:cNvSpPr>
          <p:nvPr>
            <p:ph type="sldImg"/>
          </p:nvPr>
        </p:nvSpPr>
        <p:spPr>
          <a:xfrm>
            <a:off x="106363" y="763588"/>
            <a:ext cx="6675437" cy="3754437"/>
          </a:xfrm>
          <a:ln/>
        </p:spPr>
      </p:sp>
      <p:sp>
        <p:nvSpPr>
          <p:cNvPr id="3243011" name="Rectangle 3"/>
          <p:cNvSpPr>
            <a:spLocks noGrp="1" noChangeArrowheads="1"/>
          </p:cNvSpPr>
          <p:nvPr>
            <p:ph type="body" idx="1"/>
          </p:nvPr>
        </p:nvSpPr>
        <p:spPr/>
        <p:txBody>
          <a:bodyPr/>
          <a:lstStyle/>
          <a:p>
            <a:pPr>
              <a:buFontTx/>
              <a:buChar char="•"/>
            </a:pPr>
            <a:endParaRPr lang="ja-JP"/>
          </a:p>
        </p:txBody>
      </p:sp>
    </p:spTree>
    <p:extLst>
      <p:ext uri="{BB962C8B-B14F-4D97-AF65-F5344CB8AC3E}">
        <p14:creationId xmlns:p14="http://schemas.microsoft.com/office/powerpoint/2010/main" val="239422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ED8E-86F6-B61B-CC4C-78D39634B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478D34-A1BD-C672-9BC4-87CC1564B0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47265D-B101-2A30-79BD-33710DC4846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94A127-E733-011F-639B-1C3FDF8CD2DF}"/>
              </a:ext>
            </a:extLst>
          </p:cNvPr>
          <p:cNvSpPr>
            <a:spLocks noGrp="1"/>
          </p:cNvSpPr>
          <p:nvPr>
            <p:ph type="sldNum" sz="quarter" idx="5"/>
          </p:nvPr>
        </p:nvSpPr>
        <p:spPr/>
        <p:txBody>
          <a:bodyPr/>
          <a:lstStyle/>
          <a:p>
            <a:fld id="{24DE13BB-FCB6-4491-A87D-1E9BA7500F8E}" type="slidenum">
              <a:rPr kumimoji="1" lang="ja-JP" altLang="en-US" smtClean="0"/>
              <a:pPr/>
              <a:t>2</a:t>
            </a:fld>
            <a:endParaRPr kumimoji="1" lang="ja-JP" altLang="en-US"/>
          </a:p>
        </p:txBody>
      </p:sp>
    </p:spTree>
    <p:extLst>
      <p:ext uri="{BB962C8B-B14F-4D97-AF65-F5344CB8AC3E}">
        <p14:creationId xmlns:p14="http://schemas.microsoft.com/office/powerpoint/2010/main" val="276288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4BD-B15D-0572-61E9-19C6EEE9E4F9}"/>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EC5B7F68-382E-3C62-BBCC-5FFD83DA06B7}"/>
              </a:ext>
            </a:extLst>
          </p:cNvPr>
          <p:cNvSpPr>
            <a:spLocks noGrp="1" noRot="1" noChangeAspect="1"/>
          </p:cNvSpPr>
          <p:nvPr>
            <p:ph type="sldImg"/>
          </p:nvPr>
        </p:nvSpPr>
        <p:spPr>
          <a:xfrm>
            <a:off x="468313" y="1270000"/>
            <a:ext cx="6092825" cy="3427413"/>
          </a:xfrm>
        </p:spPr>
        <p:txBody>
          <a:bodyPr/>
          <a:lstStyle/>
          <a:p>
            <a:endParaRPr lang="ja-JP" altLang="en-US"/>
          </a:p>
        </p:txBody>
      </p:sp>
      <p:sp>
        <p:nvSpPr>
          <p:cNvPr id="3" name="ノート プレースホルダ 2">
            <a:extLst>
              <a:ext uri="{FF2B5EF4-FFF2-40B4-BE49-F238E27FC236}">
                <a16:creationId xmlns:a16="http://schemas.microsoft.com/office/drawing/2014/main" id="{CB319246-651C-8051-478D-CD5ED55D4246}"/>
              </a:ext>
            </a:extLst>
          </p:cNvPr>
          <p:cNvSpPr>
            <a:spLocks noGrp="1"/>
          </p:cNvSpPr>
          <p:nvPr>
            <p:ph type="body" idx="1"/>
          </p:nvPr>
        </p:nvSpPr>
        <p:spPr/>
        <p:txBody>
          <a:bodyPr>
            <a:normAutofit/>
          </a:bodyPr>
          <a:lstStyle/>
          <a:p>
            <a:endParaRPr kumimoji="1" lang="ja-JP" altLang="en-US"/>
          </a:p>
        </p:txBody>
      </p:sp>
      <p:sp>
        <p:nvSpPr>
          <p:cNvPr id="4" name="スライド番号プレースホルダ 3">
            <a:extLst>
              <a:ext uri="{FF2B5EF4-FFF2-40B4-BE49-F238E27FC236}">
                <a16:creationId xmlns:a16="http://schemas.microsoft.com/office/drawing/2014/main" id="{41818E94-EA25-F321-EDFF-7FBCF691C79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A06DAD-44D3-4EA7-8DE4-9E33DC7017BE}" type="slidenum">
              <a:rPr kumimoji="0"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875295847"/>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冒頭2分。3か月の成果→引継ぎ状況→残要望→本日のお願い、の順に要点だけ。詳細は各章で。</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変遷は路線図で。8/04で経営診断と総会Q&amp;Aの2本柱に分かれ、9/11にFIX、その後も毎週改修（9/27にOpus 5.5へ切替）。数字：スプリントレビュー回数・打鍵時間は要確認（○○は要記入）。この後、共創の記録（動画・約4分）へ。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4点の中身と格納場所を説明し、ITEC様に引継ぎ物としてのOKをいただく。格納パスは要記入。仕様書（引き継ぎ資料）は9/24時点なので、9/25以降分の反映を約束する。.envはLLM接続先が9/27に変わった点を伝える。10月以降の伴走を明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第12回定例の改修一覧に、9/22〜9/25の改修と、9/27の改修（計画前提の追加依頼②、キャプチャ4枚のご依頼①〜⑭、Opus 5.5への切替）を統合。No.5の9/24受付は推定。9/27分は検証環境への配置を確認のうえ説明。</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残要望は2点とも『仕上げ』で機能追加なし。実データ配置が前提になる点を強調。前提No.3は第12回定例のリスクNo.3の継続。確定済みなら削除。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t>論点ごとにデロイト案を提示し、その場で決定事項欄を埋める。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 Id="rId8"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5.bin"/><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 Id="rId3" Type="http://schemas.openxmlformats.org/officeDocument/2006/relationships/oleObject" Target="../embeddings/oleObject27.bin"/><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3.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3.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3.xml"/><Relationship Id="rId3" Type="http://schemas.openxmlformats.org/officeDocument/2006/relationships/oleObject" Target="../embeddings/oleObject35.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3.xml"/><Relationship Id="rId3" Type="http://schemas.openxmlformats.org/officeDocument/2006/relationships/oleObject" Target="../embeddings/oleObject36.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3.xml"/><Relationship Id="rId3" Type="http://schemas.openxmlformats.org/officeDocument/2006/relationships/oleObject" Target="../embeddings/oleObject37.bin"/><Relationship Id="rId4" Type="http://schemas.openxmlformats.org/officeDocument/2006/relationships/image" Target="../media/image14.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Master" Target="../slideMasters/slideMaster4.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Master" Target="../slideMasters/slideMaster4.xml"/><Relationship Id="rId4" Type="http://schemas.openxmlformats.org/officeDocument/2006/relationships/oleObject" Target="../embeddings/oleObject38.bin"/><Relationship Id="rId5" Type="http://schemas.openxmlformats.org/officeDocument/2006/relationships/image" Target="../media/image15.emf"/><Relationship Id="rId6" Type="http://schemas.openxmlformats.org/officeDocument/2006/relationships/oleObject" Target="../embeddings/oleObject39.bin"/></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Master" Target="../slideMasters/slideMaster4.xml"/><Relationship Id="rId3" Type="http://schemas.openxmlformats.org/officeDocument/2006/relationships/oleObject" Target="../embeddings/oleObject37.bin"/><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noChangeAspect="1"/>
          </p:cNvGraphicFramePr>
          <p:nvPr userDrawn="1">
            <p:custDataLst>
              <p:tags r:id="rId1"/>
            </p:custDataLst>
            <p:extLst>
              <p:ext uri="{D42A27DB-BD31-4B8C-83A1-F6EECF244321}">
                <p14:modId xmlns:p14="http://schemas.microsoft.com/office/powerpoint/2010/main" val="2077041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0581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noChangeAspect="1"/>
          </p:cNvGraphicFramePr>
          <p:nvPr userDrawn="1">
            <p:custDataLst>
              <p:tags r:id="rId1"/>
            </p:custDataLst>
            <p:extLst>
              <p:ext uri="{D42A27DB-BD31-4B8C-83A1-F6EECF244321}">
                <p14:modId xmlns:p14="http://schemas.microsoft.com/office/powerpoint/2010/main" val="2978617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25437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noChangeAspect="1"/>
          </p:cNvGraphicFramePr>
          <p:nvPr userDrawn="1">
            <p:custDataLst>
              <p:tags r:id="rId1"/>
            </p:custDataLst>
            <p:extLst>
              <p:ext uri="{D42A27DB-BD31-4B8C-83A1-F6EECF244321}">
                <p14:modId xmlns:p14="http://schemas.microsoft.com/office/powerpoint/2010/main" val="52417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tx1"/>
                </a:solidFill>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147821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noChangeAspect="1"/>
          </p:cNvGraphicFramePr>
          <p:nvPr userDrawn="1">
            <p:custDataLst>
              <p:tags r:id="rId1"/>
            </p:custDataLst>
            <p:extLst>
              <p:ext uri="{D42A27DB-BD31-4B8C-83A1-F6EECF244321}">
                <p14:modId xmlns:p14="http://schemas.microsoft.com/office/powerpoint/2010/main" val="3840800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8169167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noChangeAspect="1"/>
          </p:cNvGraphicFramePr>
          <p:nvPr userDrawn="1">
            <p:custDataLst>
              <p:tags r:id="rId1"/>
            </p:custDataLst>
            <p:extLst>
              <p:ext uri="{D42A27DB-BD31-4B8C-83A1-F6EECF244321}">
                <p14:modId xmlns:p14="http://schemas.microsoft.com/office/powerpoint/2010/main" val="2801338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8290319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1797872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defRPr>
            </a:lvl1pPr>
          </a:lstStyle>
          <a:p>
            <a:r>
              <a:rPr lang="en-GB" altLang="en-GB"/>
              <a:t>DT Template 16:9</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n-lt"/>
                <a:ea typeface="+mn-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3160910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662600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451464051"/>
      </p:ext>
    </p:extLst>
  </p:cSld>
  <p:clrMapOvr>
    <a:overrideClrMapping bg1="dk1" tx1="lt1" bg2="dk2" tx2="lt2" accent1="accent1" accent2="accent2" accent3="accent3" accent4="accent4" accent5="accent5" accent6="accent6" hlink="hlink" folHlink="folHlink"/>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00870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827265758"/>
      </p:ext>
    </p:extLst>
  </p:cSld>
  <p:clrMapOvr>
    <a:overrideClrMapping bg1="dk1" tx1="lt1" bg2="dk2" tx2="lt2" accent1="accent1" accent2="accent2" accent3="accent3" accent4="accent4" accent5="accent5" accent6="accent6" hlink="hlink" folHlink="folHlink"/>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887264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056419782"/>
      </p:ext>
    </p:extLst>
  </p:cSld>
  <p:clrMapOvr>
    <a:overrideClrMapping bg1="dk1" tx1="lt1" bg2="dk2" tx2="lt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385180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385699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81626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9604718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352086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fontAlgn="auto">
              <a:lnSpc>
                <a:spcPct val="100000"/>
              </a:lnSpc>
              <a:spcBef>
                <a:spcPts val="0"/>
              </a:spcBef>
              <a:defRPr lang="ja-JP" altLang="en-US" sz="1800" b="1" baseline="0" dirty="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99092883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63418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10225051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17177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393595963"/>
      </p:ext>
    </p:extLst>
  </p:cSld>
  <p:clrMapOvr>
    <a:overrideClrMapping bg1="dk1" tx1="lt1" bg2="dk2" tx2="lt2" accent1="accent1" accent2="accent2" accent3="accent3" accent4="accent4" accent5="accent5" accent6="accent6" hlink="hlink" folHlink="folHlink"/>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3142341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79616805"/>
      </p:ext>
    </p:extLst>
  </p:cSld>
  <p:clrMapOvr>
    <a:overrideClrMapping bg1="dk1" tx1="lt1" bg2="dk2" tx2="lt2" accent1="accent1" accent2="accent2" accent3="accent3" accent4="accent4" accent5="accent5" accent6="accent6" hlink="hlink" folHlink="folHlink"/>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7918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a:lnSpc>
                <a:spcPct val="100000"/>
              </a:lnSpc>
              <a:spcBef>
                <a:spcPts val="0"/>
              </a:spcBef>
              <a:defRPr lang="ja-JP" altLang="en-US" sz="1800" b="1" baseline="0" dirty="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4117697671"/>
      </p:ext>
    </p:extLst>
  </p:cSld>
  <p:clrMapOvr>
    <a:overrideClrMapping bg1="dk1" tx1="lt1" bg2="dk2" tx2="lt2" accent1="accent1" accent2="accent2" accent3="accent3" accent4="accent4" accent5="accent5" accent6="accent6" hlink="hlink" folHlink="folHlink"/>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505953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152593637"/>
      </p:ext>
    </p:extLst>
  </p:cSld>
  <p:clrMapOvr>
    <a:overrideClrMapping bg1="dk1" tx1="lt1" bg2="dk2" tx2="lt2" accent1="accent1" accent2="accent2" accent3="accent3" accent4="accent4" accent5="accent5" accent6="accent6" hlink="hlink" folHlink="folHlink"/>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3868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32220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pic>
        <p:nvPicPr>
          <p:cNvPr id="5" name="Picture 3">
            <a:extLst>
              <a:ext uri="{FF2B5EF4-FFF2-40B4-BE49-F238E27FC236}">
                <a16:creationId xmlns:a16="http://schemas.microsoft.com/office/drawing/2014/main" id="{68101465-63EE-D2BF-35AA-692852B492F9}"/>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157824930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566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bwMode="gray">
          <a:xfrm>
            <a:off x="478800" y="431005"/>
            <a:ext cx="3721455" cy="632962"/>
          </a:xfrm>
          <a:prstGeom prst="rect">
            <a:avLst/>
          </a:prstGeom>
          <a:noFill/>
          <a:ln>
            <a:noFill/>
          </a:ln>
        </p:spPr>
      </p:pic>
      <p:pic>
        <p:nvPicPr>
          <p:cNvPr id="3" name="Picture 3">
            <a:extLst>
              <a:ext uri="{FF2B5EF4-FFF2-40B4-BE49-F238E27FC236}">
                <a16:creationId xmlns:a16="http://schemas.microsoft.com/office/drawing/2014/main" id="{7AA5F3BE-2C73-21B4-1792-CE7804C9094E}"/>
              </a:ext>
            </a:extLst>
          </p:cNvPr>
          <p:cNvPicPr>
            <a:picLocks noChangeAspect="1"/>
          </p:cNvPicPr>
          <p:nvPr userDrawn="1"/>
        </p:nvPicPr>
        <p:blipFill>
          <a:blip r:embed="rId6"/>
          <a:srcRect/>
          <a:stretch/>
        </p:blipFill>
        <p:spPr>
          <a:xfrm>
            <a:off x="10694852" y="5436000"/>
            <a:ext cx="1198880" cy="1198880"/>
          </a:xfrm>
          <a:prstGeom prst="rect">
            <a:avLst/>
          </a:prstGeom>
        </p:spPr>
      </p:pic>
      <p:grpSp>
        <p:nvGrpSpPr>
          <p:cNvPr id="5" name="グループ化 4">
            <a:extLst>
              <a:ext uri="{FF2B5EF4-FFF2-40B4-BE49-F238E27FC236}">
                <a16:creationId xmlns:a16="http://schemas.microsoft.com/office/drawing/2014/main" id="{E553D118-33B9-8047-F5CF-3B03F130350F}"/>
              </a:ext>
            </a:extLst>
          </p:cNvPr>
          <p:cNvGrpSpPr/>
          <p:nvPr userDrawn="1"/>
        </p:nvGrpSpPr>
        <p:grpSpPr>
          <a:xfrm>
            <a:off x="10270800" y="3222000"/>
            <a:ext cx="1440000" cy="1894801"/>
            <a:chOff x="8050246" y="4451478"/>
            <a:chExt cx="1440000" cy="1894801"/>
          </a:xfrm>
        </p:grpSpPr>
        <p:pic>
          <p:nvPicPr>
            <p:cNvPr id="6" name="図 5" descr="ロゴ, 会社名&#10;&#10;自動的に生成された説明">
              <a:extLst>
                <a:ext uri="{FF2B5EF4-FFF2-40B4-BE49-F238E27FC236}">
                  <a16:creationId xmlns:a16="http://schemas.microsoft.com/office/drawing/2014/main" id="{D2C433B9-83A5-C204-17F5-89F2B1D6A2A6}"/>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7" name="図 6" descr="ロゴ&#10;&#10;自動的に生成された説明">
              <a:extLst>
                <a:ext uri="{FF2B5EF4-FFF2-40B4-BE49-F238E27FC236}">
                  <a16:creationId xmlns:a16="http://schemas.microsoft.com/office/drawing/2014/main" id="{7E3E8DC4-DA86-93F3-32DB-DBD7E5E7F1C4}"/>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205924158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4244675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32220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3" name="Picture 3">
            <a:extLst>
              <a:ext uri="{FF2B5EF4-FFF2-40B4-BE49-F238E27FC236}">
                <a16:creationId xmlns:a16="http://schemas.microsoft.com/office/drawing/2014/main" id="{B58FE27E-7473-91AD-522F-C6EE7B389FF8}"/>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2146378117"/>
      </p:ext>
    </p:extLst>
  </p:cSld>
  <p:clrMapOvr>
    <a:overrideClrMapping bg1="dk1" tx1="lt1" bg2="dk2" tx2="lt2" accent1="accent1" accent2="accent2" accent3="accent3" accent4="accent4" accent5="accent5" accent6="accent6" hlink="hlink" folHlink="folHlink"/>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521990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a:ext>
            </a:extLst>
          </a:blip>
          <a:stretch/>
        </p:blipFill>
        <p:spPr bwMode="gray">
          <a:xfrm>
            <a:off x="478800" y="431997"/>
            <a:ext cx="3722400" cy="632360"/>
          </a:xfrm>
          <a:prstGeom prst="rect">
            <a:avLst/>
          </a:prstGeom>
        </p:spPr>
      </p:pic>
      <p:grpSp>
        <p:nvGrpSpPr>
          <p:cNvPr id="3" name="グループ化 2">
            <a:extLst>
              <a:ext uri="{FF2B5EF4-FFF2-40B4-BE49-F238E27FC236}">
                <a16:creationId xmlns:a16="http://schemas.microsoft.com/office/drawing/2014/main" id="{366F5FD9-1E58-CDA7-CACE-B242EB6B204F}"/>
              </a:ext>
            </a:extLst>
          </p:cNvPr>
          <p:cNvGrpSpPr/>
          <p:nvPr userDrawn="1"/>
        </p:nvGrpSpPr>
        <p:grpSpPr>
          <a:xfrm>
            <a:off x="10270800" y="3222000"/>
            <a:ext cx="1440000" cy="1861937"/>
            <a:chOff x="8050925" y="4451478"/>
            <a:chExt cx="1440000" cy="1861937"/>
          </a:xfrm>
        </p:grpSpPr>
        <p:pic>
          <p:nvPicPr>
            <p:cNvPr id="5" name="図 4" descr="ロゴ, 会社名&#10;&#10;自動的に生成された説明">
              <a:extLst>
                <a:ext uri="{FF2B5EF4-FFF2-40B4-BE49-F238E27FC236}">
                  <a16:creationId xmlns:a16="http://schemas.microsoft.com/office/drawing/2014/main" id="{D73EDECA-A512-7669-1691-62C5E111EAEA}"/>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6" name="図 5">
              <a:extLst>
                <a:ext uri="{FF2B5EF4-FFF2-40B4-BE49-F238E27FC236}">
                  <a16:creationId xmlns:a16="http://schemas.microsoft.com/office/drawing/2014/main" id="{17480D25-DAE4-135D-514C-ADF811A79B2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7" name="Picture 3">
            <a:extLst>
              <a:ext uri="{FF2B5EF4-FFF2-40B4-BE49-F238E27FC236}">
                <a16:creationId xmlns:a16="http://schemas.microsoft.com/office/drawing/2014/main" id="{7114BB36-8EE5-0472-5190-1AC8C392D5CC}"/>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553231123"/>
      </p:ext>
    </p:extLst>
  </p:cSld>
  <p:clrMapOvr>
    <a:overrideClrMapping bg1="dk1" tx1="lt1" bg2="dk2" tx2="lt2" accent1="accent1" accent2="accent2" accent3="accent3" accent4="accent4" accent5="accent5" accent6="accent6" hlink="hlink" folHlink="folHlink"/>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基本版②） タイトルのみ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599299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103636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基本版②）タイトルのみ_出所・脚注なし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04204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259488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基本版②）小見出しあり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2911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accent3"/>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144441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435457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baseline="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326908144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4152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45845036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基本版②）黒_小見出しあり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58825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tx1"/>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203817217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p:cNvGraphicFramePr>
          <p:nvPr userDrawn="1">
            <p:custDataLst>
              <p:tags r:id="rId1"/>
            </p:custDataLst>
            <p:extLst>
              <p:ext uri="{D42A27DB-BD31-4B8C-83A1-F6EECF244321}">
                <p14:modId xmlns:p14="http://schemas.microsoft.com/office/powerpoint/2010/main" val="2656476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351720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89402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p:cNvGraphicFramePr>
          <p:nvPr userDrawn="1">
            <p:custDataLst>
              <p:tags r:id="rId1"/>
            </p:custDataLst>
            <p:extLst>
              <p:ext uri="{D42A27DB-BD31-4B8C-83A1-F6EECF244321}">
                <p14:modId xmlns:p14="http://schemas.microsoft.com/office/powerpoint/2010/main" val="85020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722895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99049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4797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67638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3588154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531293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1101896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688277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9938070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3125053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244875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890620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062981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502583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473114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843335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39501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133324"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41148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191349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1216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78800" y="431005"/>
            <a:ext cx="3721455" cy="632962"/>
          </a:xfrm>
          <a:prstGeom prst="rect">
            <a:avLst/>
          </a:prstGeom>
          <a:noFill/>
          <a:ln>
            <a:noFill/>
          </a:ln>
        </p:spPr>
      </p:pic>
      <p:grpSp>
        <p:nvGrpSpPr>
          <p:cNvPr id="9" name="グループ化 8">
            <a:extLst>
              <a:ext uri="{FF2B5EF4-FFF2-40B4-BE49-F238E27FC236}">
                <a16:creationId xmlns:a16="http://schemas.microsoft.com/office/drawing/2014/main" id="{1ACB6E8B-BDC4-441B-80D9-3D4F1A7191BA}"/>
              </a:ext>
            </a:extLst>
          </p:cNvPr>
          <p:cNvGrpSpPr/>
          <p:nvPr userDrawn="1"/>
        </p:nvGrpSpPr>
        <p:grpSpPr>
          <a:xfrm>
            <a:off x="10270800" y="4114800"/>
            <a:ext cx="1440000" cy="1894801"/>
            <a:chOff x="8050246" y="4451478"/>
            <a:chExt cx="1440000" cy="1894801"/>
          </a:xfrm>
        </p:grpSpPr>
        <p:pic>
          <p:nvPicPr>
            <p:cNvPr id="10" name="図 9" descr="ロゴ, 会社名&#10;&#10;自動的に生成された説明">
              <a:extLst>
                <a:ext uri="{FF2B5EF4-FFF2-40B4-BE49-F238E27FC236}">
                  <a16:creationId xmlns:a16="http://schemas.microsoft.com/office/drawing/2014/main" id="{58297113-486E-410D-9152-DBAA7813B43E}"/>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1" name="図 10" descr="ロゴ&#10;&#10;自動的に生成された説明">
              <a:extLst>
                <a:ext uri="{FF2B5EF4-FFF2-40B4-BE49-F238E27FC236}">
                  <a16:creationId xmlns:a16="http://schemas.microsoft.com/office/drawing/2014/main" id="{DBB457B8-2E8C-4715-8CE0-9F6911CA7B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0824777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2735016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41148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1539732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1075208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78800" y="431997"/>
            <a:ext cx="3722400" cy="632360"/>
          </a:xfrm>
          <a:prstGeom prst="rect">
            <a:avLst/>
          </a:prstGeom>
        </p:spPr>
      </p:pic>
      <p:grpSp>
        <p:nvGrpSpPr>
          <p:cNvPr id="14" name="グループ化 13">
            <a:extLst>
              <a:ext uri="{FF2B5EF4-FFF2-40B4-BE49-F238E27FC236}">
                <a16:creationId xmlns:a16="http://schemas.microsoft.com/office/drawing/2014/main" id="{A32278A0-B6A6-4196-A48B-DD36F4F398E7}"/>
              </a:ext>
            </a:extLst>
          </p:cNvPr>
          <p:cNvGrpSpPr/>
          <p:nvPr userDrawn="1"/>
        </p:nvGrpSpPr>
        <p:grpSpPr>
          <a:xfrm>
            <a:off x="10270800" y="4114800"/>
            <a:ext cx="1440000" cy="1861937"/>
            <a:chOff x="8050925" y="4451478"/>
            <a:chExt cx="1440000" cy="1861937"/>
          </a:xfrm>
        </p:grpSpPr>
        <p:pic>
          <p:nvPicPr>
            <p:cNvPr id="15" name="図 14" descr="ロゴ, 会社名&#10;&#10;自動的に生成された説明">
              <a:extLst>
                <a:ext uri="{FF2B5EF4-FFF2-40B4-BE49-F238E27FC236}">
                  <a16:creationId xmlns:a16="http://schemas.microsoft.com/office/drawing/2014/main" id="{2395C2A1-39CD-425B-94BE-D67F2CCD8D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6" name="図 15">
              <a:extLst>
                <a:ext uri="{FF2B5EF4-FFF2-40B4-BE49-F238E27FC236}">
                  <a16:creationId xmlns:a16="http://schemas.microsoft.com/office/drawing/2014/main" id="{7CC8C78A-26CC-4239-9442-4410264A93E8}"/>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427568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p:txBody>
          <a:bodyPr/>
          <a:lstStyle/>
          <a:p>
            <a:pPr algn="ctr"/>
            <a:endParaRPr lang="en-US"/>
          </a:p>
        </p:txBody>
      </p:sp>
    </p:spTree>
    <p:extLst>
      <p:ext uri="{BB962C8B-B14F-4D97-AF65-F5344CB8AC3E}">
        <p14:creationId xmlns:p14="http://schemas.microsoft.com/office/powerpoint/2010/main" val="40078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40184007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0727535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108574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6281627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5046693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3514089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2497792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420106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6711330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711624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941185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546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428142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626133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9023089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0165543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130021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606451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a:xfrm>
            <a:off x="730800" y="6588000"/>
            <a:ext cx="5184000" cy="169200"/>
          </a:xfrm>
          <a:prstGeom prst="rect">
            <a:avLst/>
          </a:prstGeom>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a:xfrm>
            <a:off x="5651167" y="6444000"/>
            <a:ext cx="889666" cy="169277"/>
          </a:xfrm>
          <a:prstGeom prst="rect">
            <a:avLst/>
          </a:prstGeom>
        </p:spPr>
        <p:txBody>
          <a:bodyPr/>
          <a:lstStyle/>
          <a:p>
            <a:pPr algn="ctr"/>
            <a:endParaRPr lang="en-US"/>
          </a:p>
        </p:txBody>
      </p:sp>
    </p:spTree>
    <p:extLst>
      <p:ext uri="{BB962C8B-B14F-4D97-AF65-F5344CB8AC3E}">
        <p14:creationId xmlns:p14="http://schemas.microsoft.com/office/powerpoint/2010/main" val="1811814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a:xfrm>
            <a:off x="5651167" y="6444000"/>
            <a:ext cx="889666" cy="169277"/>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a:xfrm>
            <a:off x="730800" y="6588000"/>
            <a:ext cx="5184000" cy="169200"/>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885352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3914871738"/>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スライド" r:id="rId4" imgW="444" imgH="443" progId="TCLayout.ActiveDocument.1">
                  <p:embed/>
                </p:oleObj>
              </mc:Choice>
              <mc:Fallback>
                <p:oleObj name="thinkcellスライド" r:id="rId4" imgW="444" imgH="443" progId="TCLayout.ActiveDocument.1">
                  <p:embed/>
                  <p:pic>
                    <p:nvPicPr>
                      <p:cNvPr id="2" name="オブジェクト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pPr>
              <a:defRPr/>
            </a:pPr>
            <a:endParaRPr lang="en-GB" altLang="en-GB">
              <a:solidFill>
                <a:prstClr val="black"/>
              </a:solidFill>
              <a:latin typeface="Arial"/>
              <a:ea typeface="ＭＳ Ｐゴシック"/>
              <a:cs typeface="Arial" pitchFamily="34" charset="0"/>
            </a:endParaRPr>
          </a:p>
        </p:txBody>
      </p:sp>
      <p:sp>
        <p:nvSpPr>
          <p:cNvPr id="4" name="スライド番号プレースホルダ 3"/>
          <p:cNvSpPr>
            <a:spLocks noGrp="1"/>
          </p:cNvSpPr>
          <p:nvPr>
            <p:ph type="sldNum" sz="quarter" idx="11"/>
          </p:nvPr>
        </p:nvSpPr>
        <p:spPr bwMode="gray">
          <a:xfrm>
            <a:off x="11458554" y="6588000"/>
            <a:ext cx="221538" cy="169200"/>
          </a:xfrm>
        </p:spPr>
        <p:txBody>
          <a:bodyPr/>
          <a:lstStyle>
            <a:lvl1pPr>
              <a:defRPr>
                <a:solidFill>
                  <a:schemeClr val="tx1"/>
                </a:solidFill>
              </a:defRPr>
            </a:lvl1pPr>
          </a:lstStyle>
          <a:p>
            <a:pPr>
              <a:defRPr/>
            </a:pPr>
            <a:fld id="{AA5FCFE5-FE56-4EF1-80A8-07776887C2A1}" type="slidenum">
              <a:rPr lang="ja-JP" altLang="en-US" sz="1200" smtClean="0">
                <a:solidFill>
                  <a:prstClr val="black"/>
                </a:solidFill>
                <a:latin typeface="Arial"/>
                <a:ea typeface="ＭＳ Ｐゴシック"/>
                <a:cs typeface="Arial" pitchFamily="34" charset="0"/>
              </a:rPr>
              <a:pPr>
                <a:defRPr/>
              </a:pPr>
              <a:t>‹#›</a:t>
            </a:fld>
            <a:endParaRPr lang="ja-JP" altLang="en-US" sz="1200">
              <a:solidFill>
                <a:prstClr val="black"/>
              </a:solidFill>
              <a:latin typeface="Arial"/>
              <a:ea typeface="ＭＳ Ｐゴシック"/>
              <a:cs typeface="Arial" pitchFamily="34" charset="0"/>
            </a:endParaRPr>
          </a:p>
        </p:txBody>
      </p:sp>
      <p:sp>
        <p:nvSpPr>
          <p:cNvPr id="9" name="テキスト プレースホルダー 2"/>
          <p:cNvSpPr>
            <a:spLocks noGrp="1"/>
          </p:cNvSpPr>
          <p:nvPr>
            <p:ph type="body" sz="quarter" idx="15" hasCustomPrompt="1"/>
          </p:nvPr>
        </p:nvSpPr>
        <p:spPr bwMode="gray">
          <a:xfrm>
            <a:off x="513230" y="136800"/>
            <a:ext cx="11166862" cy="432000"/>
          </a:xfrm>
          <a:prstGeom prst="rect">
            <a:avLst/>
          </a:prstGeom>
        </p:spPr>
        <p:txBody>
          <a:bodyPr wrap="none" lIns="0" tIns="0" anchor="ctr">
            <a:noAutofit/>
          </a:bodyPr>
          <a:lstStyle>
            <a:lvl1pPr>
              <a:lnSpc>
                <a:spcPct val="100000"/>
              </a:lnSpc>
              <a:spcBef>
                <a:spcPts val="0"/>
              </a:spcBef>
              <a:defRPr sz="2000" b="1">
                <a:solidFill>
                  <a:schemeClr val="tx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3231" y="678671"/>
            <a:ext cx="11165538" cy="360000"/>
          </a:xfrm>
        </p:spPr>
        <p:txBody>
          <a:bodyPr vert="horz" lIns="0" tIns="0" anchor="t"/>
          <a:lstStyle>
            <a:lvl1pPr>
              <a:defRPr sz="1800" b="0"/>
            </a:lvl1pPr>
          </a:lstStyle>
          <a:p>
            <a:r>
              <a:rPr lang="ja-JP" altLang="en-US"/>
              <a:t>キーメッセージを入力（本スライドで一番伝えたいこと＜名詞止め・体言止め不可＞）</a:t>
            </a:r>
            <a:endParaRPr kumimoji="1" lang="ja-JP" altLang="en-US"/>
          </a:p>
        </p:txBody>
      </p:sp>
      <p:cxnSp>
        <p:nvCxnSpPr>
          <p:cNvPr id="7" name="直線コネクタ 6"/>
          <p:cNvCxnSpPr/>
          <p:nvPr/>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オブジェクト 4" hidden="1">
            <a:extLst>
              <a:ext uri="{FF2B5EF4-FFF2-40B4-BE49-F238E27FC236}">
                <a16:creationId xmlns:a16="http://schemas.microsoft.com/office/drawing/2014/main" id="{D9526583-8C8E-82A1-8852-F993675C587E}"/>
              </a:ext>
            </a:extLst>
          </p:cNvPr>
          <p:cNvGraphicFramePr>
            <a:graphicFrameLocks noChangeAspect="1"/>
          </p:cNvGraphicFramePr>
          <p:nvPr userDrawn="1">
            <p:custDataLst>
              <p:tags r:id="rId2"/>
            </p:custDataLst>
            <p:extLst>
              <p:ext uri="{D42A27DB-BD31-4B8C-83A1-F6EECF244321}">
                <p14:modId xmlns:p14="http://schemas.microsoft.com/office/powerpoint/2010/main" val="2603898332"/>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6" imgW="444" imgH="443" progId="TCLayout.ActiveDocument.1">
                  <p:embed/>
                </p:oleObj>
              </mc:Choice>
              <mc:Fallback>
                <p:oleObj name="think-cell スライド" r:id="rId6" imgW="444" imgH="443" progId="TCLayout.ActiveDocument.1">
                  <p:embed/>
                  <p:pic>
                    <p:nvPicPr>
                      <p:cNvPr id="5" name="オブジェクト 4" hidden="1">
                        <a:extLst>
                          <a:ext uri="{FF2B5EF4-FFF2-40B4-BE49-F238E27FC236}">
                            <a16:creationId xmlns:a16="http://schemas.microsoft.com/office/drawing/2014/main" id="{D9526583-8C8E-82A1-8852-F993675C587E}"/>
                          </a:ext>
                        </a:extLst>
                      </p:cNvPr>
                      <p:cNvPicPr/>
                      <p:nvPr/>
                    </p:nvPicPr>
                    <p:blipFill>
                      <a:blip r:embed="rId5"/>
                      <a:stretch>
                        <a:fillRect/>
                      </a:stretch>
                    </p:blipFill>
                    <p:spPr>
                      <a:xfrm>
                        <a:off x="1955" y="1589"/>
                        <a:ext cx="1953" cy="1587"/>
                      </a:xfrm>
                      <a:prstGeom prst="rect">
                        <a:avLst/>
                      </a:prstGeom>
                    </p:spPr>
                  </p:pic>
                </p:oleObj>
              </mc:Fallback>
            </mc:AlternateContent>
          </a:graphicData>
        </a:graphic>
      </p:graphicFrame>
      <p:cxnSp>
        <p:nvCxnSpPr>
          <p:cNvPr id="8" name="直線コネクタ 7">
            <a:extLst>
              <a:ext uri="{FF2B5EF4-FFF2-40B4-BE49-F238E27FC236}">
                <a16:creationId xmlns:a16="http://schemas.microsoft.com/office/drawing/2014/main" id="{F5C7EB6A-BE1A-6B26-F25B-752C370BEDF4}"/>
              </a:ext>
            </a:extLst>
          </p:cNvPr>
          <p:cNvCxnSpPr/>
          <p:nvPr userDrawn="1"/>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227231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tags" Target="../tags/tag2.xml"/><Relationship Id="rId25" Type="http://schemas.openxmlformats.org/officeDocument/2006/relationships/oleObject" Target="../embeddings/oleObject1.bin"/><Relationship Id="rId2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theme" Target="../theme/theme2.xml"/><Relationship Id="rId8" Type="http://schemas.openxmlformats.org/officeDocument/2006/relationships/tags" Target="../tags/tag25.xml"/><Relationship Id="rId9" Type="http://schemas.openxmlformats.org/officeDocument/2006/relationships/oleObject" Target="../embeddings/oleObject23.bin"/><Relationship Id="rId1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slideLayout" Target="../slideLayouts/slideLayout47.xml"/><Relationship Id="rId20" Type="http://schemas.openxmlformats.org/officeDocument/2006/relationships/slideLayout" Target="../slideLayouts/slideLayout48.xml"/><Relationship Id="rId21" Type="http://schemas.openxmlformats.org/officeDocument/2006/relationships/slideLayout" Target="../slideLayouts/slideLayout49.xml"/><Relationship Id="rId22" Type="http://schemas.openxmlformats.org/officeDocument/2006/relationships/slideLayout" Target="../slideLayouts/slideLayout50.xml"/><Relationship Id="rId23" Type="http://schemas.openxmlformats.org/officeDocument/2006/relationships/slideLayout" Target="../slideLayouts/slideLayout51.xml"/><Relationship Id="rId24" Type="http://schemas.openxmlformats.org/officeDocument/2006/relationships/slideLayout" Target="../slideLayouts/slideLayout52.xml"/><Relationship Id="rId25" Type="http://schemas.openxmlformats.org/officeDocument/2006/relationships/slideLayout" Target="../slideLayouts/slideLayout53.xml"/><Relationship Id="rId26" Type="http://schemas.openxmlformats.org/officeDocument/2006/relationships/theme" Target="../theme/theme3.xml"/><Relationship Id="rId27" Type="http://schemas.openxmlformats.org/officeDocument/2006/relationships/tags" Target="../tags/tag32.xml"/><Relationship Id="rId28" Type="http://schemas.openxmlformats.org/officeDocument/2006/relationships/oleObject" Target="../embeddings/oleObject28.bin"/><Relationship Id="rId2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9" Type="http://schemas.openxmlformats.org/officeDocument/2006/relationships/slideLayout" Target="../slideLayouts/slideLayout62.xml"/><Relationship Id="rId10" Type="http://schemas.openxmlformats.org/officeDocument/2006/relationships/slideLayout" Target="../slideLayouts/slideLayout63.xml"/><Relationship Id="rId11" Type="http://schemas.openxmlformats.org/officeDocument/2006/relationships/slideLayout" Target="../slideLayouts/slideLayout64.xml"/><Relationship Id="rId12" Type="http://schemas.openxmlformats.org/officeDocument/2006/relationships/slideLayout" Target="../slideLayouts/slideLayout65.xml"/><Relationship Id="rId13" Type="http://schemas.openxmlformats.org/officeDocument/2006/relationships/slideLayout" Target="../slideLayouts/slideLayout66.xml"/><Relationship Id="rId14" Type="http://schemas.openxmlformats.org/officeDocument/2006/relationships/slideLayout" Target="../slideLayouts/slideLayout67.xml"/><Relationship Id="rId15" Type="http://schemas.openxmlformats.org/officeDocument/2006/relationships/slideLayout" Target="../slideLayouts/slideLayout68.xml"/><Relationship Id="rId16" Type="http://schemas.openxmlformats.org/officeDocument/2006/relationships/slideLayout" Target="../slideLayouts/slideLayout69.xml"/><Relationship Id="rId17" Type="http://schemas.openxmlformats.org/officeDocument/2006/relationships/slideLayout" Target="../slideLayouts/slideLayout70.xml"/><Relationship Id="rId18" Type="http://schemas.openxmlformats.org/officeDocument/2006/relationships/slideLayout" Target="../slideLayouts/slideLayout71.xml"/><Relationship Id="rId19" Type="http://schemas.openxmlformats.org/officeDocument/2006/relationships/slideLayout" Target="../slideLayouts/slideLayout72.xml"/><Relationship Id="rId20" Type="http://schemas.openxmlformats.org/officeDocument/2006/relationships/slideLayout" Target="../slideLayouts/slideLayout73.xml"/><Relationship Id="rId21" Type="http://schemas.openxmlformats.org/officeDocument/2006/relationships/theme" Target="../theme/theme4.xml"/><Relationship Id="rId22" Type="http://schemas.openxmlformats.org/officeDocument/2006/relationships/tags" Target="../tags/tag56.xml"/><Relationship Id="rId23" Type="http://schemas.openxmlformats.org/officeDocument/2006/relationships/oleObject" Target="../embeddings/oleObject28.bin"/><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4"/>
            </p:custDataLst>
            <p:extLst>
              <p:ext uri="{D42A27DB-BD31-4B8C-83A1-F6EECF244321}">
                <p14:modId xmlns:p14="http://schemas.microsoft.com/office/powerpoint/2010/main" val="3092656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5" imgW="444" imgH="443" progId="TCLayout.ActiveDocument.1">
                  <p:embed/>
                </p:oleObj>
              </mc:Choice>
              <mc:Fallback>
                <p:oleObj name="thinkcellスライド" r:id="rId25"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US" altLang="ja-JP"/>
              <a:t>DT Template 16:9</a:t>
            </a: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15099" y="6444000"/>
            <a:ext cx="961802" cy="169277"/>
          </a:xfrm>
          <a:prstGeom prst="rect">
            <a:avLst/>
          </a:prstGeom>
        </p:spPr>
        <p:txBody>
          <a:bodyPr vert="horz" wrap="none" lIns="0" tIns="0" rIns="0" bIns="0" rtlCol="0" anchor="t" anchorCtr="0">
            <a:spAutoFit/>
          </a:bodyPr>
          <a:lstStyle>
            <a:lvl1pPr>
              <a:defRPr kumimoji="1" lang="en-US" altLang="ja-JP" sz="1100" smtClean="0">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46" r:id="rId3"/>
    <p:sldLayoutId id="2147483947" r:id="rId4"/>
    <p:sldLayoutId id="2147483911" r:id="rId5"/>
    <p:sldLayoutId id="2147483912" r:id="rId6"/>
    <p:sldLayoutId id="2147483934" r:id="rId7"/>
    <p:sldLayoutId id="2147483983" r:id="rId8"/>
    <p:sldLayoutId id="2147483984" r:id="rId9"/>
    <p:sldLayoutId id="2147483985" r:id="rId10"/>
    <p:sldLayoutId id="2147483959" r:id="rId11"/>
    <p:sldLayoutId id="2147483969" r:id="rId12"/>
    <p:sldLayoutId id="2147483960" r:id="rId13"/>
    <p:sldLayoutId id="2147483961" r:id="rId14"/>
    <p:sldLayoutId id="2147483976" r:id="rId15"/>
    <p:sldLayoutId id="2147483977" r:id="rId16"/>
    <p:sldLayoutId id="2147483978" r:id="rId17"/>
    <p:sldLayoutId id="2147483979" r:id="rId18"/>
    <p:sldLayoutId id="2147483952" r:id="rId19"/>
    <p:sldLayoutId id="2147483957" r:id="rId20"/>
    <p:sldLayoutId id="2147483956" r:id="rId21"/>
    <p:sldLayoutId id="2147483958" r:id="rId22"/>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A4A3A4"/>
          </p15:clr>
        </p15:guide>
        <p15:guide id="1" orient="horz" pos="96" userDrawn="1">
          <p15:clr>
            <a:srgbClr val="A4A3A4"/>
          </p15:clr>
        </p15:guide>
        <p15:guide id="2" pos="3727" userDrawn="1">
          <p15:clr>
            <a:srgbClr val="A4A3A4"/>
          </p15:clr>
        </p15:guide>
        <p15:guide id="3" pos="3953" userDrawn="1">
          <p15:clr>
            <a:srgbClr val="A4A3A4"/>
          </p15:clr>
        </p15:guide>
        <p15:guide id="4" pos="7378" userDrawn="1">
          <p15:clr>
            <a:srgbClr val="A4A3A4"/>
          </p15:clr>
        </p15:guide>
        <p15:guide id="5" pos="302" userDrawn="1">
          <p15:clr>
            <a:srgbClr val="A4A3A4"/>
          </p15:clr>
        </p15:guide>
        <p15:guide id="6" orient="horz" pos="527" userDrawn="1">
          <p15:clr>
            <a:srgbClr val="A4A3A4"/>
          </p15:clr>
        </p15:guide>
        <p15:guide id="8" orient="horz" pos="935" userDrawn="1">
          <p15:clr>
            <a:srgbClr val="A4A3A4"/>
          </p15:clr>
        </p15:guide>
        <p15:guide id="9" orient="horz" pos="3974" userDrawn="1">
          <p15:clr>
            <a:srgbClr val="A4A3A4"/>
          </p15:clr>
        </p15:guide>
        <p15:guide id="10" orient="horz" pos="4156" userDrawn="1">
          <p15:clr>
            <a:srgbClr val="A4A3A4"/>
          </p15:clr>
        </p15:guide>
        <p15:guide id="11" orient="horz" pos="4269" userDrawn="1">
          <p15:clr>
            <a:srgbClr val="A4A3A4"/>
          </p15:clr>
        </p15:guide>
        <p15:guide id="12" orient="horz" pos="64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710619-D609-4ABA-8EC3-1DBA3A476E15}"/>
              </a:ext>
            </a:extLst>
          </p:cNvPr>
          <p:cNvGraphicFramePr>
            <a:graphicFrameLocks noChangeAspect="1"/>
          </p:cNvGraphicFramePr>
          <p:nvPr userDrawn="1">
            <p:custDataLst>
              <p:tags r:id="rId8"/>
            </p:custDataLst>
            <p:extLst>
              <p:ext uri="{D42A27DB-BD31-4B8C-83A1-F6EECF244321}">
                <p14:modId xmlns:p14="http://schemas.microsoft.com/office/powerpoint/2010/main" val="169708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444" imgH="443" progId="TCLayout.ActiveDocument.1">
                  <p:embed/>
                </p:oleObj>
              </mc:Choice>
              <mc:Fallback>
                <p:oleObj name="thinkcellスライド" r:id="rId9" imgW="444" imgH="443" progId="TCLayout.ActiveDocument.1">
                  <p:embed/>
                  <p:pic>
                    <p:nvPicPr>
                      <p:cNvPr id="4" name="オブジェクト 3" hidden="1">
                        <a:extLst>
                          <a:ext uri="{FF2B5EF4-FFF2-40B4-BE49-F238E27FC236}">
                            <a16:creationId xmlns:a16="http://schemas.microsoft.com/office/drawing/2014/main" id="{88710619-D609-4ABA-8EC3-1DBA3A476E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52400"/>
            <a:ext cx="11232000" cy="647700"/>
          </a:xfrm>
          <a:prstGeom prst="rect">
            <a:avLst/>
          </a:prstGeom>
        </p:spPr>
        <p:txBody>
          <a:bodyPr vert="horz" lIns="0" tIns="0" rIns="0" bIns="0" rtlCol="0" anchor="b" anchorCtr="0">
            <a:noAutofit/>
          </a:bodyPr>
          <a:lstStyle/>
          <a:p>
            <a:r>
              <a:rPr kumimoji="1" lang="ja-JP" altLang="en-US"/>
              <a:t>スライドタイトル</a:t>
            </a:r>
            <a:r>
              <a:rPr lang="ja-JP" altLang="en-US" noProof="0"/>
              <a:t>（入力が必要）</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GB" altLang="en-GB"/>
              <a:t>DT Template 16:9</a:t>
            </a:r>
          </a:p>
        </p:txBody>
      </p:sp>
      <p:sp>
        <p:nvSpPr>
          <p:cNvPr id="9" name="スライド番号プレースホルダ 9"/>
          <p:cNvSpPr>
            <a:spLocks noGrp="1"/>
          </p:cNvSpPr>
          <p:nvPr>
            <p:ph type="sldNum" sz="quarter" idx="4"/>
          </p:nvPr>
        </p:nvSpPr>
        <p:spPr bwMode="gray">
          <a:xfrm>
            <a:off x="4788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4725"/>
            <a:ext cx="11232000" cy="4824000"/>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50" r:id="rId1"/>
    <p:sldLayoutId id="2147483975" r:id="rId2"/>
    <p:sldLayoutId id="2147483970" r:id="rId3"/>
    <p:sldLayoutId id="2147483980" r:id="rId4"/>
    <p:sldLayoutId id="2147483981" r:id="rId5"/>
    <p:sldLayoutId id="2147483982" r:id="rId6"/>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indent="0" algn="l" defTabSz="990564" rtl="0" eaLnBrk="1" latinLnBrk="0" hangingPunct="1">
        <a:lnSpc>
          <a:spcPct val="100000"/>
        </a:lnSpc>
        <a:spcBef>
          <a:spcPts val="600"/>
        </a:spcBef>
        <a:spcAft>
          <a:spcPts val="0"/>
        </a:spcAft>
        <a:buSzPct val="100000"/>
        <a:buFont typeface="Arial" panose="020B0604020202020204" pitchFamily="34" charset="0"/>
        <a:buNone/>
        <a:defRPr kumimoji="1" sz="1600" b="0" kern="1200" baseline="0">
          <a:solidFill>
            <a:schemeClr val="tx1"/>
          </a:solidFill>
          <a:latin typeface="+mn-lt"/>
          <a:ea typeface="+mn-ea"/>
          <a:cs typeface="+mn-cs"/>
        </a:defRPr>
      </a:lvl1pPr>
      <a:lvl2pPr marL="252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n"/>
        <a:defRPr kumimoji="1" lang="en-US" sz="1600" b="0" kern="1200" baseline="0" dirty="0" smtClean="0">
          <a:solidFill>
            <a:schemeClr val="tx1"/>
          </a:solidFill>
          <a:latin typeface="+mn-lt"/>
          <a:ea typeface="+mn-ea"/>
          <a:cs typeface="+mn-cs"/>
        </a:defRPr>
      </a:lvl2pPr>
      <a:lvl3pPr marL="504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Ø"/>
        <a:defRPr kumimoji="1" lang="en-US" sz="1600" b="0" kern="1200" baseline="0" dirty="0" smtClean="0">
          <a:solidFill>
            <a:schemeClr val="tx1"/>
          </a:solidFill>
          <a:latin typeface="+mn-lt"/>
          <a:ea typeface="+mn-ea"/>
          <a:cs typeface="+mn-cs"/>
        </a:defRPr>
      </a:lvl3pPr>
      <a:lvl4pPr marL="684000" indent="-180000" algn="l" defTabSz="990564" rtl="0" eaLnBrk="1" latinLnBrk="0" hangingPunct="1">
        <a:lnSpc>
          <a:spcPct val="10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2" orient="horz" pos="96" userDrawn="1">
          <p15:clr>
            <a:srgbClr val="A4A3A4"/>
          </p15:clr>
        </p15:guide>
        <p15:guide id="3" pos="3727" userDrawn="1">
          <p15:clr>
            <a:srgbClr val="A4A3A4"/>
          </p15:clr>
        </p15:guide>
        <p15:guide id="4" pos="3953" userDrawn="1">
          <p15:clr>
            <a:srgbClr val="A4A3A4"/>
          </p15:clr>
        </p15:guide>
        <p15:guide id="5" pos="7378" userDrawn="1">
          <p15:clr>
            <a:srgbClr val="A4A3A4"/>
          </p15:clr>
        </p15:guide>
        <p15:guide id="6" pos="302" userDrawn="1">
          <p15:clr>
            <a:srgbClr val="A4A3A4"/>
          </p15:clr>
        </p15:guide>
        <p15:guide id="7" orient="horz" pos="504" userDrawn="1">
          <p15:clr>
            <a:srgbClr val="A4A3A4"/>
          </p15:clr>
        </p15:guide>
        <p15:guide id="8" orient="horz" pos="527" userDrawn="1">
          <p15:clr>
            <a:srgbClr val="A4A3A4"/>
          </p15:clr>
        </p15:guide>
        <p15:guide id="9" orient="horz" pos="935" userDrawn="1">
          <p15:clr>
            <a:srgbClr val="A4A3A4"/>
          </p15:clr>
        </p15:guide>
        <p15:guide id="10" orient="horz" pos="3974" userDrawn="1">
          <p15:clr>
            <a:srgbClr val="A4A3A4"/>
          </p15:clr>
        </p15:guide>
        <p15:guide id="11" orient="horz" pos="4156" userDrawn="1">
          <p15:clr>
            <a:srgbClr val="A4A3A4"/>
          </p15:clr>
        </p15:guide>
        <p15:guide id="12" orient="horz" pos="4269"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7"/>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8" imgW="444" imgH="443" progId="TCLayout.ActiveDocument.1">
                  <p:embed/>
                </p:oleObj>
              </mc:Choice>
              <mc:Fallback>
                <p:oleObj name="thinkcellスライド" r:id="rId28"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endParaRPr lang="en-US"/>
          </a:p>
        </p:txBody>
      </p:sp>
    </p:spTree>
    <p:extLst>
      <p:ext uri="{BB962C8B-B14F-4D97-AF65-F5344CB8AC3E}">
        <p14:creationId xmlns:p14="http://schemas.microsoft.com/office/powerpoint/2010/main" val="2354391317"/>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 id="2147484005" r:id="rId19"/>
    <p:sldLayoutId id="2147484006" r:id="rId20"/>
    <p:sldLayoutId id="2147484007" r:id="rId21"/>
    <p:sldLayoutId id="2147484008" r:id="rId22"/>
    <p:sldLayoutId id="2147484009" r:id="rId23"/>
    <p:sldLayoutId id="2147484011" r:id="rId24"/>
    <p:sldLayoutId id="2147484033" r:id="rId25"/>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2"/>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3" imgW="444" imgH="443" progId="TCLayout.ActiveDocument.1">
                  <p:embed/>
                </p:oleObj>
              </mc:Choice>
              <mc:Fallback>
                <p:oleObj name="thinkcellスライド" r:id="rId23"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6315736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Layout" Target="../slideLayouts/slideLayout54.xml"/><Relationship Id="rId3" Type="http://schemas.openxmlformats.org/officeDocument/2006/relationships/notesSlide" Target="../notesSlides/notesSlide1.xml"/><Relationship Id="rId4" Type="http://schemas.openxmlformats.org/officeDocument/2006/relationships/oleObject" Target="../embeddings/oleObject40.bin"/><Relationship Id="rId5" Type="http://schemas.openxmlformats.org/officeDocument/2006/relationships/image" Target="../media/image16.emf"/><Relationship Id="rId6" Type="http://schemas.openxmlformats.org/officeDocument/2006/relationships/image" Target="../media/image17.jpeg"/></Relationships>
</file>

<file path=ppt/slides/_rels/slide2.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53.xml"/><Relationship Id="rId3" Type="http://schemas.openxmlformats.org/officeDocument/2006/relationships/notesSlide" Target="../notesSlides/notesSlide2.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5.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slideLayout" Target="../slideLayouts/slideLayout40.xml"/><Relationship Id="rId3" Type="http://schemas.openxmlformats.org/officeDocument/2006/relationships/oleObject" Target="../embeddings/oleObject43.bin"/><Relationship Id="rId4" Type="http://schemas.openxmlformats.org/officeDocument/2006/relationships/image" Target="../media/image21.emf"/><Relationship Id="rId5"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40.xml"/><Relationship Id="rId3" Type="http://schemas.openxmlformats.org/officeDocument/2006/relationships/oleObject" Target="../embeddings/oleObject45.bin"/><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hyperlink" Target="http://www.bsigroup.com/clientDirectory" TargetMode="External"/><Relationship Id="rId4" Type="http://schemas.openxmlformats.org/officeDocument/2006/relationships/hyperlink" Target="http://www.deloitte.com/jp" TargetMode="External"/><Relationship Id="rId5" Type="http://schemas.openxmlformats.org/officeDocument/2006/relationships/hyperlink" Target="http://www.deloitte.com/jp/about" TargetMode="External"/><Relationship Id="rId6" Type="http://schemas.openxmlformats.org/officeDocument/2006/relationships/hyperlink" Target="http://www.deloitt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EB6184-41DC-7C82-EBC9-6125A7A9A4E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06" imgH="306" progId="TCLayout.ActiveDocument.1">
                  <p:embed/>
                </p:oleObj>
              </mc:Choice>
              <mc:Fallback>
                <p:oleObj name="thinkcellスライド" r:id="rId4" imgW="306" imgH="306" progId="TCLayout.ActiveDocument.1">
                  <p:embed/>
                  <p:pic>
                    <p:nvPicPr>
                      <p:cNvPr id="2" name="think-cell data - do not delete" hidden="1">
                        <a:extLst>
                          <a:ext uri="{FF2B5EF4-FFF2-40B4-BE49-F238E27FC236}">
                            <a16:creationId xmlns:a16="http://schemas.microsoft.com/office/drawing/2014/main" id="{5FEB6184-41DC-7C82-EBC9-6125A7A9A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図 18" descr="夜にライトアップされている&#10;&#10;AI によって生成されたコンテンツは間違っている可能性があります。">
            <a:extLst>
              <a:ext uri="{FF2B5EF4-FFF2-40B4-BE49-F238E27FC236}">
                <a16:creationId xmlns:a16="http://schemas.microsoft.com/office/drawing/2014/main" id="{25F0A911-5C19-2636-0451-C85C33F6464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0"/>
            <a:ext cx="3904090" cy="6876138"/>
          </a:xfrm>
          <a:prstGeom prst="rect">
            <a:avLst/>
          </a:prstGeom>
        </p:spPr>
      </p:pic>
      <p:sp>
        <p:nvSpPr>
          <p:cNvPr id="25" name="テキスト ボックス 24">
            <a:extLst>
              <a:ext uri="{FF2B5EF4-FFF2-40B4-BE49-F238E27FC236}">
                <a16:creationId xmlns:a16="http://schemas.microsoft.com/office/drawing/2014/main" id="{63CADF77-D81E-E8E2-9C28-F7386E272BD4}"/>
              </a:ext>
            </a:extLst>
          </p:cNvPr>
          <p:cNvSpPr txBox="1"/>
          <p:nvPr/>
        </p:nvSpPr>
        <p:spPr bwMode="gray">
          <a:xfrm>
            <a:off x="4661598" y="2266047"/>
            <a:ext cx="6352701" cy="492443"/>
          </a:xfrm>
          <a:prstGeom prst="rect">
            <a:avLst/>
          </a:prstGeom>
          <a:noFill/>
        </p:spPr>
        <p:txBody>
          <a:bodyPr wrap="non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lang="ja-JP" altLang="en-US"/>
            </a:pP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BX取り組み｜Quick-Win施策の推進</a:t>
            </a:r>
          </a:p>
        </p:txBody>
      </p:sp>
      <p:sp>
        <p:nvSpPr>
          <p:cNvPr id="28" name="テキスト ボックス 27">
            <a:extLst>
              <a:ext uri="{FF2B5EF4-FFF2-40B4-BE49-F238E27FC236}">
                <a16:creationId xmlns:a16="http://schemas.microsoft.com/office/drawing/2014/main" id="{81AAFA19-1B8D-A828-A17B-E52449575833}"/>
              </a:ext>
            </a:extLst>
          </p:cNvPr>
          <p:cNvSpPr txBox="1"/>
          <p:nvPr/>
        </p:nvSpPr>
        <p:spPr bwMode="gray">
          <a:xfrm>
            <a:off x="4661598" y="3780005"/>
            <a:ext cx="4854086" cy="615553"/>
          </a:xfrm>
          <a:prstGeom prst="rect">
            <a:avLst/>
          </a:prstGeom>
          <a:noFill/>
        </p:spPr>
        <p:txBody>
          <a:bodyPr wrap="none" lIns="0" tIns="0" rIns="0" bIns="0" rtlCol="0" anchor="t">
            <a:spAutoFit/>
          </a:bodyPr>
          <a:lstStyle/>
          <a:p>
            <a:pPr lvl="0" defTabSz="990564" fontAlgn="auto">
              <a:spcBef>
                <a:spcPts val="0"/>
              </a:spcBef>
              <a:spcAft>
                <a:spcPts val="0"/>
              </a:spcAft>
              <a:buSzPct val="100000"/>
            </a:pPr>
            <a:r>
              <a:rPr kumimoji="0" lang="ja-JP" altLang="en-US" sz="2000" b="0" i="0" u="none" strike="noStrike" kern="1200" cap="none" spc="0" normalizeH="0" baseline="0" noProof="0">
                <a:ln>
                  <a:noFill/>
                </a:ln>
                <a:solidFill>
                  <a:prstClr val="black"/>
                </a:solidFill>
                <a:effectLst/>
                <a:uLnTx/>
                <a:uFillTx/>
                <a:latin typeface="Arial"/>
                <a:ea typeface="Yu Gothic UI"/>
                <a:cs typeface="Arial"/>
                <a:sym typeface="+mj-lt"/>
              </a:rPr>
              <a:t>PoC検証 最終報告資料 ｜Quick-Win構築</a:t>
            </a:r>
            <a:endParaRPr kumimoji="1" lang="ja-JP" altLang="en-US" sz="20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3" name="テキスト ボックス 32">
            <a:extLst>
              <a:ext uri="{FF2B5EF4-FFF2-40B4-BE49-F238E27FC236}">
                <a16:creationId xmlns:a16="http://schemas.microsoft.com/office/drawing/2014/main" id="{844AB2EE-B4B8-DAE9-7E1E-1B71A5C58662}"/>
              </a:ext>
            </a:extLst>
          </p:cNvPr>
          <p:cNvSpPr txBox="1"/>
          <p:nvPr/>
        </p:nvSpPr>
        <p:spPr bwMode="gray">
          <a:xfrm>
            <a:off x="4661598" y="4283964"/>
            <a:ext cx="2377440" cy="307777"/>
          </a:xfrm>
          <a:prstGeom prst="rect">
            <a:avLst/>
          </a:prstGeom>
          <a:noFill/>
        </p:spPr>
        <p:txBody>
          <a:bodyPr wrap="none" lIns="0" tIns="0" rIns="0" bIns="0" rtlCol="0" anchor="t">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2000" b="0" i="0" u="none" strike="noStrike" kern="1200" cap="none" spc="0" normalizeH="0" baseline="0" noProof="0">
                <a:ln>
                  <a:noFill/>
                </a:ln>
                <a:solidFill>
                  <a:prstClr val="black"/>
                </a:solidFill>
                <a:effectLst/>
                <a:uLnTx/>
                <a:uFillTx/>
                <a:latin typeface="Calibri"/>
                <a:ea typeface="Yu Gothic UI"/>
                <a:cs typeface="Arial"/>
              </a:rPr>
              <a:t>2026年○月○日</a:t>
            </a:r>
          </a:p>
        </p:txBody>
      </p:sp>
    </p:spTree>
    <p:extLst>
      <p:ext uri="{BB962C8B-B14F-4D97-AF65-F5344CB8AC3E}">
        <p14:creationId xmlns:p14="http://schemas.microsoft.com/office/powerpoint/2010/main" val="80165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CF7891DD-C84F-A88D-23C9-77A78E2E35EE}"/>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エグゼクティブサマリー　‐　2分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3か月の変遷　‐　8分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共創の記録（動画）</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ITEC様への引継ぎ状況　‐　6分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FIX後の改修台帳と残要望　‐　8分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Phase2に向けた確認事項　‐　6分</a:t>
            </a:r>
          </a:p>
        </p:txBody>
      </p:sp>
    </p:spTree>
    <p:extLst>
      <p:ext uri="{BB962C8B-B14F-4D97-AF65-F5344CB8AC3E}">
        <p14:creationId xmlns:p14="http://schemas.microsoft.com/office/powerpoint/2010/main" val="264210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8CA31FE1-1128-4A19-B707-D354CF727FF0}"/>
              </a:ext>
            </a:extLst>
          </p:cNvPr>
          <p:cNvSpPr>
            <a:spLocks noGrp="1"/>
          </p:cNvSpPr>
          <p:nvPr>
            <p:ph type="body" sz="quarter" idx="15"/>
          </p:nvPr>
        </p:nvSpPr>
        <p:spPr/>
        <p:txBody>
          <a:bodyPr/>
          <a:lstStyle/>
          <a:p>
            <a:r>
              <a:rPr lang="ja-JP" altLang="en-US"/>
              <a:t>エグゼクティブサマリー</a:t>
            </a:r>
          </a:p>
        </p:txBody>
      </p:sp>
      <p:sp>
        <p:nvSpPr>
          <p:cNvPr id="7" name="タイトル 6">
            <a:extLst>
              <a:ext uri="{FF2B5EF4-FFF2-40B4-BE49-F238E27FC236}">
                <a16:creationId xmlns:a16="http://schemas.microsoft.com/office/drawing/2014/main" id="{3B8A63B1-B5A6-47C8-8BD0-28DE6AFBFEDC}"/>
              </a:ext>
            </a:extLst>
          </p:cNvPr>
          <p:cNvSpPr>
            <a:spLocks noGrp="1"/>
          </p:cNvSpPr>
          <p:nvPr>
            <p:ph type="title"/>
          </p:nvPr>
        </p:nvSpPr>
        <p:spPr/>
        <p:txBody>
          <a:bodyPr vert="horz" rIns="0"/>
          <a:lstStyle/>
          <a:p>
            <a:r>
              <a:rPr lang="ja-JP" altLang="en-US"/>
              <a:t>3か月・8つの版を経て2アプリは10月の公開版に到達し、引継ぎの準備が整いました。本日は引継ぎ受領とPhase2の進め方のご確認をお願いします</a:t>
            </a: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627632"/>
            <a:ext cx="11237976" cy="1078992"/>
          </a:xfrm>
          <a:prstGeom prst="rect">
            <a:avLst/>
          </a:prstGeom>
          <a:solidFill>
            <a:srgbClr val="F4F5F5"/>
          </a:solidFill>
          <a:ln>
            <a:noFill/>
          </a:ln>
        </p:spPr>
        <p:txBody>
          <a:bodyPr rtlCol="0" anchor="ctr"/>
          <a:lstStyle/>
          <a:p/>
        </p:txBody>
      </p:sp>
      <p:sp>
        <p:nvSpPr>
          <p:cNvPr id="9" name="Rectangle 8"/>
          <p:cNvSpPr/>
          <p:nvPr/>
        </p:nvSpPr>
        <p:spPr>
          <a:xfrm>
            <a:off x="475488" y="1627632"/>
            <a:ext cx="1965960" cy="1078992"/>
          </a:xfrm>
          <a:prstGeom prst="rect">
            <a:avLst/>
          </a:prstGeom>
          <a:solidFill>
            <a:srgbClr val="63666A"/>
          </a:solidFill>
          <a:ln>
            <a:noFill/>
          </a:ln>
        </p:spPr>
        <p:txBody>
          <a:bodyPr rtlCol="0" anchor="ctr" wrap="square" lIns="164592" rIns="73152" tIns="36576" bIns="36576"/>
          <a:lstStyle/>
          <a:p>
            <a:pPr algn="l">
              <a:spcAft>
                <a:spcPts val="200"/>
              </a:spcAft>
            </a:pPr>
            <a:r>
              <a:rPr sz="900" b="1" lang="ja-JP" altLang="en-US">
                <a:solidFill>
                  <a:srgbClr val="FFFFFF"/>
                </a:solidFill>
              </a:rPr>
              <a:t>01</a:t>
            </a:r>
          </a:p>
          <a:p>
            <a:pPr algn="l"/>
            <a:r>
              <a:rPr sz="1300" b="1" lang="ja-JP" altLang="en-US">
                <a:solidFill>
                  <a:srgbClr val="FFFFFF"/>
                </a:solidFill>
              </a:rPr>
              <a:t>3か月の変遷</a:t>
            </a:r>
          </a:p>
        </p:txBody>
      </p:sp>
      <p:sp>
        <p:nvSpPr>
          <p:cNvPr id="10" name="TextBox 9"/>
          <p:cNvSpPr txBox="1"/>
          <p:nvPr/>
        </p:nvSpPr>
        <p:spPr>
          <a:xfrm>
            <a:off x="2670048" y="1755648"/>
            <a:ext cx="8869680" cy="859536"/>
          </a:xfrm>
          <a:prstGeom prst="rect">
            <a:avLst/>
          </a:prstGeom>
          <a:noFill/>
        </p:spPr>
        <p:txBody>
          <a:bodyPr wrap="square" lIns="0" rIns="0" tIns="0" bIns="0" anchor="ctr">
            <a:spAutoFit/>
          </a:bodyPr>
          <a:lstStyle/>
          <a:p>
            <a:pPr algn="l">
              <a:spcAft>
                <a:spcPts val="500"/>
              </a:spcAft>
            </a:pPr>
            <a:r>
              <a:rPr sz="1300" b="1" lang="ja-JP" altLang="en-US">
                <a:solidFill>
                  <a:srgbClr val="1C1C1E"/>
                </a:solidFill>
              </a:rPr>
              <a:t>週次の改善サイクルで、7月の雛形から8つの版を経て10月の公開版へ</a:t>
            </a:r>
          </a:p>
          <a:p>
            <a:pPr algn="l">
              <a:lnSpc>
                <a:spcPct val="115000"/>
              </a:lnSpc>
            </a:pPr>
            <a:r>
              <a:rPr sz="1000" b="0" lang="ja-JP" altLang="en-US">
                <a:solidFill>
                  <a:srgbClr val="63666A"/>
                </a:solidFill>
              </a:rPr>
              <a:t>隔週のスプリントレビュー・週次定例・日次のタッチポイントでいただいたご意見を毎週の版に反映し、9/11にFIX。以降もご依頼を毎週反映し、AI経営ナビ・総会QAの双方を実務の流れに合わせました。</a:t>
            </a:r>
          </a:p>
        </p:txBody>
      </p:sp>
      <p:sp>
        <p:nvSpPr>
          <p:cNvPr id="11" name="Rectangle 10"/>
          <p:cNvSpPr/>
          <p:nvPr/>
        </p:nvSpPr>
        <p:spPr>
          <a:xfrm>
            <a:off x="475488" y="2798064"/>
            <a:ext cx="11237976" cy="1078992"/>
          </a:xfrm>
          <a:prstGeom prst="rect">
            <a:avLst/>
          </a:prstGeom>
          <a:solidFill>
            <a:srgbClr val="F4F5F5"/>
          </a:solidFill>
          <a:ln>
            <a:noFill/>
          </a:ln>
        </p:spPr>
        <p:txBody>
          <a:bodyPr rtlCol="0" anchor="ctr"/>
          <a:lstStyle/>
          <a:p/>
        </p:txBody>
      </p:sp>
      <p:sp>
        <p:nvSpPr>
          <p:cNvPr id="12" name="Rectangle 11"/>
          <p:cNvSpPr/>
          <p:nvPr/>
        </p:nvSpPr>
        <p:spPr>
          <a:xfrm>
            <a:off x="475488" y="2798064"/>
            <a:ext cx="1965960" cy="1078992"/>
          </a:xfrm>
          <a:prstGeom prst="rect">
            <a:avLst/>
          </a:prstGeom>
          <a:solidFill>
            <a:srgbClr val="63666A"/>
          </a:solidFill>
          <a:ln>
            <a:noFill/>
          </a:ln>
        </p:spPr>
        <p:txBody>
          <a:bodyPr rtlCol="0" anchor="ctr" wrap="square" lIns="164592" rIns="73152" tIns="36576" bIns="36576"/>
          <a:lstStyle/>
          <a:p>
            <a:pPr algn="l">
              <a:spcAft>
                <a:spcPts val="200"/>
              </a:spcAft>
            </a:pPr>
            <a:r>
              <a:rPr sz="900" b="1" lang="ja-JP" altLang="en-US">
                <a:solidFill>
                  <a:srgbClr val="FFFFFF"/>
                </a:solidFill>
              </a:rPr>
              <a:t>02</a:t>
            </a:r>
          </a:p>
          <a:p>
            <a:pPr algn="l"/>
            <a:r>
              <a:rPr sz="1300" b="1" lang="ja-JP" altLang="en-US">
                <a:solidFill>
                  <a:srgbClr val="FFFFFF"/>
                </a:solidFill>
              </a:rPr>
              <a:t>引継ぎ状況</a:t>
            </a:r>
          </a:p>
        </p:txBody>
      </p:sp>
      <p:sp>
        <p:nvSpPr>
          <p:cNvPr id="13" name="TextBox 12"/>
          <p:cNvSpPr txBox="1"/>
          <p:nvPr/>
        </p:nvSpPr>
        <p:spPr>
          <a:xfrm>
            <a:off x="2670048" y="2926080"/>
            <a:ext cx="8869680" cy="859536"/>
          </a:xfrm>
          <a:prstGeom prst="rect">
            <a:avLst/>
          </a:prstGeom>
          <a:noFill/>
        </p:spPr>
        <p:txBody>
          <a:bodyPr wrap="square" lIns="0" rIns="0" tIns="0" bIns="0" anchor="ctr">
            <a:spAutoFit/>
          </a:bodyPr>
          <a:lstStyle/>
          <a:p>
            <a:pPr algn="l">
              <a:spcAft>
                <a:spcPts val="500"/>
              </a:spcAft>
            </a:pPr>
            <a:r>
              <a:rPr sz="1300" b="1" lang="ja-JP" altLang="en-US">
                <a:solidFill>
                  <a:srgbClr val="1C1C1E"/>
                </a:solidFill>
              </a:rPr>
              <a:t>引継ぎに必要な4点（アプリ・改修台帳・ドキュメント・運用データ）は揃っています</a:t>
            </a:r>
          </a:p>
          <a:p>
            <a:pPr algn="l">
              <a:lnSpc>
                <a:spcPct val="115000"/>
              </a:lnSpc>
            </a:pPr>
            <a:r>
              <a:rPr sz="1000" b="0" lang="ja-JP" altLang="en-US">
                <a:solidFill>
                  <a:srgbClr val="63666A"/>
                </a:solidFill>
              </a:rPr>
              <a:t>最新アプリ（9/27時点）、FIX後の改修台帳、仕様書・アーキテクチャ・マニュアル2種、権限台帳などの運用データをITEC様にお渡しできる状態です（マニュアル2種は9/27の改修まで反映済み。仕様書は移行前に最新化します）。10月以降もデロイトが伴走します。</a:t>
            </a:r>
          </a:p>
        </p:txBody>
      </p:sp>
      <p:sp>
        <p:nvSpPr>
          <p:cNvPr id="14" name="Rectangle 13"/>
          <p:cNvSpPr/>
          <p:nvPr/>
        </p:nvSpPr>
        <p:spPr>
          <a:xfrm>
            <a:off x="475488" y="3968496"/>
            <a:ext cx="11237976" cy="1078992"/>
          </a:xfrm>
          <a:prstGeom prst="rect">
            <a:avLst/>
          </a:prstGeom>
          <a:solidFill>
            <a:srgbClr val="F4F5F5"/>
          </a:solidFill>
          <a:ln>
            <a:noFill/>
          </a:ln>
        </p:spPr>
        <p:txBody>
          <a:bodyPr rtlCol="0" anchor="ctr"/>
          <a:lstStyle/>
          <a:p/>
        </p:txBody>
      </p:sp>
      <p:sp>
        <p:nvSpPr>
          <p:cNvPr id="15" name="Rectangle 14"/>
          <p:cNvSpPr/>
          <p:nvPr/>
        </p:nvSpPr>
        <p:spPr>
          <a:xfrm>
            <a:off x="475488" y="3968496"/>
            <a:ext cx="1965960" cy="1078992"/>
          </a:xfrm>
          <a:prstGeom prst="rect">
            <a:avLst/>
          </a:prstGeom>
          <a:solidFill>
            <a:srgbClr val="63666A"/>
          </a:solidFill>
          <a:ln>
            <a:noFill/>
          </a:ln>
        </p:spPr>
        <p:txBody>
          <a:bodyPr rtlCol="0" anchor="ctr" wrap="square" lIns="164592" rIns="73152" tIns="36576" bIns="36576"/>
          <a:lstStyle/>
          <a:p>
            <a:pPr algn="l">
              <a:spcAft>
                <a:spcPts val="200"/>
              </a:spcAft>
            </a:pPr>
            <a:r>
              <a:rPr sz="900" b="1" lang="ja-JP" altLang="en-US">
                <a:solidFill>
                  <a:srgbClr val="FFFFFF"/>
                </a:solidFill>
              </a:rPr>
              <a:t>03</a:t>
            </a:r>
          </a:p>
          <a:p>
            <a:pPr algn="l"/>
            <a:r>
              <a:rPr sz="1300" b="1" lang="ja-JP" altLang="en-US">
                <a:solidFill>
                  <a:srgbClr val="FFFFFF"/>
                </a:solidFill>
              </a:rPr>
              <a:t>FIX後の改修と残要望</a:t>
            </a:r>
          </a:p>
        </p:txBody>
      </p:sp>
      <p:sp>
        <p:nvSpPr>
          <p:cNvPr id="16" name="TextBox 15"/>
          <p:cNvSpPr txBox="1"/>
          <p:nvPr/>
        </p:nvSpPr>
        <p:spPr>
          <a:xfrm>
            <a:off x="2670048" y="4096511"/>
            <a:ext cx="8869680" cy="859536"/>
          </a:xfrm>
          <a:prstGeom prst="rect">
            <a:avLst/>
          </a:prstGeom>
          <a:noFill/>
        </p:spPr>
        <p:txBody>
          <a:bodyPr wrap="square" lIns="0" rIns="0" tIns="0" bIns="0" anchor="ctr">
            <a:spAutoFit/>
          </a:bodyPr>
          <a:lstStyle/>
          <a:p>
            <a:pPr algn="l">
              <a:spcAft>
                <a:spcPts val="500"/>
              </a:spcAft>
            </a:pPr>
            <a:r>
              <a:rPr sz="1300" b="1" lang="ja-JP" altLang="en-US">
                <a:solidFill>
                  <a:srgbClr val="1C1C1E"/>
                </a:solidFill>
              </a:rPr>
              <a:t>FIX後の改修15項目（9/27のご依頼分を含む）はすべて検証環境に反映済み。残るのは「仕上げ」の2点</a:t>
            </a:r>
          </a:p>
          <a:p>
            <a:pPr algn="l">
              <a:lnSpc>
                <a:spcPct val="115000"/>
              </a:lnSpc>
            </a:pPr>
            <a:r>
              <a:rPr sz="1000" b="0" lang="ja-JP" altLang="en-US">
                <a:solidFill>
                  <a:srgbClr val="63666A"/>
                </a:solidFill>
              </a:rPr>
              <a:t>9/27にはLLMを国内で処理されるClaude Opus 5.5へ切り替えました。残要望は、経営ナビの出力レポートの内容調整と、総会QAの見た目の調整です。いずれも機能追加ではなく、実データの配置と読み合わせを経て仕上げ、初版公開後の改修として反映します。</a:t>
            </a:r>
          </a:p>
        </p:txBody>
      </p:sp>
      <p:sp>
        <p:nvSpPr>
          <p:cNvPr id="17" name="Rectangle 16"/>
          <p:cNvSpPr/>
          <p:nvPr/>
        </p:nvSpPr>
        <p:spPr>
          <a:xfrm>
            <a:off x="475488" y="5138928"/>
            <a:ext cx="11237976" cy="1078992"/>
          </a:xfrm>
          <a:prstGeom prst="rect">
            <a:avLst/>
          </a:prstGeom>
          <a:solidFill>
            <a:srgbClr val="EEF5EA"/>
          </a:solidFill>
          <a:ln>
            <a:noFill/>
          </a:ln>
        </p:spPr>
        <p:txBody>
          <a:bodyPr rtlCol="0" anchor="ctr"/>
          <a:lstStyle/>
          <a:p/>
        </p:txBody>
      </p:sp>
      <p:sp>
        <p:nvSpPr>
          <p:cNvPr id="18" name="Rectangle 17"/>
          <p:cNvSpPr/>
          <p:nvPr/>
        </p:nvSpPr>
        <p:spPr>
          <a:xfrm>
            <a:off x="475488" y="5138928"/>
            <a:ext cx="1965960" cy="1078992"/>
          </a:xfrm>
          <a:prstGeom prst="rect">
            <a:avLst/>
          </a:prstGeom>
          <a:solidFill>
            <a:srgbClr val="046A38"/>
          </a:solidFill>
          <a:ln>
            <a:noFill/>
          </a:ln>
        </p:spPr>
        <p:txBody>
          <a:bodyPr rtlCol="0" anchor="ctr" wrap="square" lIns="164592" rIns="73152" tIns="36576" bIns="36576"/>
          <a:lstStyle/>
          <a:p>
            <a:pPr algn="l">
              <a:spcAft>
                <a:spcPts val="200"/>
              </a:spcAft>
            </a:pPr>
            <a:r>
              <a:rPr sz="900" b="1" lang="ja-JP" altLang="en-US">
                <a:solidFill>
                  <a:srgbClr val="FFFFFF"/>
                </a:solidFill>
              </a:rPr>
              <a:t>04</a:t>
            </a:r>
          </a:p>
          <a:p>
            <a:pPr algn="l"/>
            <a:r>
              <a:rPr sz="1300" b="1" lang="ja-JP" altLang="en-US">
                <a:solidFill>
                  <a:srgbClr val="FFFFFF"/>
                </a:solidFill>
              </a:rPr>
              <a:t>本日のお願い</a:t>
            </a:r>
          </a:p>
        </p:txBody>
      </p:sp>
      <p:sp>
        <p:nvSpPr>
          <p:cNvPr id="19" name="TextBox 18"/>
          <p:cNvSpPr txBox="1"/>
          <p:nvPr/>
        </p:nvSpPr>
        <p:spPr>
          <a:xfrm>
            <a:off x="2670048" y="5266944"/>
            <a:ext cx="8869680" cy="859536"/>
          </a:xfrm>
          <a:prstGeom prst="rect">
            <a:avLst/>
          </a:prstGeom>
          <a:noFill/>
        </p:spPr>
        <p:txBody>
          <a:bodyPr wrap="square" lIns="0" rIns="0" tIns="0" bIns="0" anchor="ctr">
            <a:spAutoFit/>
          </a:bodyPr>
          <a:lstStyle/>
          <a:p>
            <a:pPr algn="l">
              <a:spcAft>
                <a:spcPts val="500"/>
              </a:spcAft>
            </a:pPr>
            <a:r>
              <a:rPr sz="1300" b="1" lang="ja-JP" altLang="en-US">
                <a:solidFill>
                  <a:srgbClr val="046A38"/>
                </a:solidFill>
              </a:rPr>
              <a:t>① 引継ぎ物4点のご了承　② Phase2の進め方の確認</a:t>
            </a:r>
          </a:p>
          <a:p>
            <a:pPr algn="l">
              <a:lnSpc>
                <a:spcPct val="115000"/>
              </a:lnSpc>
            </a:pPr>
            <a:r>
              <a:rPr sz="1000" b="0" lang="ja-JP" altLang="en-US">
                <a:solidFill>
                  <a:srgbClr val="63666A"/>
                </a:solidFill>
              </a:rPr>
              <a:t>検証環境の利用期限、ITEC様主軸での技術的な連携方法、改修に使う環境と本番への反映の流れ・タイミングを確認させてください。</a:t>
            </a:r>
          </a:p>
        </p:txBody>
      </p:sp>
    </p:spTree>
    <p:extLst>
      <p:ext uri="{BB962C8B-B14F-4D97-AF65-F5344CB8AC3E}">
        <p14:creationId xmlns:p14="http://schemas.microsoft.com/office/powerpoint/2010/main" val="123403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FIX後（9/11以降）の改修台帳</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9/11のFIX以降、9/27のご依頼分を含む15項目の改修（うちご依頼13）を、すべて検証環境に反映しました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9" name="TextBox 8"/>
          <p:cNvSpPr txBox="1"/>
          <p:nvPr/>
        </p:nvSpPr>
        <p:spPr>
          <a:xfrm>
            <a:off x="475488" y="6035040"/>
            <a:ext cx="11237976" cy="384048"/>
          </a:xfrm>
          <a:prstGeom prst="rect">
            <a:avLst/>
          </a:prstGeom>
          <a:noFill/>
        </p:spPr>
        <p:txBody>
          <a:bodyPr wrap="square" lIns="0" rIns="0" tIns="0" bIns="0" anchor="t">
            <a:spAutoFit/>
          </a:bodyPr>
          <a:lstStyle/>
          <a:p>
            <a:pPr>
              <a:buNone/>
            </a:pPr>
            <a:r>
              <a:rPr sz="750" b="0" lang="ja-JP" altLang="en-US">
                <a:solidFill>
                  <a:srgbClr val="8C8F93"/>
                </a:solidFill>
              </a:rPr>
              <a:t>区分：ご依頼＝貴社からのご依頼に基づく改修、自主改善＝デロイトからの提案による改修　／　受付：依頼資料・メール・定例でのご意見を受領した日（9/27＝計画前提の追加改修依頼②、画面キャプチャによるご依頼①〜⑭、LLM切替のご指示）　／　実データ待ち：過去の計画書・予算編成方針の配置後に本来の動作（p.8）
セキュア環境（10月初版）への取り込み範囲と時期は、ITEC様の工数に基づき別途決定します（p.9 確認事項 No.4）</a:t>
            </a:r>
          </a:p>
        </p:txBody>
      </p:sp>
      <p:graphicFrame>
        <p:nvGraphicFramePr>
          <p:cNvPr id="10" name="Table 9"/>
          <p:cNvGraphicFramePr>
            <a:graphicFrameLocks noGrp="1"/>
          </p:cNvGraphicFramePr>
          <p:nvPr/>
        </p:nvGraphicFramePr>
        <p:xfrm>
          <a:off x="475488" y="1572768"/>
          <a:ext cx="11237976" cy="4233672"/>
        </p:xfrm>
        <a:graphic>
          <a:graphicData uri="http://schemas.openxmlformats.org/drawingml/2006/table">
            <a:tbl>
              <a:tblPr firstRow="0" bandRow="0">
                <a:tableStyleId>{5C22544A-7EE6-4342-B048-85BDC9FD1C3A}</a:tableStyleId>
              </a:tblPr>
              <a:tblGrid>
                <a:gridCol w="384048"/>
                <a:gridCol w="868680"/>
                <a:gridCol w="2148840"/>
                <a:gridCol w="5596128"/>
                <a:gridCol w="731520"/>
                <a:gridCol w="548640"/>
                <a:gridCol w="960120"/>
              </a:tblGrid>
              <a:tr h="256032">
                <a:tc>
                  <a:txBody>
                    <a:bodyPr wrap="square"/>
                    <a:lstStyle/>
                    <a:p>
                      <a:pPr algn="ctr"/>
                      <a:r>
                        <a:rPr sz="850" b="1" lang="ja-JP" altLang="en-US">
                          <a:solidFill>
                            <a:srgbClr val="FFFFFF"/>
                          </a:solidFill>
                        </a:rPr>
                        <a:t>No</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アプリ</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機能</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改修内容</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区分</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受付</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850" b="1" lang="ja-JP" altLang="en-US">
                          <a:solidFill>
                            <a:srgbClr val="FFFFFF"/>
                          </a:solidFill>
                        </a:rPr>
                        <a:t>検証環境</a:t>
                      </a:r>
                    </a:p>
                  </a:txBody>
                  <a:tcPr marL="64008" marR="64008" marT="18288" marB="18288"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r>
              <a:tr h="265176">
                <a:tc>
                  <a:txBody>
                    <a:bodyPr wrap="square"/>
                    <a:lstStyle/>
                    <a:p>
                      <a:pPr algn="ctr"/>
                      <a:r>
                        <a:rPr sz="800" b="0" lang="ja-JP" altLang="en-US">
                          <a:solidFill>
                            <a:srgbClr val="1C1C1E"/>
                          </a:solidFill>
                        </a:rPr>
                        <a:t>1</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rowSpan="7">
                  <a:txBody>
                    <a:bodyPr wrap="square"/>
                    <a:lstStyle/>
                    <a:p>
                      <a:pPr algn="ctr"/>
                      <a:r>
                        <a:rPr sz="900" b="1" lang="ja-JP" altLang="en-US">
                          <a:solidFill>
                            <a:srgbClr val="1C1C1E"/>
                          </a:solidFill>
                        </a:rPr>
                        <a:t>AI経営ナビ</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4F5F5"/>
                    </a:solidFill>
                  </a:tcPr>
                </a:tc>
                <a:tc>
                  <a:txBody>
                    <a:bodyPr wrap="square"/>
                    <a:lstStyle/>
                    <a:p>
                      <a:pPr algn="l"/>
                      <a:r>
                        <a:rPr sz="750" b="0" lang="ja-JP" altLang="en-US">
                          <a:solidFill>
                            <a:srgbClr val="1C1C1E"/>
                          </a:solidFill>
                        </a:rPr>
                        <a:t>センシングボード（外部指標・巡回・監視設定・SNS分析）</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取得可能な外部指標を接続し蓄積型に（約8,500点）、競合・グループ会社・官公庁を毎日巡回、監視設定を作り直し。9/27：SNS分析に事業カテゴリの追加と除外語、比較基準の日付を表示</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9/17</a:t>
                      </a:r>
                    </a:p>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2</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計画の前提を洗い直す</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HD・BUの入力の型と8項目の出力に。9/27の追加依頼②で、用語・資料一覧・8項目の書き方（動く金額・出典）・公表資料の自動取得・印刷/PDFを作り直し</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9/17</a:t>
                      </a:r>
                    </a:p>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p>
                      <a:pPr algn="ctr"/>
                      <a:r>
                        <a:rPr sz="700" b="0" lang="ja-JP" altLang="en-US">
                          <a:solidFill>
                            <a:srgbClr val="B26B00"/>
                          </a:solidFill>
                        </a:rPr>
                        <a:t>実データ待ち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3</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戦略・計画を点検する</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提出前のセルフチェックに位置づけ直し。ドラフト添付だけで前年度計画・編成方針を自動提示し、6項目で出力</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9/21</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p>
                      <a:pPr algn="ctr"/>
                      <a:r>
                        <a:rPr sz="700" b="0" lang="ja-JP" altLang="en-US">
                          <a:solidFill>
                            <a:srgbClr val="B26B00"/>
                          </a:solidFill>
                        </a:rPr>
                        <a:t>実データ待ち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4</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グループ横断で計画を束ねる</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コア事業8つの箱に原案を投入し、事業間の食い違い・重なる取り組み・HDが引き取るテーマを抽出</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9/22</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5</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計画・案件の検証（旧：計画と実態の乖離検証）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「計画」と「個別案件」の2つに分割し、付議資料から案件の台帳をAIが作成。9/27に改名し、ホームの札・遷移先を整理</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9/24</a:t>
                      </a:r>
                    </a:p>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6</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深掘り・保存した結果（計画支援共通）</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画面右下に常に追従する深掘りボタン。深掘りの問答を保存した結果に紐づけて保持。9/27：保存一覧を機能で絞り込み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9/16</a:t>
                      </a:r>
                    </a:p>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AI壁打ち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指定サイト約220を読み出典つきで回答、PDF・Word・Excel・PowerPointを作成。9/27：簡易モードのスイッチ、回答を横幅いっぱいに、読み返し中は自動スクロールを止める</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750" b="0" lang="ja-JP" altLang="en-US">
                          <a:solidFill>
                            <a:srgbClr val="0D8390"/>
                          </a:solidFill>
                        </a:rPr>
                        <a:t>自主改善</a:t>
                      </a:r>
                    </a:p>
                    <a:p>
                      <a:pPr algn="ctr"/>
                      <a:r>
                        <a:rPr sz="75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a:t>
                      </a:r>
                    </a:p>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8</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rowSpan="5">
                  <a:txBody>
                    <a:bodyPr wrap="square"/>
                    <a:lstStyle/>
                    <a:p>
                      <a:pPr algn="ctr"/>
                      <a:r>
                        <a:rPr sz="900" b="1" lang="ja-JP" altLang="en-US">
                          <a:solidFill>
                            <a:srgbClr val="1C1C1E"/>
                          </a:solidFill>
                        </a:rPr>
                        <a:t>総会QA</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4F5F5"/>
                    </a:solidFill>
                  </a:tcPr>
                </a:tc>
                <a:tc>
                  <a:txBody>
                    <a:bodyPr wrap="square"/>
                    <a:lstStyle/>
                    <a:p>
                      <a:pPr algn="l"/>
                      <a:r>
                        <a:rPr sz="750" b="0" lang="ja-JP" altLang="en-US">
                          <a:solidFill>
                            <a:srgbClr val="1C1C1E"/>
                          </a:solidFill>
                        </a:rPr>
                        <a:t>所属階層と閲覧範囲</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権限設計一覧どおりのコア→会社→事業部の階層で、閲覧・編集・承認の範囲を制御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9/16</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9</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当日回答作成（新設）</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開催年度の想定問答だけを参照し、壇上でそのまま読める原稿を約4秒で作成</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9/18</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10</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質問作成</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事業部での絞り込み、前年と今年の質問・回答を左右に並べた差分表示、質問ごとの備忘メモ</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9/18</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11</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回答作成・Word出力</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AI回答案に根拠を明記。編集中・確定の表示、回答の文字色・大きさの保持、Wordの体裁を調整</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9/18</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12</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AI壁打ち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他社・グループ会社・官公庁の発表まで読み、提出済みQA以外にどんな質疑が来るかを壁打ち</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0D8390"/>
                          </a:solidFill>
                        </a:rPr>
                        <a:t>自主改善</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13</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rowSpan="3">
                  <a:txBody>
                    <a:bodyPr wrap="square"/>
                    <a:lstStyle/>
                    <a:p>
                      <a:pPr algn="ctr"/>
                      <a:r>
                        <a:rPr sz="900" b="1" lang="ja-JP" altLang="en-US">
                          <a:solidFill>
                            <a:srgbClr val="1C1C1E"/>
                          </a:solidFill>
                        </a:rPr>
                        <a:t>共通</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4F5F5"/>
                    </a:solidFill>
                  </a:tcPr>
                </a:tc>
                <a:tc>
                  <a:txBody>
                    <a:bodyPr wrap="square"/>
                    <a:lstStyle/>
                    <a:p>
                      <a:pPr algn="l"/>
                      <a:r>
                        <a:rPr sz="750" b="0" lang="ja-JP" altLang="en-US">
                          <a:solidFill>
                            <a:srgbClr val="1C1C1E"/>
                          </a:solidFill>
                        </a:rPr>
                        <a:t>機密データ受け渡し箱（新設）</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経営ナビ用・総会QA用の2つの箱。管理者のみ利用、全操作を記録、AIとは非連動</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9/22</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14</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権限の総点検</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BUコアの閲覧範囲を所属事業に統一（計画系・個別案件・センシングボード）。総会QAに管理者の立場「全体（管理者）」を追加し、システム管理者の全権限を点検</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265176">
                <a:tc>
                  <a:txBody>
                    <a:bodyPr wrap="square"/>
                    <a:lstStyle/>
                    <a:p>
                      <a:pPr algn="ctr"/>
                      <a:r>
                        <a:rPr sz="800" b="0" lang="ja-JP" altLang="en-US">
                          <a:solidFill>
                            <a:srgbClr val="1C1C1E"/>
                          </a:solidFill>
                        </a:rPr>
                        <a:t>15</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vMerge="1">
                  <a:txBody>
                    <a:bodyPr wrap="square"/>
                    <a:lstStyle/>
                    <a:p>
                      <a:pPr algn="l"/>
                      <a:r>
                        <a:rPr sz="750" b="0" lang="ja-JP" altLang="en-US">
                          <a:solidFill>
                            <a:srgbClr val="1C1C1E"/>
                          </a:solidFill>
                        </a:rPr>
                        <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LLMの切り替え</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750" b="0" lang="ja-JP" altLang="en-US">
                          <a:solidFill>
                            <a:srgbClr val="1C1C1E"/>
                          </a:solidFill>
                        </a:rPr>
                        <a:t>東京リージョンで使える最上位のClaude Opus 5.5へ（国内の推論プロファイル。国外で処理され得るIDは停止）。機能ごとに思考量と待ち時間を調整</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ご依頼</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9/27</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1" lang="ja-JP" altLang="en-US">
                          <a:solidFill>
                            <a:srgbClr val="046A38"/>
                          </a:solidFill>
                        </a:rPr>
                        <a:t>反映済み</a:t>
                      </a:r>
                    </a:p>
                  </a:txBody>
                  <a:tcPr marL="64008" marR="64008" marT="18288" marB="18288"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bl>
          </a:graphicData>
        </a:graphic>
      </p:graphicFrame>
    </p:spTree>
    <p:extLst>
      <p:ext uri="{BB962C8B-B14F-4D97-AF65-F5344CB8AC3E}">
        <p14:creationId xmlns:p14="http://schemas.microsoft.com/office/powerpoint/2010/main" val="1734936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現時点での残要望と対応方針</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残る要望は、経営ナビのレポート内容と総会QAの見た目の「仕上げ」2点です。実データの配置と読み合わせを経て、初版公開後の改修として反映します</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627632"/>
            <a:ext cx="5532120" cy="2852928"/>
          </a:xfrm>
          <a:prstGeom prst="rect">
            <a:avLst/>
          </a:prstGeom>
          <a:solidFill>
            <a:srgbClr val="F4F5F5"/>
          </a:solidFill>
          <a:ln>
            <a:noFill/>
          </a:ln>
        </p:spPr>
        <p:txBody>
          <a:bodyPr rtlCol="0" anchor="ctr"/>
          <a:lstStyle/>
          <a:p/>
        </p:txBody>
      </p:sp>
      <p:sp>
        <p:nvSpPr>
          <p:cNvPr id="9" name="Rectangle 8"/>
          <p:cNvSpPr/>
          <p:nvPr/>
        </p:nvSpPr>
        <p:spPr>
          <a:xfrm>
            <a:off x="475488" y="1627632"/>
            <a:ext cx="5532120" cy="566928"/>
          </a:xfrm>
          <a:prstGeom prst="rect">
            <a:avLst/>
          </a:prstGeom>
          <a:solidFill>
            <a:srgbClr val="046A38"/>
          </a:solidFill>
          <a:ln>
            <a:noFill/>
          </a:ln>
        </p:spPr>
        <p:txBody>
          <a:bodyPr rtlCol="0" anchor="ctr" wrap="square" lIns="182880" rIns="73152" tIns="36576" bIns="36576"/>
          <a:lstStyle/>
          <a:p>
            <a:pPr algn="l"/>
            <a:r>
              <a:rPr sz="1000" b="1" lang="ja-JP" altLang="en-US">
                <a:solidFill>
                  <a:srgbClr val="FFFFFF"/>
                </a:solidFill>
              </a:rPr>
              <a:t>AI経営ナビ　</a:t>
            </a:r>
            <a:r>
              <a:rPr sz="1400" b="1" lang="ja-JP" altLang="en-US">
                <a:solidFill>
                  <a:srgbClr val="FFFFFF"/>
                </a:solidFill>
              </a:rPr>
              <a:t>出力レポートの内容チューニング</a:t>
            </a:r>
          </a:p>
        </p:txBody>
      </p:sp>
      <p:sp>
        <p:nvSpPr>
          <p:cNvPr id="10" name="Rounded Rectangle 9"/>
          <p:cNvSpPr/>
          <p:nvPr/>
        </p:nvSpPr>
        <p:spPr>
          <a:xfrm>
            <a:off x="4590288" y="1737360"/>
            <a:ext cx="1261872" cy="347472"/>
          </a:xfrm>
          <a:prstGeom prst="roundRect">
            <a:avLst>
              <a:gd name="adj" fmla="val 50000"/>
            </a:avLst>
          </a:prstGeom>
          <a:solidFill>
            <a:srgbClr val="FFFFFF"/>
          </a:solidFill>
          <a:ln>
            <a:noFill/>
          </a:ln>
        </p:spPr>
        <p:txBody>
          <a:bodyPr rtlCol="0" anchor="ctr" wrap="square" lIns="18288" rIns="18288" tIns="36576" bIns="36576"/>
          <a:lstStyle/>
          <a:p>
            <a:pPr algn="ctr"/>
            <a:r>
              <a:rPr sz="750" b="1" lang="ja-JP" altLang="en-US">
                <a:solidFill>
                  <a:srgbClr val="046A38"/>
                </a:solidFill>
              </a:rPr>
              <a:t>機能追加なし・調整のみ</a:t>
            </a:r>
          </a:p>
        </p:txBody>
      </p:sp>
      <p:sp>
        <p:nvSpPr>
          <p:cNvPr id="11" name="TextBox 10"/>
          <p:cNvSpPr txBox="1"/>
          <p:nvPr/>
        </p:nvSpPr>
        <p:spPr>
          <a:xfrm>
            <a:off x="658368" y="2304288"/>
            <a:ext cx="1005840" cy="640080"/>
          </a:xfrm>
          <a:prstGeom prst="rect">
            <a:avLst/>
          </a:prstGeom>
          <a:noFill/>
        </p:spPr>
        <p:txBody>
          <a:bodyPr wrap="square" lIns="0" rIns="0" tIns="0" bIns="0" anchor="t">
            <a:spAutoFit/>
          </a:bodyPr>
          <a:lstStyle/>
          <a:p>
            <a:pPr algn="l"/>
            <a:r>
              <a:rPr sz="900" b="1" lang="ja-JP" altLang="en-US">
                <a:solidFill>
                  <a:srgbClr val="046A38"/>
                </a:solidFill>
              </a:rPr>
              <a:t>要望の内容</a:t>
            </a:r>
          </a:p>
        </p:txBody>
      </p:sp>
      <p:sp>
        <p:nvSpPr>
          <p:cNvPr id="12" name="TextBox 11"/>
          <p:cNvSpPr txBox="1"/>
          <p:nvPr/>
        </p:nvSpPr>
        <p:spPr>
          <a:xfrm>
            <a:off x="1709928" y="2304288"/>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計画支援3機能と計画・案件の検証のレポートについて、記述の粒度・言い回し・項目ごとの深さをHD・BU経企の実務に合わせる（前提の洗い直しは9/27の追加依頼②で作り直し済み）</a:t>
            </a:r>
          </a:p>
        </p:txBody>
      </p:sp>
      <p:cxnSp>
        <p:nvCxnSpPr>
          <p:cNvPr id="13" name="Connector 12"/>
          <p:cNvCxnSpPr/>
          <p:nvPr/>
        </p:nvCxnSpPr>
        <p:spPr>
          <a:xfrm>
            <a:off x="658368" y="2907791"/>
            <a:ext cx="5166360" cy="0"/>
          </a:xfrm>
          <a:prstGeom prst="line">
            <a:avLst/>
          </a:prstGeom>
          <a:ln w="9525">
            <a:solidFill>
              <a:srgbClr val="C8CACC"/>
            </a:solidFill>
          </a:ln>
        </p:spPr>
      </p:cxnSp>
      <p:sp>
        <p:nvSpPr>
          <p:cNvPr id="14" name="TextBox 13"/>
          <p:cNvSpPr txBox="1"/>
          <p:nvPr/>
        </p:nvSpPr>
        <p:spPr>
          <a:xfrm>
            <a:off x="658368" y="3017520"/>
            <a:ext cx="1005840" cy="640080"/>
          </a:xfrm>
          <a:prstGeom prst="rect">
            <a:avLst/>
          </a:prstGeom>
          <a:noFill/>
        </p:spPr>
        <p:txBody>
          <a:bodyPr wrap="square" lIns="0" rIns="0" tIns="0" bIns="0" anchor="t">
            <a:spAutoFit/>
          </a:bodyPr>
          <a:lstStyle/>
          <a:p>
            <a:pPr algn="l"/>
            <a:r>
              <a:rPr sz="900" b="1" lang="ja-JP" altLang="en-US">
                <a:solidFill>
                  <a:srgbClr val="046A38"/>
                </a:solidFill>
              </a:rPr>
              <a:t>対応方針</a:t>
            </a:r>
          </a:p>
        </p:txBody>
      </p:sp>
      <p:sp>
        <p:nvSpPr>
          <p:cNvPr id="15" name="TextBox 14"/>
          <p:cNvSpPr txBox="1"/>
          <p:nvPr/>
        </p:nvSpPr>
        <p:spPr>
          <a:xfrm>
            <a:off x="1709928" y="3017520"/>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実データ（過去の計画書・予算編成方針）の配置後に、実際のレポートを貴社と読み合わせて調整する。過度な作り込みは避け、資料が変わっても安定して動く範囲にとどめる</a:t>
            </a:r>
          </a:p>
        </p:txBody>
      </p:sp>
      <p:cxnSp>
        <p:nvCxnSpPr>
          <p:cNvPr id="16" name="Connector 15"/>
          <p:cNvCxnSpPr/>
          <p:nvPr/>
        </p:nvCxnSpPr>
        <p:spPr>
          <a:xfrm>
            <a:off x="658368" y="3621024"/>
            <a:ext cx="5166360" cy="0"/>
          </a:xfrm>
          <a:prstGeom prst="line">
            <a:avLst/>
          </a:prstGeom>
          <a:ln w="9525">
            <a:solidFill>
              <a:srgbClr val="C8CACC"/>
            </a:solidFill>
          </a:ln>
        </p:spPr>
      </p:cxnSp>
      <p:sp>
        <p:nvSpPr>
          <p:cNvPr id="17" name="TextBox 16"/>
          <p:cNvSpPr txBox="1"/>
          <p:nvPr/>
        </p:nvSpPr>
        <p:spPr>
          <a:xfrm>
            <a:off x="658368" y="3730752"/>
            <a:ext cx="1005840" cy="640080"/>
          </a:xfrm>
          <a:prstGeom prst="rect">
            <a:avLst/>
          </a:prstGeom>
          <a:noFill/>
        </p:spPr>
        <p:txBody>
          <a:bodyPr wrap="square" lIns="0" rIns="0" tIns="0" bIns="0" anchor="t">
            <a:spAutoFit/>
          </a:bodyPr>
          <a:lstStyle/>
          <a:p>
            <a:pPr algn="l"/>
            <a:r>
              <a:rPr sz="900" b="1" lang="ja-JP" altLang="en-US">
                <a:solidFill>
                  <a:srgbClr val="046A38"/>
                </a:solidFill>
              </a:rPr>
              <a:t>進め方</a:t>
            </a:r>
          </a:p>
        </p:txBody>
      </p:sp>
      <p:sp>
        <p:nvSpPr>
          <p:cNvPr id="18" name="TextBox 17"/>
          <p:cNvSpPr txBox="1"/>
          <p:nvPr/>
        </p:nvSpPr>
        <p:spPr>
          <a:xfrm>
            <a:off x="1709928" y="3730752"/>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読み合わせ：貴社（HD・BU経企）／調整：デロイト／本番反映：ITEC様</a:t>
            </a:r>
          </a:p>
        </p:txBody>
      </p:sp>
      <p:sp>
        <p:nvSpPr>
          <p:cNvPr id="19" name="Rectangle 18"/>
          <p:cNvSpPr/>
          <p:nvPr/>
        </p:nvSpPr>
        <p:spPr>
          <a:xfrm>
            <a:off x="6181344" y="1627632"/>
            <a:ext cx="5532120" cy="2852928"/>
          </a:xfrm>
          <a:prstGeom prst="rect">
            <a:avLst/>
          </a:prstGeom>
          <a:solidFill>
            <a:srgbClr val="F4F5F5"/>
          </a:solidFill>
          <a:ln>
            <a:noFill/>
          </a:ln>
        </p:spPr>
        <p:txBody>
          <a:bodyPr rtlCol="0" anchor="ctr"/>
          <a:lstStyle/>
          <a:p/>
        </p:txBody>
      </p:sp>
      <p:sp>
        <p:nvSpPr>
          <p:cNvPr id="20" name="Rectangle 19"/>
          <p:cNvSpPr/>
          <p:nvPr/>
        </p:nvSpPr>
        <p:spPr>
          <a:xfrm>
            <a:off x="6181344" y="1627632"/>
            <a:ext cx="5532120" cy="566928"/>
          </a:xfrm>
          <a:prstGeom prst="rect">
            <a:avLst/>
          </a:prstGeom>
          <a:solidFill>
            <a:srgbClr val="0D8390"/>
          </a:solidFill>
          <a:ln>
            <a:noFill/>
          </a:ln>
        </p:spPr>
        <p:txBody>
          <a:bodyPr rtlCol="0" anchor="ctr" wrap="square" lIns="182880" rIns="73152" tIns="36576" bIns="36576"/>
          <a:lstStyle/>
          <a:p>
            <a:pPr algn="l"/>
            <a:r>
              <a:rPr sz="1000" b="1" lang="ja-JP" altLang="en-US">
                <a:solidFill>
                  <a:srgbClr val="FFFFFF"/>
                </a:solidFill>
              </a:rPr>
              <a:t>総会QA　</a:t>
            </a:r>
            <a:r>
              <a:rPr sz="1400" b="1" lang="ja-JP" altLang="en-US">
                <a:solidFill>
                  <a:srgbClr val="FFFFFF"/>
                </a:solidFill>
              </a:rPr>
              <a:t>見た目のチューニング</a:t>
            </a:r>
          </a:p>
        </p:txBody>
      </p:sp>
      <p:sp>
        <p:nvSpPr>
          <p:cNvPr id="21" name="Rounded Rectangle 20"/>
          <p:cNvSpPr/>
          <p:nvPr/>
        </p:nvSpPr>
        <p:spPr>
          <a:xfrm>
            <a:off x="10296143" y="1737360"/>
            <a:ext cx="1261872" cy="347472"/>
          </a:xfrm>
          <a:prstGeom prst="roundRect">
            <a:avLst>
              <a:gd name="adj" fmla="val 50000"/>
            </a:avLst>
          </a:prstGeom>
          <a:solidFill>
            <a:srgbClr val="FFFFFF"/>
          </a:solidFill>
          <a:ln>
            <a:noFill/>
          </a:ln>
        </p:spPr>
        <p:txBody>
          <a:bodyPr rtlCol="0" anchor="ctr" wrap="square" lIns="18288" rIns="18288" tIns="36576" bIns="36576"/>
          <a:lstStyle/>
          <a:p>
            <a:pPr algn="ctr"/>
            <a:r>
              <a:rPr sz="750" b="1" lang="ja-JP" altLang="en-US">
                <a:solidFill>
                  <a:srgbClr val="0D8390"/>
                </a:solidFill>
              </a:rPr>
              <a:t>機能追加なし・調整のみ</a:t>
            </a:r>
          </a:p>
        </p:txBody>
      </p:sp>
      <p:sp>
        <p:nvSpPr>
          <p:cNvPr id="22" name="TextBox 21"/>
          <p:cNvSpPr txBox="1"/>
          <p:nvPr/>
        </p:nvSpPr>
        <p:spPr>
          <a:xfrm>
            <a:off x="6364224" y="2304288"/>
            <a:ext cx="1005840" cy="640080"/>
          </a:xfrm>
          <a:prstGeom prst="rect">
            <a:avLst/>
          </a:prstGeom>
          <a:noFill/>
        </p:spPr>
        <p:txBody>
          <a:bodyPr wrap="square" lIns="0" rIns="0" tIns="0" bIns="0" anchor="t">
            <a:spAutoFit/>
          </a:bodyPr>
          <a:lstStyle/>
          <a:p>
            <a:pPr algn="l"/>
            <a:r>
              <a:rPr sz="900" b="1" lang="ja-JP" altLang="en-US">
                <a:solidFill>
                  <a:srgbClr val="0D8390"/>
                </a:solidFill>
              </a:rPr>
              <a:t>要望の内容</a:t>
            </a:r>
          </a:p>
        </p:txBody>
      </p:sp>
      <p:sp>
        <p:nvSpPr>
          <p:cNvPr id="23" name="TextBox 22"/>
          <p:cNvSpPr txBox="1"/>
          <p:nvPr/>
        </p:nvSpPr>
        <p:spPr>
          <a:xfrm>
            <a:off x="7415783" y="2304288"/>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一覧・回答欄・絞り込みの文字サイズや配置、問答集（Word）の体裁など、画面と出力の見た目を仕上げる</a:t>
            </a:r>
          </a:p>
        </p:txBody>
      </p:sp>
      <p:cxnSp>
        <p:nvCxnSpPr>
          <p:cNvPr id="24" name="Connector 23"/>
          <p:cNvCxnSpPr/>
          <p:nvPr/>
        </p:nvCxnSpPr>
        <p:spPr>
          <a:xfrm>
            <a:off x="6364224" y="2907791"/>
            <a:ext cx="5166360" cy="0"/>
          </a:xfrm>
          <a:prstGeom prst="line">
            <a:avLst/>
          </a:prstGeom>
          <a:ln w="9525">
            <a:solidFill>
              <a:srgbClr val="C8CACC"/>
            </a:solidFill>
          </a:ln>
        </p:spPr>
      </p:cxnSp>
      <p:sp>
        <p:nvSpPr>
          <p:cNvPr id="25" name="TextBox 24"/>
          <p:cNvSpPr txBox="1"/>
          <p:nvPr/>
        </p:nvSpPr>
        <p:spPr>
          <a:xfrm>
            <a:off x="6364224" y="3017520"/>
            <a:ext cx="1005840" cy="640080"/>
          </a:xfrm>
          <a:prstGeom prst="rect">
            <a:avLst/>
          </a:prstGeom>
          <a:noFill/>
        </p:spPr>
        <p:txBody>
          <a:bodyPr wrap="square" lIns="0" rIns="0" tIns="0" bIns="0" anchor="t">
            <a:spAutoFit/>
          </a:bodyPr>
          <a:lstStyle/>
          <a:p>
            <a:pPr algn="l"/>
            <a:r>
              <a:rPr sz="900" b="1" lang="ja-JP" altLang="en-US">
                <a:solidFill>
                  <a:srgbClr val="0D8390"/>
                </a:solidFill>
              </a:rPr>
              <a:t>対応方針</a:t>
            </a:r>
          </a:p>
        </p:txBody>
      </p:sp>
      <p:sp>
        <p:nvSpPr>
          <p:cNvPr id="26" name="TextBox 25"/>
          <p:cNvSpPr txBox="1"/>
          <p:nvPr/>
        </p:nvSpPr>
        <p:spPr>
          <a:xfrm>
            <a:off x="7415783" y="3017520"/>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総会準備の実際の作業の流れで画面を確認し、気になる箇所を台帳に集めて、まとめて調整する</a:t>
            </a:r>
          </a:p>
        </p:txBody>
      </p:sp>
      <p:cxnSp>
        <p:nvCxnSpPr>
          <p:cNvPr id="27" name="Connector 26"/>
          <p:cNvCxnSpPr/>
          <p:nvPr/>
        </p:nvCxnSpPr>
        <p:spPr>
          <a:xfrm>
            <a:off x="6364224" y="3621024"/>
            <a:ext cx="5166360" cy="0"/>
          </a:xfrm>
          <a:prstGeom prst="line">
            <a:avLst/>
          </a:prstGeom>
          <a:ln w="9525">
            <a:solidFill>
              <a:srgbClr val="C8CACC"/>
            </a:solidFill>
          </a:ln>
        </p:spPr>
      </p:cxnSp>
      <p:sp>
        <p:nvSpPr>
          <p:cNvPr id="28" name="TextBox 27"/>
          <p:cNvSpPr txBox="1"/>
          <p:nvPr/>
        </p:nvSpPr>
        <p:spPr>
          <a:xfrm>
            <a:off x="6364224" y="3730752"/>
            <a:ext cx="1005840" cy="640080"/>
          </a:xfrm>
          <a:prstGeom prst="rect">
            <a:avLst/>
          </a:prstGeom>
          <a:noFill/>
        </p:spPr>
        <p:txBody>
          <a:bodyPr wrap="square" lIns="0" rIns="0" tIns="0" bIns="0" anchor="t">
            <a:spAutoFit/>
          </a:bodyPr>
          <a:lstStyle/>
          <a:p>
            <a:pPr algn="l"/>
            <a:r>
              <a:rPr sz="900" b="1" lang="ja-JP" altLang="en-US">
                <a:solidFill>
                  <a:srgbClr val="0D8390"/>
                </a:solidFill>
              </a:rPr>
              <a:t>進め方</a:t>
            </a:r>
          </a:p>
        </p:txBody>
      </p:sp>
      <p:sp>
        <p:nvSpPr>
          <p:cNvPr id="29" name="TextBox 28"/>
          <p:cNvSpPr txBox="1"/>
          <p:nvPr/>
        </p:nvSpPr>
        <p:spPr>
          <a:xfrm>
            <a:off x="7415783" y="3730752"/>
            <a:ext cx="4114800" cy="640080"/>
          </a:xfrm>
          <a:prstGeom prst="rect">
            <a:avLst/>
          </a:prstGeom>
          <a:noFill/>
        </p:spPr>
        <p:txBody>
          <a:bodyPr wrap="square" lIns="0" rIns="0" tIns="0" bIns="0" anchor="t">
            <a:spAutoFit/>
          </a:bodyPr>
          <a:lstStyle/>
          <a:p>
            <a:pPr algn="l">
              <a:lnSpc>
                <a:spcPct val="115000"/>
              </a:lnSpc>
            </a:pPr>
            <a:r>
              <a:rPr sz="1000" b="0" lang="ja-JP" altLang="en-US">
                <a:solidFill>
                  <a:srgbClr val="1C1C1E"/>
                </a:solidFill>
              </a:rPr>
              <a:t>確認：貴社（総会QAのご担当）／調整：デロイト／本番反映：ITEC様</a:t>
            </a:r>
          </a:p>
        </p:txBody>
      </p:sp>
      <p:sp>
        <p:nvSpPr>
          <p:cNvPr id="30" name="TextBox 29"/>
          <p:cNvSpPr txBox="1"/>
          <p:nvPr/>
        </p:nvSpPr>
        <p:spPr>
          <a:xfrm>
            <a:off x="475488" y="4626864"/>
            <a:ext cx="7315200" cy="237744"/>
          </a:xfrm>
          <a:prstGeom prst="rect">
            <a:avLst/>
          </a:prstGeom>
          <a:noFill/>
        </p:spPr>
        <p:txBody>
          <a:bodyPr wrap="square" lIns="0" rIns="0" tIns="0" bIns="0" anchor="t">
            <a:spAutoFit/>
          </a:bodyPr>
          <a:lstStyle/>
          <a:p>
            <a:pPr algn="l"/>
            <a:r>
              <a:rPr sz="1000" b="1" lang="ja-JP" altLang="en-US">
                <a:solidFill>
                  <a:srgbClr val="046A38"/>
                </a:solidFill>
              </a:rPr>
              <a:t>あわせて必要な前提（貴社・ITEC様にお願いしたいこと）</a:t>
            </a:r>
          </a:p>
        </p:txBody>
      </p:sp>
      <p:graphicFrame>
        <p:nvGraphicFramePr>
          <p:cNvPr id="31" name="Table 30"/>
          <p:cNvGraphicFramePr>
            <a:graphicFrameLocks noGrp="1"/>
          </p:cNvGraphicFramePr>
          <p:nvPr/>
        </p:nvGraphicFramePr>
        <p:xfrm>
          <a:off x="475488" y="4919472"/>
          <a:ext cx="11237976" cy="1243584"/>
        </p:xfrm>
        <a:graphic>
          <a:graphicData uri="http://schemas.openxmlformats.org/drawingml/2006/table">
            <a:tbl>
              <a:tblPr firstRow="0" bandRow="0">
                <a:tableStyleId>{5C22544A-7EE6-4342-B048-85BDC9FD1C3A}</a:tableStyleId>
              </a:tblPr>
              <a:tblGrid>
                <a:gridCol w="384048"/>
                <a:gridCol w="2011680"/>
                <a:gridCol w="6830568"/>
                <a:gridCol w="1097280"/>
                <a:gridCol w="914400"/>
              </a:tblGrid>
              <a:tr h="256032">
                <a:tc>
                  <a:txBody>
                    <a:bodyPr wrap="square"/>
                    <a:lstStyle/>
                    <a:p>
                      <a:pPr algn="ctr"/>
                      <a:r>
                        <a:rPr sz="900" b="1" lang="ja-JP" altLang="en-US">
                          <a:solidFill>
                            <a:srgbClr val="FFFFFF"/>
                          </a:solidFill>
                        </a:rPr>
                        <a:t>No</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00" b="1" lang="ja-JP" altLang="en-US">
                          <a:solidFill>
                            <a:srgbClr val="FFFFFF"/>
                          </a:solidFill>
                        </a:rPr>
                        <a:t>項目</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00" b="1" lang="ja-JP" altLang="en-US">
                          <a:solidFill>
                            <a:srgbClr val="FFFFFF"/>
                          </a:solidFill>
                        </a:rPr>
                        <a:t>内容</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00" b="1" lang="ja-JP" altLang="en-US">
                          <a:solidFill>
                            <a:srgbClr val="FFFFFF"/>
                          </a:solidFill>
                        </a:rPr>
                        <a:t>担当</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00" b="1" lang="ja-JP" altLang="en-US">
                          <a:solidFill>
                            <a:srgbClr val="FFFFFF"/>
                          </a:solidFill>
                        </a:rPr>
                        <a:t>期限</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r>
              <a:tr h="329184">
                <a:tc>
                  <a:txBody>
                    <a:bodyPr wrap="square"/>
                    <a:lstStyle/>
                    <a:p>
                      <a:pPr algn="ctr"/>
                      <a:r>
                        <a:rPr sz="800" b="0" lang="ja-JP" altLang="en-US">
                          <a:solidFill>
                            <a:srgbClr val="1C1C1E"/>
                          </a:solidFill>
                        </a:rPr>
                        <a:t>1</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計画書等の実データ配置</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過去の計画書・予算編成方針を年度ごとのフォルダに配置（現在はサンプル1〜2年度分。都市交通以外の事業は未配置）</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貴社</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10月上旬</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329184">
                <a:tc>
                  <a:txBody>
                    <a:bodyPr wrap="square"/>
                    <a:lstStyle/>
                    <a:p>
                      <a:pPr algn="ctr"/>
                      <a:r>
                        <a:rPr sz="800" b="0" lang="ja-JP" altLang="en-US">
                          <a:solidFill>
                            <a:srgbClr val="1C1C1E"/>
                          </a:solidFill>
                        </a:rPr>
                        <a:t>2</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受け渡し箱の運用ルール</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バックアップの対象に含めるか、ダウンロード時の一時ファイルを定期削除するか</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貴社・ITEC様</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公開前</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329184">
                <a:tc>
                  <a:txBody>
                    <a:bodyPr wrap="square"/>
                    <a:lstStyle/>
                    <a:p>
                      <a:pPr algn="ctr"/>
                      <a:r>
                        <a:rPr sz="800" b="0" lang="ja-JP" altLang="en-US">
                          <a:solidFill>
                            <a:srgbClr val="1C1C1E"/>
                          </a:solidFill>
                        </a:rPr>
                        <a:t>3</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総会QAの権限・公開範囲の確定</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850" b="0" lang="ja-JP" altLang="en-US">
                          <a:solidFill>
                            <a:srgbClr val="1C1C1E"/>
                          </a:solidFill>
                        </a:rPr>
                        <a:t>事業部単位の権限と、最初に公開する範囲を利用者公開前に確定・検証（前回定例からの継続論点）</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貴社・デロイト</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ctr"/>
                      <a:r>
                        <a:rPr sz="800" b="0" lang="ja-JP" altLang="en-US">
                          <a:solidFill>
                            <a:srgbClr val="1C1C1E"/>
                          </a:solidFill>
                        </a:rPr>
                        <a:t>公開前</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bl>
          </a:graphicData>
        </a:graphic>
      </p:graphicFrame>
    </p:spTree>
    <p:extLst>
      <p:ext uri="{BB962C8B-B14F-4D97-AF65-F5344CB8AC3E}">
        <p14:creationId xmlns:p14="http://schemas.microsoft.com/office/powerpoint/2010/main" val="1734936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3か月の変遷（2026年6月〜9月）</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7月の雛形から8つの版を重ね、経営層と総会実務の双方に合わせた10月の公開版に到達しました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91056"/>
            <a:ext cx="1010412" cy="237744"/>
          </a:xfrm>
          <a:prstGeom prst="rect">
            <a:avLst/>
          </a:prstGeom>
          <a:solidFill>
            <a:srgbClr val="F4F5F5"/>
          </a:solidFill>
          <a:ln>
            <a:noFill/>
          </a:ln>
        </p:spPr>
        <p:txBody>
          <a:bodyPr rtlCol="0" anchor="ctr" wrap="square" lIns="18288" rIns="18288" tIns="0" bIns="0"/>
          <a:lstStyle/>
          <a:p>
            <a:pPr algn="ctr"/>
            <a:r>
              <a:rPr sz="800" b="1" lang="ja-JP" altLang="en-US">
                <a:solidFill>
                  <a:srgbClr val="63666A"/>
                </a:solidFill>
              </a:rPr>
              <a:t>Step.0 準備</a:t>
            </a:r>
          </a:p>
        </p:txBody>
      </p:sp>
      <p:sp>
        <p:nvSpPr>
          <p:cNvPr id="9" name="Rectangle 8"/>
          <p:cNvSpPr/>
          <p:nvPr/>
        </p:nvSpPr>
        <p:spPr>
          <a:xfrm>
            <a:off x="1522476" y="1591056"/>
            <a:ext cx="2560320" cy="237744"/>
          </a:xfrm>
          <a:prstGeom prst="rect">
            <a:avLst/>
          </a:prstGeom>
          <a:solidFill>
            <a:srgbClr val="F4F5F5"/>
          </a:solidFill>
          <a:ln>
            <a:noFill/>
          </a:ln>
        </p:spPr>
        <p:txBody>
          <a:bodyPr rtlCol="0" anchor="ctr" wrap="square" lIns="18288" rIns="18288" tIns="0" bIns="0"/>
          <a:lstStyle/>
          <a:p>
            <a:pPr algn="ctr"/>
            <a:r>
              <a:rPr sz="800" b="1" lang="ja-JP" altLang="en-US">
                <a:solidFill>
                  <a:srgbClr val="63666A"/>
                </a:solidFill>
              </a:rPr>
              <a:t>Step.1 MVP構築</a:t>
            </a:r>
          </a:p>
        </p:txBody>
      </p:sp>
      <p:sp>
        <p:nvSpPr>
          <p:cNvPr id="10" name="Rectangle 9"/>
          <p:cNvSpPr/>
          <p:nvPr/>
        </p:nvSpPr>
        <p:spPr>
          <a:xfrm>
            <a:off x="4155948" y="1591056"/>
            <a:ext cx="3849624" cy="237744"/>
          </a:xfrm>
          <a:prstGeom prst="rect">
            <a:avLst/>
          </a:prstGeom>
          <a:solidFill>
            <a:srgbClr val="F4F5F5"/>
          </a:solidFill>
          <a:ln>
            <a:noFill/>
          </a:ln>
        </p:spPr>
        <p:txBody>
          <a:bodyPr rtlCol="0" anchor="ctr" wrap="square" lIns="18288" rIns="18288" tIns="0" bIns="0"/>
          <a:lstStyle/>
          <a:p>
            <a:pPr algn="ctr"/>
            <a:r>
              <a:rPr sz="800" b="1" lang="ja-JP" altLang="en-US">
                <a:solidFill>
                  <a:srgbClr val="63666A"/>
                </a:solidFill>
              </a:rPr>
              <a:t>Step.2 改善・全機能実装</a:t>
            </a:r>
          </a:p>
        </p:txBody>
      </p:sp>
      <p:sp>
        <p:nvSpPr>
          <p:cNvPr id="11" name="Rectangle 10"/>
          <p:cNvSpPr/>
          <p:nvPr/>
        </p:nvSpPr>
        <p:spPr>
          <a:xfrm>
            <a:off x="8078723" y="1591056"/>
            <a:ext cx="3598164" cy="237744"/>
          </a:xfrm>
          <a:prstGeom prst="rect">
            <a:avLst/>
          </a:prstGeom>
          <a:solidFill>
            <a:srgbClr val="F4F5F5"/>
          </a:solidFill>
          <a:ln>
            <a:noFill/>
          </a:ln>
        </p:spPr>
        <p:txBody>
          <a:bodyPr rtlCol="0" anchor="ctr" wrap="square" lIns="18288" rIns="18288" tIns="0" bIns="0"/>
          <a:lstStyle/>
          <a:p>
            <a:pPr algn="ctr"/>
            <a:r>
              <a:rPr sz="800" b="1" lang="ja-JP" altLang="en-US">
                <a:solidFill>
                  <a:srgbClr val="63666A"/>
                </a:solidFill>
              </a:rPr>
              <a:t>Step.3 移管（FIX後の改修）</a:t>
            </a:r>
          </a:p>
        </p:txBody>
      </p:sp>
      <p:cxnSp>
        <p:nvCxnSpPr>
          <p:cNvPr id="12" name="Connector 11"/>
          <p:cNvCxnSpPr/>
          <p:nvPr/>
        </p:nvCxnSpPr>
        <p:spPr>
          <a:xfrm>
            <a:off x="548640" y="2240280"/>
            <a:ext cx="11100815" cy="0"/>
          </a:xfrm>
          <a:prstGeom prst="line">
            <a:avLst/>
          </a:prstGeom>
          <a:ln w="38100">
            <a:solidFill>
              <a:srgbClr val="26890D"/>
            </a:solidFill>
          </a:ln>
        </p:spPr>
      </p:cxnSp>
      <p:cxnSp>
        <p:nvCxnSpPr>
          <p:cNvPr id="13" name="Connector 12"/>
          <p:cNvCxnSpPr/>
          <p:nvPr/>
        </p:nvCxnSpPr>
        <p:spPr>
          <a:xfrm>
            <a:off x="3483863" y="2240280"/>
            <a:ext cx="320040" cy="155448"/>
          </a:xfrm>
          <a:prstGeom prst="line">
            <a:avLst/>
          </a:prstGeom>
          <a:ln w="38100">
            <a:solidFill>
              <a:srgbClr val="0D8390"/>
            </a:solidFill>
          </a:ln>
        </p:spPr>
      </p:cxnSp>
      <p:cxnSp>
        <p:nvCxnSpPr>
          <p:cNvPr id="14" name="Connector 13"/>
          <p:cNvCxnSpPr/>
          <p:nvPr/>
        </p:nvCxnSpPr>
        <p:spPr>
          <a:xfrm>
            <a:off x="3803903" y="2395728"/>
            <a:ext cx="7845552" cy="0"/>
          </a:xfrm>
          <a:prstGeom prst="line">
            <a:avLst/>
          </a:prstGeom>
          <a:ln w="38100">
            <a:solidFill>
              <a:srgbClr val="0D8390"/>
            </a:solidFill>
          </a:ln>
        </p:spPr>
      </p:cxnSp>
      <p:sp>
        <p:nvSpPr>
          <p:cNvPr id="15" name="Oval 14"/>
          <p:cNvSpPr/>
          <p:nvPr/>
        </p:nvSpPr>
        <p:spPr>
          <a:xfrm>
            <a:off x="800100" y="2171700"/>
            <a:ext cx="137160" cy="137160"/>
          </a:xfrm>
          <a:prstGeom prst="ellipse">
            <a:avLst/>
          </a:prstGeom>
          <a:solidFill>
            <a:srgbClr val="FFFFFF"/>
          </a:solidFill>
          <a:ln w="25400">
            <a:solidFill>
              <a:srgbClr val="26890D"/>
            </a:solidFill>
          </a:ln>
        </p:spPr>
        <p:txBody>
          <a:bodyPr rtlCol="0" anchor="ctr"/>
          <a:lstStyle/>
          <a:p/>
        </p:txBody>
      </p:sp>
      <p:sp>
        <p:nvSpPr>
          <p:cNvPr id="16" name="TextBox 15"/>
          <p:cNvSpPr txBox="1"/>
          <p:nvPr/>
        </p:nvSpPr>
        <p:spPr>
          <a:xfrm>
            <a:off x="320040"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6月</a:t>
            </a:r>
          </a:p>
        </p:txBody>
      </p:sp>
      <p:sp>
        <p:nvSpPr>
          <p:cNvPr id="17" name="TextBox 16"/>
          <p:cNvSpPr txBox="1"/>
          <p:nvPr/>
        </p:nvSpPr>
        <p:spPr>
          <a:xfrm>
            <a:off x="228600"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仮説整理・</a:t>
            </a:r>
          </a:p>
          <a:p>
            <a:pPr algn="ctr">
              <a:lnSpc>
                <a:spcPct val="100000"/>
              </a:lnSpc>
            </a:pPr>
            <a:r>
              <a:rPr sz="800" b="0" lang="ja-JP" altLang="en-US">
                <a:solidFill>
                  <a:srgbClr val="63666A"/>
                </a:solidFill>
              </a:rPr>
              <a:t>画面モック</a:t>
            </a:r>
          </a:p>
        </p:txBody>
      </p:sp>
      <p:sp>
        <p:nvSpPr>
          <p:cNvPr id="18" name="Oval 17"/>
          <p:cNvSpPr/>
          <p:nvPr/>
        </p:nvSpPr>
        <p:spPr>
          <a:xfrm>
            <a:off x="2107691" y="2171700"/>
            <a:ext cx="137160" cy="137160"/>
          </a:xfrm>
          <a:prstGeom prst="ellipse">
            <a:avLst/>
          </a:prstGeom>
          <a:solidFill>
            <a:srgbClr val="FFFFFF"/>
          </a:solidFill>
          <a:ln w="25400">
            <a:solidFill>
              <a:srgbClr val="26890D"/>
            </a:solidFill>
          </a:ln>
        </p:spPr>
        <p:txBody>
          <a:bodyPr rtlCol="0" anchor="ctr"/>
          <a:lstStyle/>
          <a:p/>
        </p:txBody>
      </p:sp>
      <p:sp>
        <p:nvSpPr>
          <p:cNvPr id="19" name="TextBox 18"/>
          <p:cNvSpPr txBox="1"/>
          <p:nvPr/>
        </p:nvSpPr>
        <p:spPr>
          <a:xfrm>
            <a:off x="1627631" y="1901952"/>
            <a:ext cx="1097280" cy="219456"/>
          </a:xfrm>
          <a:prstGeom prst="rect">
            <a:avLst/>
          </a:prstGeom>
          <a:noFill/>
        </p:spPr>
        <p:txBody>
          <a:bodyPr wrap="square" lIns="0" rIns="0" tIns="0" bIns="0" anchor="t">
            <a:spAutoFit/>
          </a:bodyPr>
          <a:lstStyle/>
          <a:p>
            <a:pPr algn="ctr"/>
            <a:r>
              <a:rPr sz="950" b="1" lang="ja-JP" altLang="en-US">
                <a:solidFill>
                  <a:srgbClr val="046A38"/>
                </a:solidFill>
              </a:rPr>
              <a:t>7/24</a:t>
            </a:r>
          </a:p>
        </p:txBody>
      </p:sp>
      <p:sp>
        <p:nvSpPr>
          <p:cNvPr id="20" name="TextBox 19"/>
          <p:cNvSpPr txBox="1"/>
          <p:nvPr/>
        </p:nvSpPr>
        <p:spPr>
          <a:xfrm>
            <a:off x="1536192"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雛形：Bedrock</a:t>
            </a:r>
          </a:p>
          <a:p>
            <a:pPr algn="ctr">
              <a:lnSpc>
                <a:spcPct val="100000"/>
              </a:lnSpc>
            </a:pPr>
            <a:r>
              <a:rPr sz="800" b="0" lang="ja-JP" altLang="en-US">
                <a:solidFill>
                  <a:srgbClr val="63666A"/>
                </a:solidFill>
              </a:rPr>
              <a:t>接続・センシング</a:t>
            </a:r>
          </a:p>
        </p:txBody>
      </p:sp>
      <p:sp>
        <p:nvSpPr>
          <p:cNvPr id="21" name="Oval 20"/>
          <p:cNvSpPr/>
          <p:nvPr/>
        </p:nvSpPr>
        <p:spPr>
          <a:xfrm>
            <a:off x="3415283" y="2171700"/>
            <a:ext cx="137160" cy="137160"/>
          </a:xfrm>
          <a:prstGeom prst="ellipse">
            <a:avLst/>
          </a:prstGeom>
          <a:solidFill>
            <a:srgbClr val="FFFFFF"/>
          </a:solidFill>
          <a:ln w="25400">
            <a:solidFill>
              <a:srgbClr val="26890D"/>
            </a:solidFill>
          </a:ln>
        </p:spPr>
        <p:txBody>
          <a:bodyPr rtlCol="0" anchor="ctr"/>
          <a:lstStyle/>
          <a:p/>
        </p:txBody>
      </p:sp>
      <p:sp>
        <p:nvSpPr>
          <p:cNvPr id="22" name="TextBox 21"/>
          <p:cNvSpPr txBox="1"/>
          <p:nvPr/>
        </p:nvSpPr>
        <p:spPr>
          <a:xfrm>
            <a:off x="2935223"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8/04</a:t>
            </a:r>
          </a:p>
        </p:txBody>
      </p:sp>
      <p:sp>
        <p:nvSpPr>
          <p:cNvPr id="23" name="TextBox 22"/>
          <p:cNvSpPr txBox="1"/>
          <p:nvPr/>
        </p:nvSpPr>
        <p:spPr>
          <a:xfrm>
            <a:off x="2843783"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経営診断・総会Q&amp;A</a:t>
            </a:r>
          </a:p>
          <a:p>
            <a:pPr algn="ctr">
              <a:lnSpc>
                <a:spcPct val="100000"/>
              </a:lnSpc>
            </a:pPr>
            <a:r>
              <a:rPr sz="800" b="0" lang="ja-JP" altLang="en-US">
                <a:solidFill>
                  <a:srgbClr val="63666A"/>
                </a:solidFill>
              </a:rPr>
              <a:t>の2本柱に再編</a:t>
            </a:r>
          </a:p>
        </p:txBody>
      </p:sp>
      <p:sp>
        <p:nvSpPr>
          <p:cNvPr id="24" name="Oval 23"/>
          <p:cNvSpPr/>
          <p:nvPr/>
        </p:nvSpPr>
        <p:spPr>
          <a:xfrm>
            <a:off x="4722876" y="2171700"/>
            <a:ext cx="137160" cy="137160"/>
          </a:xfrm>
          <a:prstGeom prst="ellipse">
            <a:avLst/>
          </a:prstGeom>
          <a:solidFill>
            <a:srgbClr val="FFFFFF"/>
          </a:solidFill>
          <a:ln w="25400">
            <a:solidFill>
              <a:srgbClr val="26890D"/>
            </a:solidFill>
          </a:ln>
        </p:spPr>
        <p:txBody>
          <a:bodyPr rtlCol="0" anchor="ctr"/>
          <a:lstStyle/>
          <a:p/>
        </p:txBody>
      </p:sp>
      <p:sp>
        <p:nvSpPr>
          <p:cNvPr id="25" name="Oval 24"/>
          <p:cNvSpPr/>
          <p:nvPr/>
        </p:nvSpPr>
        <p:spPr>
          <a:xfrm>
            <a:off x="4732020" y="2336292"/>
            <a:ext cx="118872" cy="118872"/>
          </a:xfrm>
          <a:prstGeom prst="ellipse">
            <a:avLst/>
          </a:prstGeom>
          <a:solidFill>
            <a:srgbClr val="FFFFFF"/>
          </a:solidFill>
          <a:ln w="22225">
            <a:solidFill>
              <a:srgbClr val="0D8390"/>
            </a:solidFill>
          </a:ln>
        </p:spPr>
        <p:txBody>
          <a:bodyPr rtlCol="0" anchor="ctr"/>
          <a:lstStyle/>
          <a:p/>
        </p:txBody>
      </p:sp>
      <p:sp>
        <p:nvSpPr>
          <p:cNvPr id="26" name="TextBox 25"/>
          <p:cNvSpPr txBox="1"/>
          <p:nvPr/>
        </p:nvSpPr>
        <p:spPr>
          <a:xfrm>
            <a:off x="4242816"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8/18</a:t>
            </a:r>
          </a:p>
        </p:txBody>
      </p:sp>
      <p:sp>
        <p:nvSpPr>
          <p:cNvPr id="27" name="TextBox 26"/>
          <p:cNvSpPr txBox="1"/>
          <p:nvPr/>
        </p:nvSpPr>
        <p:spPr>
          <a:xfrm>
            <a:off x="4151376"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目的別ホーム・</a:t>
            </a:r>
          </a:p>
          <a:p>
            <a:pPr algn="ctr">
              <a:lnSpc>
                <a:spcPct val="100000"/>
              </a:lnSpc>
            </a:pPr>
            <a:r>
              <a:rPr sz="800" b="0" lang="ja-JP" altLang="en-US">
                <a:solidFill>
                  <a:srgbClr val="63666A"/>
                </a:solidFill>
              </a:rPr>
              <a:t>総会の6工程</a:t>
            </a:r>
          </a:p>
        </p:txBody>
      </p:sp>
      <p:sp>
        <p:nvSpPr>
          <p:cNvPr id="28" name="Oval 27"/>
          <p:cNvSpPr/>
          <p:nvPr/>
        </p:nvSpPr>
        <p:spPr>
          <a:xfrm>
            <a:off x="6030468" y="2171700"/>
            <a:ext cx="137160" cy="137160"/>
          </a:xfrm>
          <a:prstGeom prst="ellipse">
            <a:avLst/>
          </a:prstGeom>
          <a:solidFill>
            <a:srgbClr val="FFFFFF"/>
          </a:solidFill>
          <a:ln w="25400">
            <a:solidFill>
              <a:srgbClr val="26890D"/>
            </a:solidFill>
          </a:ln>
        </p:spPr>
        <p:txBody>
          <a:bodyPr rtlCol="0" anchor="ctr"/>
          <a:lstStyle/>
          <a:p/>
        </p:txBody>
      </p:sp>
      <p:sp>
        <p:nvSpPr>
          <p:cNvPr id="29" name="Oval 28"/>
          <p:cNvSpPr/>
          <p:nvPr/>
        </p:nvSpPr>
        <p:spPr>
          <a:xfrm>
            <a:off x="6039612" y="2336292"/>
            <a:ext cx="118872" cy="118872"/>
          </a:xfrm>
          <a:prstGeom prst="ellipse">
            <a:avLst/>
          </a:prstGeom>
          <a:solidFill>
            <a:srgbClr val="FFFFFF"/>
          </a:solidFill>
          <a:ln w="22225">
            <a:solidFill>
              <a:srgbClr val="0D8390"/>
            </a:solidFill>
          </a:ln>
        </p:spPr>
        <p:txBody>
          <a:bodyPr rtlCol="0" anchor="ctr"/>
          <a:lstStyle/>
          <a:p/>
        </p:txBody>
      </p:sp>
      <p:sp>
        <p:nvSpPr>
          <p:cNvPr id="30" name="TextBox 29"/>
          <p:cNvSpPr txBox="1"/>
          <p:nvPr/>
        </p:nvSpPr>
        <p:spPr>
          <a:xfrm>
            <a:off x="5550408"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8/24</a:t>
            </a:r>
          </a:p>
        </p:txBody>
      </p:sp>
      <p:sp>
        <p:nvSpPr>
          <p:cNvPr id="31" name="TextBox 30"/>
          <p:cNvSpPr txBox="1"/>
          <p:nvPr/>
        </p:nvSpPr>
        <p:spPr>
          <a:xfrm>
            <a:off x="5458968"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市況バーと</a:t>
            </a:r>
          </a:p>
          <a:p>
            <a:pPr algn="ctr">
              <a:lnSpc>
                <a:spcPct val="100000"/>
              </a:lnSpc>
            </a:pPr>
            <a:r>
              <a:rPr sz="800" b="0" lang="ja-JP" altLang="en-US">
                <a:solidFill>
                  <a:srgbClr val="63666A"/>
                </a:solidFill>
              </a:rPr>
              <a:t>今日のニュース</a:t>
            </a:r>
          </a:p>
        </p:txBody>
      </p:sp>
      <p:sp>
        <p:nvSpPr>
          <p:cNvPr id="32" name="Oval 31"/>
          <p:cNvSpPr/>
          <p:nvPr/>
        </p:nvSpPr>
        <p:spPr>
          <a:xfrm>
            <a:off x="7338060" y="2171700"/>
            <a:ext cx="137160" cy="137160"/>
          </a:xfrm>
          <a:prstGeom prst="ellipse">
            <a:avLst/>
          </a:prstGeom>
          <a:solidFill>
            <a:srgbClr val="FFFFFF"/>
          </a:solidFill>
          <a:ln w="25400">
            <a:solidFill>
              <a:srgbClr val="26890D"/>
            </a:solidFill>
          </a:ln>
        </p:spPr>
        <p:txBody>
          <a:bodyPr rtlCol="0" anchor="ctr"/>
          <a:lstStyle/>
          <a:p/>
        </p:txBody>
      </p:sp>
      <p:sp>
        <p:nvSpPr>
          <p:cNvPr id="33" name="Oval 32"/>
          <p:cNvSpPr/>
          <p:nvPr/>
        </p:nvSpPr>
        <p:spPr>
          <a:xfrm>
            <a:off x="7347204" y="2336292"/>
            <a:ext cx="118872" cy="118872"/>
          </a:xfrm>
          <a:prstGeom prst="ellipse">
            <a:avLst/>
          </a:prstGeom>
          <a:solidFill>
            <a:srgbClr val="FFFFFF"/>
          </a:solidFill>
          <a:ln w="22225">
            <a:solidFill>
              <a:srgbClr val="0D8390"/>
            </a:solidFill>
          </a:ln>
        </p:spPr>
        <p:txBody>
          <a:bodyPr rtlCol="0" anchor="ctr"/>
          <a:lstStyle/>
          <a:p/>
        </p:txBody>
      </p:sp>
      <p:sp>
        <p:nvSpPr>
          <p:cNvPr id="34" name="TextBox 33"/>
          <p:cNvSpPr txBox="1"/>
          <p:nvPr/>
        </p:nvSpPr>
        <p:spPr>
          <a:xfrm>
            <a:off x="6858000"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9/03</a:t>
            </a:r>
          </a:p>
        </p:txBody>
      </p:sp>
      <p:sp>
        <p:nvSpPr>
          <p:cNvPr id="35" name="TextBox 34"/>
          <p:cNvSpPr txBox="1"/>
          <p:nvPr/>
        </p:nvSpPr>
        <p:spPr>
          <a:xfrm>
            <a:off x="6766559"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画面刷新・SNS分析・</a:t>
            </a:r>
          </a:p>
          <a:p>
            <a:pPr algn="ctr">
              <a:lnSpc>
                <a:spcPct val="100000"/>
              </a:lnSpc>
            </a:pPr>
            <a:r>
              <a:rPr sz="800" b="0" lang="ja-JP" altLang="en-US">
                <a:solidFill>
                  <a:srgbClr val="63666A"/>
                </a:solidFill>
              </a:rPr>
              <a:t>管理者機能</a:t>
            </a:r>
          </a:p>
        </p:txBody>
      </p:sp>
      <p:sp>
        <p:nvSpPr>
          <p:cNvPr id="36" name="Rounded Rectangle 35"/>
          <p:cNvSpPr/>
          <p:nvPr/>
        </p:nvSpPr>
        <p:spPr>
          <a:xfrm>
            <a:off x="8631936" y="2148840"/>
            <a:ext cx="164592" cy="338327"/>
          </a:xfrm>
          <a:prstGeom prst="roundRect">
            <a:avLst>
              <a:gd name="adj" fmla="val 50000"/>
            </a:avLst>
          </a:prstGeom>
          <a:solidFill>
            <a:srgbClr val="FFFFFF"/>
          </a:solidFill>
          <a:ln w="25400">
            <a:solidFill>
              <a:srgbClr val="046A38"/>
            </a:solidFill>
          </a:ln>
        </p:spPr>
        <p:txBody>
          <a:bodyPr rtlCol="0" anchor="ctr"/>
          <a:lstStyle/>
          <a:p/>
        </p:txBody>
      </p:sp>
      <p:sp>
        <p:nvSpPr>
          <p:cNvPr id="37" name="TextBox 36"/>
          <p:cNvSpPr txBox="1"/>
          <p:nvPr/>
        </p:nvSpPr>
        <p:spPr>
          <a:xfrm>
            <a:off x="8165592" y="1901952"/>
            <a:ext cx="1097280" cy="219456"/>
          </a:xfrm>
          <a:prstGeom prst="rect">
            <a:avLst/>
          </a:prstGeom>
          <a:noFill/>
        </p:spPr>
        <p:txBody>
          <a:bodyPr wrap="square" lIns="0" rIns="0" tIns="0" bIns="0" anchor="t">
            <a:spAutoFit/>
          </a:bodyPr>
          <a:lstStyle/>
          <a:p>
            <a:pPr algn="ctr"/>
            <a:r>
              <a:rPr sz="950" b="1" lang="ja-JP" altLang="en-US">
                <a:solidFill>
                  <a:srgbClr val="046A38"/>
                </a:solidFill>
              </a:rPr>
              <a:t>9/11  FIX</a:t>
            </a:r>
          </a:p>
        </p:txBody>
      </p:sp>
      <p:sp>
        <p:nvSpPr>
          <p:cNvPr id="38" name="TextBox 37"/>
          <p:cNvSpPr txBox="1"/>
          <p:nvPr/>
        </p:nvSpPr>
        <p:spPr>
          <a:xfrm>
            <a:off x="8074152"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5つの点検・</a:t>
            </a:r>
          </a:p>
          <a:p>
            <a:pPr algn="ctr">
              <a:lnSpc>
                <a:spcPct val="100000"/>
              </a:lnSpc>
            </a:pPr>
            <a:r>
              <a:rPr sz="800" b="0" lang="ja-JP" altLang="en-US">
                <a:solidFill>
                  <a:srgbClr val="63666A"/>
                </a:solidFill>
              </a:rPr>
              <a:t>承認フロー</a:t>
            </a:r>
          </a:p>
        </p:txBody>
      </p:sp>
      <p:sp>
        <p:nvSpPr>
          <p:cNvPr id="39" name="Oval 38"/>
          <p:cNvSpPr/>
          <p:nvPr/>
        </p:nvSpPr>
        <p:spPr>
          <a:xfrm>
            <a:off x="9953244" y="2171700"/>
            <a:ext cx="137160" cy="137160"/>
          </a:xfrm>
          <a:prstGeom prst="ellipse">
            <a:avLst/>
          </a:prstGeom>
          <a:solidFill>
            <a:srgbClr val="FFFFFF"/>
          </a:solidFill>
          <a:ln w="25400">
            <a:solidFill>
              <a:srgbClr val="26890D"/>
            </a:solidFill>
          </a:ln>
        </p:spPr>
        <p:txBody>
          <a:bodyPr rtlCol="0" anchor="ctr"/>
          <a:lstStyle/>
          <a:p/>
        </p:txBody>
      </p:sp>
      <p:sp>
        <p:nvSpPr>
          <p:cNvPr id="40" name="Oval 39"/>
          <p:cNvSpPr/>
          <p:nvPr/>
        </p:nvSpPr>
        <p:spPr>
          <a:xfrm>
            <a:off x="9962388" y="2336292"/>
            <a:ext cx="118872" cy="118872"/>
          </a:xfrm>
          <a:prstGeom prst="ellipse">
            <a:avLst/>
          </a:prstGeom>
          <a:solidFill>
            <a:srgbClr val="FFFFFF"/>
          </a:solidFill>
          <a:ln w="22225">
            <a:solidFill>
              <a:srgbClr val="0D8390"/>
            </a:solidFill>
          </a:ln>
        </p:spPr>
        <p:txBody>
          <a:bodyPr rtlCol="0" anchor="ctr"/>
          <a:lstStyle/>
          <a:p/>
        </p:txBody>
      </p:sp>
      <p:sp>
        <p:nvSpPr>
          <p:cNvPr id="41" name="TextBox 40"/>
          <p:cNvSpPr txBox="1"/>
          <p:nvPr/>
        </p:nvSpPr>
        <p:spPr>
          <a:xfrm>
            <a:off x="9473184" y="1901952"/>
            <a:ext cx="1097280" cy="219456"/>
          </a:xfrm>
          <a:prstGeom prst="rect">
            <a:avLst/>
          </a:prstGeom>
          <a:noFill/>
        </p:spPr>
        <p:txBody>
          <a:bodyPr wrap="square" lIns="0" rIns="0" tIns="0" bIns="0" anchor="t">
            <a:spAutoFit/>
          </a:bodyPr>
          <a:lstStyle/>
          <a:p>
            <a:pPr algn="ctr"/>
            <a:r>
              <a:rPr sz="950" b="1" lang="ja-JP" altLang="en-US">
                <a:solidFill>
                  <a:srgbClr val="1C1C1E"/>
                </a:solidFill>
              </a:rPr>
              <a:t>9/18</a:t>
            </a:r>
          </a:p>
        </p:txBody>
      </p:sp>
      <p:sp>
        <p:nvSpPr>
          <p:cNvPr id="42" name="TextBox 41"/>
          <p:cNvSpPr txBox="1"/>
          <p:nvPr/>
        </p:nvSpPr>
        <p:spPr>
          <a:xfrm>
            <a:off x="9381744"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権限表どおりの</a:t>
            </a:r>
          </a:p>
          <a:p>
            <a:pPr algn="ctr">
              <a:lnSpc>
                <a:spcPct val="100000"/>
              </a:lnSpc>
            </a:pPr>
            <a:r>
              <a:rPr sz="800" b="0" lang="ja-JP" altLang="en-US">
                <a:solidFill>
                  <a:srgbClr val="63666A"/>
                </a:solidFill>
              </a:rPr>
              <a:t>閲覧範囲・深掘り</a:t>
            </a:r>
          </a:p>
        </p:txBody>
      </p:sp>
      <p:sp>
        <p:nvSpPr>
          <p:cNvPr id="43" name="Oval 42"/>
          <p:cNvSpPr/>
          <p:nvPr/>
        </p:nvSpPr>
        <p:spPr>
          <a:xfrm>
            <a:off x="11260836" y="2171700"/>
            <a:ext cx="137160" cy="137160"/>
          </a:xfrm>
          <a:prstGeom prst="ellipse">
            <a:avLst/>
          </a:prstGeom>
          <a:solidFill>
            <a:srgbClr val="FFFFFF"/>
          </a:solidFill>
          <a:ln w="25400">
            <a:solidFill>
              <a:srgbClr val="26890D"/>
            </a:solidFill>
          </a:ln>
        </p:spPr>
        <p:txBody>
          <a:bodyPr rtlCol="0" anchor="ctr"/>
          <a:lstStyle/>
          <a:p/>
        </p:txBody>
      </p:sp>
      <p:sp>
        <p:nvSpPr>
          <p:cNvPr id="44" name="Oval 43"/>
          <p:cNvSpPr/>
          <p:nvPr/>
        </p:nvSpPr>
        <p:spPr>
          <a:xfrm>
            <a:off x="11269980" y="2336292"/>
            <a:ext cx="118872" cy="118872"/>
          </a:xfrm>
          <a:prstGeom prst="ellipse">
            <a:avLst/>
          </a:prstGeom>
          <a:solidFill>
            <a:srgbClr val="FFFFFF"/>
          </a:solidFill>
          <a:ln w="22225">
            <a:solidFill>
              <a:srgbClr val="0D8390"/>
            </a:solidFill>
          </a:ln>
        </p:spPr>
        <p:txBody>
          <a:bodyPr rtlCol="0" anchor="ctr"/>
          <a:lstStyle/>
          <a:p/>
        </p:txBody>
      </p:sp>
      <p:sp>
        <p:nvSpPr>
          <p:cNvPr id="45" name="TextBox 44"/>
          <p:cNvSpPr txBox="1"/>
          <p:nvPr/>
        </p:nvSpPr>
        <p:spPr>
          <a:xfrm>
            <a:off x="10780776" y="1901952"/>
            <a:ext cx="1097280" cy="219456"/>
          </a:xfrm>
          <a:prstGeom prst="rect">
            <a:avLst/>
          </a:prstGeom>
          <a:noFill/>
        </p:spPr>
        <p:txBody>
          <a:bodyPr wrap="square" lIns="0" rIns="0" tIns="0" bIns="0" anchor="t">
            <a:spAutoFit/>
          </a:bodyPr>
          <a:lstStyle/>
          <a:p>
            <a:pPr algn="ctr"/>
            <a:r>
              <a:rPr sz="950" b="1" lang="ja-JP" altLang="en-US">
                <a:solidFill>
                  <a:srgbClr val="046A38"/>
                </a:solidFill>
              </a:rPr>
              <a:t>9/25–27</a:t>
            </a:r>
          </a:p>
        </p:txBody>
      </p:sp>
      <p:sp>
        <p:nvSpPr>
          <p:cNvPr id="46" name="TextBox 45"/>
          <p:cNvSpPr txBox="1"/>
          <p:nvPr/>
        </p:nvSpPr>
        <p:spPr>
          <a:xfrm>
            <a:off x="10689336" y="2542032"/>
            <a:ext cx="1280160" cy="457200"/>
          </a:xfrm>
          <a:prstGeom prst="rect">
            <a:avLst/>
          </a:prstGeom>
          <a:noFill/>
        </p:spPr>
        <p:txBody>
          <a:bodyPr wrap="square" lIns="0" rIns="0" tIns="0" bIns="0" anchor="t">
            <a:spAutoFit/>
          </a:bodyPr>
          <a:lstStyle/>
          <a:p>
            <a:pPr algn="ctr">
              <a:lnSpc>
                <a:spcPct val="100000"/>
              </a:lnSpc>
            </a:pPr>
            <a:r>
              <a:rPr sz="800" b="0" lang="ja-JP" altLang="en-US">
                <a:solidFill>
                  <a:srgbClr val="63666A"/>
                </a:solidFill>
              </a:rPr>
              <a:t>計画・案件の検証・</a:t>
            </a:r>
          </a:p>
          <a:p>
            <a:pPr algn="ctr">
              <a:lnSpc>
                <a:spcPct val="100000"/>
              </a:lnSpc>
            </a:pPr>
            <a:r>
              <a:rPr sz="800" b="0" lang="ja-JP" altLang="en-US">
                <a:solidFill>
                  <a:srgbClr val="63666A"/>
                </a:solidFill>
              </a:rPr>
              <a:t>前年差分・Opus 5.5</a:t>
            </a:r>
          </a:p>
        </p:txBody>
      </p:sp>
      <p:cxnSp>
        <p:nvCxnSpPr>
          <p:cNvPr id="47" name="Connector 46"/>
          <p:cNvCxnSpPr/>
          <p:nvPr/>
        </p:nvCxnSpPr>
        <p:spPr>
          <a:xfrm>
            <a:off x="10012680" y="1481328"/>
            <a:ext cx="228600" cy="0"/>
          </a:xfrm>
          <a:prstGeom prst="line">
            <a:avLst/>
          </a:prstGeom>
          <a:ln w="31750">
            <a:solidFill>
              <a:srgbClr val="26890D"/>
            </a:solidFill>
          </a:ln>
        </p:spPr>
      </p:cxnSp>
      <p:sp>
        <p:nvSpPr>
          <p:cNvPr id="48" name="TextBox 47"/>
          <p:cNvSpPr txBox="1"/>
          <p:nvPr/>
        </p:nvSpPr>
        <p:spPr>
          <a:xfrm>
            <a:off x="10277856" y="1389888"/>
            <a:ext cx="640080" cy="182880"/>
          </a:xfrm>
          <a:prstGeom prst="rect">
            <a:avLst/>
          </a:prstGeom>
          <a:noFill/>
        </p:spPr>
        <p:txBody>
          <a:bodyPr wrap="square" lIns="0" rIns="0" tIns="0" bIns="0" anchor="t">
            <a:spAutoFit/>
          </a:bodyPr>
          <a:lstStyle/>
          <a:p>
            <a:pPr algn="l"/>
            <a:r>
              <a:rPr sz="750" b="0" lang="ja-JP" altLang="en-US">
                <a:solidFill>
                  <a:srgbClr val="63666A"/>
                </a:solidFill>
              </a:rPr>
              <a:t>経営ナビ</a:t>
            </a:r>
          </a:p>
        </p:txBody>
      </p:sp>
      <p:cxnSp>
        <p:nvCxnSpPr>
          <p:cNvPr id="49" name="Connector 48"/>
          <p:cNvCxnSpPr/>
          <p:nvPr/>
        </p:nvCxnSpPr>
        <p:spPr>
          <a:xfrm>
            <a:off x="10835640" y="1481328"/>
            <a:ext cx="228600" cy="0"/>
          </a:xfrm>
          <a:prstGeom prst="line">
            <a:avLst/>
          </a:prstGeom>
          <a:ln w="31750">
            <a:solidFill>
              <a:srgbClr val="0D8390"/>
            </a:solidFill>
          </a:ln>
        </p:spPr>
      </p:cxnSp>
      <p:sp>
        <p:nvSpPr>
          <p:cNvPr id="50" name="TextBox 49"/>
          <p:cNvSpPr txBox="1"/>
          <p:nvPr/>
        </p:nvSpPr>
        <p:spPr>
          <a:xfrm>
            <a:off x="11100816" y="1389888"/>
            <a:ext cx="640080" cy="182880"/>
          </a:xfrm>
          <a:prstGeom prst="rect">
            <a:avLst/>
          </a:prstGeom>
          <a:noFill/>
        </p:spPr>
        <p:txBody>
          <a:bodyPr wrap="square" lIns="0" rIns="0" tIns="0" bIns="0" anchor="t">
            <a:spAutoFit/>
          </a:bodyPr>
          <a:lstStyle/>
          <a:p>
            <a:pPr algn="l"/>
            <a:r>
              <a:rPr sz="750" b="0" lang="ja-JP" altLang="en-US">
                <a:solidFill>
                  <a:srgbClr val="63666A"/>
                </a:solidFill>
              </a:rPr>
              <a:t>総会QA</a:t>
            </a:r>
          </a:p>
        </p:txBody>
      </p:sp>
      <p:sp>
        <p:nvSpPr>
          <p:cNvPr id="51" name="TextBox 50"/>
          <p:cNvSpPr txBox="1"/>
          <p:nvPr/>
        </p:nvSpPr>
        <p:spPr>
          <a:xfrm>
            <a:off x="475488" y="3200400"/>
            <a:ext cx="5486400" cy="256032"/>
          </a:xfrm>
          <a:prstGeom prst="rect">
            <a:avLst/>
          </a:prstGeom>
          <a:noFill/>
        </p:spPr>
        <p:txBody>
          <a:bodyPr wrap="square" lIns="0" rIns="0" tIns="0" bIns="0" anchor="t">
            <a:spAutoFit/>
          </a:bodyPr>
          <a:lstStyle/>
          <a:p>
            <a:pPr algn="l"/>
            <a:r>
              <a:rPr sz="1100" b="1" lang="ja-JP" altLang="en-US">
                <a:solidFill>
                  <a:srgbClr val="046A38"/>
                </a:solidFill>
              </a:rPr>
              <a:t>出発点と公開版</a:t>
            </a:r>
          </a:p>
        </p:txBody>
      </p:sp>
      <p:sp>
        <p:nvSpPr>
          <p:cNvPr id="52" name="TextBox 51"/>
          <p:cNvSpPr txBox="1"/>
          <p:nvPr/>
        </p:nvSpPr>
        <p:spPr>
          <a:xfrm>
            <a:off x="475488" y="3529584"/>
            <a:ext cx="2542032" cy="219456"/>
          </a:xfrm>
          <a:prstGeom prst="rect">
            <a:avLst/>
          </a:prstGeom>
          <a:noFill/>
        </p:spPr>
        <p:txBody>
          <a:bodyPr wrap="square" lIns="0" rIns="0" tIns="0" bIns="0" anchor="t">
            <a:spAutoFit/>
          </a:bodyPr>
          <a:lstStyle/>
          <a:p>
            <a:pPr algn="l"/>
            <a:r>
              <a:rPr sz="900" b="1" lang="ja-JP" altLang="en-US">
                <a:solidFill>
                  <a:srgbClr val="1C1C1E"/>
                </a:solidFill>
              </a:rPr>
              <a:t>出発点｜7/24の雛形</a:t>
            </a:r>
          </a:p>
        </p:txBody>
      </p:sp>
      <p:pic>
        <p:nvPicPr>
          <p:cNvPr id="53" name="Picture 52" descr="0724_home.jpg"/>
          <p:cNvPicPr>
            <a:picLocks noChangeAspect="1"/>
          </p:cNvPicPr>
          <p:nvPr/>
        </p:nvPicPr>
        <p:blipFill>
          <a:blip r:embed="rId3"/>
          <a:stretch>
            <a:fillRect/>
          </a:stretch>
        </p:blipFill>
        <p:spPr>
          <a:xfrm>
            <a:off x="475488" y="3767328"/>
            <a:ext cx="2542032" cy="1588770"/>
          </a:xfrm>
          <a:prstGeom prst="rect">
            <a:avLst/>
          </a:prstGeom>
          <a:ln w="9525">
            <a:solidFill>
              <a:srgbClr val="C8CACC"/>
            </a:solidFill>
          </a:ln>
        </p:spPr>
      </p:pic>
      <p:sp>
        <p:nvSpPr>
          <p:cNvPr id="54" name="TextBox 53"/>
          <p:cNvSpPr txBox="1"/>
          <p:nvPr/>
        </p:nvSpPr>
        <p:spPr>
          <a:xfrm>
            <a:off x="475488" y="5429250"/>
            <a:ext cx="2542032" cy="45720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経営ダッシュボードと相談3モード。</a:t>
            </a:r>
          </a:p>
          <a:p>
            <a:pPr algn="l">
              <a:lnSpc>
                <a:spcPct val="105000"/>
              </a:lnSpc>
            </a:pPr>
            <a:r>
              <a:rPr sz="800" b="0" lang="ja-JP" altLang="en-US">
                <a:solidFill>
                  <a:srgbClr val="63666A"/>
                </a:solidFill>
              </a:rPr>
              <a:t>12種の公開データを自動で収集</a:t>
            </a:r>
          </a:p>
        </p:txBody>
      </p:sp>
      <p:sp>
        <p:nvSpPr>
          <p:cNvPr id="55" name="TextBox 54"/>
          <p:cNvSpPr txBox="1"/>
          <p:nvPr/>
        </p:nvSpPr>
        <p:spPr>
          <a:xfrm>
            <a:off x="3429000" y="3529584"/>
            <a:ext cx="2542032" cy="219456"/>
          </a:xfrm>
          <a:prstGeom prst="rect">
            <a:avLst/>
          </a:prstGeom>
          <a:noFill/>
        </p:spPr>
        <p:txBody>
          <a:bodyPr wrap="square" lIns="0" rIns="0" tIns="0" bIns="0" anchor="t">
            <a:spAutoFit/>
          </a:bodyPr>
          <a:lstStyle/>
          <a:p>
            <a:pPr algn="l"/>
            <a:r>
              <a:rPr sz="900" b="1" lang="ja-JP" altLang="en-US">
                <a:solidFill>
                  <a:srgbClr val="1C1C1E"/>
                </a:solidFill>
              </a:rPr>
              <a:t>公開版｜9/27時点（FIX後の改修を反映）</a:t>
            </a:r>
          </a:p>
        </p:txBody>
      </p:sp>
      <p:pic>
        <p:nvPicPr>
          <p:cNvPr id="56" name="Picture 55" descr="0927_home.jpg"/>
          <p:cNvPicPr>
            <a:picLocks noChangeAspect="1"/>
          </p:cNvPicPr>
          <p:nvPr/>
        </p:nvPicPr>
        <p:blipFill>
          <a:blip r:embed="rId4"/>
          <a:stretch>
            <a:fillRect/>
          </a:stretch>
        </p:blipFill>
        <p:spPr>
          <a:xfrm>
            <a:off x="3429000" y="3767328"/>
            <a:ext cx="2542032" cy="1588770"/>
          </a:xfrm>
          <a:prstGeom prst="rect">
            <a:avLst/>
          </a:prstGeom>
          <a:ln w="9525">
            <a:solidFill>
              <a:srgbClr val="C8CACC"/>
            </a:solidFill>
          </a:ln>
        </p:spPr>
      </p:pic>
      <p:sp>
        <p:nvSpPr>
          <p:cNvPr id="57" name="TextBox 56"/>
          <p:cNvSpPr txBox="1"/>
          <p:nvPr/>
        </p:nvSpPr>
        <p:spPr>
          <a:xfrm>
            <a:off x="3429000" y="5429250"/>
            <a:ext cx="2542032" cy="45720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経営ナビと総会QAの2アプリ。</a:t>
            </a:r>
          </a:p>
          <a:p>
            <a:pPr algn="l">
              <a:lnSpc>
                <a:spcPct val="105000"/>
              </a:lnSpc>
            </a:pPr>
            <a:r>
              <a:rPr sz="800" b="0" lang="ja-JP" altLang="en-US">
                <a:solidFill>
                  <a:srgbClr val="63666A"/>
                </a:solidFill>
              </a:rPr>
              <a:t>LLMはClaude Opus 5.5（国内処理）。</a:t>
            </a:r>
          </a:p>
          <a:p>
            <a:pPr algn="l">
              <a:lnSpc>
                <a:spcPct val="105000"/>
              </a:lnSpc>
            </a:pPr>
            <a:r>
              <a:rPr sz="800" b="0" lang="ja-JP" altLang="en-US">
                <a:solidFill>
                  <a:srgbClr val="63666A"/>
                </a:solidFill>
              </a:rPr>
              <a:t>外部指標約8,500点・指定サイト約220</a:t>
            </a:r>
          </a:p>
        </p:txBody>
      </p:sp>
      <p:sp>
        <p:nvSpPr>
          <p:cNvPr id="58" name="Right Arrow 57"/>
          <p:cNvSpPr/>
          <p:nvPr/>
        </p:nvSpPr>
        <p:spPr>
          <a:xfrm>
            <a:off x="3108960" y="4442841"/>
            <a:ext cx="228600" cy="237744"/>
          </a:xfrm>
          <a:prstGeom prst="rightArrow">
            <a:avLst/>
          </a:prstGeom>
          <a:solidFill>
            <a:srgbClr val="26890D"/>
          </a:solidFill>
          <a:ln>
            <a:noFill/>
          </a:ln>
        </p:spPr>
        <p:txBody>
          <a:bodyPr rtlCol="0" anchor="ctr"/>
          <a:lstStyle/>
          <a:p>
            <a:pPr algn="ctr"/>
          </a:p>
        </p:txBody>
      </p:sp>
      <p:sp>
        <p:nvSpPr>
          <p:cNvPr id="59" name="TextBox 58"/>
          <p:cNvSpPr txBox="1"/>
          <p:nvPr/>
        </p:nvSpPr>
        <p:spPr>
          <a:xfrm>
            <a:off x="6263640" y="3200400"/>
            <a:ext cx="5486400" cy="256032"/>
          </a:xfrm>
          <a:prstGeom prst="rect">
            <a:avLst/>
          </a:prstGeom>
          <a:noFill/>
        </p:spPr>
        <p:txBody>
          <a:bodyPr wrap="square" lIns="0" rIns="0" tIns="0" bIns="0" anchor="t">
            <a:spAutoFit/>
          </a:bodyPr>
          <a:lstStyle/>
          <a:p>
            <a:pPr algn="l"/>
            <a:r>
              <a:rPr sz="1100" b="1" lang="ja-JP" altLang="en-US">
                <a:solidFill>
                  <a:srgbClr val="046A38"/>
                </a:solidFill>
              </a:rPr>
              <a:t>数字で見る3か月</a:t>
            </a:r>
          </a:p>
        </p:txBody>
      </p:sp>
      <p:sp>
        <p:nvSpPr>
          <p:cNvPr id="60" name="TextBox 59"/>
          <p:cNvSpPr txBox="1"/>
          <p:nvPr/>
        </p:nvSpPr>
        <p:spPr>
          <a:xfrm>
            <a:off x="6263640" y="3511296"/>
            <a:ext cx="3657600" cy="182880"/>
          </a:xfrm>
          <a:prstGeom prst="rect">
            <a:avLst/>
          </a:prstGeom>
          <a:noFill/>
        </p:spPr>
        <p:txBody>
          <a:bodyPr wrap="square" lIns="0" rIns="0" tIns="0" bIns="0" anchor="t">
            <a:spAutoFit/>
          </a:bodyPr>
          <a:lstStyle/>
          <a:p>
            <a:pPr algn="l"/>
            <a:r>
              <a:rPr sz="800" b="1" lang="ja-JP" altLang="en-US">
                <a:solidFill>
                  <a:srgbClr val="63666A"/>
                </a:solidFill>
              </a:rPr>
              <a:t>対話の回数</a:t>
            </a:r>
          </a:p>
        </p:txBody>
      </p:sp>
      <p:sp>
        <p:nvSpPr>
          <p:cNvPr id="61" name="Rectangle 60"/>
          <p:cNvSpPr/>
          <p:nvPr/>
        </p:nvSpPr>
        <p:spPr>
          <a:xfrm>
            <a:off x="6263640" y="3712463"/>
            <a:ext cx="1737360" cy="1097280"/>
          </a:xfrm>
          <a:prstGeom prst="rect">
            <a:avLst/>
          </a:prstGeom>
          <a:solidFill>
            <a:srgbClr val="F4F5F5"/>
          </a:solidFill>
          <a:ln>
            <a:noFill/>
          </a:ln>
        </p:spPr>
        <p:txBody>
          <a:bodyPr rtlCol="0" anchor="ctr"/>
          <a:lstStyle/>
          <a:p/>
        </p:txBody>
      </p:sp>
      <p:sp>
        <p:nvSpPr>
          <p:cNvPr id="62" name="TextBox 61"/>
          <p:cNvSpPr txBox="1"/>
          <p:nvPr/>
        </p:nvSpPr>
        <p:spPr>
          <a:xfrm>
            <a:off x="6391655" y="3785615"/>
            <a:ext cx="1554480" cy="457200"/>
          </a:xfrm>
          <a:prstGeom prst="rect">
            <a:avLst/>
          </a:prstGeom>
          <a:noFill/>
        </p:spPr>
        <p:txBody>
          <a:bodyPr wrap="square" lIns="0" rIns="0" tIns="0" bIns="0" anchor="t">
            <a:spAutoFit/>
          </a:bodyPr>
          <a:lstStyle/>
          <a:p>
            <a:pPr algn="l"/>
            <a:r>
              <a:rPr sz="2600" b="1" lang="ja-JP" altLang="en-US">
                <a:solidFill>
                  <a:srgbClr val="046A38"/>
                </a:solidFill>
              </a:rPr>
              <a:t>12</a:t>
            </a:r>
            <a:r>
              <a:rPr sz="1100" b="1" lang="ja-JP" altLang="en-US">
                <a:solidFill>
                  <a:srgbClr val="046A38"/>
                </a:solidFill>
              </a:rPr>
              <a:t> 回</a:t>
            </a:r>
          </a:p>
        </p:txBody>
      </p:sp>
      <p:sp>
        <p:nvSpPr>
          <p:cNvPr id="63" name="TextBox 62"/>
          <p:cNvSpPr txBox="1"/>
          <p:nvPr/>
        </p:nvSpPr>
        <p:spPr>
          <a:xfrm>
            <a:off x="6391655" y="4279392"/>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週次定例</a:t>
            </a:r>
          </a:p>
          <a:p>
            <a:pPr algn="l">
              <a:lnSpc>
                <a:spcPct val="105000"/>
              </a:lnSpc>
            </a:pPr>
            <a:r>
              <a:rPr sz="800" b="0" lang="ja-JP" altLang="en-US">
                <a:solidFill>
                  <a:srgbClr val="63666A"/>
                </a:solidFill>
              </a:rPr>
              <a:t>（9/24の第12回まで）</a:t>
            </a:r>
          </a:p>
        </p:txBody>
      </p:sp>
      <p:sp>
        <p:nvSpPr>
          <p:cNvPr id="64" name="Rectangle 63"/>
          <p:cNvSpPr/>
          <p:nvPr/>
        </p:nvSpPr>
        <p:spPr>
          <a:xfrm>
            <a:off x="8092440" y="3712463"/>
            <a:ext cx="1737360" cy="1097280"/>
          </a:xfrm>
          <a:prstGeom prst="rect">
            <a:avLst/>
          </a:prstGeom>
          <a:solidFill>
            <a:srgbClr val="F4F5F5"/>
          </a:solidFill>
          <a:ln>
            <a:noFill/>
          </a:ln>
        </p:spPr>
        <p:txBody>
          <a:bodyPr rtlCol="0" anchor="ctr"/>
          <a:lstStyle/>
          <a:p/>
        </p:txBody>
      </p:sp>
      <p:sp>
        <p:nvSpPr>
          <p:cNvPr id="65" name="TextBox 64"/>
          <p:cNvSpPr txBox="1"/>
          <p:nvPr/>
        </p:nvSpPr>
        <p:spPr>
          <a:xfrm>
            <a:off x="8220456" y="3785615"/>
            <a:ext cx="1554480" cy="457200"/>
          </a:xfrm>
          <a:prstGeom prst="rect">
            <a:avLst/>
          </a:prstGeom>
          <a:noFill/>
        </p:spPr>
        <p:txBody>
          <a:bodyPr wrap="square" lIns="0" rIns="0" tIns="0" bIns="0" anchor="t">
            <a:spAutoFit/>
          </a:bodyPr>
          <a:lstStyle/>
          <a:p>
            <a:pPr algn="l"/>
            <a:r>
              <a:rPr sz="2600" b="1" lang="ja-JP" altLang="en-US">
                <a:solidFill>
                  <a:srgbClr val="046A38"/>
                </a:solidFill>
              </a:rPr>
              <a:t>6</a:t>
            </a:r>
            <a:r>
              <a:rPr sz="1100" b="1" lang="ja-JP" altLang="en-US">
                <a:solidFill>
                  <a:srgbClr val="046A38"/>
                </a:solidFill>
              </a:rPr>
              <a:t> 回</a:t>
            </a:r>
          </a:p>
        </p:txBody>
      </p:sp>
      <p:sp>
        <p:nvSpPr>
          <p:cNvPr id="66" name="TextBox 65"/>
          <p:cNvSpPr txBox="1"/>
          <p:nvPr/>
        </p:nvSpPr>
        <p:spPr>
          <a:xfrm>
            <a:off x="8220456" y="4279392"/>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スプリントレビュー</a:t>
            </a:r>
          </a:p>
          <a:p>
            <a:pPr algn="l">
              <a:lnSpc>
                <a:spcPct val="105000"/>
              </a:lnSpc>
            </a:pPr>
            <a:r>
              <a:rPr sz="800" b="0" lang="ja-JP" altLang="en-US">
                <a:solidFill>
                  <a:srgbClr val="63666A"/>
                </a:solidFill>
              </a:rPr>
              <a:t>（隔週・各2時間）</a:t>
            </a:r>
          </a:p>
        </p:txBody>
      </p:sp>
      <p:sp>
        <p:nvSpPr>
          <p:cNvPr id="67" name="Rectangle 66"/>
          <p:cNvSpPr/>
          <p:nvPr/>
        </p:nvSpPr>
        <p:spPr>
          <a:xfrm>
            <a:off x="9921240" y="3712463"/>
            <a:ext cx="1737360" cy="1097280"/>
          </a:xfrm>
          <a:prstGeom prst="rect">
            <a:avLst/>
          </a:prstGeom>
          <a:solidFill>
            <a:srgbClr val="F4F5F5"/>
          </a:solidFill>
          <a:ln>
            <a:noFill/>
          </a:ln>
        </p:spPr>
        <p:txBody>
          <a:bodyPr rtlCol="0" anchor="ctr"/>
          <a:lstStyle/>
          <a:p/>
        </p:txBody>
      </p:sp>
      <p:sp>
        <p:nvSpPr>
          <p:cNvPr id="68" name="TextBox 67"/>
          <p:cNvSpPr txBox="1"/>
          <p:nvPr/>
        </p:nvSpPr>
        <p:spPr>
          <a:xfrm>
            <a:off x="10049256" y="3785615"/>
            <a:ext cx="1554480" cy="457200"/>
          </a:xfrm>
          <a:prstGeom prst="rect">
            <a:avLst/>
          </a:prstGeom>
          <a:noFill/>
        </p:spPr>
        <p:txBody>
          <a:bodyPr wrap="square" lIns="0" rIns="0" tIns="0" bIns="0" anchor="t">
            <a:spAutoFit/>
          </a:bodyPr>
          <a:lstStyle/>
          <a:p>
            <a:pPr algn="l"/>
            <a:r>
              <a:rPr sz="2600" b="1" lang="ja-JP" altLang="en-US">
                <a:solidFill>
                  <a:srgbClr val="046A38"/>
                </a:solidFill>
              </a:rPr>
              <a:t>○○</a:t>
            </a:r>
            <a:r>
              <a:rPr sz="1100" b="1" lang="ja-JP" altLang="en-US">
                <a:solidFill>
                  <a:srgbClr val="046A38"/>
                </a:solidFill>
              </a:rPr>
              <a:t> 時間</a:t>
            </a:r>
          </a:p>
        </p:txBody>
      </p:sp>
      <p:sp>
        <p:nvSpPr>
          <p:cNvPr id="69" name="TextBox 68"/>
          <p:cNvSpPr txBox="1"/>
          <p:nvPr/>
        </p:nvSpPr>
        <p:spPr>
          <a:xfrm>
            <a:off x="10049256" y="4279392"/>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打鍵</a:t>
            </a:r>
          </a:p>
          <a:p>
            <a:pPr algn="l">
              <a:lnSpc>
                <a:spcPct val="105000"/>
              </a:lnSpc>
            </a:pPr>
            <a:r>
              <a:rPr sz="800" b="0" lang="ja-JP" altLang="en-US">
                <a:solidFill>
                  <a:srgbClr val="63666A"/>
                </a:solidFill>
              </a:rPr>
              <a:t>（スプリントレビュー・打鍵会）</a:t>
            </a:r>
          </a:p>
        </p:txBody>
      </p:sp>
      <p:sp>
        <p:nvSpPr>
          <p:cNvPr id="70" name="TextBox 69"/>
          <p:cNvSpPr txBox="1"/>
          <p:nvPr/>
        </p:nvSpPr>
        <p:spPr>
          <a:xfrm>
            <a:off x="6263640" y="4919472"/>
            <a:ext cx="3657600" cy="182880"/>
          </a:xfrm>
          <a:prstGeom prst="rect">
            <a:avLst/>
          </a:prstGeom>
          <a:noFill/>
        </p:spPr>
        <p:txBody>
          <a:bodyPr wrap="square" lIns="0" rIns="0" tIns="0" bIns="0" anchor="t">
            <a:spAutoFit/>
          </a:bodyPr>
          <a:lstStyle/>
          <a:p>
            <a:pPr algn="l"/>
            <a:r>
              <a:rPr sz="800" b="1" lang="ja-JP" altLang="en-US">
                <a:solidFill>
                  <a:srgbClr val="63666A"/>
                </a:solidFill>
              </a:rPr>
              <a:t>改修の積み重ね</a:t>
            </a:r>
          </a:p>
        </p:txBody>
      </p:sp>
      <p:sp>
        <p:nvSpPr>
          <p:cNvPr id="71" name="Rectangle 70"/>
          <p:cNvSpPr/>
          <p:nvPr/>
        </p:nvSpPr>
        <p:spPr>
          <a:xfrm>
            <a:off x="6263640" y="5120640"/>
            <a:ext cx="1737360" cy="1097280"/>
          </a:xfrm>
          <a:prstGeom prst="rect">
            <a:avLst/>
          </a:prstGeom>
          <a:solidFill>
            <a:srgbClr val="F4F5F5"/>
          </a:solidFill>
          <a:ln>
            <a:noFill/>
          </a:ln>
        </p:spPr>
        <p:txBody>
          <a:bodyPr rtlCol="0" anchor="ctr"/>
          <a:lstStyle/>
          <a:p/>
        </p:txBody>
      </p:sp>
      <p:sp>
        <p:nvSpPr>
          <p:cNvPr id="72" name="TextBox 71"/>
          <p:cNvSpPr txBox="1"/>
          <p:nvPr/>
        </p:nvSpPr>
        <p:spPr>
          <a:xfrm>
            <a:off x="6391655" y="5193792"/>
            <a:ext cx="1554480" cy="457200"/>
          </a:xfrm>
          <a:prstGeom prst="rect">
            <a:avLst/>
          </a:prstGeom>
          <a:noFill/>
        </p:spPr>
        <p:txBody>
          <a:bodyPr wrap="square" lIns="0" rIns="0" tIns="0" bIns="0" anchor="t">
            <a:spAutoFit/>
          </a:bodyPr>
          <a:lstStyle/>
          <a:p>
            <a:pPr algn="l"/>
            <a:r>
              <a:rPr sz="2600" b="1" lang="ja-JP" altLang="en-US">
                <a:solidFill>
                  <a:srgbClr val="046A38"/>
                </a:solidFill>
              </a:rPr>
              <a:t>8</a:t>
            </a:r>
            <a:r>
              <a:rPr sz="1100" b="1" lang="ja-JP" altLang="en-US">
                <a:solidFill>
                  <a:srgbClr val="046A38"/>
                </a:solidFill>
              </a:rPr>
              <a:t> 版</a:t>
            </a:r>
          </a:p>
        </p:txBody>
      </p:sp>
      <p:sp>
        <p:nvSpPr>
          <p:cNvPr id="73" name="TextBox 72"/>
          <p:cNvSpPr txBox="1"/>
          <p:nvPr/>
        </p:nvSpPr>
        <p:spPr>
          <a:xfrm>
            <a:off x="6391655" y="5687568"/>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週ごとに更新した</a:t>
            </a:r>
          </a:p>
          <a:p>
            <a:pPr algn="l">
              <a:lnSpc>
                <a:spcPct val="105000"/>
              </a:lnSpc>
            </a:pPr>
            <a:r>
              <a:rPr sz="800" b="0" lang="ja-JP" altLang="en-US">
                <a:solidFill>
                  <a:srgbClr val="63666A"/>
                </a:solidFill>
              </a:rPr>
              <a:t>アプリの断面（7/24〜9/27）</a:t>
            </a:r>
          </a:p>
        </p:txBody>
      </p:sp>
      <p:sp>
        <p:nvSpPr>
          <p:cNvPr id="74" name="Rectangle 73"/>
          <p:cNvSpPr/>
          <p:nvPr/>
        </p:nvSpPr>
        <p:spPr>
          <a:xfrm>
            <a:off x="8092440" y="5120640"/>
            <a:ext cx="1737360" cy="1097280"/>
          </a:xfrm>
          <a:prstGeom prst="rect">
            <a:avLst/>
          </a:prstGeom>
          <a:solidFill>
            <a:srgbClr val="F4F5F5"/>
          </a:solidFill>
          <a:ln>
            <a:noFill/>
          </a:ln>
        </p:spPr>
        <p:txBody>
          <a:bodyPr rtlCol="0" anchor="ctr"/>
          <a:lstStyle/>
          <a:p/>
        </p:txBody>
      </p:sp>
      <p:sp>
        <p:nvSpPr>
          <p:cNvPr id="75" name="TextBox 74"/>
          <p:cNvSpPr txBox="1"/>
          <p:nvPr/>
        </p:nvSpPr>
        <p:spPr>
          <a:xfrm>
            <a:off x="8220456" y="5193792"/>
            <a:ext cx="1554480" cy="457200"/>
          </a:xfrm>
          <a:prstGeom prst="rect">
            <a:avLst/>
          </a:prstGeom>
          <a:noFill/>
        </p:spPr>
        <p:txBody>
          <a:bodyPr wrap="square" lIns="0" rIns="0" tIns="0" bIns="0" anchor="t">
            <a:spAutoFit/>
          </a:bodyPr>
          <a:lstStyle/>
          <a:p>
            <a:pPr algn="l"/>
            <a:r>
              <a:rPr sz="2600" b="1" lang="ja-JP" altLang="en-US">
                <a:solidFill>
                  <a:srgbClr val="046A38"/>
                </a:solidFill>
              </a:rPr>
              <a:t>約80</a:t>
            </a:r>
            <a:r>
              <a:rPr sz="1100" b="1" lang="ja-JP" altLang="en-US">
                <a:solidFill>
                  <a:srgbClr val="046A38"/>
                </a:solidFill>
              </a:rPr>
              <a:t> 本</a:t>
            </a:r>
          </a:p>
        </p:txBody>
      </p:sp>
      <p:sp>
        <p:nvSpPr>
          <p:cNvPr id="76" name="TextBox 75"/>
          <p:cNvSpPr txBox="1"/>
          <p:nvPr/>
        </p:nvSpPr>
        <p:spPr>
          <a:xfrm>
            <a:off x="8220456" y="5687568"/>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修正案・修正記録</a:t>
            </a:r>
          </a:p>
          <a:p>
            <a:pPr algn="l">
              <a:lnSpc>
                <a:spcPct val="105000"/>
              </a:lnSpc>
            </a:pPr>
            <a:r>
              <a:rPr sz="800" b="0" lang="ja-JP" altLang="en-US">
                <a:solidFill>
                  <a:srgbClr val="63666A"/>
                </a:solidFill>
              </a:rPr>
              <a:t>（改修のたびに残した設計メモ）</a:t>
            </a:r>
          </a:p>
        </p:txBody>
      </p:sp>
      <p:sp>
        <p:nvSpPr>
          <p:cNvPr id="77" name="Rectangle 76"/>
          <p:cNvSpPr/>
          <p:nvPr/>
        </p:nvSpPr>
        <p:spPr>
          <a:xfrm>
            <a:off x="9921240" y="5120640"/>
            <a:ext cx="1737360" cy="1097280"/>
          </a:xfrm>
          <a:prstGeom prst="rect">
            <a:avLst/>
          </a:prstGeom>
          <a:solidFill>
            <a:srgbClr val="F4F5F5"/>
          </a:solidFill>
          <a:ln>
            <a:noFill/>
          </a:ln>
        </p:spPr>
        <p:txBody>
          <a:bodyPr rtlCol="0" anchor="ctr"/>
          <a:lstStyle/>
          <a:p/>
        </p:txBody>
      </p:sp>
      <p:sp>
        <p:nvSpPr>
          <p:cNvPr id="78" name="TextBox 77"/>
          <p:cNvSpPr txBox="1"/>
          <p:nvPr/>
        </p:nvSpPr>
        <p:spPr>
          <a:xfrm>
            <a:off x="10049256" y="5193792"/>
            <a:ext cx="1554480" cy="457200"/>
          </a:xfrm>
          <a:prstGeom prst="rect">
            <a:avLst/>
          </a:prstGeom>
          <a:noFill/>
        </p:spPr>
        <p:txBody>
          <a:bodyPr wrap="square" lIns="0" rIns="0" tIns="0" bIns="0" anchor="t">
            <a:spAutoFit/>
          </a:bodyPr>
          <a:lstStyle/>
          <a:p>
            <a:pPr algn="l"/>
            <a:r>
              <a:rPr sz="2600" b="1" lang="ja-JP" altLang="en-US">
                <a:solidFill>
                  <a:srgbClr val="046A38"/>
                </a:solidFill>
              </a:rPr>
              <a:t>15</a:t>
            </a:r>
            <a:r>
              <a:rPr sz="1100" b="1" lang="ja-JP" altLang="en-US">
                <a:solidFill>
                  <a:srgbClr val="046A38"/>
                </a:solidFill>
              </a:rPr>
              <a:t> 項目</a:t>
            </a:r>
          </a:p>
        </p:txBody>
      </p:sp>
      <p:sp>
        <p:nvSpPr>
          <p:cNvPr id="79" name="TextBox 78"/>
          <p:cNvSpPr txBox="1"/>
          <p:nvPr/>
        </p:nvSpPr>
        <p:spPr>
          <a:xfrm>
            <a:off x="10049256" y="5687568"/>
            <a:ext cx="1554480" cy="502920"/>
          </a:xfrm>
          <a:prstGeom prst="rect">
            <a:avLst/>
          </a:prstGeom>
          <a:noFill/>
        </p:spPr>
        <p:txBody>
          <a:bodyPr wrap="square" lIns="0" rIns="0" tIns="0" bIns="0" anchor="t">
            <a:spAutoFit/>
          </a:bodyPr>
          <a:lstStyle/>
          <a:p>
            <a:pPr algn="l">
              <a:lnSpc>
                <a:spcPct val="105000"/>
              </a:lnSpc>
            </a:pPr>
            <a:r>
              <a:rPr sz="800" b="0" lang="ja-JP" altLang="en-US">
                <a:solidFill>
                  <a:srgbClr val="63666A"/>
                </a:solidFill>
              </a:rPr>
              <a:t>FIX後の改修</a:t>
            </a:r>
          </a:p>
          <a:p>
            <a:pPr algn="l">
              <a:lnSpc>
                <a:spcPct val="105000"/>
              </a:lnSpc>
            </a:pPr>
            <a:r>
              <a:rPr sz="800" b="0" lang="ja-JP" altLang="en-US">
                <a:solidFill>
                  <a:srgbClr val="63666A"/>
                </a:solidFill>
              </a:rPr>
              <a:t>（ご依頼13・自主改善2、すべて反映）</a:t>
            </a:r>
          </a:p>
        </p:txBody>
      </p:sp>
    </p:spTree>
    <p:extLst>
      <p:ext uri="{BB962C8B-B14F-4D97-AF65-F5344CB8AC3E}">
        <p14:creationId xmlns:p14="http://schemas.microsoft.com/office/powerpoint/2010/main" val="1734936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9A7D-1460-F220-8BA1-64C38D70262C}"/>
            </a:ext>
          </a:extLst>
        </p:cNvPr>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067BAB04-3E1B-E09C-FBDE-83739DDC6E4D}"/>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067BAB04-3E1B-E09C-FBDE-83739DDC6E4D}"/>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2" name="タイトル 6">
            <a:extLst>
              <a:ext uri="{FF2B5EF4-FFF2-40B4-BE49-F238E27FC236}">
                <a16:creationId xmlns:a16="http://schemas.microsoft.com/office/drawing/2014/main" id="{C6109E1F-0350-382F-B722-0A5ECBF06E12}"/>
              </a:ext>
            </a:extLst>
          </p:cNvPr>
          <p:cNvSpPr>
            <a:spLocks noGrp="1"/>
          </p:cNvSpPr>
          <p:nvPr>
            <p:ph type="title"/>
          </p:nvPr>
        </p:nvSpPr>
        <p:spPr>
          <a:xfrm>
            <a:off x="0" y="2620612"/>
            <a:ext cx="12192000" cy="738000"/>
          </a:xfrm>
          <a:solidFill>
            <a:schemeClr val="accent4"/>
          </a:solidFill>
          <a:ln>
            <a:noFill/>
          </a:ln>
        </p:spPr>
        <p:txBody>
          <a:bodyPr vert="horz" rIns="0" anchor="ctr"/>
          <a:lstStyle/>
          <a:p>
            <a:pPr algn="ctr"/>
            <a:r>
              <a:rPr lang="ja-JP" altLang="en-US">
                <a:solidFill>
                  <a:schemeClr val="bg1"/>
                </a:solidFill>
              </a:rPr>
              <a:t>共創の記録（動画・約4分）をご覧いただきます</a:t>
            </a:r>
          </a:p>
        </p:txBody>
      </p:sp>
      <p:sp>
        <p:nvSpPr>
          <p:cNvPr id="2" name="スライド番号プレースホルダー 2">
            <a:extLst>
              <a:ext uri="{FF2B5EF4-FFF2-40B4-BE49-F238E27FC236}">
                <a16:creationId xmlns:a16="http://schemas.microsoft.com/office/drawing/2014/main" id="{7883DD2C-009A-E0C0-0386-74CDAA23DB6A}"/>
              </a:ext>
            </a:extLst>
          </p:cNvPr>
          <p:cNvSpPr>
            <a:spLocks noGrp="1"/>
          </p:cNvSpPr>
          <p:nvPr>
            <p:ph type="sldNum" sz="quarter" idx="11"/>
          </p:nvPr>
        </p:nvSpPr>
        <p:spPr>
          <a:xfrm>
            <a:off x="480000" y="6588000"/>
            <a:ext cx="180000" cy="169200"/>
          </a:xfrm>
        </p:spPr>
        <p:txBody>
          <a:bodyPr/>
          <a:lstStyle/>
          <a:p>
            <a:fld id="{AA5FCFE5-FE56-4EF1-80A8-07776887C2A1}" type="slidenum">
              <a:rPr lang="ja-JP" altLang="en-US" smtClean="0"/>
              <a:pPr/>
              <a:t>9</a:t>
            </a:fld>
            <a:endParaRPr lang="ja-JP" altLang="en-US"/>
          </a:p>
        </p:txBody>
      </p:sp>
    </p:spTree>
    <p:extLst>
      <p:ext uri="{BB962C8B-B14F-4D97-AF65-F5344CB8AC3E}">
        <p14:creationId xmlns:p14="http://schemas.microsoft.com/office/powerpoint/2010/main" val="3403155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ITEC様への引継ぎ状況</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引継ぎに必要な4点は揃っています。10月以降もデロイトが伴走しますので、本日は4点を引継ぎ物としてご了承いただきたく、お願いします</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9" name="Rectangle 8"/>
          <p:cNvSpPr/>
          <p:nvPr/>
        </p:nvSpPr>
        <p:spPr>
          <a:xfrm>
            <a:off x="475488" y="1572768"/>
            <a:ext cx="2699765" cy="1024128"/>
          </a:xfrm>
          <a:prstGeom prst="rect">
            <a:avLst/>
          </a:prstGeom>
          <a:solidFill>
            <a:srgbClr val="046A38"/>
          </a:solidFill>
          <a:ln>
            <a:noFill/>
          </a:ln>
        </p:spPr>
        <p:txBody>
          <a:bodyPr rtlCol="0" anchor="ctr" lIns="73152" rIns="73152" tIns="36576" bIns="36576"/>
          <a:lstStyle/>
          <a:p>
            <a:pPr algn="ctr"/>
          </a:p>
        </p:txBody>
      </p:sp>
      <p:sp>
        <p:nvSpPr>
          <p:cNvPr id="10" name="TextBox 9"/>
          <p:cNvSpPr txBox="1"/>
          <p:nvPr/>
        </p:nvSpPr>
        <p:spPr>
          <a:xfrm>
            <a:off x="658368"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01</a:t>
            </a:r>
          </a:p>
        </p:txBody>
      </p:sp>
      <p:sp>
        <p:nvSpPr>
          <p:cNvPr id="11" name="TextBox 10"/>
          <p:cNvSpPr txBox="1"/>
          <p:nvPr/>
        </p:nvSpPr>
        <p:spPr>
          <a:xfrm>
            <a:off x="658368"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最新アプリ</a:t>
            </a:r>
          </a:p>
        </p:txBody>
      </p:sp>
      <p:sp>
        <p:nvSpPr>
          <p:cNvPr id="12" name="TextBox 11"/>
          <p:cNvSpPr txBox="1"/>
          <p:nvPr/>
        </p:nvSpPr>
        <p:spPr>
          <a:xfrm>
            <a:off x="658368"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9/27時点（FIX後の改修を反映）</a:t>
            </a:r>
          </a:p>
        </p:txBody>
      </p:sp>
      <p:sp>
        <p:nvSpPr>
          <p:cNvPr id="13" name="TextBox 12"/>
          <p:cNvSpPr txBox="1"/>
          <p:nvPr/>
        </p:nvSpPr>
        <p:spPr>
          <a:xfrm>
            <a:off x="658368"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格納場所</a:t>
            </a:r>
          </a:p>
        </p:txBody>
      </p:sp>
      <p:sp>
        <p:nvSpPr>
          <p:cNvPr id="14" name="TextBox 13"/>
          <p:cNvSpPr txBox="1"/>
          <p:nvPr/>
        </p:nvSpPr>
        <p:spPr>
          <a:xfrm>
            <a:off x="658368"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検証環境（EC2）【パス要記入】</a:t>
            </a:r>
          </a:p>
        </p:txBody>
      </p:sp>
      <p:cxnSp>
        <p:nvCxnSpPr>
          <p:cNvPr id="15" name="Connector 14"/>
          <p:cNvCxnSpPr/>
          <p:nvPr/>
        </p:nvCxnSpPr>
        <p:spPr>
          <a:xfrm>
            <a:off x="658368" y="3328415"/>
            <a:ext cx="2334005" cy="0"/>
          </a:xfrm>
          <a:prstGeom prst="line">
            <a:avLst/>
          </a:prstGeom>
          <a:ln w="9525">
            <a:solidFill>
              <a:srgbClr val="E3E4E5"/>
            </a:solidFill>
          </a:ln>
        </p:spPr>
      </p:cxnSp>
      <p:sp>
        <p:nvSpPr>
          <p:cNvPr id="16" name="TextBox 15"/>
          <p:cNvSpPr txBox="1"/>
          <p:nvPr/>
        </p:nvSpPr>
        <p:spPr>
          <a:xfrm>
            <a:off x="658368"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含まれるもの</a:t>
            </a:r>
          </a:p>
        </p:txBody>
      </p:sp>
      <p:sp>
        <p:nvSpPr>
          <p:cNvPr id="17" name="TextBox 16"/>
          <p:cNvSpPr txBox="1"/>
          <p:nvPr/>
        </p:nvSpPr>
        <p:spPr>
          <a:xfrm>
            <a:off x="658368"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アプリ本体・収集処理・総会QA取込</a:t>
            </a:r>
          </a:p>
          <a:p>
            <a:pPr marL="128016" indent="-128016">
              <a:lnSpc>
                <a:spcPct val="110000"/>
              </a:lnSpc>
              <a:spcAft>
                <a:spcPts val="400"/>
              </a:spcAft>
              <a:buClr>
                <a:srgbClr val="26890D"/>
              </a:buClr>
              <a:buFont typeface="Arial"/>
              <a:buChar char="•"/>
            </a:pPr>
            <a:r>
              <a:rPr sz="1000" b="0" lang="ja-JP" altLang="en-US">
                <a:solidFill>
                  <a:srgbClr val="1C1C1E"/>
                </a:solidFill>
              </a:rPr>
              <a:t>テストスイート58本</a:t>
            </a:r>
          </a:p>
          <a:p>
            <a:pPr marL="128016" indent="-128016">
              <a:lnSpc>
                <a:spcPct val="110000"/>
              </a:lnSpc>
              <a:spcAft>
                <a:spcPts val="400"/>
              </a:spcAft>
              <a:buClr>
                <a:srgbClr val="26890D"/>
              </a:buClr>
              <a:buFont typeface="Arial"/>
              <a:buChar char="•"/>
            </a:pPr>
            <a:r>
              <a:rPr sz="1000" b="0" lang="ja-JP" altLang="en-US">
                <a:solidFill>
                  <a:srgbClr val="1C1C1E"/>
                </a:solidFill>
              </a:rPr>
              <a:t>起動・配置手順（README）</a:t>
            </a:r>
          </a:p>
        </p:txBody>
      </p:sp>
      <p:sp>
        <p:nvSpPr>
          <p:cNvPr id="18" name="Rectangle 17"/>
          <p:cNvSpPr/>
          <p:nvPr/>
        </p:nvSpPr>
        <p:spPr>
          <a:xfrm>
            <a:off x="658368"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状態</a:t>
            </a:r>
          </a:p>
          <a:p>
            <a:pPr algn="l">
              <a:buNone/>
            </a:pPr>
            <a:r>
              <a:rPr sz="900" b="0" lang="ja-JP" altLang="en-US">
                <a:solidFill>
                  <a:srgbClr val="1C1C1E"/>
                </a:solidFill>
              </a:rPr>
              <a:t>検証環境で稼働中。ソース一式をzipでお渡しします</a:t>
            </a:r>
          </a:p>
        </p:txBody>
      </p:sp>
      <p:sp>
        <p:nvSpPr>
          <p:cNvPr id="19" name="Rectangle 18"/>
          <p:cNvSpPr/>
          <p:nvPr/>
        </p:nvSpPr>
        <p:spPr>
          <a:xfrm>
            <a:off x="3321558"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20" name="Rectangle 19"/>
          <p:cNvSpPr/>
          <p:nvPr/>
        </p:nvSpPr>
        <p:spPr>
          <a:xfrm>
            <a:off x="3321558" y="1572768"/>
            <a:ext cx="2699765" cy="1024128"/>
          </a:xfrm>
          <a:prstGeom prst="rect">
            <a:avLst/>
          </a:prstGeom>
          <a:solidFill>
            <a:srgbClr val="046A38"/>
          </a:solidFill>
          <a:ln>
            <a:noFill/>
          </a:ln>
        </p:spPr>
        <p:txBody>
          <a:bodyPr rtlCol="0" anchor="ctr" lIns="73152" rIns="73152" tIns="36576" bIns="36576"/>
          <a:lstStyle/>
          <a:p>
            <a:pPr algn="ctr"/>
          </a:p>
        </p:txBody>
      </p:sp>
      <p:sp>
        <p:nvSpPr>
          <p:cNvPr id="21" name="TextBox 20"/>
          <p:cNvSpPr txBox="1"/>
          <p:nvPr/>
        </p:nvSpPr>
        <p:spPr>
          <a:xfrm>
            <a:off x="3504438"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02</a:t>
            </a:r>
          </a:p>
        </p:txBody>
      </p:sp>
      <p:sp>
        <p:nvSpPr>
          <p:cNvPr id="22" name="TextBox 21"/>
          <p:cNvSpPr txBox="1"/>
          <p:nvPr/>
        </p:nvSpPr>
        <p:spPr>
          <a:xfrm>
            <a:off x="3504438"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FIX後の改修台帳</a:t>
            </a:r>
          </a:p>
        </p:txBody>
      </p:sp>
      <p:sp>
        <p:nvSpPr>
          <p:cNvPr id="23" name="TextBox 22"/>
          <p:cNvSpPr txBox="1"/>
          <p:nvPr/>
        </p:nvSpPr>
        <p:spPr>
          <a:xfrm>
            <a:off x="3504438"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15項目（本資料p.7）</a:t>
            </a:r>
          </a:p>
        </p:txBody>
      </p:sp>
      <p:sp>
        <p:nvSpPr>
          <p:cNvPr id="24" name="TextBox 23"/>
          <p:cNvSpPr txBox="1"/>
          <p:nvPr/>
        </p:nvSpPr>
        <p:spPr>
          <a:xfrm>
            <a:off x="3504438"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格納場所</a:t>
            </a:r>
          </a:p>
        </p:txBody>
      </p:sp>
      <p:sp>
        <p:nvSpPr>
          <p:cNvPr id="25" name="TextBox 24"/>
          <p:cNvSpPr txBox="1"/>
          <p:nvPr/>
        </p:nvSpPr>
        <p:spPr>
          <a:xfrm>
            <a:off x="3504438"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本資料／docs/ 修正案・修正記録</a:t>
            </a:r>
          </a:p>
        </p:txBody>
      </p:sp>
      <p:cxnSp>
        <p:nvCxnSpPr>
          <p:cNvPr id="26" name="Connector 25"/>
          <p:cNvCxnSpPr/>
          <p:nvPr/>
        </p:nvCxnSpPr>
        <p:spPr>
          <a:xfrm>
            <a:off x="3504438" y="3328415"/>
            <a:ext cx="2334005" cy="0"/>
          </a:xfrm>
          <a:prstGeom prst="line">
            <a:avLst/>
          </a:prstGeom>
          <a:ln w="9525">
            <a:solidFill>
              <a:srgbClr val="E3E4E5"/>
            </a:solidFill>
          </a:ln>
        </p:spPr>
      </p:cxnSp>
      <p:sp>
        <p:nvSpPr>
          <p:cNvPr id="27" name="TextBox 26"/>
          <p:cNvSpPr txBox="1"/>
          <p:nvPr/>
        </p:nvSpPr>
        <p:spPr>
          <a:xfrm>
            <a:off x="3504438"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含まれるもの</a:t>
            </a:r>
          </a:p>
        </p:txBody>
      </p:sp>
      <p:sp>
        <p:nvSpPr>
          <p:cNvPr id="28" name="TextBox 27"/>
          <p:cNvSpPr txBox="1"/>
          <p:nvPr/>
        </p:nvSpPr>
        <p:spPr>
          <a:xfrm>
            <a:off x="3504438"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ご依頼13項目・自主改善2項目</a:t>
            </a:r>
          </a:p>
          <a:p>
            <a:pPr marL="128016" indent="-128016">
              <a:lnSpc>
                <a:spcPct val="110000"/>
              </a:lnSpc>
              <a:spcAft>
                <a:spcPts val="400"/>
              </a:spcAft>
              <a:buClr>
                <a:srgbClr val="26890D"/>
              </a:buClr>
              <a:buFont typeface="Arial"/>
              <a:buChar char="•"/>
            </a:pPr>
            <a:r>
              <a:rPr sz="1000" b="0" lang="ja-JP" altLang="en-US">
                <a:solidFill>
                  <a:srgbClr val="1C1C1E"/>
                </a:solidFill>
              </a:rPr>
              <a:t>機能・改修内容・受付日・状況</a:t>
            </a:r>
          </a:p>
          <a:p>
            <a:pPr marL="128016" indent="-128016">
              <a:lnSpc>
                <a:spcPct val="110000"/>
              </a:lnSpc>
              <a:spcAft>
                <a:spcPts val="400"/>
              </a:spcAft>
              <a:buClr>
                <a:srgbClr val="26890D"/>
              </a:buClr>
              <a:buFont typeface="Arial"/>
              <a:buChar char="•"/>
            </a:pPr>
            <a:r>
              <a:rPr sz="1000" b="0" lang="ja-JP" altLang="en-US">
                <a:solidFill>
                  <a:srgbClr val="1C1C1E"/>
                </a:solidFill>
              </a:rPr>
              <a:t>各改修の修正案・修正記録</a:t>
            </a:r>
          </a:p>
        </p:txBody>
      </p:sp>
      <p:sp>
        <p:nvSpPr>
          <p:cNvPr id="29" name="Rectangle 28"/>
          <p:cNvSpPr/>
          <p:nvPr/>
        </p:nvSpPr>
        <p:spPr>
          <a:xfrm>
            <a:off x="3504438"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状態</a:t>
            </a:r>
          </a:p>
          <a:p>
            <a:pPr algn="l">
              <a:buNone/>
            </a:pPr>
            <a:r>
              <a:rPr sz="900" b="0" lang="ja-JP" altLang="en-US">
                <a:solidFill>
                  <a:srgbClr val="1C1C1E"/>
                </a:solidFill>
              </a:rPr>
              <a:t>すべて検証環境に反映済み（初版への取り込みはp.9で確認）。今後の改修も同じ台帳で管理します</a:t>
            </a:r>
          </a:p>
        </p:txBody>
      </p:sp>
      <p:sp>
        <p:nvSpPr>
          <p:cNvPr id="30" name="Rectangle 29"/>
          <p:cNvSpPr/>
          <p:nvPr/>
        </p:nvSpPr>
        <p:spPr>
          <a:xfrm>
            <a:off x="6167627"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31" name="Rectangle 30"/>
          <p:cNvSpPr/>
          <p:nvPr/>
        </p:nvSpPr>
        <p:spPr>
          <a:xfrm>
            <a:off x="6167627" y="1572768"/>
            <a:ext cx="2699765" cy="1024128"/>
          </a:xfrm>
          <a:prstGeom prst="rect">
            <a:avLst/>
          </a:prstGeom>
          <a:solidFill>
            <a:srgbClr val="046A38"/>
          </a:solidFill>
          <a:ln>
            <a:noFill/>
          </a:ln>
        </p:spPr>
        <p:txBody>
          <a:bodyPr rtlCol="0" anchor="ctr" lIns="73152" rIns="73152" tIns="36576" bIns="36576"/>
          <a:lstStyle/>
          <a:p>
            <a:pPr algn="ctr"/>
          </a:p>
        </p:txBody>
      </p:sp>
      <p:sp>
        <p:nvSpPr>
          <p:cNvPr id="32" name="TextBox 31"/>
          <p:cNvSpPr txBox="1"/>
          <p:nvPr/>
        </p:nvSpPr>
        <p:spPr>
          <a:xfrm>
            <a:off x="6350507"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03</a:t>
            </a:r>
          </a:p>
        </p:txBody>
      </p:sp>
      <p:sp>
        <p:nvSpPr>
          <p:cNvPr id="33" name="TextBox 32"/>
          <p:cNvSpPr txBox="1"/>
          <p:nvPr/>
        </p:nvSpPr>
        <p:spPr>
          <a:xfrm>
            <a:off x="6350507"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ドキュメント4点</a:t>
            </a:r>
          </a:p>
        </p:txBody>
      </p:sp>
      <p:sp>
        <p:nvSpPr>
          <p:cNvPr id="34" name="TextBox 33"/>
          <p:cNvSpPr txBox="1"/>
          <p:nvPr/>
        </p:nvSpPr>
        <p:spPr>
          <a:xfrm>
            <a:off x="6350507"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仕様・構成・マニュアル2種</a:t>
            </a:r>
          </a:p>
        </p:txBody>
      </p:sp>
      <p:sp>
        <p:nvSpPr>
          <p:cNvPr id="35" name="TextBox 34"/>
          <p:cNvSpPr txBox="1"/>
          <p:nvPr/>
        </p:nvSpPr>
        <p:spPr>
          <a:xfrm>
            <a:off x="6350507"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格納場所</a:t>
            </a:r>
          </a:p>
        </p:txBody>
      </p:sp>
      <p:sp>
        <p:nvSpPr>
          <p:cNvPr id="36" name="TextBox 35"/>
          <p:cNvSpPr txBox="1"/>
          <p:nvPr/>
        </p:nvSpPr>
        <p:spPr>
          <a:xfrm>
            <a:off x="6350507"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アプリのフォルダ（doc/・docs/）</a:t>
            </a:r>
          </a:p>
        </p:txBody>
      </p:sp>
      <p:cxnSp>
        <p:nvCxnSpPr>
          <p:cNvPr id="37" name="Connector 36"/>
          <p:cNvCxnSpPr/>
          <p:nvPr/>
        </p:nvCxnSpPr>
        <p:spPr>
          <a:xfrm>
            <a:off x="6350507" y="3328415"/>
            <a:ext cx="2334006" cy="0"/>
          </a:xfrm>
          <a:prstGeom prst="line">
            <a:avLst/>
          </a:prstGeom>
          <a:ln w="9525">
            <a:solidFill>
              <a:srgbClr val="E3E4E5"/>
            </a:solidFill>
          </a:ln>
        </p:spPr>
      </p:cxnSp>
      <p:sp>
        <p:nvSpPr>
          <p:cNvPr id="38" name="TextBox 37"/>
          <p:cNvSpPr txBox="1"/>
          <p:nvPr/>
        </p:nvSpPr>
        <p:spPr>
          <a:xfrm>
            <a:off x="6350507"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含まれるもの</a:t>
            </a:r>
          </a:p>
        </p:txBody>
      </p:sp>
      <p:sp>
        <p:nvSpPr>
          <p:cNvPr id="39" name="TextBox 38"/>
          <p:cNvSpPr txBox="1"/>
          <p:nvPr/>
        </p:nvSpPr>
        <p:spPr>
          <a:xfrm>
            <a:off x="6350507"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アプリ仕様書（引き継ぎ資料）</a:t>
            </a:r>
          </a:p>
          <a:p>
            <a:pPr marL="128016" indent="-128016">
              <a:lnSpc>
                <a:spcPct val="110000"/>
              </a:lnSpc>
              <a:spcAft>
                <a:spcPts val="400"/>
              </a:spcAft>
              <a:buClr>
                <a:srgbClr val="26890D"/>
              </a:buClr>
              <a:buFont typeface="Arial"/>
              <a:buChar char="•"/>
            </a:pPr>
            <a:r>
              <a:rPr sz="1000" b="0" lang="ja-JP" altLang="en-US">
                <a:solidFill>
                  <a:srgbClr val="1C1C1E"/>
                </a:solidFill>
              </a:rPr>
              <a:t>アーキテクチャ</a:t>
            </a:r>
          </a:p>
          <a:p>
            <a:pPr marL="128016" indent="-128016">
              <a:lnSpc>
                <a:spcPct val="110000"/>
              </a:lnSpc>
              <a:spcAft>
                <a:spcPts val="400"/>
              </a:spcAft>
              <a:buClr>
                <a:srgbClr val="26890D"/>
              </a:buClr>
              <a:buFont typeface="Arial"/>
              <a:buChar char="•"/>
            </a:pPr>
            <a:r>
              <a:rPr sz="1000" b="0" lang="ja-JP" altLang="en-US">
                <a:solidFill>
                  <a:srgbClr val="1C1C1E"/>
                </a:solidFill>
              </a:rPr>
              <a:t>利用者マニュアル・開発者マニュアル</a:t>
            </a:r>
          </a:p>
        </p:txBody>
      </p:sp>
      <p:sp>
        <p:nvSpPr>
          <p:cNvPr id="40" name="Rectangle 39"/>
          <p:cNvSpPr/>
          <p:nvPr/>
        </p:nvSpPr>
        <p:spPr>
          <a:xfrm>
            <a:off x="6350507"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状態</a:t>
            </a:r>
          </a:p>
          <a:p>
            <a:pPr algn="l">
              <a:buNone/>
            </a:pPr>
            <a:r>
              <a:rPr sz="900" b="0" lang="ja-JP" altLang="en-US">
                <a:solidFill>
                  <a:srgbClr val="1C1C1E"/>
                </a:solidFill>
              </a:rPr>
              <a:t>マニュアル2種は9/27の改修まで反映済み。仕様書・アーキテクチャは9/25以降の改修を反映した版を移行前にお渡しします</a:t>
            </a:r>
          </a:p>
        </p:txBody>
      </p:sp>
      <p:sp>
        <p:nvSpPr>
          <p:cNvPr id="41" name="Rectangle 40"/>
          <p:cNvSpPr/>
          <p:nvPr/>
        </p:nvSpPr>
        <p:spPr>
          <a:xfrm>
            <a:off x="9013697"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42" name="Rectangle 41"/>
          <p:cNvSpPr/>
          <p:nvPr/>
        </p:nvSpPr>
        <p:spPr>
          <a:xfrm>
            <a:off x="9013697" y="1572768"/>
            <a:ext cx="2699765" cy="1024128"/>
          </a:xfrm>
          <a:prstGeom prst="rect">
            <a:avLst/>
          </a:prstGeom>
          <a:solidFill>
            <a:srgbClr val="046A38"/>
          </a:solidFill>
          <a:ln>
            <a:noFill/>
          </a:ln>
        </p:spPr>
        <p:txBody>
          <a:bodyPr rtlCol="0" anchor="ctr" lIns="73152" rIns="73152" tIns="36576" bIns="36576"/>
          <a:lstStyle/>
          <a:p>
            <a:pPr algn="ctr"/>
          </a:p>
        </p:txBody>
      </p:sp>
      <p:sp>
        <p:nvSpPr>
          <p:cNvPr id="43" name="TextBox 42"/>
          <p:cNvSpPr txBox="1"/>
          <p:nvPr/>
        </p:nvSpPr>
        <p:spPr>
          <a:xfrm>
            <a:off x="9196577"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04</a:t>
            </a:r>
          </a:p>
        </p:txBody>
      </p:sp>
      <p:sp>
        <p:nvSpPr>
          <p:cNvPr id="44" name="TextBox 43"/>
          <p:cNvSpPr txBox="1"/>
          <p:nvPr/>
        </p:nvSpPr>
        <p:spPr>
          <a:xfrm>
            <a:off x="9196577"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運用データ・設定</a:t>
            </a:r>
          </a:p>
        </p:txBody>
      </p:sp>
      <p:sp>
        <p:nvSpPr>
          <p:cNvPr id="45" name="TextBox 44"/>
          <p:cNvSpPr txBox="1"/>
          <p:nvPr/>
        </p:nvSpPr>
        <p:spPr>
          <a:xfrm>
            <a:off x="9196577"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権限・台帳・索引・環境変数</a:t>
            </a:r>
          </a:p>
        </p:txBody>
      </p:sp>
      <p:sp>
        <p:nvSpPr>
          <p:cNvPr id="46" name="TextBox 45"/>
          <p:cNvSpPr txBox="1"/>
          <p:nvPr/>
        </p:nvSpPr>
        <p:spPr>
          <a:xfrm>
            <a:off x="9196577"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格納場所</a:t>
            </a:r>
          </a:p>
        </p:txBody>
      </p:sp>
      <p:sp>
        <p:nvSpPr>
          <p:cNvPr id="47" name="TextBox 46"/>
          <p:cNvSpPr txBox="1"/>
          <p:nvPr/>
        </p:nvSpPr>
        <p:spPr>
          <a:xfrm>
            <a:off x="9196577"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runtime_data/（.envは別途安全に受け渡し）</a:t>
            </a:r>
          </a:p>
        </p:txBody>
      </p:sp>
      <p:cxnSp>
        <p:nvCxnSpPr>
          <p:cNvPr id="48" name="Connector 47"/>
          <p:cNvCxnSpPr/>
          <p:nvPr/>
        </p:nvCxnSpPr>
        <p:spPr>
          <a:xfrm>
            <a:off x="9196577" y="3328415"/>
            <a:ext cx="2334007" cy="0"/>
          </a:xfrm>
          <a:prstGeom prst="line">
            <a:avLst/>
          </a:prstGeom>
          <a:ln w="9525">
            <a:solidFill>
              <a:srgbClr val="E3E4E5"/>
            </a:solidFill>
          </a:ln>
        </p:spPr>
      </p:cxnSp>
      <p:sp>
        <p:nvSpPr>
          <p:cNvPr id="49" name="TextBox 48"/>
          <p:cNvSpPr txBox="1"/>
          <p:nvPr/>
        </p:nvSpPr>
        <p:spPr>
          <a:xfrm>
            <a:off x="9196577"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含まれるもの</a:t>
            </a:r>
          </a:p>
        </p:txBody>
      </p:sp>
      <p:sp>
        <p:nvSpPr>
          <p:cNvPr id="50" name="TextBox 49"/>
          <p:cNvSpPr txBox="1"/>
          <p:nvPr/>
        </p:nvSpPr>
        <p:spPr>
          <a:xfrm>
            <a:off x="9196577"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権限台帳・総会QA台帳</a:t>
            </a:r>
          </a:p>
          <a:p>
            <a:pPr marL="128016" indent="-128016">
              <a:lnSpc>
                <a:spcPct val="110000"/>
              </a:lnSpc>
              <a:spcAft>
                <a:spcPts val="400"/>
              </a:spcAft>
              <a:buClr>
                <a:srgbClr val="26890D"/>
              </a:buClr>
              <a:buFont typeface="Arial"/>
              <a:buChar char="•"/>
            </a:pPr>
            <a:r>
              <a:rPr sz="1000" b="0" lang="ja-JP" altLang="en-US">
                <a:solidFill>
                  <a:srgbClr val="1C1C1E"/>
                </a:solidFill>
              </a:rPr>
              <a:t>検索索引と埋め込みモデル（約520MB）</a:t>
            </a:r>
          </a:p>
          <a:p>
            <a:pPr marL="128016" indent="-128016">
              <a:lnSpc>
                <a:spcPct val="110000"/>
              </a:lnSpc>
              <a:spcAft>
                <a:spcPts val="400"/>
              </a:spcAft>
              <a:buClr>
                <a:srgbClr val="26890D"/>
              </a:buClr>
              <a:buFont typeface="Arial"/>
              <a:buChar char="•"/>
            </a:pPr>
            <a:r>
              <a:rPr sz="1000" b="0" lang="ja-JP" altLang="en-US">
                <a:solidFill>
                  <a:srgbClr val="1C1C1E"/>
                </a:solidFill>
              </a:rPr>
              <a:t>環境変数の一覧（9/27にLLM接続先を更新）</a:t>
            </a:r>
          </a:p>
        </p:txBody>
      </p:sp>
      <p:sp>
        <p:nvSpPr>
          <p:cNvPr id="51" name="Rectangle 50"/>
          <p:cNvSpPr/>
          <p:nvPr/>
        </p:nvSpPr>
        <p:spPr>
          <a:xfrm>
            <a:off x="9196577"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状態</a:t>
            </a:r>
          </a:p>
          <a:p>
            <a:pPr algn="l">
              <a:buNone/>
            </a:pPr>
            <a:r>
              <a:rPr sz="900" b="0" lang="ja-JP" altLang="en-US">
                <a:solidFill>
                  <a:srgbClr val="1C1C1E"/>
                </a:solidFill>
              </a:rPr>
              <a:t>移行手順はREADME・開発者マニュアルに記載。移行作業には立ち会い可能です</a:t>
            </a:r>
          </a:p>
        </p:txBody>
      </p:sp>
      <p:sp>
        <p:nvSpPr>
          <p:cNvPr id="52" name="Rectangle 51"/>
          <p:cNvSpPr/>
          <p:nvPr/>
        </p:nvSpPr>
        <p:spPr>
          <a:xfrm>
            <a:off x="475488" y="5998464"/>
            <a:ext cx="11237976" cy="457200"/>
          </a:xfrm>
          <a:prstGeom prst="rect">
            <a:avLst/>
          </a:prstGeom>
          <a:solidFill>
            <a:srgbClr val="F4F5F5"/>
          </a:solidFill>
          <a:ln>
            <a:noFill/>
          </a:ln>
        </p:spPr>
        <p:txBody>
          <a:bodyPr rtlCol="0" anchor="ctr" lIns="182880" rIns="73152" tIns="36576" bIns="36576" wrap="square"/>
          <a:lstStyle/>
          <a:p>
            <a:pPr algn="l">
              <a:buNone/>
            </a:pPr>
            <a:r>
              <a:rPr sz="900" b="1" lang="ja-JP" altLang="en-US">
                <a:solidFill>
                  <a:srgbClr val="046A38"/>
                </a:solidFill>
              </a:rPr>
              <a:t>10月以降の伴走　</a:t>
            </a:r>
            <a:r>
              <a:rPr sz="900" b="0" lang="ja-JP" altLang="en-US">
                <a:solidFill>
                  <a:srgbClr val="046A38"/>
                </a:solidFill>
              </a:rPr>
              <a:t>セキュア公開の立ち上げはITEC様が主軸。デロイトは技術QA・改修・ドキュメント更新で支援します　／　</a:t>
            </a:r>
            <a:r>
              <a:rPr sz="900" b="1" lang="ja-JP" altLang="en-US">
                <a:solidFill>
                  <a:srgbClr val="046A38"/>
                </a:solidFill>
              </a:rPr>
              <a:t>本日のお願い　</a:t>
            </a:r>
            <a:r>
              <a:rPr sz="900" b="0" lang="ja-JP" altLang="en-US">
                <a:solidFill>
                  <a:srgbClr val="046A38"/>
                </a:solidFill>
              </a:rPr>
              <a:t>上記4点を引継ぎ物としてご了承いただくこと（受領の日程・方法はITEC様とご相談）</a:t>
            </a:r>
          </a:p>
        </p:txBody>
      </p:sp>
    </p:spTree>
    <p:extLst>
      <p:ext uri="{BB962C8B-B14F-4D97-AF65-F5344CB8AC3E}">
        <p14:creationId xmlns:p14="http://schemas.microsoft.com/office/powerpoint/2010/main" val="1734936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Phase2に向けた確認事項</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Phase2に向けて、検証環境の利用期限と、ITEC様主軸での技術的な連携の進め方を確認させてください</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graphicFrame>
        <p:nvGraphicFramePr>
          <p:cNvPr id="8" name="Table 7"/>
          <p:cNvGraphicFramePr>
            <a:graphicFrameLocks noGrp="1"/>
          </p:cNvGraphicFramePr>
          <p:nvPr/>
        </p:nvGraphicFramePr>
        <p:xfrm>
          <a:off x="475488" y="1627632"/>
          <a:ext cx="11237975" cy="3072384"/>
        </p:xfrm>
        <a:graphic>
          <a:graphicData uri="http://schemas.openxmlformats.org/drawingml/2006/table">
            <a:tbl>
              <a:tblPr firstRow="0" bandRow="0">
                <a:tableStyleId>{5C22544A-7EE6-4342-B048-85BDC9FD1C3A}</a:tableStyleId>
              </a:tblPr>
              <a:tblGrid>
                <a:gridCol w="384048"/>
                <a:gridCol w="1874519"/>
                <a:gridCol w="3520440"/>
                <a:gridCol w="3813048"/>
                <a:gridCol w="1645920"/>
              </a:tblGrid>
              <a:tr h="292608">
                <a:tc>
                  <a:txBody>
                    <a:bodyPr wrap="square"/>
                    <a:lstStyle/>
                    <a:p>
                      <a:pPr algn="ctr"/>
                      <a:r>
                        <a:rPr sz="950" b="1" lang="ja-JP" altLang="en-US">
                          <a:solidFill>
                            <a:srgbClr val="FFFFFF"/>
                          </a:solidFill>
                        </a:rPr>
                        <a:t>No</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50" b="1" lang="ja-JP" altLang="en-US">
                          <a:solidFill>
                            <a:srgbClr val="FFFFFF"/>
                          </a:solidFill>
                        </a:rPr>
                        <a:t>論点</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50" b="1" lang="ja-JP" altLang="en-US">
                          <a:solidFill>
                            <a:srgbClr val="FFFFFF"/>
                          </a:solidFill>
                        </a:rPr>
                        <a:t>ご確認したいこと</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50" b="1" lang="ja-JP" altLang="en-US">
                          <a:solidFill>
                            <a:srgbClr val="FFFFFF"/>
                          </a:solidFill>
                        </a:rPr>
                        <a:t>デロイト案</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c>
                  <a:txBody>
                    <a:bodyPr wrap="square"/>
                    <a:lstStyle/>
                    <a:p>
                      <a:pPr algn="ctr"/>
                      <a:r>
                        <a:rPr sz="950" b="1" lang="ja-JP" altLang="en-US">
                          <a:solidFill>
                            <a:srgbClr val="FFFFFF"/>
                          </a:solidFill>
                        </a:rPr>
                        <a:t>決定事項（当日記入）</a:t>
                      </a:r>
                    </a:p>
                  </a:txBody>
                  <a:tcPr marL="64008" marR="64008" marT="27432" marB="27432" anchor="ctr">
                    <a:lnL w="9525" cmpd="sng">
                      <a:solidFill>
                        <a:srgbClr val="FFFFFF"/>
                      </a:solidFill>
                    </a:lnL>
                    <a:lnR w="9525" cmpd="sng">
                      <a:solidFill>
                        <a:srgbClr val="FFFFFF"/>
                      </a:solidFill>
                    </a:lnR>
                    <a:lnT w="9525" cmpd="sng">
                      <a:solidFill>
                        <a:srgbClr val="FFFFFF"/>
                      </a:solidFill>
                    </a:lnT>
                    <a:lnB w="9525" cmpd="sng">
                      <a:solidFill>
                        <a:srgbClr val="FFFFFF"/>
                      </a:solidFill>
                    </a:lnB>
                    <a:solidFill>
                      <a:srgbClr val="63666A"/>
                    </a:solidFill>
                  </a:tcPr>
                </a:tc>
              </a:tr>
              <a:tr h="694944">
                <a:tc>
                  <a:txBody>
                    <a:bodyPr wrap="square"/>
                    <a:lstStyle/>
                    <a:p>
                      <a:pPr algn="ctr"/>
                      <a:r>
                        <a:rPr sz="800" b="0" lang="ja-JP" altLang="en-US">
                          <a:solidFill>
                            <a:srgbClr val="1C1C1E"/>
                          </a:solidFill>
                        </a:rPr>
                        <a:t>1</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1" lang="ja-JP" altLang="en-US">
                          <a:solidFill>
                            <a:srgbClr val="1C1C1E"/>
                          </a:solidFill>
                        </a:rPr>
                        <a:t>検証環境の利用期限</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Phase2に入った後、検証環境（EC2）をいつまで利用できるか</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公開後の改修・検証の場として、少なくとも年内（12月末）まで継続して利用</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694944">
                <a:tc>
                  <a:txBody>
                    <a:bodyPr wrap="square"/>
                    <a:lstStyle/>
                    <a:p>
                      <a:pPr algn="ctr"/>
                      <a:r>
                        <a:rPr sz="800" b="0" lang="ja-JP" altLang="en-US">
                          <a:solidFill>
                            <a:srgbClr val="1C1C1E"/>
                          </a:solidFill>
                        </a:rPr>
                        <a:t>2</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1" lang="ja-JP" altLang="en-US">
                          <a:solidFill>
                            <a:srgbClr val="1C1C1E"/>
                          </a:solidFill>
                        </a:rPr>
                        <a:t>技術的な連携の方法</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セキュア公開の立ち上げはITEC様が主軸。技術的なやりとりが必要なとき、誰と・どの手段で連携するか</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窓口を双方1名に一本化。日常はチャット、週1回の技術定例、障害時は随時</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694944">
                <a:tc>
                  <a:txBody>
                    <a:bodyPr wrap="square"/>
                    <a:lstStyle/>
                    <a:p>
                      <a:pPr algn="ctr"/>
                      <a:r>
                        <a:rPr sz="800" b="0" lang="ja-JP" altLang="en-US">
                          <a:solidFill>
                            <a:srgbClr val="1C1C1E"/>
                          </a:solidFill>
                        </a:rPr>
                        <a:t>3</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1" lang="ja-JP" altLang="en-US">
                          <a:solidFill>
                            <a:srgbClr val="1C1C1E"/>
                          </a:solidFill>
                        </a:rPr>
                        <a:t>使う環境と反映の流れ</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改修・検証・本番反映を、それぞれどの環境で行うか</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デロイトは検証環境で改修・確認 → ソースと改修台帳をITEC様へ → ITEC様がセキュア環境へ反映</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r h="694944">
                <a:tc>
                  <a:txBody>
                    <a:bodyPr wrap="square"/>
                    <a:lstStyle/>
                    <a:p>
                      <a:pPr algn="ctr"/>
                      <a:r>
                        <a:rPr sz="800" b="0" lang="ja-JP" altLang="en-US">
                          <a:solidFill>
                            <a:srgbClr val="1C1C1E"/>
                          </a:solidFill>
                        </a:rPr>
                        <a:t>4</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1" lang="ja-JP" altLang="en-US">
                          <a:solidFill>
                            <a:srgbClr val="1C1C1E"/>
                          </a:solidFill>
                        </a:rPr>
                        <a:t>改修の取り込みタイミング</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FIX後および今後の改修を、セキュア環境にいつ・どの単位で反映するか</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初版公開後は月1回まとめて反映（緊急の修正は随時）</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c>
                  <a:txBody>
                    <a:bodyPr wrap="square"/>
                    <a:lstStyle/>
                    <a:p>
                      <a:pPr algn="l"/>
                      <a:r>
                        <a:rPr sz="1000" b="0" lang="ja-JP" altLang="en-US">
                          <a:solidFill>
                            <a:srgbClr val="1C1C1E"/>
                          </a:solidFill>
                        </a:rPr>
                        <a:t/>
                      </a:r>
                    </a:p>
                  </a:txBody>
                  <a:tcPr marL="64008" marR="64008" marT="27432" marB="27432" anchor="ctr">
                    <a:lnL w="9525" cmpd="sng">
                      <a:solidFill>
                        <a:srgbClr val="C8CACC"/>
                      </a:solidFill>
                    </a:lnL>
                    <a:lnR w="9525" cmpd="sng">
                      <a:solidFill>
                        <a:srgbClr val="C8CACC"/>
                      </a:solidFill>
                    </a:lnR>
                    <a:lnT w="9525" cmpd="sng">
                      <a:solidFill>
                        <a:srgbClr val="C8CACC"/>
                      </a:solidFill>
                    </a:lnT>
                    <a:lnB w="9525" cmpd="sng">
                      <a:solidFill>
                        <a:srgbClr val="C8CACC"/>
                      </a:solidFill>
                    </a:lnB>
                    <a:solidFill>
                      <a:srgbClr val="FFFFFF"/>
                    </a:solidFill>
                  </a:tcPr>
                </a:tc>
              </a:tr>
            </a:tbl>
          </a:graphicData>
        </a:graphic>
      </p:graphicFrame>
      <p:sp>
        <p:nvSpPr>
          <p:cNvPr id="9" name="Rectangle 8"/>
          <p:cNvSpPr/>
          <p:nvPr/>
        </p:nvSpPr>
        <p:spPr>
          <a:xfrm>
            <a:off x="475488" y="5074920"/>
            <a:ext cx="11237976" cy="1143000"/>
          </a:xfrm>
          <a:prstGeom prst="rect">
            <a:avLst/>
          </a:prstGeom>
          <a:solidFill>
            <a:srgbClr val="EEF5EA"/>
          </a:solidFill>
          <a:ln>
            <a:noFill/>
          </a:ln>
        </p:spPr>
        <p:txBody>
          <a:bodyPr rtlCol="0" anchor="ctr"/>
          <a:lstStyle/>
          <a:p/>
        </p:txBody>
      </p:sp>
      <p:sp>
        <p:nvSpPr>
          <p:cNvPr id="10" name="TextBox 9"/>
          <p:cNvSpPr txBox="1"/>
          <p:nvPr/>
        </p:nvSpPr>
        <p:spPr>
          <a:xfrm>
            <a:off x="685800" y="5166360"/>
            <a:ext cx="2743200" cy="274320"/>
          </a:xfrm>
          <a:prstGeom prst="rect">
            <a:avLst/>
          </a:prstGeom>
          <a:noFill/>
        </p:spPr>
        <p:txBody>
          <a:bodyPr wrap="square" lIns="0" rIns="0" tIns="0" bIns="0" anchor="t">
            <a:spAutoFit/>
          </a:bodyPr>
          <a:lstStyle/>
          <a:p>
            <a:pPr algn="l"/>
            <a:r>
              <a:rPr sz="1000" b="1" lang="ja-JP" altLang="en-US">
                <a:solidFill>
                  <a:srgbClr val="046A38"/>
                </a:solidFill>
              </a:rPr>
              <a:t>Phase2の役割分担（前提）</a:t>
            </a:r>
          </a:p>
        </p:txBody>
      </p:sp>
      <p:sp>
        <p:nvSpPr>
          <p:cNvPr id="11" name="Rectangle 10"/>
          <p:cNvSpPr/>
          <p:nvPr/>
        </p:nvSpPr>
        <p:spPr>
          <a:xfrm>
            <a:off x="640080" y="5513832"/>
            <a:ext cx="1325880" cy="502920"/>
          </a:xfrm>
          <a:prstGeom prst="rect">
            <a:avLst/>
          </a:prstGeom>
          <a:solidFill>
            <a:srgbClr val="63666A"/>
          </a:solidFill>
          <a:ln>
            <a:noFill/>
          </a:ln>
        </p:spPr>
        <p:txBody>
          <a:bodyPr rtlCol="0" anchor="ctr" wrap="square" lIns="18288" rIns="18288" tIns="36576" bIns="36576"/>
          <a:lstStyle/>
          <a:p>
            <a:pPr algn="ctr"/>
            <a:r>
              <a:rPr sz="900" b="1" lang="ja-JP" altLang="en-US">
                <a:solidFill>
                  <a:srgbClr val="FFFFFF"/>
                </a:solidFill>
              </a:rPr>
              <a:t>貴社（BX推進部）</a:t>
            </a:r>
          </a:p>
        </p:txBody>
      </p:sp>
      <p:sp>
        <p:nvSpPr>
          <p:cNvPr id="12" name="TextBox 11"/>
          <p:cNvSpPr txBox="1"/>
          <p:nvPr/>
        </p:nvSpPr>
        <p:spPr>
          <a:xfrm>
            <a:off x="2057400" y="5486400"/>
            <a:ext cx="2194560" cy="566928"/>
          </a:xfrm>
          <a:prstGeom prst="rect">
            <a:avLst/>
          </a:prstGeom>
          <a:noFill/>
        </p:spPr>
        <p:txBody>
          <a:bodyPr wrap="square" lIns="0" rIns="0" tIns="0" bIns="0" anchor="ctr">
            <a:spAutoFit/>
          </a:bodyPr>
          <a:lstStyle/>
          <a:p>
            <a:pPr algn="l">
              <a:lnSpc>
                <a:spcPct val="110000"/>
              </a:lnSpc>
            </a:pPr>
            <a:r>
              <a:rPr sz="900" b="0" lang="ja-JP" altLang="en-US">
                <a:solidFill>
                  <a:srgbClr val="1C1C1E"/>
                </a:solidFill>
              </a:rPr>
              <a:t>利用者への展開、実データの配置、要望の取りまとめ</a:t>
            </a:r>
          </a:p>
        </p:txBody>
      </p:sp>
      <p:sp>
        <p:nvSpPr>
          <p:cNvPr id="13" name="Rectangle 12"/>
          <p:cNvSpPr/>
          <p:nvPr/>
        </p:nvSpPr>
        <p:spPr>
          <a:xfrm>
            <a:off x="4343400" y="5513832"/>
            <a:ext cx="1325880" cy="502920"/>
          </a:xfrm>
          <a:prstGeom prst="rect">
            <a:avLst/>
          </a:prstGeom>
          <a:solidFill>
            <a:srgbClr val="046A38"/>
          </a:solidFill>
          <a:ln>
            <a:noFill/>
          </a:ln>
        </p:spPr>
        <p:txBody>
          <a:bodyPr rtlCol="0" anchor="ctr" wrap="square" lIns="18288" rIns="18288" tIns="36576" bIns="36576"/>
          <a:lstStyle/>
          <a:p>
            <a:pPr algn="ctr"/>
            <a:r>
              <a:rPr sz="900" b="1" lang="ja-JP" altLang="en-US">
                <a:solidFill>
                  <a:srgbClr val="FFFFFF"/>
                </a:solidFill>
              </a:rPr>
              <a:t>ITEC様（主軸）</a:t>
            </a:r>
          </a:p>
        </p:txBody>
      </p:sp>
      <p:sp>
        <p:nvSpPr>
          <p:cNvPr id="14" name="TextBox 13"/>
          <p:cNvSpPr txBox="1"/>
          <p:nvPr/>
        </p:nvSpPr>
        <p:spPr>
          <a:xfrm>
            <a:off x="5760720" y="5486400"/>
            <a:ext cx="2194560" cy="566928"/>
          </a:xfrm>
          <a:prstGeom prst="rect">
            <a:avLst/>
          </a:prstGeom>
          <a:noFill/>
        </p:spPr>
        <p:txBody>
          <a:bodyPr wrap="square" lIns="0" rIns="0" tIns="0" bIns="0" anchor="ctr">
            <a:spAutoFit/>
          </a:bodyPr>
          <a:lstStyle/>
          <a:p>
            <a:pPr algn="l">
              <a:lnSpc>
                <a:spcPct val="110000"/>
              </a:lnSpc>
            </a:pPr>
            <a:r>
              <a:rPr sz="900" b="0" lang="ja-JP" altLang="en-US">
                <a:solidFill>
                  <a:srgbClr val="1C1C1E"/>
                </a:solidFill>
              </a:rPr>
              <a:t>セキュア環境の構築・運用、初版の公開、改修の本番反映</a:t>
            </a:r>
          </a:p>
        </p:txBody>
      </p:sp>
      <p:sp>
        <p:nvSpPr>
          <p:cNvPr id="15" name="Rectangle 14"/>
          <p:cNvSpPr/>
          <p:nvPr/>
        </p:nvSpPr>
        <p:spPr>
          <a:xfrm>
            <a:off x="8046719" y="5513832"/>
            <a:ext cx="1325880" cy="502920"/>
          </a:xfrm>
          <a:prstGeom prst="rect">
            <a:avLst/>
          </a:prstGeom>
          <a:solidFill>
            <a:srgbClr val="0D8390"/>
          </a:solidFill>
          <a:ln>
            <a:noFill/>
          </a:ln>
        </p:spPr>
        <p:txBody>
          <a:bodyPr rtlCol="0" anchor="ctr" wrap="square" lIns="18288" rIns="18288" tIns="36576" bIns="36576"/>
          <a:lstStyle/>
          <a:p>
            <a:pPr algn="ctr"/>
            <a:r>
              <a:rPr sz="900" b="1" lang="ja-JP" altLang="en-US">
                <a:solidFill>
                  <a:srgbClr val="FFFFFF"/>
                </a:solidFill>
              </a:rPr>
              <a:t>デロイト（支援）</a:t>
            </a:r>
          </a:p>
        </p:txBody>
      </p:sp>
      <p:sp>
        <p:nvSpPr>
          <p:cNvPr id="16" name="TextBox 15"/>
          <p:cNvSpPr txBox="1"/>
          <p:nvPr/>
        </p:nvSpPr>
        <p:spPr>
          <a:xfrm>
            <a:off x="9464040" y="5486400"/>
            <a:ext cx="2194560" cy="566928"/>
          </a:xfrm>
          <a:prstGeom prst="rect">
            <a:avLst/>
          </a:prstGeom>
          <a:noFill/>
        </p:spPr>
        <p:txBody>
          <a:bodyPr wrap="square" lIns="0" rIns="0" tIns="0" bIns="0" anchor="ctr">
            <a:spAutoFit/>
          </a:bodyPr>
          <a:lstStyle/>
          <a:p>
            <a:pPr algn="l">
              <a:lnSpc>
                <a:spcPct val="110000"/>
              </a:lnSpc>
            </a:pPr>
            <a:r>
              <a:rPr sz="900" b="0" lang="ja-JP" altLang="en-US">
                <a:solidFill>
                  <a:srgbClr val="1C1C1E"/>
                </a:solidFill>
              </a:rPr>
              <a:t>技術QA、検証環境での改修と確認、台帳・ドキュメントの更新</a:t>
            </a:r>
          </a:p>
        </p:txBody>
      </p:sp>
    </p:spTree>
    <p:extLst>
      <p:ext uri="{BB962C8B-B14F-4D97-AF65-F5344CB8AC3E}">
        <p14:creationId xmlns:p14="http://schemas.microsoft.com/office/powerpoint/2010/main" val="1734936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75DD-7687-18CD-6477-EC4CB4A915A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F3CE8E-0BEA-B4D6-42CB-E98F95672D8F}"/>
              </a:ext>
            </a:extLst>
          </p:cNvPr>
          <p:cNvSpPr txBox="1"/>
          <p:nvPr/>
        </p:nvSpPr>
        <p:spPr bwMode="gray">
          <a:xfrm>
            <a:off x="9639300" y="6253004"/>
            <a:ext cx="2073275" cy="246221"/>
          </a:xfrm>
          <a:prstGeom prst="rect">
            <a:avLst/>
          </a:prstGeom>
          <a:noFill/>
          <a:ln>
            <a:noFill/>
          </a:ln>
        </p:spPr>
        <p:txBody>
          <a:bodyPr wrap="square" lIns="0" tIns="0" rIns="0" bIns="0" rtlCol="0">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IS/BCMSそれぞれの認証範囲はこちらをご覧ください</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0" lang="ja-JP" altLang="en-US" sz="800" b="0" i="0" u="sng" strike="noStrike" kern="1200" cap="none" spc="0" normalizeH="0" baseline="0" noProof="0">
                <a:ln>
                  <a:noFill/>
                </a:ln>
                <a:solidFill>
                  <a:srgbClr val="0563C1"/>
                </a:solidFill>
                <a:effectLst/>
                <a:uLnTx/>
                <a:uFillTx/>
                <a:latin typeface="Yu Gothic UI"/>
                <a:ea typeface="Yu Gothic UI"/>
                <a:cs typeface="Arial" charset="0"/>
                <a:hlinkClick r:id="rId3"/>
              </a:rPr>
              <a:t>http://www.bsigroup.com/clientDirectory</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 name="テキスト プレースホルダー 8">
            <a:extLst>
              <a:ext uri="{FF2B5EF4-FFF2-40B4-BE49-F238E27FC236}">
                <a16:creationId xmlns:a16="http://schemas.microsoft.com/office/drawing/2014/main" id="{090CCCCE-6D25-7612-9F7D-A4033FB1AEEC}"/>
              </a:ext>
            </a:extLst>
          </p:cNvPr>
          <p:cNvSpPr txBox="1">
            <a:spLocks/>
          </p:cNvSpPr>
          <p:nvPr/>
        </p:nvSpPr>
        <p:spPr bwMode="gray">
          <a:xfrm>
            <a:off x="358493" y="3470575"/>
            <a:ext cx="8820000" cy="3028650"/>
          </a:xfrm>
          <a:prstGeom prst="rect">
            <a:avLst/>
          </a:prstGeom>
        </p:spPr>
        <p:txBody>
          <a:bodyPr/>
          <a:lst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lang="ja-JP" altLang="en-US">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lang="ja-JP" altLang="en-US">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lang="ja-JP" altLang="en-US">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9pPr>
          </a:lstStyle>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トーマツ グループは、日本におけるデロイト アジア パシフィック リミテッドおよびデロイトネットワークのメンバーである合同会社デロイト トーマツ グループならびにそのグループ法人（有限責任監査法人トーマツ、合同会社デロイト トーマツ、デロイト トーマツ税理士法人およびDT弁護士法人を含む）の総称です。デロイト トーマツ グループは、日本で最大級のプロフェッショナルグループのひとつであり、各法人がそれぞれの適用法令に従いプロフェッショナルサービスを提供しています。また、国内30都市以上に2万人超の専門家を擁し、多国籍企業や主要な日本企業をクライアントとしています。詳細はデロイト トーマツ グループWebサイト、</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4"/>
              </a:rPr>
              <a:t>www.deloitte.com/jp</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Deloitte（デロイト）とは、Deloitte Touche Tohmatsu Limited（“Deloitte Global”）、そのグローバルネットワーク組織を構成するメンバーファームおよびそれらの関係法人（総称して“デロイトネットワーク”）のひとつまたは複数を指します。Deloitte Globalならびに各メンバーファームおよび関係法人はそれぞれ法的に独立した別個の組織体であり、第三者に関して相互に義務を課しまたは拘束させることはありません。Deloitte Globalおよびその各メンバーファームならびに関係法人は、自らの作為および不作為についてのみ責任を負い、互いに他のファームまたは関係法人の作為および不作為について責任を負うものではありません。Deloitte Globalはクライアントへのサービス提供を行いません。詳細は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5"/>
              </a:rPr>
              <a:t>www.deloitte.com/jp/about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br>
              <a:rPr kumimoji="1" lang="ja-JP" altLang="en-US" sz="800" b="0" i="0" u="none" strike="noStrike" kern="1200" cap="none" spc="0" normalizeH="0" baseline="0" noProof="0">
                <a:ln>
                  <a:noFill/>
                </a:ln>
                <a:solidFill>
                  <a:prstClr val="black"/>
                </a:solidFill>
                <a:effectLst/>
                <a:uLnTx/>
                <a:uFillTx/>
                <a:latin typeface="Calibri"/>
                <a:ea typeface="Yu Gothic UI"/>
                <a:cs typeface="+mn-cs"/>
              </a:rPr>
            </a:b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アジア パシフィック リミテッドは保証有限責任会社であり、Deloitte Globalのメンバーファームです。デロイト アジア パシフィック リミテッドのメンバーおよびそれらの関係法人は、それぞれ法的に独立した別個の組織体であり、アジア パシフィックにおける100を超える都市（オークランド、バンコク、北京、ベンガルール、ハノイ、香港、ジャカルタ、クアラルンプール、マニラ、メルボルン、ムンバイ、ニューデリー、大阪、ソウル、上海、シンガポール、シドニー、台北、東京を含む）にてサービスを提供しています。</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Deloitte（デロイト）は、最先端のプロフェッショナルサービスを、Fortune Global 500®の約9割の企業や多数のプライベート（非公開）企業を含むクライアントに提供しています。デロイトは、資本市場に対する社会的な信頼を高め、クライアントの変革と繁栄を促進することで、計測可能で継続性のある成果をもたらすプロフェッショナルの集団です。デロイトは、創設以来180年の歴史を有し、150を超える国・地域にわたって活動を展開しています。 “Making an impact that matters”をパーパス（存在理由）として標榜するデロイトの約46万人の人材の活動の詳細については、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6"/>
              </a:rPr>
              <a:t>www.deloitte.com</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本資料は皆様への情報提供として一般的な情報を掲載するのみであり、Deloitte Touche Tohmatsu Limited (”Deloitte Global”)、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Deloitte Global、そのメンバーファーム、関係法人、社員・職員または代理人のいずれも、本資料に依拠した人に関係して直接または間接に発生したいかなる損失および損害に対しても責任を負いません。Deloitte Globalならびに各メンバーファームおよび関係法人はそれぞれ法的に独立した別個の組織体です。</a:t>
            </a:r>
          </a:p>
        </p:txBody>
      </p:sp>
    </p:spTree>
    <p:extLst>
      <p:ext uri="{BB962C8B-B14F-4D97-AF65-F5344CB8AC3E}">
        <p14:creationId xmlns:p14="http://schemas.microsoft.com/office/powerpoint/2010/main" val="1475542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41"/>
  <p:tag name="EE4P_STYLE_ID" val="076a8867-8b72-4914-890a-d2f9a5d03d9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16:9_J_202507">
  <a:themeElements>
    <a:clrScheme name="Deloitte2025">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8E462FA6-9B00-4E7F-BFC0-B6BC63B792EF}"/>
    </a:ext>
  </a:extLst>
</a:theme>
</file>

<file path=ppt/theme/theme2.xml><?xml version="1.0" encoding="utf-8"?>
<a:theme xmlns:a="http://schemas.openxmlformats.org/drawingml/2006/main" name="DT Template_16:9_J_202507_基本版②">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EC5F9899-8C00-41A7-90E2-1AA9CB841817}"/>
    </a:ext>
  </a:extLst>
</a:theme>
</file>

<file path=ppt/theme/theme3.xml><?xml version="1.0" encoding="utf-8"?>
<a:theme xmlns:a="http://schemas.openxmlformats.org/drawingml/2006/main" name="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4.xml><?xml version="1.0" encoding="utf-8"?>
<a:theme xmlns:a="http://schemas.openxmlformats.org/drawingml/2006/main" name="1_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algn="ctr">
          <a:solidFill>
            <a:srgbClr val="BBBCBC"/>
          </a:solidFill>
          <a:miter lim="800000"/>
          <a:headEnd/>
          <a:tailEnd/>
        </a:ln>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Props1.xml><?xml version="1.0" encoding="utf-8"?>
<ds:datastoreItem xmlns:ds="http://schemas.openxmlformats.org/officeDocument/2006/customXml" ds:itemID="{6F2A2CF3-6367-444C-AA09-0D41A3DD392F}">
  <ds:schemaRefs>
    <ds:schemaRef ds:uri="25a5c49f-f1be-44ee-b7a9-954566e675d2"/>
    <ds:schemaRef ds:uri="736c8bd6-b1a7-463d-a242-abcb0c1a3a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3C562D3-14B2-4A04-B255-084073502BBE}">
  <ds:schemaRefs>
    <ds:schemaRef ds:uri="http://schemas.microsoft.com/sharepoint/v3/contenttype/forms"/>
  </ds:schemaRefs>
</ds:datastoreItem>
</file>

<file path=customXml/itemProps3.xml><?xml version="1.0" encoding="utf-8"?>
<ds:datastoreItem xmlns:ds="http://schemas.openxmlformats.org/officeDocument/2006/customXml" ds:itemID="{C8F75EE8-E51D-4422-BE39-CF7C03367777}">
  <ds:schemaRef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25a5c49f-f1be-44ee-b7a9-954566e675d2"/>
    <ds:schemaRef ds:uri="736c8bd6-b1a7-463d-a242-abcb0c1a3ab7"/>
    <ds:schemaRef ds:uri="http://purl.org/dc/elements/1.1/"/>
    <ds:schemaRef ds:uri="http://schemas.openxmlformats.org/package/2006/metadata/core-properties"/>
    <ds:schemaRef ds:uri="http://purl.org/dc/dcmitype/"/>
    <ds:schemaRef ds:uri="http://purl.org/dc/te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blank</Template>
  <TotalTime>0</TotalTime>
  <Words>2409</Words>
  <Application>Microsoft Office PowerPoint</Application>
  <PresentationFormat>ワイド画面</PresentationFormat>
  <Paragraphs>351</Paragraphs>
  <Slides>14</Slides>
  <Notes>8</Notes>
  <HiddenSlides>0</HiddenSlides>
  <MMClips>0</MMClips>
  <ScaleCrop>false</ScaleCrop>
  <HeadingPairs>
    <vt:vector size="8" baseType="variant">
      <vt:variant>
        <vt:lpstr>使用されているフォント</vt:lpstr>
      </vt:variant>
      <vt:variant>
        <vt:i4>8</vt:i4>
      </vt:variant>
      <vt:variant>
        <vt:lpstr>テーマ</vt:lpstr>
      </vt:variant>
      <vt:variant>
        <vt:i4>4</vt:i4>
      </vt:variant>
      <vt:variant>
        <vt:lpstr>埋め込まれた OLE サーバー</vt:lpstr>
      </vt:variant>
      <vt:variant>
        <vt:i4>2</vt:i4>
      </vt:variant>
      <vt:variant>
        <vt:lpstr>スライド タイトル</vt:lpstr>
      </vt:variant>
      <vt:variant>
        <vt:i4>14</vt:i4>
      </vt:variant>
    </vt:vector>
  </HeadingPairs>
  <TitlesOfParts>
    <vt:vector size="28" baseType="lpstr">
      <vt:lpstr>Yu Gothic UI</vt:lpstr>
      <vt:lpstr>游ゴシック</vt:lpstr>
      <vt:lpstr>Aptos</vt:lpstr>
      <vt:lpstr>Arial</vt:lpstr>
      <vt:lpstr>Calibri</vt:lpstr>
      <vt:lpstr>Verdana</vt:lpstr>
      <vt:lpstr>Wingdings</vt:lpstr>
      <vt:lpstr>Wingdings 2</vt:lpstr>
      <vt:lpstr>DT Template_16:9_J_202507</vt:lpstr>
      <vt:lpstr>DT Template_16:9_J_202507_基本版②</vt:lpstr>
      <vt:lpstr>DT Template_16:9_J_202401</vt:lpstr>
      <vt:lpstr>1_DT Template_16:9_J_202401</vt:lpstr>
      <vt:lpstr>thinkcellスライド</vt:lpstr>
      <vt:lpstr>think-cell スライド</vt:lpstr>
      <vt:lpstr>PowerPoint プレゼンテーション</vt:lpstr>
      <vt:lpstr>本日のアジェンダ</vt:lpstr>
      <vt:lpstr>本日時点ではスケジュール通りの進捗です</vt:lpstr>
      <vt:lpstr>本日のアジェンダ</vt:lpstr>
      <vt:lpstr>本取り組みはスケジュール通り推進されています</vt:lpstr>
      <vt:lpstr>本日のアジェンダ</vt:lpstr>
      <vt:lpstr>残課題への対応を反映したアプリを9月末までにITEC様へ引き渡し、今後のバージョンアップデートにて順次適応します</vt:lpstr>
      <vt:lpstr>残課題への対応を反映したアプリを9月末までにITEC様へ引き渡し、今後のバージョンアップデートにて順次適応します</vt:lpstr>
      <vt:lpstr>アプリ画面にてご説明いたします</vt:lpstr>
      <vt:lpstr>本日のアジェンダ</vt:lpstr>
      <vt:lpstr>10月セキュア公開に向けて、9/11にリリース対象版をFIXし、以降はITEC様が統合テスト・移行準備を主導、デロイトは引継ぎ資料整備、エラー・質疑対応、バックログ整理に注力します</vt:lpstr>
      <vt:lpstr>各種無料APIの利用にはHHHD側でのアカウント登録およびAPI Keyの新規発行が必要です</vt:lpstr>
      <vt:lpstr>Appendix</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Xinlong</dc:creator>
  <cp:lastModifiedBy>Hu, Xinlong</cp:lastModifiedBy>
  <cp:revision>1</cp:revision>
  <dcterms:created xsi:type="dcterms:W3CDTF">2026-06-25T23:44:23Z</dcterms:created>
  <dcterms:modified xsi:type="dcterms:W3CDTF">2026-09-15T12:05:27Z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SIP_Label_ea60d57e-af5b-4752-ac57-3e4f28ca11dc_Enabled">
    <vt:lpwstr>true</vt:lpwstr>
  </property>
  <property fmtid="{D5CDD505-2E9C-101B-9397-08002B2CF9AE}" pid="4" name="MSIP_Label_ea60d57e-af5b-4752-ac57-3e4f28ca11dc_SetDate">
    <vt:lpwstr>2021-11-30T06:12:18Z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177f38b9-1e8a-4270-81d8-98c657c22e6c</vt:lpwstr>
  </property>
  <property fmtid="{D5CDD505-2E9C-101B-9397-08002B2CF9AE}" pid="9" name="MSIP_Label_ea60d57e-af5b-4752-ac57-3e4f28ca11dc_ContentBits">
    <vt:lpwstr>0</vt:lpwstr>
  </property>
  <property fmtid="{D5CDD505-2E9C-101B-9397-08002B2CF9AE}" pid="10" name="MediaServiceImageTags">
    <vt:lpwstr/>
  </property>
</Properties>
</file>