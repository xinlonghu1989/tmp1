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76.xml" ContentType="application/vnd.openxmlformats-officedocument.presentationml.tags+xml"/>
  <Override PartName="/ppt/notesSlides/notesSlide1.xml" ContentType="application/vnd.openxmlformats-officedocument.presentationml.notesSlide+xml"/>
  <Override PartName="/ppt/tags/tag77.xml" ContentType="application/vnd.openxmlformats-officedocument.presentationml.tags+xml"/>
  <Override PartName="/ppt/notesSlides/notesSlide2.xml" ContentType="application/vnd.openxmlformats-officedocument.presentationml.notesSlide+xml"/>
  <Override PartName="/ppt/tags/tag78.xml" ContentType="application/vnd.openxmlformats-officedocument.presentationml.tags+xml"/>
  <Override PartName="/ppt/notesSlides/notesSlide3.xml" ContentType="application/vnd.openxmlformats-officedocument.presentationml.notesSlide+xml"/>
  <Override PartName="/ppt/tags/tag79.xml" ContentType="application/vnd.openxmlformats-officedocument.presentationml.tags+xml"/>
  <Override PartName="/ppt/notesSlides/notesSlide4.xml" ContentType="application/vnd.openxmlformats-officedocument.presentationml.notesSlide+xml"/>
  <Override PartName="/ppt/tags/tag80.xml" ContentType="application/vnd.openxmlformats-officedocument.presentationml.tags+xml"/>
  <Override PartName="/ppt/notesSlides/notesSlide5.xml" ContentType="application/vnd.openxmlformats-officedocument.presentationml.notesSlide+xml"/>
  <Override PartName="/ppt/tags/tag81.xml" ContentType="application/vnd.openxmlformats-officedocument.presentationml.tags+xml"/>
  <Override PartName="/ppt/notesSlides/notesSlide6.xml" ContentType="application/vnd.openxmlformats-officedocument.presentationml.notesSlide+xml"/>
  <Override PartName="/ppt/tags/tag82.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tags/tag83.xml" ContentType="application/vnd.openxmlformats-officedocument.presentationml.tags+xml"/>
  <Override PartName="/ppt/notesSlides/notesSlide8.xml" ContentType="application/vnd.openxmlformats-officedocument.presentationml.notesSlide+xml"/>
  <Override PartName="/ppt/tags/tag8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5.xml" ContentType="application/vnd.openxmlformats-officedocument.presentationml.tags+xml"/>
  <Override PartName="/ppt/notesSlides/notesSlide11.xml" ContentType="application/vnd.openxmlformats-officedocument.presentationml.notesSlide+xml"/>
  <Override PartName="/ppt/tags/tag8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4"/>
    <p:sldMasterId id="2147483919" r:id="rId5"/>
    <p:sldMasterId id="2147483986" r:id="rId6"/>
    <p:sldMasterId id="2147484012" r:id="rId7"/>
  </p:sldMasterIdLst>
  <p:notesMasterIdLst>
    <p:notesMasterId r:id="rId21"/>
  </p:notesMasterIdLst>
  <p:handoutMasterIdLst>
    <p:handoutMasterId r:id="rId22"/>
  </p:handoutMasterIdLst>
  <p:sldIdLst>
    <p:sldId id="2147483641" r:id="rId8"/>
    <p:sldId id="2147483646" r:id="rId9"/>
    <p:sldId id="276" r:id="rId10"/>
    <p:sldId id="277" r:id="rId11"/>
    <p:sldId id="2147483647" r:id="rId12"/>
    <p:sldId id="256" r:id="rId13"/>
    <p:sldId id="257" r:id="rId14"/>
    <p:sldId id="262" r:id="rId15"/>
    <p:sldId id="280" r:id="rId16"/>
    <p:sldId id="281" r:id="rId17"/>
    <p:sldId id="263" r:id="rId18"/>
    <p:sldId id="266" r:id="rId19"/>
    <p:sldId id="274" r:id="rId20"/>
  </p:sldIdLst>
  <p:sldSz cx="12192000" cy="6858000"/>
  <p:notesSz cx="6735763" cy="9866313"/>
  <p:custDataLst>
    <p:tags r:id="rId23"/>
  </p:custDataLst>
  <p:defaultTextStyle>
    <a:defPPr>
      <a:defRPr lang="ja-JP"/>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3" orient="horz" pos="2137" userDrawn="1">
          <p15:clr>
            <a:srgbClr val="A4A3A4"/>
          </p15:clr>
        </p15:guide>
        <p15:guide id="4"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34F904-F128-8147-A709-5BA0B0EDD907}" name="Kato, Yoshiko 1" initials="K1" userId="S::yoshiko1.kato@tohmatsu.co.jp::0536b235-f5eb-4716-8d5f-c14ea1117cc8" providerId="AD"/>
  <p188:author id="{85B9C713-2719-418F-0DB1-FD33C6FBAE59}" name="Mori, Yukiko" initials="MY" userId="S::yukiko.mori@tohmatsu.co.jp::f6c28165-7909-45e9-8c53-3daca56a9b1c" providerId="AD"/>
  <p188:author id="{1E114F58-398E-C9D2-8536-99ABF1D54C77}" name="DLS" initials="u" userId="DLS" providerId="None"/>
  <p188:author id="{5FF94BAC-1D89-45C0-351C-0BB77D8448C6}" name="Fukushima, Rieko" initials="FR" userId="S::rieko.fukushima@tohmatsu.co.jp::42ea695b-0072-4304-903b-cd25183e2212" providerId="AD"/>
  <p188:author id="{668514CC-2331-AEE1-14A9-653540C09CE5}" name="Ochi, Hana" initials="OH" userId="S::haochi@tohmatsu.co.jp::9fa41629-42c7-428e-8d4f-8f774cfc782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hima, Michiru" initials="TM" lastIdx="16" clrIdx="0">
    <p:extLst>
      <p:ext uri="{19B8F6BF-5375-455C-9EA6-DF929625EA0E}">
        <p15:presenceInfo xmlns:p15="http://schemas.microsoft.com/office/powerpoint/2012/main" userId="S::miteshima@tohmatsu.co.jp::4ce32794-bca9-4413-b02a-c3d46948b27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A38"/>
    <a:srgbClr val="9BE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4" dt="2026-10-06T12:27:19.260"/>
    <p1510:client id="{BC7E993F-0038-42DE-B996-B73BA53417CE}" v="4" dt="2026-10-06T13:37:47.030"/>
    <p1510:client id="{C8CB264D-64D6-1592-ABB0-6B93269B8846}" v="2" dt="2026-10-06T12:22:02.97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37"/>
        <p:guide pos="3863"/>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handoutMaster" Target="handoutMasters/handoutMaster1.xml"/><Relationship Id="rId27" Type="http://schemas.openxmlformats.org/officeDocument/2006/relationships/theme" Target="theme/theme1.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1_7389DD7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bar"/>
        <c:grouping val="stacked"/>
        <c:varyColors val="1"/>
        <c:ser>
          <c:idx val="0"/>
          <c:order val="0"/>
          <c:tx>
            <c:strRef>
              <c:f>Sheet1!$B$1</c:f>
              <c:strCache>
                <c:ptCount val="1"/>
                <c:pt idx="0">
                  <c:v>解消</c:v>
                </c:pt>
              </c:strCache>
            </c:strRef>
          </c:tx>
          <c:spPr>
            <a:solidFill>
              <a:srgbClr val="046A38"/>
            </a:solidFill>
            <a:ln>
              <a:noFill/>
            </a:ln>
          </c:spPr>
          <c:invertIfNegative val="1"/>
          <c:dLbls>
            <c:numFmt formatCode="0;;;" sourceLinked="0"/>
            <c:spPr>
              <a:noFill/>
              <a:ln>
                <a:noFill/>
              </a:ln>
              <a:effectLst/>
            </c:spPr>
            <c:txPr>
              <a:bodyPr/>
              <a:lstStyle/>
              <a:p>
                <a:pPr>
                  <a:defRPr lang="ja-JP" altLang="en-US" sz="1100" b="1">
                    <a:solidFill>
                      <a:srgbClr val="FFFFFF"/>
                    </a:solidFill>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一部取得済み（26）</c:v>
                </c:pt>
                <c:pt idx="1">
                  <c:v>取得不可（40）</c:v>
                </c:pt>
                <c:pt idx="2">
                  <c:v>未着手（4）</c:v>
                </c:pt>
              </c:strCache>
            </c:strRef>
          </c:cat>
          <c:val>
            <c:numRef>
              <c:f>Sheet1!$B$2:$B$4</c:f>
              <c:numCache>
                <c:formatCode>General</c:formatCode>
                <c:ptCount val="3"/>
                <c:pt idx="0">
                  <c:v>13</c:v>
                </c:pt>
                <c:pt idx="1">
                  <c:v>6</c:v>
                </c:pt>
                <c:pt idx="2">
                  <c:v>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78A-4869-A70F-E2A25ACACF73}"/>
            </c:ext>
          </c:extLst>
        </c:ser>
        <c:ser>
          <c:idx val="1"/>
          <c:order val="1"/>
          <c:tx>
            <c:strRef>
              <c:f>Sheet1!$C$1</c:f>
              <c:strCache>
                <c:ptCount val="1"/>
                <c:pt idx="0">
                  <c:v>改善</c:v>
                </c:pt>
              </c:strCache>
            </c:strRef>
          </c:tx>
          <c:spPr>
            <a:solidFill>
              <a:srgbClr val="9FB8A8"/>
            </a:solidFill>
            <a:ln>
              <a:noFill/>
            </a:ln>
          </c:spPr>
          <c:invertIfNegative val="1"/>
          <c:dLbls>
            <c:numFmt formatCode="0;;;" sourceLinked="0"/>
            <c:spPr>
              <a:noFill/>
              <a:ln>
                <a:noFill/>
              </a:ln>
              <a:effectLst/>
            </c:spPr>
            <c:txPr>
              <a:bodyPr/>
              <a:lstStyle/>
              <a:p>
                <a:pPr>
                  <a:defRPr lang="ja-JP" altLang="en-US" sz="1100" b="1">
                    <a:solidFill>
                      <a:srgbClr val="262626"/>
                    </a:solidFill>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一部取得済み（26）</c:v>
                </c:pt>
                <c:pt idx="1">
                  <c:v>取得不可（40）</c:v>
                </c:pt>
                <c:pt idx="2">
                  <c:v>未着手（4）</c:v>
                </c:pt>
              </c:strCache>
            </c:strRef>
          </c:cat>
          <c:val>
            <c:numRef>
              <c:f>Sheet1!$C$2:$C$4</c:f>
              <c:numCache>
                <c:formatCode>General</c:formatCode>
                <c:ptCount val="3"/>
                <c:pt idx="0">
                  <c:v>9</c:v>
                </c:pt>
                <c:pt idx="1">
                  <c:v>25</c:v>
                </c:pt>
                <c:pt idx="2">
                  <c:v>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78A-4869-A70F-E2A25ACACF73}"/>
            </c:ext>
          </c:extLst>
        </c:ser>
        <c:ser>
          <c:idx val="2"/>
          <c:order val="2"/>
          <c:tx>
            <c:strRef>
              <c:f>Sheet1!$D$1</c:f>
              <c:strCache>
                <c:ptCount val="1"/>
                <c:pt idx="0">
                  <c:v>変化なし</c:v>
                </c:pt>
              </c:strCache>
            </c:strRef>
          </c:tx>
          <c:spPr>
            <a:solidFill>
              <a:srgbClr val="DCDCDC"/>
            </a:solidFill>
            <a:ln>
              <a:noFill/>
            </a:ln>
          </c:spPr>
          <c:invertIfNegative val="1"/>
          <c:dLbls>
            <c:numFmt formatCode="0;;;" sourceLinked="0"/>
            <c:spPr>
              <a:noFill/>
              <a:ln>
                <a:noFill/>
              </a:ln>
              <a:effectLst/>
            </c:spPr>
            <c:txPr>
              <a:bodyPr/>
              <a:lstStyle/>
              <a:p>
                <a:pPr>
                  <a:defRPr lang="ja-JP" altLang="en-US" sz="1100" b="1">
                    <a:solidFill>
                      <a:srgbClr val="262626"/>
                    </a:solidFill>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一部取得済み（26）</c:v>
                </c:pt>
                <c:pt idx="1">
                  <c:v>取得不可（40）</c:v>
                </c:pt>
                <c:pt idx="2">
                  <c:v>未着手（4）</c:v>
                </c:pt>
              </c:strCache>
            </c:strRef>
          </c:cat>
          <c:val>
            <c:numRef>
              <c:f>Sheet1!$D$2:$D$4</c:f>
              <c:numCache>
                <c:formatCode>General</c:formatCode>
                <c:ptCount val="3"/>
                <c:pt idx="0">
                  <c:v>4</c:v>
                </c:pt>
                <c:pt idx="1">
                  <c:v>9</c:v>
                </c:pt>
                <c:pt idx="2">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78A-4869-A70F-E2A25ACACF73}"/>
            </c:ext>
          </c:extLst>
        </c:ser>
        <c:dLbls>
          <c:showLegendKey val="0"/>
          <c:showVal val="0"/>
          <c:showCatName val="0"/>
          <c:showSerName val="0"/>
          <c:showPercent val="0"/>
          <c:showBubbleSize val="0"/>
        </c:dLbls>
        <c:gapWidth val="45"/>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0D0CE"/>
            </a:solidFill>
          </a:ln>
        </c:spPr>
        <c:txPr>
          <a:bodyPr/>
          <a:lstStyle/>
          <a:p>
            <a:pPr>
              <a:defRPr lang="ja-JP" altLang="en-US" sz="1100">
                <a:solidFill>
                  <a:srgbClr val="262626"/>
                </a:solidFill>
              </a:defRPr>
            </a:pPr>
            <a:endParaRPr lang="ja-JP"/>
          </a:p>
        </c:txPr>
        <c:crossAx val="-2113994440"/>
        <c:crosses val="autoZero"/>
        <c:auto val="1"/>
        <c:lblAlgn val="ctr"/>
        <c:lblOffset val="100"/>
        <c:noMultiLvlLbl val="0"/>
      </c:catAx>
      <c:valAx>
        <c:axId val="-2113994440"/>
        <c:scaling>
          <c:orientation val="minMax"/>
          <c:max val="40"/>
          <c:min val="0"/>
        </c:scaling>
        <c:delete val="1"/>
        <c:axPos val="t"/>
        <c:numFmt formatCode="General" sourceLinked="1"/>
        <c:majorTickMark val="out"/>
        <c:minorTickMark val="none"/>
        <c:tickLblPos val="nextTo"/>
        <c:crossAx val="-2068027336"/>
        <c:crosses val="autoZero"/>
        <c:crossBetween val="between"/>
      </c:valAx>
    </c:plotArea>
    <c:legend>
      <c:legendPos val="t"/>
      <c:overlay val="0"/>
      <c:txPr>
        <a:bodyPr/>
        <a:lstStyle/>
        <a:p>
          <a:pPr>
            <a:defRPr lang="ja-JP" altLang="en-US" sz="1050"/>
          </a:pPr>
          <a:endParaRPr lang="ja-JP"/>
        </a:p>
      </c:txPr>
    </c:legend>
    <c:plotVisOnly val="1"/>
    <c:dispBlanksAs val="gap"/>
    <c:showDLblsOverMax val="1"/>
  </c:chart>
  <c:txPr>
    <a:bodyPr/>
    <a:lstStyle/>
    <a:p>
      <a:pPr>
        <a:defRPr lang="ja-JP" altLang="en-US" sz="1100">
          <a:solidFill>
            <a:srgbClr val="262626"/>
          </a:solidFill>
        </a:defRPr>
      </a:pPr>
      <a:endParaRPr lang="ja-JP" alt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B2EC3375-25C1-4132-8356-F0254E04DDEC}" type="datetimeFigureOut">
              <a:rPr kumimoji="1" lang="ja-JP" altLang="en-US" smtClean="0"/>
              <a:t>2026/10/6</a:t>
            </a:fld>
            <a:endParaRPr kumimoji="1" lang="ja-JP" altLang="en-US"/>
          </a:p>
        </p:txBody>
      </p:sp>
      <p:sp>
        <p:nvSpPr>
          <p:cNvPr id="4" name="フッター プレースホルダー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BC64172F-6366-47B3-B3D8-F99B8E17CF95}" type="slidenum">
              <a:rPr kumimoji="1" lang="ja-JP" altLang="en-US" smtClean="0"/>
              <a:t>‹#›</a:t>
            </a:fld>
            <a:endParaRPr kumimoji="1" lang="ja-JP" altLang="en-US"/>
          </a:p>
        </p:txBody>
      </p:sp>
    </p:spTree>
    <p:extLst>
      <p:ext uri="{BB962C8B-B14F-4D97-AF65-F5344CB8AC3E}">
        <p14:creationId xmlns:p14="http://schemas.microsoft.com/office/powerpoint/2010/main" val="1828479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3" name="日付プレースホルダー 2"/>
          <p:cNvSpPr>
            <a:spLocks noGrp="1"/>
          </p:cNvSpPr>
          <p:nvPr>
            <p:ph type="dt" idx="1"/>
          </p:nvPr>
        </p:nvSpPr>
        <p:spPr>
          <a:xfrm>
            <a:off x="3814763" y="0"/>
            <a:ext cx="2919412" cy="495300"/>
          </a:xfrm>
          <a:prstGeom prst="rect">
            <a:avLst/>
          </a:prstGeom>
        </p:spPr>
        <p:txBody>
          <a:bodyPr vert="horz" lIns="91440" tIns="45720" rIns="91440" bIns="45720"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latin typeface="Aptos" panose="020B0004020202020204" pitchFamily="34" charset="0"/>
              </a:rPr>
              <a:pPr/>
              <a:t>2026/10/6</a:t>
            </a:fld>
            <a:endParaRPr kumimoji="1" lang="ja-JP" altLang="en-US">
              <a:latin typeface="Aptos" panose="020B0004020202020204" pitchFamily="34" charset="0"/>
            </a:endParaRPr>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latin typeface="Aptos" panose="020B0004020202020204" pitchFamily="34" charset="0"/>
            </a:endParaRPr>
          </a:p>
        </p:txBody>
      </p:sp>
      <p:sp>
        <p:nvSpPr>
          <p:cNvPr id="5" name="ノート プレースホルダー 4"/>
          <p:cNvSpPr>
            <a:spLocks noGrp="1"/>
          </p:cNvSpPr>
          <p:nvPr>
            <p:ph type="body" sz="quarter" idx="3"/>
          </p:nvPr>
        </p:nvSpPr>
        <p:spPr>
          <a:xfrm>
            <a:off x="673100" y="4748213"/>
            <a:ext cx="5389563" cy="3884612"/>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6" name="フッター プレースホルダー 5"/>
          <p:cNvSpPr>
            <a:spLocks noGrp="1"/>
          </p:cNvSpPr>
          <p:nvPr>
            <p:ph type="ftr" sz="quarter" idx="4"/>
          </p:nvPr>
        </p:nvSpPr>
        <p:spPr>
          <a:xfrm>
            <a:off x="0" y="9371013"/>
            <a:ext cx="2919413" cy="495300"/>
          </a:xfrm>
          <a:prstGeom prst="rect">
            <a:avLst/>
          </a:prstGeom>
        </p:spPr>
        <p:txBody>
          <a:bodyPr vert="horz" lIns="91440" tIns="45720" rIns="91440" bIns="45720" rtlCol="0" anchor="b"/>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7" name="スライド番号プレースホルダー 6"/>
          <p:cNvSpPr>
            <a:spLocks noGrp="1"/>
          </p:cNvSpPr>
          <p:nvPr>
            <p:ph type="sldNum" sz="quarter" idx="5"/>
          </p:nvPr>
        </p:nvSpPr>
        <p:spPr>
          <a:xfrm>
            <a:off x="3814763" y="9371013"/>
            <a:ext cx="2919412" cy="495300"/>
          </a:xfrm>
          <a:prstGeom prst="rect">
            <a:avLst/>
          </a:prstGeom>
        </p:spPr>
        <p:txBody>
          <a:bodyPr vert="horz" lIns="91440" tIns="45720" rIns="91440" bIns="45720"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latin typeface="Aptos" panose="020B0004020202020204" pitchFamily="34" charset="0"/>
              </a:rPr>
              <a:pPr/>
              <a:t>‹#›</a:t>
            </a:fld>
            <a:endParaRPr kumimoji="1" lang="ja-JP" altLang="en-US">
              <a:latin typeface="Aptos" panose="020B0004020202020204" pitchFamily="34" charset="0"/>
            </a:endParaRPr>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6588B299-FBEB-47AA-8879-672851374028}" type="slidenum">
              <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a:t>
            </a:fld>
            <a:endPar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
        <p:nvSpPr>
          <p:cNvPr id="3243010" name="Rectangle 2"/>
          <p:cNvSpPr>
            <a:spLocks noGrp="1" noRot="1" noChangeAspect="1" noChangeArrowheads="1" noTextEdit="1"/>
          </p:cNvSpPr>
          <p:nvPr>
            <p:ph type="sldImg"/>
          </p:nvPr>
        </p:nvSpPr>
        <p:spPr>
          <a:xfrm>
            <a:off x="106363" y="763588"/>
            <a:ext cx="6675437" cy="3754437"/>
          </a:xfrm>
          <a:ln/>
        </p:spPr>
      </p:sp>
      <p:sp>
        <p:nvSpPr>
          <p:cNvPr id="3243011" name="Rectangle 3"/>
          <p:cNvSpPr>
            <a:spLocks noGrp="1" noChangeArrowheads="1"/>
          </p:cNvSpPr>
          <p:nvPr>
            <p:ph type="body" idx="1"/>
          </p:nvPr>
        </p:nvSpPr>
        <p:spPr/>
        <p:txBody>
          <a:bodyPr/>
          <a:lstStyle/>
          <a:p>
            <a:endParaRPr/>
          </a:p>
        </p:txBody>
      </p:sp>
    </p:spTree>
    <p:extLst>
      <p:ext uri="{BB962C8B-B14F-4D97-AF65-F5344CB8AC3E}">
        <p14:creationId xmlns:p14="http://schemas.microsoft.com/office/powerpoint/2010/main" val="2394225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ED8E-86F6-B61B-CC4C-78D39634B7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478D34-A1BD-C672-9BC4-87CC1564B0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47265D-B101-2A30-79BD-33710DC48466}"/>
              </a:ext>
            </a:extLst>
          </p:cNvPr>
          <p:cNvSpPr>
            <a:spLocks noGrp="1"/>
          </p:cNvSpPr>
          <p:nvPr>
            <p:ph type="body" idx="1"/>
          </p:nvPr>
        </p:nvSpPr>
        <p:spPr/>
        <p:txBody>
          <a:bodyPr/>
          <a:lstStyle/>
          <a:p>
            <a:endParaRPr/>
          </a:p>
        </p:txBody>
      </p:sp>
      <p:sp>
        <p:nvSpPr>
          <p:cNvPr id="4" name="スライド番号プレースホルダー 3">
            <a:extLst>
              <a:ext uri="{FF2B5EF4-FFF2-40B4-BE49-F238E27FC236}">
                <a16:creationId xmlns:a16="http://schemas.microsoft.com/office/drawing/2014/main" id="{EE94A127-E733-011F-639B-1C3FDF8CD2DF}"/>
              </a:ext>
            </a:extLst>
          </p:cNvPr>
          <p:cNvSpPr>
            <a:spLocks noGrp="1"/>
          </p:cNvSpPr>
          <p:nvPr>
            <p:ph type="sldNum" sz="quarter" idx="5"/>
          </p:nvPr>
        </p:nvSpPr>
        <p:spPr/>
        <p:txBody>
          <a:bodyPr/>
          <a:lstStyle/>
          <a:p>
            <a:fld id="{24DE13BB-FCB6-4491-A87D-1E9BA7500F8E}" type="slidenum">
              <a:rPr kumimoji="1" lang="ja-JP" altLang="en-US" smtClean="0"/>
              <a:pPr/>
              <a:t>2</a:t>
            </a:fld>
            <a:endParaRPr kumimoji="1" lang="ja-JP" altLang="en-US"/>
          </a:p>
        </p:txBody>
      </p:sp>
    </p:spTree>
    <p:extLst>
      <p:ext uri="{BB962C8B-B14F-4D97-AF65-F5344CB8AC3E}">
        <p14:creationId xmlns:p14="http://schemas.microsoft.com/office/powerpoint/2010/main" val="2762883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94BD-B15D-0572-61E9-19C6EEE9E4F9}"/>
            </a:ext>
          </a:extLst>
        </p:cNvPr>
        <p:cNvGrpSpPr/>
        <p:nvPr/>
      </p:nvGrpSpPr>
      <p:grpSpPr>
        <a:xfrm>
          <a:off x="0" y="0"/>
          <a:ext cx="0" cy="0"/>
          <a:chOff x="0" y="0"/>
          <a:chExt cx="0" cy="0"/>
        </a:xfrm>
      </p:grpSpPr>
      <p:sp>
        <p:nvSpPr>
          <p:cNvPr id="2" name="スライド イメージ プレースホルダ 1">
            <a:extLst>
              <a:ext uri="{FF2B5EF4-FFF2-40B4-BE49-F238E27FC236}">
                <a16:creationId xmlns:a16="http://schemas.microsoft.com/office/drawing/2014/main" id="{EC5B7F68-382E-3C62-BBCC-5FFD83DA06B7}"/>
              </a:ext>
            </a:extLst>
          </p:cNvPr>
          <p:cNvSpPr>
            <a:spLocks noGrp="1" noRot="1" noChangeAspect="1"/>
          </p:cNvSpPr>
          <p:nvPr>
            <p:ph type="sldImg"/>
          </p:nvPr>
        </p:nvSpPr>
        <p:spPr>
          <a:xfrm>
            <a:off x="468313" y="1270000"/>
            <a:ext cx="6092825" cy="3427413"/>
          </a:xfrm>
        </p:spPr>
        <p:txBody>
          <a:bodyPr/>
          <a:lstStyle/>
          <a:p>
            <a:endParaRPr lang="ja-JP" altLang="en-US"/>
          </a:p>
        </p:txBody>
      </p:sp>
      <p:sp>
        <p:nvSpPr>
          <p:cNvPr id="3" name="ノート プレースホルダ 2">
            <a:extLst>
              <a:ext uri="{FF2B5EF4-FFF2-40B4-BE49-F238E27FC236}">
                <a16:creationId xmlns:a16="http://schemas.microsoft.com/office/drawing/2014/main" id="{CB319246-651C-8051-478D-CD5ED55D4246}"/>
              </a:ext>
            </a:extLst>
          </p:cNvPr>
          <p:cNvSpPr>
            <a:spLocks noGrp="1"/>
          </p:cNvSpPr>
          <p:nvPr>
            <p:ph type="body" idx="1"/>
          </p:nvPr>
        </p:nvSpPr>
        <p:spPr/>
        <p:txBody>
          <a:bodyPr>
            <a:normAutofit/>
          </a:bodyPr>
          <a:lstStyle/>
          <a:p>
            <a:endParaRPr kumimoji="1" lang="ja-JP" altLang="en-US"/>
          </a:p>
        </p:txBody>
      </p:sp>
      <p:sp>
        <p:nvSpPr>
          <p:cNvPr id="4" name="スライド番号プレースホルダ 3">
            <a:extLst>
              <a:ext uri="{FF2B5EF4-FFF2-40B4-BE49-F238E27FC236}">
                <a16:creationId xmlns:a16="http://schemas.microsoft.com/office/drawing/2014/main" id="{41818E94-EA25-F321-EDFF-7FBCF691C79D}"/>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86A06DAD-44D3-4EA7-8DE4-9E33DC7017BE}" type="slidenum">
              <a:rPr kumimoji="0" lang="ja-JP" altLang="en-US" sz="1200" b="0" i="0" u="none" strike="noStrike" kern="1200" cap="none" spc="0" normalizeH="0" baseline="0" noProof="0" smtClean="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13</a:t>
            </a:fld>
            <a:endPar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Tree>
    <p:extLst>
      <p:ext uri="{BB962C8B-B14F-4D97-AF65-F5344CB8AC3E}">
        <p14:creationId xmlns:p14="http://schemas.microsoft.com/office/powerpoint/2010/main" val="28752958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oleObject" Target="../embeddings/oleObject20.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oleObject" Target="../embeddings/oleObject21.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22.bin"/><Relationship Id="rId7"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22.bin"/><Relationship Id="rId7"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3.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44.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5.xml"/><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6.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7.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8.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9.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50.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2.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5.bin"/><Relationship Id="rId7" Type="http://schemas.openxmlformats.org/officeDocument/2006/relationships/image" Target="../media/image10.png"/><Relationship Id="rId2" Type="http://schemas.openxmlformats.org/officeDocument/2006/relationships/slideMaster" Target="../slideMasters/slideMaster3.xml"/><Relationship Id="rId1" Type="http://schemas.openxmlformats.org/officeDocument/2006/relationships/tags" Target="../tags/tag53.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6.bin"/><Relationship Id="rId7" Type="http://schemas.openxmlformats.org/officeDocument/2006/relationships/image" Target="../media/image10.png"/><Relationship Id="rId2" Type="http://schemas.openxmlformats.org/officeDocument/2006/relationships/slideMaster" Target="../slideMasters/slideMaster3.xml"/><Relationship Id="rId1" Type="http://schemas.openxmlformats.org/officeDocument/2006/relationships/tags" Target="../tags/tag54.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3.xml"/><Relationship Id="rId1" Type="http://schemas.openxmlformats.org/officeDocument/2006/relationships/tags" Target="../tags/tag55.xml"/><Relationship Id="rId4" Type="http://schemas.openxmlformats.org/officeDocument/2006/relationships/image" Target="../media/image14.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57.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58.xml"/><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59.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60.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1.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2.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65.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66.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6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6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69.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70.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71.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72.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oleObject" Target="../embeddings/oleObject39.bin"/><Relationship Id="rId5" Type="http://schemas.openxmlformats.org/officeDocument/2006/relationships/image" Target="../media/image15.emf"/><Relationship Id="rId4" Type="http://schemas.openxmlformats.org/officeDocument/2006/relationships/oleObject" Target="../embeddings/oleObject38.bin"/></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75.xml"/><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noChangeAspect="1"/>
          </p:cNvGraphicFramePr>
          <p:nvPr userDrawn="1">
            <p:custDataLst>
              <p:tags r:id="rId1"/>
            </p:custDataLst>
            <p:extLst>
              <p:ext uri="{D42A27DB-BD31-4B8C-83A1-F6EECF244321}">
                <p14:modId xmlns:p14="http://schemas.microsoft.com/office/powerpoint/2010/main" val="2077041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ja-JP"/>
              <a:t>&lt; Confidential &gt;</a:t>
            </a:r>
          </a:p>
        </p:txBody>
      </p:sp>
    </p:spTree>
    <p:extLst>
      <p:ext uri="{BB962C8B-B14F-4D97-AF65-F5344CB8AC3E}">
        <p14:creationId xmlns:p14="http://schemas.microsoft.com/office/powerpoint/2010/main" val="1058155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noChangeAspect="1"/>
          </p:cNvGraphicFramePr>
          <p:nvPr userDrawn="1">
            <p:custDataLst>
              <p:tags r:id="rId1"/>
            </p:custDataLst>
            <p:extLst>
              <p:ext uri="{D42A27DB-BD31-4B8C-83A1-F6EECF244321}">
                <p14:modId xmlns:p14="http://schemas.microsoft.com/office/powerpoint/2010/main" val="29786175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ja-JP"/>
              <a:t>&lt; Confidential &gt;</a:t>
            </a:r>
          </a:p>
        </p:txBody>
      </p:sp>
    </p:spTree>
    <p:extLst>
      <p:ext uri="{BB962C8B-B14F-4D97-AF65-F5344CB8AC3E}">
        <p14:creationId xmlns:p14="http://schemas.microsoft.com/office/powerpoint/2010/main" val="2543739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noChangeAspect="1"/>
          </p:cNvGraphicFramePr>
          <p:nvPr userDrawn="1">
            <p:custDataLst>
              <p:tags r:id="rId1"/>
            </p:custDataLst>
            <p:extLst>
              <p:ext uri="{D42A27DB-BD31-4B8C-83A1-F6EECF244321}">
                <p14:modId xmlns:p14="http://schemas.microsoft.com/office/powerpoint/2010/main" val="52417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tx1"/>
                </a:solidFill>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ja-JP"/>
              <a:t>&lt; Confidential &gt;</a:t>
            </a:r>
          </a:p>
        </p:txBody>
      </p:sp>
    </p:spTree>
    <p:extLst>
      <p:ext uri="{BB962C8B-B14F-4D97-AF65-F5344CB8AC3E}">
        <p14:creationId xmlns:p14="http://schemas.microsoft.com/office/powerpoint/2010/main" val="19147821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noChangeAspect="1"/>
          </p:cNvGraphicFramePr>
          <p:nvPr userDrawn="1">
            <p:custDataLst>
              <p:tags r:id="rId1"/>
            </p:custDataLst>
            <p:extLst>
              <p:ext uri="{D42A27DB-BD31-4B8C-83A1-F6EECF244321}">
                <p14:modId xmlns:p14="http://schemas.microsoft.com/office/powerpoint/2010/main" val="3840800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ja-JP"/>
              <a:t>&lt; Confidential &gt;</a:t>
            </a:r>
          </a:p>
        </p:txBody>
      </p:sp>
    </p:spTree>
    <p:extLst>
      <p:ext uri="{BB962C8B-B14F-4D97-AF65-F5344CB8AC3E}">
        <p14:creationId xmlns:p14="http://schemas.microsoft.com/office/powerpoint/2010/main" val="81691670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noChangeAspect="1"/>
          </p:cNvGraphicFramePr>
          <p:nvPr userDrawn="1">
            <p:custDataLst>
              <p:tags r:id="rId1"/>
            </p:custDataLst>
            <p:extLst>
              <p:ext uri="{D42A27DB-BD31-4B8C-83A1-F6EECF244321}">
                <p14:modId xmlns:p14="http://schemas.microsoft.com/office/powerpoint/2010/main" val="2801338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ja-JP" altLang="ja-JP" noProof="0"/>
              <a:t>2 </a:t>
            </a:r>
            <a:r>
              <a:rPr lang="ja-JP" altLang="en-US" noProof="0"/>
              <a:t>レベル</a:t>
            </a:r>
          </a:p>
          <a:p>
            <a:pPr lvl="2"/>
            <a:r>
              <a:rPr lang="ja-JP" altLang="en-US" noProof="0"/>
              <a:t>第 </a:t>
            </a:r>
            <a:r>
              <a:rPr lang="ja-JP" altLang="ja-JP" noProof="0"/>
              <a:t>3 </a:t>
            </a:r>
            <a:r>
              <a:rPr lang="ja-JP" altLang="en-US" noProof="0"/>
              <a:t>レベル</a:t>
            </a:r>
          </a:p>
          <a:p>
            <a:pPr lvl="3"/>
            <a:r>
              <a:rPr lang="ja-JP" altLang="en-US" noProof="0"/>
              <a:t>第 </a:t>
            </a:r>
            <a:r>
              <a:rPr lang="ja-JP"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ja-JP" altLang="ja-JP" noProof="0"/>
              <a:t>2 </a:t>
            </a:r>
            <a:r>
              <a:rPr lang="ja-JP" altLang="en-US" noProof="0"/>
              <a:t>レベル</a:t>
            </a:r>
          </a:p>
          <a:p>
            <a:pPr lvl="2"/>
            <a:r>
              <a:rPr lang="ja-JP" altLang="en-US" noProof="0"/>
              <a:t>第 </a:t>
            </a:r>
            <a:r>
              <a:rPr lang="ja-JP" altLang="ja-JP" noProof="0"/>
              <a:t>3 </a:t>
            </a:r>
            <a:r>
              <a:rPr lang="ja-JP" altLang="en-US" noProof="0"/>
              <a:t>レベル</a:t>
            </a:r>
          </a:p>
          <a:p>
            <a:pPr lvl="3"/>
            <a:r>
              <a:rPr lang="ja-JP" altLang="en-US" noProof="0"/>
              <a:t>第 </a:t>
            </a:r>
            <a:r>
              <a:rPr lang="ja-JP"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8290319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1797872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defRPr>
            </a:lvl1pPr>
          </a:lstStyle>
          <a:p>
            <a:r>
              <a:rPr lang="ja-JP" altLang="en-GB"/>
              <a:t>DT Template 16:9</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n-lt"/>
                <a:ea typeface="+mn-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tx1"/>
                </a:solidFill>
                <a:latin typeface="+mn-lt"/>
                <a:ea typeface="+mn-ea"/>
                <a:cs typeface="+mn-cs"/>
              </a:rPr>
              <a:t>© 2025. For information, contact Deloitte Tohmatsu Group.</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3160910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ja-JP" altLang="en-GB"/>
              <a:t>DT Template 16:9</a:t>
            </a:r>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662600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ja-JP" altLang="en-GB"/>
              <a:t>DT Template 16:9</a:t>
            </a:r>
          </a:p>
        </p:txBody>
      </p:sp>
    </p:spTree>
    <p:extLst>
      <p:ext uri="{BB962C8B-B14F-4D97-AF65-F5344CB8AC3E}">
        <p14:creationId xmlns:p14="http://schemas.microsoft.com/office/powerpoint/2010/main" val="3451464051"/>
      </p:ext>
    </p:extLst>
  </p:cSld>
  <p:clrMapOvr>
    <a:overrideClrMapping bg1="dk1" tx1="lt1" bg2="dk2" tx2="lt2" accent1="accent1" accent2="accent2" accent3="accent3" accent4="accent4" accent5="accent5" accent6="accent6" hlink="hlink" folHlink="folHlink"/>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008708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ja-JP" altLang="en-GB"/>
              <a:t>DT Template 16:9</a:t>
            </a:r>
          </a:p>
        </p:txBody>
      </p:sp>
    </p:spTree>
    <p:extLst>
      <p:ext uri="{BB962C8B-B14F-4D97-AF65-F5344CB8AC3E}">
        <p14:creationId xmlns:p14="http://schemas.microsoft.com/office/powerpoint/2010/main" val="3827265758"/>
      </p:ext>
    </p:extLst>
  </p:cSld>
  <p:clrMapOvr>
    <a:overrideClrMapping bg1="dk1" tx1="lt1" bg2="dk2" tx2="lt2" accent1="accent1" accent2="accent2" accent3="accent3" accent4="accent4" accent5="accent5" accent6="accent6" hlink="hlink" folHlink="folHlink"/>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887264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ja-JP" altLang="en-GB"/>
              <a:t>DT Template 16:9</a:t>
            </a:r>
          </a:p>
        </p:txBody>
      </p:sp>
    </p:spTree>
    <p:extLst>
      <p:ext uri="{BB962C8B-B14F-4D97-AF65-F5344CB8AC3E}">
        <p14:creationId xmlns:p14="http://schemas.microsoft.com/office/powerpoint/2010/main" val="1056419782"/>
      </p:ext>
    </p:extLst>
  </p:cSld>
  <p:clrMapOvr>
    <a:overrideClrMapping bg1="dk1" tx1="lt1" bg2="dk2" tx2="lt2" accent1="accent1" accent2="accent2" accent3="accent3" accent4="accent4" accent5="accent5" accent6="accent6" hlink="hlink" folHlink="folHlink"/>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385180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3856995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81626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9604718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352086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fontAlgn="auto">
              <a:lnSpc>
                <a:spcPct val="100000"/>
              </a:lnSpc>
              <a:spcBef>
                <a:spcPts val="0"/>
              </a:spcBef>
              <a:defRPr lang="ja-JP" altLang="en-US" sz="1800" b="1" baseline="0" dirty="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Tree>
    <p:extLst>
      <p:ext uri="{BB962C8B-B14F-4D97-AF65-F5344CB8AC3E}">
        <p14:creationId xmlns:p14="http://schemas.microsoft.com/office/powerpoint/2010/main" val="990928838"/>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634183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ja-JP" altLang="ja-JP"/>
              <a:t>2 </a:t>
            </a:r>
            <a:r>
              <a:rPr lang="ja-JP" altLang="en-US"/>
              <a:t>レベル</a:t>
            </a:r>
          </a:p>
          <a:p>
            <a:pPr lvl="2"/>
            <a:r>
              <a:rPr lang="ja-JP" altLang="en-US"/>
              <a:t>第 </a:t>
            </a:r>
            <a:r>
              <a:rPr lang="ja-JP" altLang="ja-JP"/>
              <a:t>3 </a:t>
            </a:r>
            <a:r>
              <a:rPr lang="ja-JP" altLang="en-US"/>
              <a:t>レベル</a:t>
            </a:r>
          </a:p>
          <a:p>
            <a:pPr lvl="3"/>
            <a:r>
              <a:rPr lang="ja-JP" altLang="en-US"/>
              <a:t>第 </a:t>
            </a:r>
            <a:r>
              <a:rPr lang="ja-JP"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Tree>
    <p:extLst>
      <p:ext uri="{BB962C8B-B14F-4D97-AF65-F5344CB8AC3E}">
        <p14:creationId xmlns:p14="http://schemas.microsoft.com/office/powerpoint/2010/main" val="1102250517"/>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17177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393595963"/>
      </p:ext>
    </p:extLst>
  </p:cSld>
  <p:clrMapOvr>
    <a:overrideClrMapping bg1="dk1" tx1="lt1" bg2="dk2" tx2="lt2" accent1="accent1" accent2="accent2" accent3="accent3" accent4="accent4" accent5="accent5" accent6="accent6" hlink="hlink" folHlink="folHlink"/>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3142341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79616805"/>
      </p:ext>
    </p:extLst>
  </p:cSld>
  <p:clrMapOvr>
    <a:overrideClrMapping bg1="dk1" tx1="lt1" bg2="dk2" tx2="lt2" accent1="accent1" accent2="accent2" accent3="accent3" accent4="accent4" accent5="accent5" accent6="accent6" hlink="hlink" folHlink="folHlink"/>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7918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a:lnSpc>
                <a:spcPct val="100000"/>
              </a:lnSpc>
              <a:spcBef>
                <a:spcPts val="0"/>
              </a:spcBef>
              <a:defRPr lang="ja-JP" altLang="en-US" sz="1800" b="1" baseline="0" dirty="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4117697671"/>
      </p:ext>
    </p:extLst>
  </p:cSld>
  <p:clrMapOvr>
    <a:overrideClrMapping bg1="dk1" tx1="lt1" bg2="dk2" tx2="lt2" accent1="accent1" accent2="accent2" accent3="accent3" accent4="accent4" accent5="accent5" accent6="accent6" hlink="hlink" folHlink="folHlink"/>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505953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ja-JP" altLang="ja-JP"/>
              <a:t>2 </a:t>
            </a:r>
            <a:r>
              <a:rPr lang="ja-JP" altLang="en-US"/>
              <a:t>レベル</a:t>
            </a:r>
          </a:p>
          <a:p>
            <a:pPr lvl="2"/>
            <a:r>
              <a:rPr lang="ja-JP" altLang="en-US"/>
              <a:t>第 </a:t>
            </a:r>
            <a:r>
              <a:rPr lang="ja-JP" altLang="ja-JP"/>
              <a:t>3 </a:t>
            </a:r>
            <a:r>
              <a:rPr lang="ja-JP" altLang="en-US"/>
              <a:t>レベル</a:t>
            </a:r>
          </a:p>
          <a:p>
            <a:pPr lvl="3"/>
            <a:r>
              <a:rPr lang="ja-JP" altLang="en-US"/>
              <a:t>第 </a:t>
            </a:r>
            <a:r>
              <a:rPr lang="ja-JP"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152593637"/>
      </p:ext>
    </p:extLst>
  </p:cSld>
  <p:clrMapOvr>
    <a:overrideClrMapping bg1="dk1" tx1="lt1" bg2="dk2" tx2="lt2" accent1="accent1" accent2="accent2" accent3="accent3" accent4="accent4" accent5="accent5" accent6="accent6" hlink="hlink" folHlink="folHlink"/>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3868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ja-JP" altLang="ja-JP" sz="800">
                <a:solidFill>
                  <a:prstClr val="black"/>
                </a:solidFill>
                <a:latin typeface="+mn-lt"/>
                <a:ea typeface="+mn-ea"/>
                <a:cs typeface="+mn-cs"/>
                <a:sym typeface="+mn-lt"/>
              </a:rPr>
              <a:t>Member of</a:t>
            </a:r>
            <a:br>
              <a:rPr kumimoji="1" lang="ja-JP" altLang="ja-JP" sz="800">
                <a:solidFill>
                  <a:prstClr val="black"/>
                </a:solidFill>
                <a:latin typeface="+mn-lt"/>
                <a:ea typeface="+mn-ea"/>
                <a:cs typeface="+mn-cs"/>
                <a:sym typeface="+mn-lt"/>
              </a:rPr>
            </a:br>
            <a:r>
              <a:rPr kumimoji="1" lang="ja-JP" altLang="ja-JP" sz="800" b="1">
                <a:solidFill>
                  <a:prstClr val="black"/>
                </a:solidFill>
                <a:latin typeface="+mn-lt"/>
                <a:ea typeface="+mn-ea"/>
                <a:cs typeface="+mn-cs"/>
                <a:sym typeface="+mn-lt"/>
              </a:rPr>
              <a:t>Deloitte </a:t>
            </a:r>
            <a:r>
              <a:rPr kumimoji="1" lang="ja-JP" altLang="ja-JP" sz="800" b="1" err="1">
                <a:solidFill>
                  <a:prstClr val="black"/>
                </a:solidFill>
                <a:latin typeface="+mn-lt"/>
                <a:ea typeface="+mn-ea"/>
                <a:cs typeface="+mn-cs"/>
                <a:sym typeface="+mn-lt"/>
              </a:rPr>
              <a:t>Touche</a:t>
            </a:r>
            <a:r>
              <a:rPr kumimoji="1" lang="ja-JP"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tx1"/>
                </a:solidFill>
                <a:latin typeface="+mn-lt"/>
                <a:ea typeface="+mn-ea"/>
                <a:cs typeface="+mn-cs"/>
                <a:sym typeface="+mn-lt"/>
              </a:rPr>
              <a:t>© 2025.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32220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pic>
        <p:nvPicPr>
          <p:cNvPr id="5" name="Picture 3">
            <a:extLst>
              <a:ext uri="{FF2B5EF4-FFF2-40B4-BE49-F238E27FC236}">
                <a16:creationId xmlns:a16="http://schemas.microsoft.com/office/drawing/2014/main" id="{68101465-63EE-D2BF-35AA-692852B492F9}"/>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1578249305"/>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5665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ja-JP" altLang="ja-JP" sz="800">
                <a:solidFill>
                  <a:prstClr val="black"/>
                </a:solidFill>
                <a:latin typeface="+mn-lt"/>
                <a:ea typeface="+mn-ea"/>
                <a:cs typeface="+mn-cs"/>
                <a:sym typeface="+mn-lt"/>
              </a:rPr>
              <a:t>Member of</a:t>
            </a:r>
            <a:br>
              <a:rPr kumimoji="1" lang="ja-JP" altLang="ja-JP" sz="800">
                <a:solidFill>
                  <a:prstClr val="black"/>
                </a:solidFill>
                <a:latin typeface="+mn-lt"/>
                <a:ea typeface="+mn-ea"/>
                <a:cs typeface="+mn-cs"/>
                <a:sym typeface="+mn-lt"/>
              </a:rPr>
            </a:br>
            <a:r>
              <a:rPr kumimoji="1" lang="ja-JP" altLang="ja-JP" sz="800" b="1">
                <a:solidFill>
                  <a:prstClr val="black"/>
                </a:solidFill>
                <a:latin typeface="+mn-lt"/>
                <a:ea typeface="+mn-ea"/>
                <a:cs typeface="+mn-cs"/>
                <a:sym typeface="+mn-lt"/>
              </a:rPr>
              <a:t>Deloitte </a:t>
            </a:r>
            <a:r>
              <a:rPr kumimoji="1" lang="ja-JP" altLang="ja-JP" sz="800" b="1" err="1">
                <a:solidFill>
                  <a:prstClr val="black"/>
                </a:solidFill>
                <a:latin typeface="+mn-lt"/>
                <a:ea typeface="+mn-ea"/>
                <a:cs typeface="+mn-cs"/>
                <a:sym typeface="+mn-lt"/>
              </a:rPr>
              <a:t>Touche</a:t>
            </a:r>
            <a:r>
              <a:rPr kumimoji="1" lang="ja-JP"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tx1"/>
                </a:solidFill>
                <a:latin typeface="+mn-lt"/>
                <a:ea typeface="+mn-ea"/>
                <a:cs typeface="+mn-cs"/>
                <a:sym typeface="+mn-lt"/>
              </a:rPr>
              <a:t>© 2025.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bwMode="gray">
          <a:xfrm>
            <a:off x="478800" y="431005"/>
            <a:ext cx="3721455" cy="632962"/>
          </a:xfrm>
          <a:prstGeom prst="rect">
            <a:avLst/>
          </a:prstGeom>
          <a:noFill/>
          <a:ln>
            <a:noFill/>
          </a:ln>
        </p:spPr>
      </p:pic>
      <p:pic>
        <p:nvPicPr>
          <p:cNvPr id="3" name="Picture 3">
            <a:extLst>
              <a:ext uri="{FF2B5EF4-FFF2-40B4-BE49-F238E27FC236}">
                <a16:creationId xmlns:a16="http://schemas.microsoft.com/office/drawing/2014/main" id="{7AA5F3BE-2C73-21B4-1792-CE7804C9094E}"/>
              </a:ext>
            </a:extLst>
          </p:cNvPr>
          <p:cNvPicPr>
            <a:picLocks noChangeAspect="1"/>
          </p:cNvPicPr>
          <p:nvPr userDrawn="1"/>
        </p:nvPicPr>
        <p:blipFill>
          <a:blip r:embed="rId6"/>
          <a:srcRect/>
          <a:stretch/>
        </p:blipFill>
        <p:spPr>
          <a:xfrm>
            <a:off x="10694852" y="5436000"/>
            <a:ext cx="1198880" cy="1198880"/>
          </a:xfrm>
          <a:prstGeom prst="rect">
            <a:avLst/>
          </a:prstGeom>
        </p:spPr>
      </p:pic>
      <p:grpSp>
        <p:nvGrpSpPr>
          <p:cNvPr id="5" name="グループ化 4">
            <a:extLst>
              <a:ext uri="{FF2B5EF4-FFF2-40B4-BE49-F238E27FC236}">
                <a16:creationId xmlns:a16="http://schemas.microsoft.com/office/drawing/2014/main" id="{E553D118-33B9-8047-F5CF-3B03F130350F}"/>
              </a:ext>
            </a:extLst>
          </p:cNvPr>
          <p:cNvGrpSpPr/>
          <p:nvPr userDrawn="1"/>
        </p:nvGrpSpPr>
        <p:grpSpPr>
          <a:xfrm>
            <a:off x="10270800" y="3222000"/>
            <a:ext cx="1440000" cy="1894801"/>
            <a:chOff x="8050246" y="4451478"/>
            <a:chExt cx="1440000" cy="1894801"/>
          </a:xfrm>
        </p:grpSpPr>
        <p:pic>
          <p:nvPicPr>
            <p:cNvPr id="6" name="図 5" descr="ロゴ, 会社名&#10;&#10;自動的に生成された説明">
              <a:extLst>
                <a:ext uri="{FF2B5EF4-FFF2-40B4-BE49-F238E27FC236}">
                  <a16:creationId xmlns:a16="http://schemas.microsoft.com/office/drawing/2014/main" id="{D2C433B9-83A5-C204-17F5-89F2B1D6A2A6}"/>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7" name="図 6" descr="ロゴ&#10;&#10;自動的に生成された説明">
              <a:extLst>
                <a:ext uri="{FF2B5EF4-FFF2-40B4-BE49-F238E27FC236}">
                  <a16:creationId xmlns:a16="http://schemas.microsoft.com/office/drawing/2014/main" id="{7E3E8DC4-DA86-93F3-32DB-DBD7E5E7F1C4}"/>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2059241581"/>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4244675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ja-JP" altLang="ja-JP" sz="800">
                <a:solidFill>
                  <a:schemeClr val="tx1"/>
                </a:solidFill>
                <a:latin typeface="+mn-lt"/>
                <a:ea typeface="+mn-ea"/>
                <a:cs typeface="+mn-cs"/>
                <a:sym typeface="+mn-lt"/>
              </a:rPr>
              <a:t>Member of</a:t>
            </a:r>
            <a:br>
              <a:rPr kumimoji="1" lang="ja-JP" altLang="ja-JP" sz="800">
                <a:solidFill>
                  <a:schemeClr val="tx1"/>
                </a:solidFill>
                <a:latin typeface="+mn-lt"/>
                <a:ea typeface="+mn-ea"/>
                <a:cs typeface="+mn-cs"/>
                <a:sym typeface="+mn-lt"/>
              </a:rPr>
            </a:br>
            <a:r>
              <a:rPr kumimoji="1" lang="ja-JP" altLang="ja-JP" sz="800" b="1">
                <a:solidFill>
                  <a:schemeClr val="tx1"/>
                </a:solidFill>
                <a:latin typeface="+mn-lt"/>
                <a:ea typeface="+mn-ea"/>
                <a:cs typeface="+mn-cs"/>
                <a:sym typeface="+mn-lt"/>
              </a:rPr>
              <a:t>Deloitte </a:t>
            </a:r>
            <a:r>
              <a:rPr kumimoji="1" lang="ja-JP" altLang="ja-JP" sz="800" b="1" err="1">
                <a:solidFill>
                  <a:schemeClr val="tx1"/>
                </a:solidFill>
                <a:latin typeface="+mn-lt"/>
                <a:ea typeface="+mn-ea"/>
                <a:cs typeface="+mn-cs"/>
                <a:sym typeface="+mn-lt"/>
              </a:rPr>
              <a:t>Touche</a:t>
            </a:r>
            <a:r>
              <a:rPr kumimoji="1" lang="ja-JP"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tx1"/>
                </a:solidFill>
                <a:latin typeface="+mn-lt"/>
                <a:ea typeface="+mn-ea"/>
                <a:cs typeface="+mn-cs"/>
                <a:sym typeface="+mn-lt"/>
              </a:rPr>
              <a:t>© 2025.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32220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3" name="Picture 3">
            <a:extLst>
              <a:ext uri="{FF2B5EF4-FFF2-40B4-BE49-F238E27FC236}">
                <a16:creationId xmlns:a16="http://schemas.microsoft.com/office/drawing/2014/main" id="{B58FE27E-7473-91AD-522F-C6EE7B389FF8}"/>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2146378117"/>
      </p:ext>
    </p:extLst>
  </p:cSld>
  <p:clrMapOvr>
    <a:overrideClrMapping bg1="dk1" tx1="lt1" bg2="dk2" tx2="lt2" accent1="accent1" accent2="accent2" accent3="accent3" accent4="accent4" accent5="accent5" accent6="accent6" hlink="hlink" folHlink="folHlink"/>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521990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ja-JP" altLang="ja-JP" sz="800">
                <a:solidFill>
                  <a:schemeClr val="tx1"/>
                </a:solidFill>
                <a:latin typeface="+mn-lt"/>
                <a:ea typeface="+mn-ea"/>
                <a:cs typeface="+mn-cs"/>
                <a:sym typeface="+mn-lt"/>
              </a:rPr>
              <a:t>Member of</a:t>
            </a:r>
            <a:br>
              <a:rPr kumimoji="1" lang="ja-JP" altLang="ja-JP" sz="800">
                <a:solidFill>
                  <a:schemeClr val="tx1"/>
                </a:solidFill>
                <a:latin typeface="+mn-lt"/>
                <a:ea typeface="+mn-ea"/>
                <a:cs typeface="+mn-cs"/>
                <a:sym typeface="+mn-lt"/>
              </a:rPr>
            </a:br>
            <a:r>
              <a:rPr kumimoji="1" lang="ja-JP" altLang="ja-JP" sz="800" b="1">
                <a:solidFill>
                  <a:schemeClr val="tx1"/>
                </a:solidFill>
                <a:latin typeface="+mn-lt"/>
                <a:ea typeface="+mn-ea"/>
                <a:cs typeface="+mn-cs"/>
                <a:sym typeface="+mn-lt"/>
              </a:rPr>
              <a:t>Deloitte </a:t>
            </a:r>
            <a:r>
              <a:rPr kumimoji="1" lang="ja-JP" altLang="ja-JP" sz="800" b="1" err="1">
                <a:solidFill>
                  <a:schemeClr val="tx1"/>
                </a:solidFill>
                <a:latin typeface="+mn-lt"/>
                <a:ea typeface="+mn-ea"/>
                <a:cs typeface="+mn-cs"/>
                <a:sym typeface="+mn-lt"/>
              </a:rPr>
              <a:t>Touche</a:t>
            </a:r>
            <a:r>
              <a:rPr kumimoji="1" lang="ja-JP"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tx1"/>
                </a:solidFill>
                <a:latin typeface="+mn-lt"/>
                <a:ea typeface="+mn-ea"/>
                <a:cs typeface="+mn-cs"/>
                <a:sym typeface="+mn-lt"/>
              </a:rPr>
              <a:t>© 2025.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a:ext>
            </a:extLst>
          </a:blip>
          <a:stretch/>
        </p:blipFill>
        <p:spPr bwMode="gray">
          <a:xfrm>
            <a:off x="478800" y="431997"/>
            <a:ext cx="3722400" cy="632360"/>
          </a:xfrm>
          <a:prstGeom prst="rect">
            <a:avLst/>
          </a:prstGeom>
        </p:spPr>
      </p:pic>
      <p:grpSp>
        <p:nvGrpSpPr>
          <p:cNvPr id="3" name="グループ化 2">
            <a:extLst>
              <a:ext uri="{FF2B5EF4-FFF2-40B4-BE49-F238E27FC236}">
                <a16:creationId xmlns:a16="http://schemas.microsoft.com/office/drawing/2014/main" id="{366F5FD9-1E58-CDA7-CACE-B242EB6B204F}"/>
              </a:ext>
            </a:extLst>
          </p:cNvPr>
          <p:cNvGrpSpPr/>
          <p:nvPr userDrawn="1"/>
        </p:nvGrpSpPr>
        <p:grpSpPr>
          <a:xfrm>
            <a:off x="10270800" y="3222000"/>
            <a:ext cx="1440000" cy="1861937"/>
            <a:chOff x="8050925" y="4451478"/>
            <a:chExt cx="1440000" cy="1861937"/>
          </a:xfrm>
        </p:grpSpPr>
        <p:pic>
          <p:nvPicPr>
            <p:cNvPr id="5" name="図 4" descr="ロゴ, 会社名&#10;&#10;自動的に生成された説明">
              <a:extLst>
                <a:ext uri="{FF2B5EF4-FFF2-40B4-BE49-F238E27FC236}">
                  <a16:creationId xmlns:a16="http://schemas.microsoft.com/office/drawing/2014/main" id="{D73EDECA-A512-7669-1691-62C5E111EAEA}"/>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6" name="図 5">
              <a:extLst>
                <a:ext uri="{FF2B5EF4-FFF2-40B4-BE49-F238E27FC236}">
                  <a16:creationId xmlns:a16="http://schemas.microsoft.com/office/drawing/2014/main" id="{17480D25-DAE4-135D-514C-ADF811A79B23}"/>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7" name="Picture 3">
            <a:extLst>
              <a:ext uri="{FF2B5EF4-FFF2-40B4-BE49-F238E27FC236}">
                <a16:creationId xmlns:a16="http://schemas.microsoft.com/office/drawing/2014/main" id="{7114BB36-8EE5-0472-5190-1AC8C392D5CC}"/>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553231123"/>
      </p:ext>
    </p:extLst>
  </p:cSld>
  <p:clrMapOvr>
    <a:overrideClrMapping bg1="dk1" tx1="lt1" bg2="dk2" tx2="lt2" accent1="accent1" accent2="accent2" accent3="accent3" accent4="accent4" accent5="accent5" accent6="accent6" hlink="hlink" folHlink="folHlink"/>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基本版②） タイトルのみ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599299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1036365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基本版②）タイトルのみ_出所・脚注なし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042044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2594888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基本版②）小見出しあり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29115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accent3"/>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144441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435457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baseline="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326908144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41525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45845036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基本版②）黒_小見出しあり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58825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ja-JP"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tx1"/>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203817217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p:cNvGraphicFramePr>
          <p:nvPr userDrawn="1">
            <p:custDataLst>
              <p:tags r:id="rId1"/>
            </p:custDataLst>
            <p:extLst>
              <p:ext uri="{D42A27DB-BD31-4B8C-83A1-F6EECF244321}">
                <p14:modId xmlns:p14="http://schemas.microsoft.com/office/powerpoint/2010/main" val="2656476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cs typeface="+mn-cs"/>
              </a:defRPr>
            </a:lvl1pPr>
          </a:lstStyle>
          <a:p>
            <a:pPr algn="ctr"/>
            <a:endParaRPr lang="ja-JP"/>
          </a:p>
        </p:txBody>
      </p:sp>
    </p:spTree>
    <p:extLst>
      <p:ext uri="{BB962C8B-B14F-4D97-AF65-F5344CB8AC3E}">
        <p14:creationId xmlns:p14="http://schemas.microsoft.com/office/powerpoint/2010/main" val="2351720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cs typeface="+mn-cs"/>
              </a:defRPr>
            </a:lvl1pPr>
          </a:lstStyle>
          <a:p>
            <a:pPr algn="ctr"/>
            <a:endParaRPr lang="ja-JP"/>
          </a:p>
        </p:txBody>
      </p:sp>
    </p:spTree>
    <p:extLst>
      <p:ext uri="{BB962C8B-B14F-4D97-AF65-F5344CB8AC3E}">
        <p14:creationId xmlns:p14="http://schemas.microsoft.com/office/powerpoint/2010/main" val="2894027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p:cNvGraphicFramePr>
          <p:nvPr userDrawn="1">
            <p:custDataLst>
              <p:tags r:id="rId1"/>
            </p:custDataLst>
            <p:extLst>
              <p:ext uri="{D42A27DB-BD31-4B8C-83A1-F6EECF244321}">
                <p14:modId xmlns:p14="http://schemas.microsoft.com/office/powerpoint/2010/main" val="850200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cs typeface="+mn-cs"/>
              </a:defRPr>
            </a:lvl1pPr>
          </a:lstStyle>
          <a:p>
            <a:pPr algn="ctr"/>
            <a:endParaRPr lang="ja-JP"/>
          </a:p>
        </p:txBody>
      </p:sp>
    </p:spTree>
    <p:extLst>
      <p:ext uri="{BB962C8B-B14F-4D97-AF65-F5344CB8AC3E}">
        <p14:creationId xmlns:p14="http://schemas.microsoft.com/office/powerpoint/2010/main" val="722895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cs typeface="+mn-cs"/>
              </a:defRPr>
            </a:lvl1pPr>
          </a:lstStyle>
          <a:p>
            <a:pPr algn="ctr"/>
            <a:endParaRPr lang="ja-JP"/>
          </a:p>
        </p:txBody>
      </p:sp>
    </p:spTree>
    <p:extLst>
      <p:ext uri="{BB962C8B-B14F-4D97-AF65-F5344CB8AC3E}">
        <p14:creationId xmlns:p14="http://schemas.microsoft.com/office/powerpoint/2010/main" val="2990497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ja-JP" altLang="ja-JP" noProof="0"/>
              <a:t>2 </a:t>
            </a:r>
            <a:r>
              <a:rPr lang="ja-JP" altLang="en-US" noProof="0"/>
              <a:t>レベル</a:t>
            </a:r>
          </a:p>
          <a:p>
            <a:pPr lvl="2"/>
            <a:r>
              <a:rPr lang="ja-JP" altLang="en-US" noProof="0"/>
              <a:t>第 </a:t>
            </a:r>
            <a:r>
              <a:rPr lang="ja-JP" altLang="ja-JP" noProof="0"/>
              <a:t>3 </a:t>
            </a:r>
            <a:r>
              <a:rPr lang="ja-JP" altLang="en-US" noProof="0"/>
              <a:t>レベル</a:t>
            </a:r>
          </a:p>
          <a:p>
            <a:pPr lvl="3"/>
            <a:r>
              <a:rPr lang="ja-JP" altLang="en-US" noProof="0"/>
              <a:t>第 </a:t>
            </a:r>
            <a:r>
              <a:rPr lang="ja-JP"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ja-JP" altLang="ja-JP" noProof="0"/>
              <a:t>2 </a:t>
            </a:r>
            <a:r>
              <a:rPr lang="ja-JP" altLang="en-US" noProof="0"/>
              <a:t>レベル</a:t>
            </a:r>
          </a:p>
          <a:p>
            <a:pPr lvl="2"/>
            <a:r>
              <a:rPr lang="ja-JP" altLang="en-US" noProof="0"/>
              <a:t>第 </a:t>
            </a:r>
            <a:r>
              <a:rPr lang="ja-JP" altLang="ja-JP" noProof="0"/>
              <a:t>3 </a:t>
            </a:r>
            <a:r>
              <a:rPr lang="ja-JP" altLang="en-US" noProof="0"/>
              <a:t>レベル</a:t>
            </a:r>
          </a:p>
          <a:p>
            <a:pPr lvl="3"/>
            <a:r>
              <a:rPr lang="ja-JP" altLang="en-US" noProof="0"/>
              <a:t>第 </a:t>
            </a:r>
            <a:r>
              <a:rPr lang="ja-JP"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4797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cs typeface="+mn-cs"/>
              </a:defRPr>
            </a:lvl1pPr>
          </a:lstStyle>
          <a:p>
            <a:endParaRPr lang="ja-JP"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6763812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cs typeface="+mn-cs"/>
              </a:defRPr>
            </a:lvl1pPr>
          </a:lstStyle>
          <a:p>
            <a:endParaRPr lang="ja-JP" altLang="en-GB"/>
          </a:p>
        </p:txBody>
      </p:sp>
    </p:spTree>
    <p:extLst>
      <p:ext uri="{BB962C8B-B14F-4D97-AF65-F5344CB8AC3E}">
        <p14:creationId xmlns:p14="http://schemas.microsoft.com/office/powerpoint/2010/main" val="3588154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ja-JP"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531293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ja-JP"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1101896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ja-JP"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6882777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9938070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31250532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cs typeface="+mn-cs"/>
              </a:defRPr>
            </a:lvl1pPr>
          </a:lstStyle>
          <a:p>
            <a:endParaRPr lang="ja-JP"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Tree>
    <p:extLst>
      <p:ext uri="{BB962C8B-B14F-4D97-AF65-F5344CB8AC3E}">
        <p14:creationId xmlns:p14="http://schemas.microsoft.com/office/powerpoint/2010/main" val="12448757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ja-JP" altLang="ja-JP"/>
              <a:t>2 </a:t>
            </a:r>
            <a:r>
              <a:rPr lang="ja-JP" altLang="en-US"/>
              <a:t>レベル</a:t>
            </a:r>
          </a:p>
          <a:p>
            <a:pPr lvl="2"/>
            <a:r>
              <a:rPr lang="ja-JP" altLang="en-US"/>
              <a:t>第 </a:t>
            </a:r>
            <a:r>
              <a:rPr lang="ja-JP" altLang="ja-JP"/>
              <a:t>3 </a:t>
            </a:r>
            <a:r>
              <a:rPr lang="ja-JP" altLang="en-US"/>
              <a:t>レベル</a:t>
            </a:r>
          </a:p>
          <a:p>
            <a:pPr lvl="3"/>
            <a:r>
              <a:rPr lang="ja-JP" altLang="en-US"/>
              <a:t>第 </a:t>
            </a:r>
            <a:r>
              <a:rPr lang="ja-JP"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890620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062981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5025832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bg1"/>
                </a:solidFill>
                <a:cs typeface="+mn-cs"/>
              </a:defRPr>
            </a:lvl1pPr>
          </a:lstStyle>
          <a:p>
            <a:endParaRPr lang="ja-JP"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473114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ja-JP" altLang="ja-JP"/>
              <a:t>2 </a:t>
            </a:r>
            <a:r>
              <a:rPr lang="ja-JP" altLang="en-US"/>
              <a:t>レベル</a:t>
            </a:r>
          </a:p>
          <a:p>
            <a:pPr lvl="2"/>
            <a:r>
              <a:rPr lang="ja-JP" altLang="en-US"/>
              <a:t>第 </a:t>
            </a:r>
            <a:r>
              <a:rPr lang="ja-JP" altLang="ja-JP"/>
              <a:t>3 </a:t>
            </a:r>
            <a:r>
              <a:rPr lang="ja-JP" altLang="en-US"/>
              <a:t>レベル</a:t>
            </a:r>
          </a:p>
          <a:p>
            <a:pPr lvl="3"/>
            <a:r>
              <a:rPr lang="ja-JP" altLang="en-US"/>
              <a:t>第 </a:t>
            </a:r>
            <a:r>
              <a:rPr lang="ja-JP"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843335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395015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133324" cy="251544"/>
          </a:xfrm>
          <a:prstGeom prst="rect">
            <a:avLst/>
          </a:prstGeom>
          <a:noFill/>
        </p:spPr>
        <p:txBody>
          <a:bodyPr wrap="none" lIns="0" tIns="0" rIns="0" bIns="0" rtlCol="0">
            <a:spAutoFit/>
          </a:bodyPr>
          <a:lstStyle/>
          <a:p>
            <a:pPr>
              <a:lnSpc>
                <a:spcPts val="951"/>
              </a:lnSpc>
            </a:pPr>
            <a:r>
              <a:rPr kumimoji="1" lang="ja-JP" altLang="ja-JP" sz="800">
                <a:solidFill>
                  <a:prstClr val="black"/>
                </a:solidFill>
                <a:latin typeface="+mn-lt"/>
                <a:cs typeface="+mn-cs"/>
                <a:sym typeface="+mn-lt"/>
              </a:rPr>
              <a:t>Member of</a:t>
            </a:r>
            <a:br>
              <a:rPr kumimoji="1" lang="ja-JP" altLang="ja-JP" sz="800">
                <a:solidFill>
                  <a:prstClr val="black"/>
                </a:solidFill>
                <a:latin typeface="+mn-lt"/>
                <a:cs typeface="+mn-cs"/>
                <a:sym typeface="+mn-lt"/>
              </a:rPr>
            </a:br>
            <a:r>
              <a:rPr kumimoji="1" lang="ja-JP" altLang="ja-JP" sz="800" b="1">
                <a:solidFill>
                  <a:prstClr val="black"/>
                </a:solidFill>
                <a:latin typeface="+mn-lt"/>
                <a:cs typeface="+mn-cs"/>
                <a:sym typeface="+mn-lt"/>
              </a:rPr>
              <a:t>Deloitte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tx1"/>
                </a:solidFill>
                <a:latin typeface="+mn-lt"/>
                <a:ea typeface="+mn-ea"/>
                <a:cs typeface="+mn-cs"/>
                <a:sym typeface="+mn-lt"/>
              </a:rPr>
              <a:t>© 2026.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41148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191349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1216422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ja-JP" altLang="ja-JP" sz="800">
                <a:solidFill>
                  <a:prstClr val="black"/>
                </a:solidFill>
                <a:latin typeface="+mn-lt"/>
                <a:cs typeface="+mn-cs"/>
                <a:sym typeface="+mn-lt"/>
              </a:rPr>
              <a:t>Member of</a:t>
            </a:r>
            <a:br>
              <a:rPr kumimoji="1" lang="ja-JP" altLang="ja-JP" sz="800">
                <a:solidFill>
                  <a:prstClr val="black"/>
                </a:solidFill>
                <a:latin typeface="+mn-lt"/>
                <a:cs typeface="+mn-cs"/>
                <a:sym typeface="+mn-lt"/>
              </a:rPr>
            </a:br>
            <a:r>
              <a:rPr kumimoji="1" lang="ja-JP"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tx1"/>
                </a:solidFill>
                <a:latin typeface="+mn-lt"/>
                <a:ea typeface="+mn-ea"/>
                <a:cs typeface="+mn-cs"/>
                <a:sym typeface="+mn-lt"/>
              </a:rPr>
              <a:t>© 2026.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78800" y="431005"/>
            <a:ext cx="3721455" cy="632962"/>
          </a:xfrm>
          <a:prstGeom prst="rect">
            <a:avLst/>
          </a:prstGeom>
          <a:noFill/>
          <a:ln>
            <a:noFill/>
          </a:ln>
        </p:spPr>
      </p:pic>
      <p:grpSp>
        <p:nvGrpSpPr>
          <p:cNvPr id="9" name="グループ化 8">
            <a:extLst>
              <a:ext uri="{FF2B5EF4-FFF2-40B4-BE49-F238E27FC236}">
                <a16:creationId xmlns:a16="http://schemas.microsoft.com/office/drawing/2014/main" id="{1ACB6E8B-BDC4-441B-80D9-3D4F1A7191BA}"/>
              </a:ext>
            </a:extLst>
          </p:cNvPr>
          <p:cNvGrpSpPr/>
          <p:nvPr userDrawn="1"/>
        </p:nvGrpSpPr>
        <p:grpSpPr>
          <a:xfrm>
            <a:off x="10270800" y="4114800"/>
            <a:ext cx="1440000" cy="1894801"/>
            <a:chOff x="8050246" y="4451478"/>
            <a:chExt cx="1440000" cy="1894801"/>
          </a:xfrm>
        </p:grpSpPr>
        <p:pic>
          <p:nvPicPr>
            <p:cNvPr id="10" name="図 9" descr="ロゴ, 会社名&#10;&#10;自動的に生成された説明">
              <a:extLst>
                <a:ext uri="{FF2B5EF4-FFF2-40B4-BE49-F238E27FC236}">
                  <a16:creationId xmlns:a16="http://schemas.microsoft.com/office/drawing/2014/main" id="{58297113-486E-410D-9152-DBAA7813B43E}"/>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1" name="図 10" descr="ロゴ&#10;&#10;自動的に生成された説明">
              <a:extLst>
                <a:ext uri="{FF2B5EF4-FFF2-40B4-BE49-F238E27FC236}">
                  <a16:creationId xmlns:a16="http://schemas.microsoft.com/office/drawing/2014/main" id="{DBB457B8-2E8C-4715-8CE0-9F6911CA7BA4}"/>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0824777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2735016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ja-JP" altLang="ja-JP" sz="800">
                <a:solidFill>
                  <a:schemeClr val="bg1"/>
                </a:solidFill>
                <a:latin typeface="+mn-lt"/>
                <a:cs typeface="+mn-cs"/>
                <a:sym typeface="+mn-lt"/>
              </a:rPr>
              <a:t>Member of</a:t>
            </a:r>
            <a:br>
              <a:rPr kumimoji="1" lang="ja-JP" altLang="ja-JP" sz="800">
                <a:solidFill>
                  <a:schemeClr val="bg1"/>
                </a:solidFill>
                <a:latin typeface="+mn-lt"/>
                <a:cs typeface="+mn-cs"/>
                <a:sym typeface="+mn-lt"/>
              </a:rPr>
            </a:br>
            <a:r>
              <a:rPr kumimoji="1" lang="ja-JP"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bg1"/>
                </a:solidFill>
                <a:latin typeface="+mn-lt"/>
                <a:ea typeface="+mn-ea"/>
                <a:cs typeface="+mn-cs"/>
                <a:sym typeface="+mn-lt"/>
              </a:rPr>
              <a:t>© 2026.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41148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1539732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1075208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ja-JP" altLang="ja-JP" sz="800">
                <a:solidFill>
                  <a:schemeClr val="bg1"/>
                </a:solidFill>
                <a:latin typeface="+mn-lt"/>
                <a:cs typeface="+mn-cs"/>
                <a:sym typeface="+mn-lt"/>
              </a:rPr>
              <a:t>Member of</a:t>
            </a:r>
            <a:br>
              <a:rPr kumimoji="1" lang="ja-JP" altLang="ja-JP" sz="800">
                <a:solidFill>
                  <a:schemeClr val="bg1"/>
                </a:solidFill>
                <a:latin typeface="+mn-lt"/>
                <a:cs typeface="+mn-cs"/>
                <a:sym typeface="+mn-lt"/>
              </a:rPr>
            </a:br>
            <a:r>
              <a:rPr kumimoji="1" lang="ja-JP"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ja-JP" altLang="ja-JP" sz="800" kern="1200">
                <a:solidFill>
                  <a:schemeClr val="bg1"/>
                </a:solidFill>
                <a:latin typeface="+mn-lt"/>
                <a:ea typeface="+mn-ea"/>
                <a:cs typeface="+mn-cs"/>
                <a:sym typeface="+mn-lt"/>
              </a:rPr>
              <a:t>© 2026.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78800" y="431997"/>
            <a:ext cx="3722400" cy="632360"/>
          </a:xfrm>
          <a:prstGeom prst="rect">
            <a:avLst/>
          </a:prstGeom>
        </p:spPr>
      </p:pic>
      <p:grpSp>
        <p:nvGrpSpPr>
          <p:cNvPr id="14" name="グループ化 13">
            <a:extLst>
              <a:ext uri="{FF2B5EF4-FFF2-40B4-BE49-F238E27FC236}">
                <a16:creationId xmlns:a16="http://schemas.microsoft.com/office/drawing/2014/main" id="{A32278A0-B6A6-4196-A48B-DD36F4F398E7}"/>
              </a:ext>
            </a:extLst>
          </p:cNvPr>
          <p:cNvGrpSpPr/>
          <p:nvPr userDrawn="1"/>
        </p:nvGrpSpPr>
        <p:grpSpPr>
          <a:xfrm>
            <a:off x="10270800" y="4114800"/>
            <a:ext cx="1440000" cy="1861937"/>
            <a:chOff x="8050925" y="4451478"/>
            <a:chExt cx="1440000" cy="1861937"/>
          </a:xfrm>
        </p:grpSpPr>
        <p:pic>
          <p:nvPicPr>
            <p:cNvPr id="15" name="図 14" descr="ロゴ, 会社名&#10;&#10;自動的に生成された説明">
              <a:extLst>
                <a:ext uri="{FF2B5EF4-FFF2-40B4-BE49-F238E27FC236}">
                  <a16:creationId xmlns:a16="http://schemas.microsoft.com/office/drawing/2014/main" id="{2395C2A1-39CD-425B-94BE-D67F2CCD8D6D}"/>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6" name="図 15">
              <a:extLst>
                <a:ext uri="{FF2B5EF4-FFF2-40B4-BE49-F238E27FC236}">
                  <a16:creationId xmlns:a16="http://schemas.microsoft.com/office/drawing/2014/main" id="{7CC8C78A-26CC-4239-9442-4410264A93E8}"/>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42756877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p:txBody>
          <a:bodyPr/>
          <a:lstStyle/>
          <a:p>
            <a:pPr fontAlgn="auto">
              <a:spcBef>
                <a:spcPts val="0"/>
              </a:spcBef>
              <a:spcAft>
                <a:spcPts val="0"/>
              </a:spcAft>
            </a:pPr>
            <a:endParaRPr kumimoji="1" lang="ja-JP"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p:txBody>
          <a:bodyPr/>
          <a:lstStyle/>
          <a:p>
            <a:pPr algn="ctr"/>
            <a:endParaRPr lang="ja-JP"/>
          </a:p>
        </p:txBody>
      </p:sp>
    </p:spTree>
    <p:extLst>
      <p:ext uri="{BB962C8B-B14F-4D97-AF65-F5344CB8AC3E}">
        <p14:creationId xmlns:p14="http://schemas.microsoft.com/office/powerpoint/2010/main" val="4007838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40184007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ja-JP"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0727535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ja-JP"/>
          </a:p>
        </p:txBody>
      </p:sp>
    </p:spTree>
    <p:extLst>
      <p:ext uri="{BB962C8B-B14F-4D97-AF65-F5344CB8AC3E}">
        <p14:creationId xmlns:p14="http://schemas.microsoft.com/office/powerpoint/2010/main" val="2108574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ja-JP"/>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ja-JP"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ja-JP"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ja-JP"/>
          </a:p>
        </p:txBody>
      </p:sp>
    </p:spTree>
    <p:extLst>
      <p:ext uri="{BB962C8B-B14F-4D97-AF65-F5344CB8AC3E}">
        <p14:creationId xmlns:p14="http://schemas.microsoft.com/office/powerpoint/2010/main" val="26281627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ja-JP" altLang="ja-JP" noProof="0"/>
              <a:t>2 </a:t>
            </a:r>
            <a:r>
              <a:rPr lang="ja-JP" altLang="en-US" noProof="0"/>
              <a:t>レベル</a:t>
            </a:r>
          </a:p>
          <a:p>
            <a:pPr lvl="2"/>
            <a:r>
              <a:rPr lang="ja-JP" altLang="en-US" noProof="0"/>
              <a:t>第 </a:t>
            </a:r>
            <a:r>
              <a:rPr lang="ja-JP" altLang="ja-JP" noProof="0"/>
              <a:t>3 </a:t>
            </a:r>
            <a:r>
              <a:rPr lang="ja-JP" altLang="en-US" noProof="0"/>
              <a:t>レベル</a:t>
            </a:r>
          </a:p>
          <a:p>
            <a:pPr lvl="3"/>
            <a:r>
              <a:rPr lang="ja-JP" altLang="en-US" noProof="0"/>
              <a:t>第 </a:t>
            </a:r>
            <a:r>
              <a:rPr lang="ja-JP"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ja-JP" altLang="ja-JP" noProof="0"/>
              <a:t>2 </a:t>
            </a:r>
            <a:r>
              <a:rPr lang="ja-JP" altLang="en-US" noProof="0"/>
              <a:t>レベル</a:t>
            </a:r>
          </a:p>
          <a:p>
            <a:pPr lvl="2"/>
            <a:r>
              <a:rPr lang="ja-JP" altLang="en-US" noProof="0"/>
              <a:t>第 </a:t>
            </a:r>
            <a:r>
              <a:rPr lang="ja-JP" altLang="ja-JP" noProof="0"/>
              <a:t>3 </a:t>
            </a:r>
            <a:r>
              <a:rPr lang="ja-JP" altLang="en-US" noProof="0"/>
              <a:t>レベル</a:t>
            </a:r>
          </a:p>
          <a:p>
            <a:pPr lvl="3"/>
            <a:r>
              <a:rPr lang="ja-JP" altLang="en-US" noProof="0"/>
              <a:t>第 </a:t>
            </a:r>
            <a:r>
              <a:rPr lang="ja-JP"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5046693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cs typeface="+mn-cs"/>
              </a:defRPr>
            </a:lvl1pPr>
          </a:lstStyle>
          <a:p>
            <a:endParaRPr lang="ja-JP"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3514089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cs typeface="+mn-cs"/>
              </a:defRPr>
            </a:lvl1pPr>
          </a:lstStyle>
          <a:p>
            <a:endParaRPr lang="ja-JP" altLang="en-GB"/>
          </a:p>
        </p:txBody>
      </p:sp>
    </p:spTree>
    <p:extLst>
      <p:ext uri="{BB962C8B-B14F-4D97-AF65-F5344CB8AC3E}">
        <p14:creationId xmlns:p14="http://schemas.microsoft.com/office/powerpoint/2010/main" val="24977924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ja-JP"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420106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ja-JP"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6711330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ja-JP"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7116240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941185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546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ja-JP"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Tree>
    <p:extLst>
      <p:ext uri="{BB962C8B-B14F-4D97-AF65-F5344CB8AC3E}">
        <p14:creationId xmlns:p14="http://schemas.microsoft.com/office/powerpoint/2010/main" val="4281429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ja-JP" altLang="ja-JP"/>
              <a:t>2 </a:t>
            </a:r>
            <a:r>
              <a:rPr lang="ja-JP" altLang="en-US"/>
              <a:t>レベル</a:t>
            </a:r>
          </a:p>
          <a:p>
            <a:pPr lvl="2"/>
            <a:r>
              <a:rPr lang="ja-JP" altLang="en-US"/>
              <a:t>第 </a:t>
            </a:r>
            <a:r>
              <a:rPr lang="ja-JP" altLang="ja-JP"/>
              <a:t>3 </a:t>
            </a:r>
            <a:r>
              <a:rPr lang="ja-JP" altLang="en-US"/>
              <a:t>レベル</a:t>
            </a:r>
          </a:p>
          <a:p>
            <a:pPr lvl="3"/>
            <a:r>
              <a:rPr lang="ja-JP" altLang="en-US"/>
              <a:t>第 </a:t>
            </a:r>
            <a:r>
              <a:rPr lang="ja-JP"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626133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9023089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0165543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ja-JP"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130021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ja-JP" altLang="ja-JP"/>
              <a:t>2 </a:t>
            </a:r>
            <a:r>
              <a:rPr lang="ja-JP" altLang="en-US"/>
              <a:t>レベル</a:t>
            </a:r>
          </a:p>
          <a:p>
            <a:pPr lvl="2"/>
            <a:r>
              <a:rPr lang="ja-JP" altLang="en-US"/>
              <a:t>第 </a:t>
            </a:r>
            <a:r>
              <a:rPr lang="ja-JP" altLang="ja-JP"/>
              <a:t>3 </a:t>
            </a:r>
            <a:r>
              <a:rPr lang="ja-JP" altLang="en-US"/>
              <a:t>レベル</a:t>
            </a:r>
          </a:p>
          <a:p>
            <a:pPr lvl="3"/>
            <a:r>
              <a:rPr lang="ja-JP" altLang="en-US"/>
              <a:t>第 </a:t>
            </a:r>
            <a:r>
              <a:rPr lang="ja-JP"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ja-JP" altLang="ja-JP"/>
              <a:t>XXX</a:t>
            </a:r>
            <a:br>
              <a:rPr kumimoji="1" lang="ja-JP" altLang="ja-JP"/>
            </a:br>
            <a:r>
              <a:rPr kumimoji="1" lang="ja-JP" altLang="en-US"/>
              <a:t>脚注：</a:t>
            </a:r>
            <a:r>
              <a:rPr kumimoji="1" lang="ja-JP"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606451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a:xfrm>
            <a:off x="730800" y="6588000"/>
            <a:ext cx="5184000" cy="169200"/>
          </a:xfrm>
          <a:prstGeom prst="rect">
            <a:avLst/>
          </a:prstGeom>
        </p:spPr>
        <p:txBody>
          <a:bodyPr/>
          <a:lstStyle/>
          <a:p>
            <a:pPr fontAlgn="auto">
              <a:spcBef>
                <a:spcPts val="0"/>
              </a:spcBef>
              <a:spcAft>
                <a:spcPts val="0"/>
              </a:spcAft>
            </a:pPr>
            <a:endParaRPr kumimoji="1" lang="ja-JP"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a:xfrm>
            <a:off x="5651167" y="6444000"/>
            <a:ext cx="889666" cy="169277"/>
          </a:xfrm>
          <a:prstGeom prst="rect">
            <a:avLst/>
          </a:prstGeom>
        </p:spPr>
        <p:txBody>
          <a:bodyPr/>
          <a:lstStyle/>
          <a:p>
            <a:pPr algn="ctr"/>
            <a:endParaRPr lang="ja-JP"/>
          </a:p>
        </p:txBody>
      </p:sp>
    </p:spTree>
    <p:extLst>
      <p:ext uri="{BB962C8B-B14F-4D97-AF65-F5344CB8AC3E}">
        <p14:creationId xmlns:p14="http://schemas.microsoft.com/office/powerpoint/2010/main" val="18118140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a:xfrm>
            <a:off x="5651167" y="6444000"/>
            <a:ext cx="889666" cy="169277"/>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a:xfrm>
            <a:off x="730800" y="6588000"/>
            <a:ext cx="5184000" cy="169200"/>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8853529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extLst>
              <p:ext uri="{D42A27DB-BD31-4B8C-83A1-F6EECF244321}">
                <p14:modId xmlns:p14="http://schemas.microsoft.com/office/powerpoint/2010/main" val="3914871738"/>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スライド" r:id="rId4" imgW="444" imgH="443" progId="TCLayout.ActiveDocument.1">
                  <p:embed/>
                </p:oleObj>
              </mc:Choice>
              <mc:Fallback>
                <p:oleObj name="thinkcellスライド" r:id="rId4" imgW="444" imgH="443" progId="TCLayout.ActiveDocument.1">
                  <p:embed/>
                  <p:pic>
                    <p:nvPicPr>
                      <p:cNvPr id="2" name="オブジェクト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pPr>
              <a:defRPr/>
            </a:pPr>
            <a:endParaRPr lang="ja-JP" altLang="en-GB">
              <a:solidFill>
                <a:prstClr val="black"/>
              </a:solidFill>
              <a:latin typeface="Arial"/>
              <a:ea typeface="ＭＳ Ｐゴシック"/>
              <a:cs typeface="Arial" pitchFamily="34" charset="0"/>
            </a:endParaRPr>
          </a:p>
        </p:txBody>
      </p:sp>
      <p:sp>
        <p:nvSpPr>
          <p:cNvPr id="4" name="スライド番号プレースホルダ 3"/>
          <p:cNvSpPr>
            <a:spLocks noGrp="1"/>
          </p:cNvSpPr>
          <p:nvPr>
            <p:ph type="sldNum" sz="quarter" idx="11"/>
          </p:nvPr>
        </p:nvSpPr>
        <p:spPr bwMode="gray">
          <a:xfrm>
            <a:off x="11458554" y="6588000"/>
            <a:ext cx="221538" cy="169200"/>
          </a:xfrm>
        </p:spPr>
        <p:txBody>
          <a:bodyPr/>
          <a:lstStyle>
            <a:lvl1pPr>
              <a:defRPr>
                <a:solidFill>
                  <a:schemeClr val="tx1"/>
                </a:solidFill>
              </a:defRPr>
            </a:lvl1pPr>
          </a:lstStyle>
          <a:p>
            <a:pPr>
              <a:defRPr/>
            </a:pPr>
            <a:fld id="{AA5FCFE5-FE56-4EF1-80A8-07776887C2A1}" type="slidenum">
              <a:rPr lang="ja-JP" altLang="en-US" sz="1200" smtClean="0">
                <a:solidFill>
                  <a:prstClr val="black"/>
                </a:solidFill>
                <a:latin typeface="Arial"/>
                <a:ea typeface="ＭＳ Ｐゴシック"/>
                <a:cs typeface="Arial" pitchFamily="34" charset="0"/>
              </a:rPr>
              <a:pPr>
                <a:defRPr/>
              </a:pPr>
              <a:t>‹#›</a:t>
            </a:fld>
            <a:endParaRPr lang="ja-JP" altLang="en-US" sz="1200">
              <a:solidFill>
                <a:prstClr val="black"/>
              </a:solidFill>
              <a:latin typeface="Arial"/>
              <a:ea typeface="ＭＳ Ｐゴシック"/>
              <a:cs typeface="Arial" pitchFamily="34" charset="0"/>
            </a:endParaRPr>
          </a:p>
        </p:txBody>
      </p:sp>
      <p:sp>
        <p:nvSpPr>
          <p:cNvPr id="9" name="テキスト プレースホルダー 2"/>
          <p:cNvSpPr>
            <a:spLocks noGrp="1"/>
          </p:cNvSpPr>
          <p:nvPr>
            <p:ph type="body" sz="quarter" idx="15" hasCustomPrompt="1"/>
          </p:nvPr>
        </p:nvSpPr>
        <p:spPr bwMode="gray">
          <a:xfrm>
            <a:off x="513230" y="136800"/>
            <a:ext cx="11166862" cy="432000"/>
          </a:xfrm>
          <a:prstGeom prst="rect">
            <a:avLst/>
          </a:prstGeom>
        </p:spPr>
        <p:txBody>
          <a:bodyPr wrap="none" lIns="0" tIns="0" anchor="ctr">
            <a:noAutofit/>
          </a:bodyPr>
          <a:lstStyle>
            <a:lvl1pPr>
              <a:lnSpc>
                <a:spcPct val="100000"/>
              </a:lnSpc>
              <a:spcBef>
                <a:spcPts val="0"/>
              </a:spcBef>
              <a:defRPr sz="2000" b="1">
                <a:solidFill>
                  <a:schemeClr val="tx1"/>
                </a:solidFill>
              </a:defRPr>
            </a:lvl1pPr>
          </a:lstStyle>
          <a:p>
            <a:pPr lvl="0"/>
            <a:r>
              <a:rPr kumimoji="1" lang="ja-JP"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3231" y="678671"/>
            <a:ext cx="11165538" cy="360000"/>
          </a:xfrm>
        </p:spPr>
        <p:txBody>
          <a:bodyPr vert="horz" lIns="0" tIns="0" anchor="t"/>
          <a:lstStyle>
            <a:lvl1pPr>
              <a:defRPr sz="1800" b="0"/>
            </a:lvl1pPr>
          </a:lstStyle>
          <a:p>
            <a:r>
              <a:rPr lang="ja-JP" altLang="en-US"/>
              <a:t>キーメッセージを入力（本スライドで一番伝えたいこと＜名詞止め・体言止め不可＞）</a:t>
            </a:r>
            <a:endParaRPr kumimoji="1" lang="ja-JP" altLang="en-US"/>
          </a:p>
        </p:txBody>
      </p:sp>
      <p:cxnSp>
        <p:nvCxnSpPr>
          <p:cNvPr id="7" name="直線コネクタ 6"/>
          <p:cNvCxnSpPr/>
          <p:nvPr/>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オブジェクト 4" hidden="1">
            <a:extLst>
              <a:ext uri="{FF2B5EF4-FFF2-40B4-BE49-F238E27FC236}">
                <a16:creationId xmlns:a16="http://schemas.microsoft.com/office/drawing/2014/main" id="{D9526583-8C8E-82A1-8852-F993675C587E}"/>
              </a:ext>
            </a:extLst>
          </p:cNvPr>
          <p:cNvGraphicFramePr>
            <a:graphicFrameLocks noChangeAspect="1"/>
          </p:cNvGraphicFramePr>
          <p:nvPr userDrawn="1">
            <p:custDataLst>
              <p:tags r:id="rId2"/>
            </p:custDataLst>
            <p:extLst>
              <p:ext uri="{D42A27DB-BD31-4B8C-83A1-F6EECF244321}">
                <p14:modId xmlns:p14="http://schemas.microsoft.com/office/powerpoint/2010/main" val="2603898332"/>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6" imgW="444" imgH="443" progId="TCLayout.ActiveDocument.1">
                  <p:embed/>
                </p:oleObj>
              </mc:Choice>
              <mc:Fallback>
                <p:oleObj name="think-cell スライド" r:id="rId6" imgW="444" imgH="443" progId="TCLayout.ActiveDocument.1">
                  <p:embed/>
                  <p:pic>
                    <p:nvPicPr>
                      <p:cNvPr id="5" name="オブジェクト 4" hidden="1">
                        <a:extLst>
                          <a:ext uri="{FF2B5EF4-FFF2-40B4-BE49-F238E27FC236}">
                            <a16:creationId xmlns:a16="http://schemas.microsoft.com/office/drawing/2014/main" id="{D9526583-8C8E-82A1-8852-F993675C587E}"/>
                          </a:ext>
                        </a:extLst>
                      </p:cNvPr>
                      <p:cNvPicPr/>
                      <p:nvPr/>
                    </p:nvPicPr>
                    <p:blipFill>
                      <a:blip r:embed="rId5"/>
                      <a:stretch>
                        <a:fillRect/>
                      </a:stretch>
                    </p:blipFill>
                    <p:spPr>
                      <a:xfrm>
                        <a:off x="1955" y="1589"/>
                        <a:ext cx="1953" cy="1587"/>
                      </a:xfrm>
                      <a:prstGeom prst="rect">
                        <a:avLst/>
                      </a:prstGeom>
                    </p:spPr>
                  </p:pic>
                </p:oleObj>
              </mc:Fallback>
            </mc:AlternateContent>
          </a:graphicData>
        </a:graphic>
      </p:graphicFrame>
      <p:cxnSp>
        <p:nvCxnSpPr>
          <p:cNvPr id="8" name="直線コネクタ 7">
            <a:extLst>
              <a:ext uri="{FF2B5EF4-FFF2-40B4-BE49-F238E27FC236}">
                <a16:creationId xmlns:a16="http://schemas.microsoft.com/office/drawing/2014/main" id="{F5C7EB6A-BE1A-6B26-F25B-752C370BEDF4}"/>
              </a:ext>
            </a:extLst>
          </p:cNvPr>
          <p:cNvCxnSpPr/>
          <p:nvPr userDrawn="1"/>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1270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ja-JP"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ja-JP"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2272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slideLayout" Target="../slideLayouts/slideLayout25.xml"/><Relationship Id="rId7"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image" Target="../media/image1.emf"/><Relationship Id="rId4" Type="http://schemas.openxmlformats.org/officeDocument/2006/relationships/slideLayout" Target="../slideLayouts/slideLayout26.xml"/><Relationship Id="rId9" Type="http://schemas.openxmlformats.org/officeDocument/2006/relationships/oleObject" Target="../embeddings/oleObject23.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theme" Target="../theme/theme3.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image" Target="../media/image1.emf"/><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oleObject" Target="../embeddings/oleObject28.bin"/><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tags" Target="../tags/tag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18" Type="http://schemas.openxmlformats.org/officeDocument/2006/relationships/slideLayout" Target="../slideLayouts/slideLayout71.xml"/><Relationship Id="rId3" Type="http://schemas.openxmlformats.org/officeDocument/2006/relationships/slideLayout" Target="../slideLayouts/slideLayout56.xml"/><Relationship Id="rId21" Type="http://schemas.openxmlformats.org/officeDocument/2006/relationships/theme" Target="../theme/theme4.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image" Target="../media/image1.emf"/><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oleObject" Target="../embeddings/oleObject28.bin"/><Relationship Id="rId10" Type="http://schemas.openxmlformats.org/officeDocument/2006/relationships/slideLayout" Target="../slideLayouts/slideLayout63.xml"/><Relationship Id="rId19" Type="http://schemas.openxmlformats.org/officeDocument/2006/relationships/slideLayout" Target="../slideLayouts/slideLayout72.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tags" Target="../tags/tag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4"/>
            </p:custDataLst>
            <p:extLst>
              <p:ext uri="{D42A27DB-BD31-4B8C-83A1-F6EECF244321}">
                <p14:modId xmlns:p14="http://schemas.microsoft.com/office/powerpoint/2010/main" val="30926568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5" imgW="444" imgH="443" progId="TCLayout.ActiveDocument.1">
                  <p:embed/>
                </p:oleObj>
              </mc:Choice>
              <mc:Fallback>
                <p:oleObj name="thinkcellスライド" r:id="rId25"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ja-JP"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ja-JP" altLang="ja-JP"/>
              <a:t>DT Template 16:9</a:t>
            </a:r>
            <a:endParaRPr kumimoji="1" lang="ja-JP"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ja-JP" altLang="ja-JP"/>
              <a:t>1 </a:t>
            </a:r>
            <a:r>
              <a:rPr kumimoji="1" lang="ja-JP" altLang="en-US"/>
              <a:t>レベル</a:t>
            </a:r>
          </a:p>
          <a:p>
            <a:pPr lvl="2"/>
            <a:r>
              <a:rPr kumimoji="1" lang="ja-JP" altLang="en-US"/>
              <a:t>第 </a:t>
            </a:r>
            <a:r>
              <a:rPr kumimoji="1" lang="ja-JP" altLang="ja-JP"/>
              <a:t>2 </a:t>
            </a:r>
            <a:r>
              <a:rPr kumimoji="1" lang="ja-JP" altLang="en-US"/>
              <a:t>レベル</a:t>
            </a:r>
          </a:p>
          <a:p>
            <a:pPr lvl="3"/>
            <a:r>
              <a:rPr kumimoji="1" lang="ja-JP" altLang="en-US"/>
              <a:t>第 </a:t>
            </a:r>
            <a:r>
              <a:rPr kumimoji="1" lang="ja-JP"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15099" y="6444000"/>
            <a:ext cx="961802" cy="169277"/>
          </a:xfrm>
          <a:prstGeom prst="rect">
            <a:avLst/>
          </a:prstGeom>
        </p:spPr>
        <p:txBody>
          <a:bodyPr vert="horz" wrap="none" lIns="0" tIns="0" rIns="0" bIns="0" rtlCol="0" anchor="t" anchorCtr="0">
            <a:spAutoFit/>
          </a:bodyPr>
          <a:lstStyle>
            <a:lvl1pPr>
              <a:defRPr kumimoji="1" lang="ja-JP" altLang="ja-JP" sz="1100" smtClean="0">
                <a:solidFill>
                  <a:schemeClr val="tx2"/>
                </a:solidFill>
                <a:latin typeface="+mn-lt"/>
                <a:ea typeface="+mn-ea"/>
                <a:cs typeface="+mn-cs"/>
              </a:defRPr>
            </a:lvl1pPr>
          </a:lstStyle>
          <a:p>
            <a:pPr algn="ctr"/>
            <a:r>
              <a:rPr lang="ja-JP"/>
              <a:t>&lt; Confidential &gt;</a:t>
            </a:r>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46" r:id="rId3"/>
    <p:sldLayoutId id="2147483947" r:id="rId4"/>
    <p:sldLayoutId id="2147483911" r:id="rId5"/>
    <p:sldLayoutId id="2147483912" r:id="rId6"/>
    <p:sldLayoutId id="2147483934" r:id="rId7"/>
    <p:sldLayoutId id="2147483983" r:id="rId8"/>
    <p:sldLayoutId id="2147483984" r:id="rId9"/>
    <p:sldLayoutId id="2147483985" r:id="rId10"/>
    <p:sldLayoutId id="2147483959" r:id="rId11"/>
    <p:sldLayoutId id="2147483969" r:id="rId12"/>
    <p:sldLayoutId id="2147483960" r:id="rId13"/>
    <p:sldLayoutId id="2147483961" r:id="rId14"/>
    <p:sldLayoutId id="2147483976" r:id="rId15"/>
    <p:sldLayoutId id="2147483977" r:id="rId16"/>
    <p:sldLayoutId id="2147483978" r:id="rId17"/>
    <p:sldLayoutId id="2147483979" r:id="rId18"/>
    <p:sldLayoutId id="2147483952" r:id="rId19"/>
    <p:sldLayoutId id="2147483957" r:id="rId20"/>
    <p:sldLayoutId id="2147483956" r:id="rId21"/>
    <p:sldLayoutId id="2147483958" r:id="rId22"/>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ja-JP"/>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userDrawn="1">
          <p15:clr>
            <a:srgbClr val="A4A3A4"/>
          </p15:clr>
        </p15:guide>
        <p15:guide id="1" orient="horz" pos="96" userDrawn="1">
          <p15:clr>
            <a:srgbClr val="A4A3A4"/>
          </p15:clr>
        </p15:guide>
        <p15:guide id="2" pos="3727" userDrawn="1">
          <p15:clr>
            <a:srgbClr val="A4A3A4"/>
          </p15:clr>
        </p15:guide>
        <p15:guide id="3" pos="3953" userDrawn="1">
          <p15:clr>
            <a:srgbClr val="A4A3A4"/>
          </p15:clr>
        </p15:guide>
        <p15:guide id="4" pos="7378" userDrawn="1">
          <p15:clr>
            <a:srgbClr val="A4A3A4"/>
          </p15:clr>
        </p15:guide>
        <p15:guide id="5" pos="302" userDrawn="1">
          <p15:clr>
            <a:srgbClr val="A4A3A4"/>
          </p15:clr>
        </p15:guide>
        <p15:guide id="6" orient="horz" pos="527" userDrawn="1">
          <p15:clr>
            <a:srgbClr val="A4A3A4"/>
          </p15:clr>
        </p15:guide>
        <p15:guide id="8" orient="horz" pos="935" userDrawn="1">
          <p15:clr>
            <a:srgbClr val="A4A3A4"/>
          </p15:clr>
        </p15:guide>
        <p15:guide id="9" orient="horz" pos="3974" userDrawn="1">
          <p15:clr>
            <a:srgbClr val="A4A3A4"/>
          </p15:clr>
        </p15:guide>
        <p15:guide id="10" orient="horz" pos="4156" userDrawn="1">
          <p15:clr>
            <a:srgbClr val="A4A3A4"/>
          </p15:clr>
        </p15:guide>
        <p15:guide id="11" orient="horz" pos="4269" userDrawn="1">
          <p15:clr>
            <a:srgbClr val="A4A3A4"/>
          </p15:clr>
        </p15:guide>
        <p15:guide id="12" orient="horz" pos="64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710619-D609-4ABA-8EC3-1DBA3A476E15}"/>
              </a:ext>
            </a:extLst>
          </p:cNvPr>
          <p:cNvGraphicFramePr>
            <a:graphicFrameLocks noChangeAspect="1"/>
          </p:cNvGraphicFramePr>
          <p:nvPr userDrawn="1">
            <p:custDataLst>
              <p:tags r:id="rId8"/>
            </p:custDataLst>
            <p:extLst>
              <p:ext uri="{D42A27DB-BD31-4B8C-83A1-F6EECF244321}">
                <p14:modId xmlns:p14="http://schemas.microsoft.com/office/powerpoint/2010/main" val="1697085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9" imgW="444" imgH="443" progId="TCLayout.ActiveDocument.1">
                  <p:embed/>
                </p:oleObj>
              </mc:Choice>
              <mc:Fallback>
                <p:oleObj name="thinkcellスライド" r:id="rId9" imgW="444" imgH="443" progId="TCLayout.ActiveDocument.1">
                  <p:embed/>
                  <p:pic>
                    <p:nvPicPr>
                      <p:cNvPr id="4" name="オブジェクト 3" hidden="1">
                        <a:extLst>
                          <a:ext uri="{FF2B5EF4-FFF2-40B4-BE49-F238E27FC236}">
                            <a16:creationId xmlns:a16="http://schemas.microsoft.com/office/drawing/2014/main" id="{88710619-D609-4ABA-8EC3-1DBA3A476E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52400"/>
            <a:ext cx="11232000" cy="647700"/>
          </a:xfrm>
          <a:prstGeom prst="rect">
            <a:avLst/>
          </a:prstGeom>
        </p:spPr>
        <p:txBody>
          <a:bodyPr vert="horz" lIns="0" tIns="0" rIns="0" bIns="0" rtlCol="0" anchor="b" anchorCtr="0">
            <a:noAutofit/>
          </a:bodyPr>
          <a:lstStyle/>
          <a:p>
            <a:r>
              <a:rPr kumimoji="1" lang="ja-JP" altLang="en-US"/>
              <a:t>スライドタイトル</a:t>
            </a:r>
            <a:r>
              <a:rPr lang="ja-JP" altLang="en-US" noProof="0"/>
              <a:t>（入力が必要）</a:t>
            </a:r>
            <a:endParaRPr lang="ja-JP"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ja-JP" altLang="en-GB"/>
              <a:t>DT Template 16:9</a:t>
            </a:r>
          </a:p>
        </p:txBody>
      </p:sp>
      <p:sp>
        <p:nvSpPr>
          <p:cNvPr id="9" name="スライド番号プレースホルダ 9"/>
          <p:cNvSpPr>
            <a:spLocks noGrp="1"/>
          </p:cNvSpPr>
          <p:nvPr>
            <p:ph type="sldNum" sz="quarter" idx="4"/>
          </p:nvPr>
        </p:nvSpPr>
        <p:spPr bwMode="gray">
          <a:xfrm>
            <a:off x="4788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4725"/>
            <a:ext cx="11232000" cy="4824000"/>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ja-JP" altLang="ja-JP"/>
              <a:t>1 </a:t>
            </a:r>
            <a:r>
              <a:rPr kumimoji="1" lang="ja-JP" altLang="en-US"/>
              <a:t>レベル</a:t>
            </a:r>
          </a:p>
          <a:p>
            <a:pPr lvl="2"/>
            <a:r>
              <a:rPr kumimoji="1" lang="ja-JP" altLang="en-US"/>
              <a:t>第 </a:t>
            </a:r>
            <a:r>
              <a:rPr kumimoji="1" lang="ja-JP" altLang="ja-JP"/>
              <a:t>2 </a:t>
            </a:r>
            <a:r>
              <a:rPr kumimoji="1" lang="ja-JP" altLang="en-US"/>
              <a:t>レベル</a:t>
            </a:r>
          </a:p>
          <a:p>
            <a:pPr lvl="3"/>
            <a:r>
              <a:rPr kumimoji="1" lang="ja-JP" altLang="en-US"/>
              <a:t>第 </a:t>
            </a:r>
            <a:r>
              <a:rPr kumimoji="1" lang="ja-JP" altLang="ja-JP"/>
              <a:t>3 </a:t>
            </a:r>
            <a:r>
              <a:rPr kumimoji="1" lang="ja-JP" altLang="en-US"/>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50" r:id="rId1"/>
    <p:sldLayoutId id="2147483975" r:id="rId2"/>
    <p:sldLayoutId id="2147483970" r:id="rId3"/>
    <p:sldLayoutId id="2147483980" r:id="rId4"/>
    <p:sldLayoutId id="2147483981" r:id="rId5"/>
    <p:sldLayoutId id="2147483982" r:id="rId6"/>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indent="0" algn="l" defTabSz="990564" rtl="0" eaLnBrk="1" latinLnBrk="0" hangingPunct="1">
        <a:lnSpc>
          <a:spcPct val="100000"/>
        </a:lnSpc>
        <a:spcBef>
          <a:spcPts val="600"/>
        </a:spcBef>
        <a:spcAft>
          <a:spcPts val="0"/>
        </a:spcAft>
        <a:buSzPct val="100000"/>
        <a:buFont typeface="Arial" panose="020B0604020202020204" pitchFamily="34" charset="0"/>
        <a:buNone/>
        <a:defRPr kumimoji="1" sz="1600" b="0" kern="1200" baseline="0">
          <a:solidFill>
            <a:schemeClr val="tx1"/>
          </a:solidFill>
          <a:latin typeface="+mn-lt"/>
          <a:ea typeface="+mn-ea"/>
          <a:cs typeface="+mn-cs"/>
        </a:defRPr>
      </a:lvl1pPr>
      <a:lvl2pPr marL="252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n"/>
        <a:defRPr kumimoji="1" lang="ja-JP" sz="1600" b="0" kern="1200" baseline="0" dirty="0" smtClean="0">
          <a:solidFill>
            <a:schemeClr val="tx1"/>
          </a:solidFill>
          <a:latin typeface="+mn-lt"/>
          <a:ea typeface="+mn-ea"/>
          <a:cs typeface="+mn-cs"/>
        </a:defRPr>
      </a:lvl2pPr>
      <a:lvl3pPr marL="504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Ø"/>
        <a:defRPr kumimoji="1" lang="ja-JP" sz="1600" b="0" kern="1200" baseline="0" dirty="0" smtClean="0">
          <a:solidFill>
            <a:schemeClr val="tx1"/>
          </a:solidFill>
          <a:latin typeface="+mn-lt"/>
          <a:ea typeface="+mn-ea"/>
          <a:cs typeface="+mn-cs"/>
        </a:defRPr>
      </a:lvl3pPr>
      <a:lvl4pPr marL="684000" indent="-180000" algn="l" defTabSz="990564" rtl="0" eaLnBrk="1" latinLnBrk="0" hangingPunct="1">
        <a:lnSpc>
          <a:spcPct val="100000"/>
        </a:lnSpc>
        <a:spcBef>
          <a:spcPts val="600"/>
        </a:spcBef>
        <a:spcAft>
          <a:spcPts val="0"/>
        </a:spcAft>
        <a:buClrTx/>
        <a:buSzPct val="100000"/>
        <a:buFont typeface="Arial" panose="020B0604020202020204" pitchFamily="34" charset="0"/>
        <a:buChar char="•"/>
        <a:defRPr kumimoji="1" lang="ja-JP"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ja-JP"/>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2" orient="horz" pos="96" userDrawn="1">
          <p15:clr>
            <a:srgbClr val="A4A3A4"/>
          </p15:clr>
        </p15:guide>
        <p15:guide id="3" pos="3727" userDrawn="1">
          <p15:clr>
            <a:srgbClr val="A4A3A4"/>
          </p15:clr>
        </p15:guide>
        <p15:guide id="4" pos="3953" userDrawn="1">
          <p15:clr>
            <a:srgbClr val="A4A3A4"/>
          </p15:clr>
        </p15:guide>
        <p15:guide id="5" pos="7378" userDrawn="1">
          <p15:clr>
            <a:srgbClr val="A4A3A4"/>
          </p15:clr>
        </p15:guide>
        <p15:guide id="6" pos="302" userDrawn="1">
          <p15:clr>
            <a:srgbClr val="A4A3A4"/>
          </p15:clr>
        </p15:guide>
        <p15:guide id="7" orient="horz" pos="504" userDrawn="1">
          <p15:clr>
            <a:srgbClr val="A4A3A4"/>
          </p15:clr>
        </p15:guide>
        <p15:guide id="8" orient="horz" pos="527" userDrawn="1">
          <p15:clr>
            <a:srgbClr val="A4A3A4"/>
          </p15:clr>
        </p15:guide>
        <p15:guide id="9" orient="horz" pos="935" userDrawn="1">
          <p15:clr>
            <a:srgbClr val="A4A3A4"/>
          </p15:clr>
        </p15:guide>
        <p15:guide id="10" orient="horz" pos="3974" userDrawn="1">
          <p15:clr>
            <a:srgbClr val="A4A3A4"/>
          </p15:clr>
        </p15:guide>
        <p15:guide id="11" orient="horz" pos="4156" userDrawn="1">
          <p15:clr>
            <a:srgbClr val="A4A3A4"/>
          </p15:clr>
        </p15:guide>
        <p15:guide id="12" orient="horz" pos="4269"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7"/>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8" imgW="444" imgH="443" progId="TCLayout.ActiveDocument.1">
                  <p:embed/>
                </p:oleObj>
              </mc:Choice>
              <mc:Fallback>
                <p:oleObj name="thinkcellスライド" r:id="rId28"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ja-JP"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endParaRPr kumimoji="1" lang="ja-JP"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ja-JP" altLang="ja-JP" sz="900" kern="1200">
                <a:solidFill>
                  <a:schemeClr val="tx1"/>
                </a:solidFill>
                <a:latin typeface="+mn-lt"/>
                <a:ea typeface="+mn-ea"/>
                <a:cs typeface="+mn-cs"/>
              </a:rPr>
              <a:t>© 2026.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ja-JP" altLang="ja-JP"/>
              <a:t>1 </a:t>
            </a:r>
            <a:r>
              <a:rPr kumimoji="1" lang="ja-JP" altLang="en-US"/>
              <a:t>レベル</a:t>
            </a:r>
          </a:p>
          <a:p>
            <a:pPr lvl="2"/>
            <a:r>
              <a:rPr kumimoji="1" lang="ja-JP" altLang="en-US"/>
              <a:t>第 </a:t>
            </a:r>
            <a:r>
              <a:rPr kumimoji="1" lang="ja-JP" altLang="ja-JP"/>
              <a:t>2 </a:t>
            </a:r>
            <a:r>
              <a:rPr kumimoji="1" lang="ja-JP" altLang="en-US"/>
              <a:t>レベル</a:t>
            </a:r>
          </a:p>
          <a:p>
            <a:pPr lvl="3"/>
            <a:r>
              <a:rPr kumimoji="1" lang="ja-JP" altLang="en-US"/>
              <a:t>第 </a:t>
            </a:r>
            <a:r>
              <a:rPr kumimoji="1" lang="ja-JP"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ja-JP" altLang="ja-JP" sz="1100" smtClean="0">
                <a:solidFill>
                  <a:srgbClr val="75787B"/>
                </a:solidFill>
                <a:latin typeface="+mn-lt"/>
                <a:cs typeface="+mn-cs"/>
              </a:defRPr>
            </a:lvl1pPr>
          </a:lstStyle>
          <a:p>
            <a:pPr algn="ctr"/>
            <a:endParaRPr lang="ja-JP"/>
          </a:p>
        </p:txBody>
      </p:sp>
    </p:spTree>
    <p:extLst>
      <p:ext uri="{BB962C8B-B14F-4D97-AF65-F5344CB8AC3E}">
        <p14:creationId xmlns:p14="http://schemas.microsoft.com/office/powerpoint/2010/main" val="2354391317"/>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 id="2147484004" r:id="rId18"/>
    <p:sldLayoutId id="2147484005" r:id="rId19"/>
    <p:sldLayoutId id="2147484006" r:id="rId20"/>
    <p:sldLayoutId id="2147484007" r:id="rId21"/>
    <p:sldLayoutId id="2147484008" r:id="rId22"/>
    <p:sldLayoutId id="2147484009" r:id="rId23"/>
    <p:sldLayoutId id="2147484011" r:id="rId24"/>
    <p:sldLayoutId id="2147484033" r:id="rId25"/>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ja-JP"/>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2"/>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3" imgW="444" imgH="443" progId="TCLayout.ActiveDocument.1">
                  <p:embed/>
                </p:oleObj>
              </mc:Choice>
              <mc:Fallback>
                <p:oleObj name="thinkcellスライド" r:id="rId23"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ja-JP" noProof="0"/>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ja-JP" altLang="ja-JP"/>
              <a:t>1 </a:t>
            </a:r>
            <a:r>
              <a:rPr kumimoji="1" lang="ja-JP" altLang="en-US"/>
              <a:t>レベル</a:t>
            </a:r>
          </a:p>
          <a:p>
            <a:pPr lvl="2"/>
            <a:r>
              <a:rPr kumimoji="1" lang="ja-JP" altLang="en-US"/>
              <a:t>第 </a:t>
            </a:r>
            <a:r>
              <a:rPr kumimoji="1" lang="ja-JP" altLang="ja-JP"/>
              <a:t>2 </a:t>
            </a:r>
            <a:r>
              <a:rPr kumimoji="1" lang="ja-JP" altLang="en-US"/>
              <a:t>レベル</a:t>
            </a:r>
          </a:p>
          <a:p>
            <a:pPr lvl="3"/>
            <a:r>
              <a:rPr kumimoji="1" lang="ja-JP" altLang="en-US"/>
              <a:t>第 </a:t>
            </a:r>
            <a:r>
              <a:rPr kumimoji="1" lang="ja-JP" altLang="ja-JP"/>
              <a:t>3 </a:t>
            </a:r>
            <a:r>
              <a:rPr kumimoji="1" lang="ja-JP" altLang="en-US"/>
              <a:t>レベル</a:t>
            </a:r>
          </a:p>
        </p:txBody>
      </p:sp>
    </p:spTree>
    <p:extLst>
      <p:ext uri="{BB962C8B-B14F-4D97-AF65-F5344CB8AC3E}">
        <p14:creationId xmlns:p14="http://schemas.microsoft.com/office/powerpoint/2010/main" val="63157361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ja-JP"/>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4.xml"/><Relationship Id="rId1" Type="http://schemas.openxmlformats.org/officeDocument/2006/relationships/tags" Target="../tags/tag76.xml"/><Relationship Id="rId6" Type="http://schemas.openxmlformats.org/officeDocument/2006/relationships/image" Target="../media/image17.jpeg"/><Relationship Id="rId5" Type="http://schemas.openxmlformats.org/officeDocument/2006/relationships/image" Target="../media/image16.emf"/><Relationship Id="rId4" Type="http://schemas.openxmlformats.org/officeDocument/2006/relationships/oleObject" Target="../embeddings/oleObject40.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3.xml"/><Relationship Id="rId1" Type="http://schemas.openxmlformats.org/officeDocument/2006/relationships/tags" Target="../tags/tag77.xml"/><Relationship Id="rId6" Type="http://schemas.openxmlformats.org/officeDocument/2006/relationships/image" Target="../media/image19.jpeg"/><Relationship Id="rId5" Type="http://schemas.openxmlformats.org/officeDocument/2006/relationships/image" Target="../media/image18.emf"/><Relationship Id="rId4" Type="http://schemas.openxmlformats.org/officeDocument/2006/relationships/oleObject" Target="../embeddings/oleObject4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0.xml"/><Relationship Id="rId1" Type="http://schemas.openxmlformats.org/officeDocument/2006/relationships/tags" Target="../tags/tag78.xml"/><Relationship Id="rId5" Type="http://schemas.openxmlformats.org/officeDocument/2006/relationships/image" Target="../media/image20.emf"/><Relationship Id="rId4" Type="http://schemas.openxmlformats.org/officeDocument/2006/relationships/oleObject" Target="../embeddings/oleObject4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0.xml"/><Relationship Id="rId1" Type="http://schemas.openxmlformats.org/officeDocument/2006/relationships/tags" Target="../tags/tag79.xml"/><Relationship Id="rId5" Type="http://schemas.openxmlformats.org/officeDocument/2006/relationships/image" Target="../media/image20.emf"/><Relationship Id="rId4" Type="http://schemas.openxmlformats.org/officeDocument/2006/relationships/oleObject" Target="../embeddings/oleObject43.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3.xml"/><Relationship Id="rId1" Type="http://schemas.openxmlformats.org/officeDocument/2006/relationships/tags" Target="../tags/tag80.xml"/><Relationship Id="rId6" Type="http://schemas.openxmlformats.org/officeDocument/2006/relationships/image" Target="../media/image19.jpeg"/><Relationship Id="rId5" Type="http://schemas.openxmlformats.org/officeDocument/2006/relationships/image" Target="../media/image20.emf"/><Relationship Id="rId4" Type="http://schemas.openxmlformats.org/officeDocument/2006/relationships/oleObject" Target="../embeddings/oleObject4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0.xml"/><Relationship Id="rId1" Type="http://schemas.openxmlformats.org/officeDocument/2006/relationships/tags" Target="../tags/tag81.xml"/><Relationship Id="rId6" Type="http://schemas.openxmlformats.org/officeDocument/2006/relationships/hyperlink" Target="https://app.box.com/file/2506282103750" TargetMode="External"/><Relationship Id="rId5" Type="http://schemas.openxmlformats.org/officeDocument/2006/relationships/image" Target="../media/image20.emf"/><Relationship Id="rId4" Type="http://schemas.openxmlformats.org/officeDocument/2006/relationships/oleObject" Target="../embeddings/oleObject45.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hyperlink" Target="https://app.box.com/file/2507130034856" TargetMode="External"/><Relationship Id="rId2" Type="http://schemas.openxmlformats.org/officeDocument/2006/relationships/slideLayout" Target="../slideLayouts/slideLayout40.xml"/><Relationship Id="rId1" Type="http://schemas.openxmlformats.org/officeDocument/2006/relationships/tags" Target="../tags/tag82.xml"/><Relationship Id="rId6" Type="http://schemas.openxmlformats.org/officeDocument/2006/relationships/chart" Target="../charts/chart1.xml"/><Relationship Id="rId5" Type="http://schemas.openxmlformats.org/officeDocument/2006/relationships/image" Target="../media/image20.emf"/><Relationship Id="rId4" Type="http://schemas.openxmlformats.org/officeDocument/2006/relationships/oleObject" Target="../embeddings/oleObject46.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3.xml"/><Relationship Id="rId1" Type="http://schemas.openxmlformats.org/officeDocument/2006/relationships/tags" Target="../tags/tag83.xml"/><Relationship Id="rId6" Type="http://schemas.openxmlformats.org/officeDocument/2006/relationships/image" Target="../media/image19.jpeg"/><Relationship Id="rId5" Type="http://schemas.openxmlformats.org/officeDocument/2006/relationships/image" Target="../media/image20.emf"/><Relationship Id="rId4" Type="http://schemas.openxmlformats.org/officeDocument/2006/relationships/oleObject" Target="../embeddings/oleObject47.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0.xml"/><Relationship Id="rId1" Type="http://schemas.openxmlformats.org/officeDocument/2006/relationships/tags" Target="../tags/tag84.xml"/><Relationship Id="rId5" Type="http://schemas.openxmlformats.org/officeDocument/2006/relationships/image" Target="../media/image20.emf"/><Relationship Id="rId4" Type="http://schemas.openxmlformats.org/officeDocument/2006/relationships/oleObject" Target="../embeddings/oleObject48.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3.xml"/><Relationship Id="rId1" Type="http://schemas.openxmlformats.org/officeDocument/2006/relationships/tags" Target="../tags/tag85.xml"/><Relationship Id="rId6" Type="http://schemas.openxmlformats.org/officeDocument/2006/relationships/image" Target="../media/image19.jpeg"/><Relationship Id="rId5" Type="http://schemas.openxmlformats.org/officeDocument/2006/relationships/image" Target="../media/image20.emf"/><Relationship Id="rId4" Type="http://schemas.openxmlformats.org/officeDocument/2006/relationships/oleObject" Target="../embeddings/oleObject49.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3.xml"/><Relationship Id="rId1" Type="http://schemas.openxmlformats.org/officeDocument/2006/relationships/tags" Target="../tags/tag86.xml"/><Relationship Id="rId6" Type="http://schemas.openxmlformats.org/officeDocument/2006/relationships/image" Target="../media/image19.jpeg"/><Relationship Id="rId5" Type="http://schemas.openxmlformats.org/officeDocument/2006/relationships/image" Target="../media/image20.emf"/><Relationship Id="rId4" Type="http://schemas.openxmlformats.org/officeDocument/2006/relationships/oleObject" Target="../embeddings/oleObject50.bin"/></Relationships>
</file>

<file path=ppt/slides/_rels/slide13.xml.rels><?xml version="1.0" encoding="UTF-8" standalone="yes"?>
<Relationships xmlns="http://schemas.openxmlformats.org/package/2006/relationships"><Relationship Id="rId3" Type="http://schemas.openxmlformats.org/officeDocument/2006/relationships/hyperlink" Target="http://www.bsigroup.com/clientDirectory" TargetMode="External"/><Relationship Id="rId2" Type="http://schemas.openxmlformats.org/officeDocument/2006/relationships/notesSlide" Target="../notesSlides/notesSlide13.xml"/><Relationship Id="rId1" Type="http://schemas.openxmlformats.org/officeDocument/2006/relationships/slideLayout" Target="../slideLayouts/slideLayout47.xml"/><Relationship Id="rId6" Type="http://schemas.openxmlformats.org/officeDocument/2006/relationships/hyperlink" Target="http://www.deloitte.com/" TargetMode="External"/><Relationship Id="rId5" Type="http://schemas.openxmlformats.org/officeDocument/2006/relationships/hyperlink" Target="http://www.deloitte.com/jp/about" TargetMode="External"/><Relationship Id="rId4" Type="http://schemas.openxmlformats.org/officeDocument/2006/relationships/hyperlink" Target="http://www.deloitte.com/j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FEB6184-41DC-7C82-EBC9-6125A7A9A4E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306" imgH="306" progId="TCLayout.ActiveDocument.1">
                  <p:embed/>
                </p:oleObj>
              </mc:Choice>
              <mc:Fallback>
                <p:oleObj name="thinkcellスライド" r:id="rId4" imgW="306" imgH="306" progId="TCLayout.ActiveDocument.1">
                  <p:embed/>
                  <p:pic>
                    <p:nvPicPr>
                      <p:cNvPr id="2" name="think-cell data - do not delete" hidden="1">
                        <a:extLst>
                          <a:ext uri="{FF2B5EF4-FFF2-40B4-BE49-F238E27FC236}">
                            <a16:creationId xmlns:a16="http://schemas.microsoft.com/office/drawing/2014/main" id="{5FEB6184-41DC-7C82-EBC9-6125A7A9A4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9" name="図 18" descr="夜にライトアップされている&#10;&#10;AI によって生成されたコンテンツは間違っている可能性があります。">
            <a:extLst>
              <a:ext uri="{FF2B5EF4-FFF2-40B4-BE49-F238E27FC236}">
                <a16:creationId xmlns:a16="http://schemas.microsoft.com/office/drawing/2014/main" id="{25F0A911-5C19-2636-0451-C85C33F6464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0" y="0"/>
            <a:ext cx="3904090" cy="6876138"/>
          </a:xfrm>
          <a:prstGeom prst="rect">
            <a:avLst/>
          </a:prstGeom>
        </p:spPr>
      </p:pic>
      <p:sp>
        <p:nvSpPr>
          <p:cNvPr id="25" name="テキスト ボックス 24">
            <a:extLst>
              <a:ext uri="{FF2B5EF4-FFF2-40B4-BE49-F238E27FC236}">
                <a16:creationId xmlns:a16="http://schemas.microsoft.com/office/drawing/2014/main" id="{63CADF77-D81E-E8E2-9C28-F7386E272BD4}"/>
              </a:ext>
            </a:extLst>
          </p:cNvPr>
          <p:cNvSpPr txBox="1"/>
          <p:nvPr/>
        </p:nvSpPr>
        <p:spPr bwMode="gray">
          <a:xfrm>
            <a:off x="4661598" y="2266047"/>
            <a:ext cx="7223760" cy="492443"/>
          </a:xfrm>
          <a:prstGeom prst="rect">
            <a:avLst/>
          </a:prstGeom>
          <a:noFill/>
        </p:spPr>
        <p:txBody>
          <a:bodyPr wrap="non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Tx/>
              <a:buNone/>
              <a:tabLst/>
              <a:defRPr lang="ja-JP" altLang="en-US"/>
            </a:pP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BX取り組み｜Quick-Win施策の推進</a:t>
            </a:r>
          </a:p>
        </p:txBody>
      </p:sp>
      <p:sp>
        <p:nvSpPr>
          <p:cNvPr id="28" name="テキスト ボックス 27">
            <a:extLst>
              <a:ext uri="{FF2B5EF4-FFF2-40B4-BE49-F238E27FC236}">
                <a16:creationId xmlns:a16="http://schemas.microsoft.com/office/drawing/2014/main" id="{81AAFA19-1B8D-A828-A17B-E52449575833}"/>
              </a:ext>
            </a:extLst>
          </p:cNvPr>
          <p:cNvSpPr txBox="1"/>
          <p:nvPr/>
        </p:nvSpPr>
        <p:spPr bwMode="gray">
          <a:xfrm>
            <a:off x="4661598" y="3780005"/>
            <a:ext cx="7223760" cy="615553"/>
          </a:xfrm>
          <a:prstGeom prst="rect">
            <a:avLst/>
          </a:prstGeom>
          <a:noFill/>
        </p:spPr>
        <p:txBody>
          <a:bodyPr wrap="none" lIns="0" tIns="0" rIns="0" bIns="0" rtlCol="0" anchor="t">
            <a:spAutoFit/>
          </a:bodyPr>
          <a:lstStyle/>
          <a:p>
            <a:pPr lvl="0" defTabSz="990564" fontAlgn="auto">
              <a:spcBef>
                <a:spcPts val="0"/>
              </a:spcBef>
              <a:spcAft>
                <a:spcPts val="0"/>
              </a:spcAft>
              <a:buSzPct val="100000"/>
            </a:pPr>
            <a:r>
              <a:rPr kumimoji="0" lang="ja-JP" altLang="en-US" sz="2000" b="0" i="0" u="none" strike="noStrike" kern="1200" cap="none" spc="0" normalizeH="0" baseline="0" noProof="0">
                <a:ln>
                  <a:noFill/>
                </a:ln>
                <a:solidFill>
                  <a:prstClr val="black"/>
                </a:solidFill>
                <a:effectLst/>
                <a:uLnTx/>
                <a:uFillTx/>
                <a:latin typeface="Arial"/>
                <a:ea typeface="Yu Gothic UI"/>
                <a:cs typeface="Arial"/>
                <a:sym typeface="+mj-lt"/>
              </a:rPr>
              <a:t>Phase2 第1回 週次進捗報告資料｜セキュア公開・データ投入</a:t>
            </a:r>
            <a:br>
              <a:rPr lang="ja-JP" altLang="en-US" sz="2000"/>
            </a:br>
            <a:endParaRPr kumimoji="1" lang="ja-JP" altLang="en-US" sz="20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3" name="テキスト ボックス 32">
            <a:extLst>
              <a:ext uri="{FF2B5EF4-FFF2-40B4-BE49-F238E27FC236}">
                <a16:creationId xmlns:a16="http://schemas.microsoft.com/office/drawing/2014/main" id="{844AB2EE-B4B8-DAE9-7E1E-1B71A5C58662}"/>
              </a:ext>
            </a:extLst>
          </p:cNvPr>
          <p:cNvSpPr txBox="1"/>
          <p:nvPr/>
        </p:nvSpPr>
        <p:spPr bwMode="gray">
          <a:xfrm>
            <a:off x="4661598" y="4283964"/>
            <a:ext cx="1678345" cy="307777"/>
          </a:xfrm>
          <a:prstGeom prst="rect">
            <a:avLst/>
          </a:prstGeom>
          <a:noFill/>
        </p:spPr>
        <p:txBody>
          <a:bodyPr wrap="none" lIns="0" tIns="0" rIns="0" bIns="0" rtlCol="0" anchor="t">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2000" b="0" i="0" u="none" strike="noStrike" kern="1200" cap="none" spc="0" normalizeH="0" baseline="0" noProof="0">
                <a:ln>
                  <a:noFill/>
                </a:ln>
                <a:solidFill>
                  <a:prstClr val="black"/>
                </a:solidFill>
                <a:effectLst/>
                <a:uLnTx/>
                <a:uFillTx/>
                <a:latin typeface="Calibri"/>
                <a:ea typeface="Yu Gothic UI"/>
                <a:cs typeface="Arial"/>
              </a:rPr>
              <a:t>2026年10月7日</a:t>
            </a:r>
          </a:p>
        </p:txBody>
      </p:sp>
    </p:spTree>
    <p:extLst>
      <p:ext uri="{BB962C8B-B14F-4D97-AF65-F5344CB8AC3E}">
        <p14:creationId xmlns:p14="http://schemas.microsoft.com/office/powerpoint/2010/main" val="801653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6F1-BCEC-2A09-F5ED-3A94ACC2A71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10F7D5-41FB-1DBB-4D86-A56944FC4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810F7D5-41FB-1DBB-4D86-A56944FC4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latin typeface="+mj-ea"/>
                <a:ea typeface="+mj-ea"/>
              </a:rPr>
              <a:pPr/>
              <a:t>2</a:t>
            </a:fld>
            <a:endParaRPr lang="ja-JP" altLang="en-US">
              <a:latin typeface="+mj-ea"/>
              <a:ea typeface="+mj-ea"/>
            </a:endParaRPr>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latin typeface="+mj-ea"/>
              </a:rPr>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9" name="ハイライト"/>
          <p:cNvSpPr/>
          <p:nvPr/>
        </p:nvSpPr>
        <p:spPr>
          <a:xfrm>
            <a:off x="402336" y="1554480"/>
            <a:ext cx="7269480" cy="457200"/>
          </a:xfrm>
          <a:prstGeom prst="rect">
            <a:avLst/>
          </a:prstGeom>
          <a:solidFill>
            <a:srgbClr val="63666A"/>
          </a:solidFill>
          <a:ln>
            <a:noFill/>
          </a:ln>
        </p:spPr>
        <p:txBody>
          <a:bodyPr wrap="square" lIns="54864" tIns="27432" rIns="54864" bIns="27432" rtlCol="0" anchor="ctr">
            <a:noAutofit/>
          </a:bodyPr>
          <a:lstStyle/>
          <a:p>
            <a:pPr algn="ctr"/>
            <a:endParaRPr>
              <a:latin typeface="+mj-ea"/>
              <a:ea typeface="+mj-ea"/>
            </a:endParaRPr>
          </a:p>
        </p:txBody>
      </p:sp>
      <p:sp>
        <p:nvSpPr>
          <p:cNvPr id="10" name="TextBox 9"/>
          <p:cNvSpPr txBox="1"/>
          <p:nvPr/>
        </p:nvSpPr>
        <p:spPr>
          <a:xfrm>
            <a:off x="566928" y="1600200"/>
            <a:ext cx="5852160" cy="402336"/>
          </a:xfrm>
          <a:prstGeom prst="rect">
            <a:avLst/>
          </a:prstGeom>
          <a:noFill/>
        </p:spPr>
        <p:txBody>
          <a:bodyPr wrap="square" lIns="0" tIns="0" rIns="0" bIns="0" anchor="ctr">
            <a:noAutofit/>
          </a:bodyPr>
          <a:lstStyle/>
          <a:p>
            <a:pPr algn="l">
              <a:buNone/>
            </a:pPr>
            <a:r>
              <a:rPr lang="ja-JP" altLang="en-US" sz="1700" b="1">
                <a:solidFill>
                  <a:srgbClr val="FFFFFF"/>
                </a:solidFill>
                <a:latin typeface="+mj-ea"/>
                <a:ea typeface="+mj-ea"/>
              </a:rPr>
              <a:t>1．Phase2の全体像と振り返り（10/1〜）</a:t>
            </a:r>
          </a:p>
        </p:txBody>
      </p:sp>
      <p:sp>
        <p:nvSpPr>
          <p:cNvPr id="11" name="TextBox 10"/>
          <p:cNvSpPr txBox="1"/>
          <p:nvPr/>
        </p:nvSpPr>
        <p:spPr>
          <a:xfrm>
            <a:off x="6400800" y="1600200"/>
            <a:ext cx="1143000" cy="402336"/>
          </a:xfrm>
          <a:prstGeom prst="rect">
            <a:avLst/>
          </a:prstGeom>
          <a:noFill/>
        </p:spPr>
        <p:txBody>
          <a:bodyPr wrap="square" lIns="0" tIns="0" rIns="0" bIns="0" anchor="ctr">
            <a:noAutofit/>
          </a:bodyPr>
          <a:lstStyle/>
          <a:p>
            <a:pPr algn="r">
              <a:buNone/>
            </a:pPr>
            <a:r>
              <a:rPr lang="ja-JP" altLang="en-US" sz="1600" b="1">
                <a:solidFill>
                  <a:srgbClr val="FFFFFF"/>
                </a:solidFill>
                <a:latin typeface="+mj-ea"/>
                <a:ea typeface="+mj-ea"/>
              </a:rPr>
              <a:t>5分</a:t>
            </a:r>
          </a:p>
        </p:txBody>
      </p:sp>
      <p:sp>
        <p:nvSpPr>
          <p:cNvPr id="12" name="TextBox 11"/>
          <p:cNvSpPr txBox="1"/>
          <p:nvPr/>
        </p:nvSpPr>
        <p:spPr>
          <a:xfrm>
            <a:off x="566928" y="227685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2．改修内容と最新アプリの状態</a:t>
            </a:r>
          </a:p>
        </p:txBody>
      </p:sp>
      <p:sp>
        <p:nvSpPr>
          <p:cNvPr id="13" name="TextBox 12"/>
          <p:cNvSpPr txBox="1"/>
          <p:nvPr/>
        </p:nvSpPr>
        <p:spPr>
          <a:xfrm>
            <a:off x="6400800" y="227685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10分</a:t>
            </a:r>
          </a:p>
        </p:txBody>
      </p:sp>
      <p:sp>
        <p:nvSpPr>
          <p:cNvPr id="14" name="TextBox 13"/>
          <p:cNvSpPr txBox="1"/>
          <p:nvPr/>
        </p:nvSpPr>
        <p:spPr>
          <a:xfrm>
            <a:off x="896112" y="266090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改修台帳（15項目＋Phase2の追加）と今週の改修</a:t>
            </a:r>
          </a:p>
        </p:txBody>
      </p:sp>
      <p:sp>
        <p:nvSpPr>
          <p:cNvPr id="15" name="TextBox 14"/>
          <p:cNvSpPr txBox="1"/>
          <p:nvPr/>
        </p:nvSpPr>
        <p:spPr>
          <a:xfrm>
            <a:off x="896112" y="2990088"/>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外部取得データソースの改善</a:t>
            </a:r>
          </a:p>
        </p:txBody>
      </p:sp>
      <p:sp>
        <p:nvSpPr>
          <p:cNvPr id="16" name="TextBox 15"/>
          <p:cNvSpPr txBox="1"/>
          <p:nvPr/>
        </p:nvSpPr>
        <p:spPr>
          <a:xfrm>
            <a:off x="566928" y="361188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3．当面のタイムラインとITEC様への引継ぎ</a:t>
            </a:r>
          </a:p>
        </p:txBody>
      </p:sp>
      <p:sp>
        <p:nvSpPr>
          <p:cNvPr id="17" name="TextBox 16"/>
          <p:cNvSpPr txBox="1"/>
          <p:nvPr/>
        </p:nvSpPr>
        <p:spPr>
          <a:xfrm>
            <a:off x="6400800" y="361188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8" name="TextBox 17"/>
          <p:cNvSpPr txBox="1"/>
          <p:nvPr/>
        </p:nvSpPr>
        <p:spPr>
          <a:xfrm>
            <a:off x="566928" y="428853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4．ITEC様からのご報告</a:t>
            </a:r>
          </a:p>
        </p:txBody>
      </p:sp>
      <p:sp>
        <p:nvSpPr>
          <p:cNvPr id="19" name="TextBox 18"/>
          <p:cNvSpPr txBox="1"/>
          <p:nvPr/>
        </p:nvSpPr>
        <p:spPr>
          <a:xfrm>
            <a:off x="6400800" y="428853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20分</a:t>
            </a:r>
          </a:p>
        </p:txBody>
      </p:sp>
      <p:sp>
        <p:nvSpPr>
          <p:cNvPr id="20" name="TextBox 19"/>
          <p:cNvSpPr txBox="1"/>
          <p:nvPr/>
        </p:nvSpPr>
        <p:spPr>
          <a:xfrm>
            <a:off x="896112" y="467258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セキュア公開版の状況、10/7版の反映・データ投入の計画</a:t>
            </a:r>
          </a:p>
        </p:txBody>
      </p:sp>
      <p:sp>
        <p:nvSpPr>
          <p:cNvPr id="21" name="TextBox 20"/>
          <p:cNvSpPr txBox="1"/>
          <p:nvPr/>
        </p:nvSpPr>
        <p:spPr>
          <a:xfrm>
            <a:off x="566928" y="529437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5．ディスカッション</a:t>
            </a:r>
          </a:p>
        </p:txBody>
      </p:sp>
      <p:sp>
        <p:nvSpPr>
          <p:cNvPr id="22" name="TextBox 21"/>
          <p:cNvSpPr txBox="1"/>
          <p:nvPr/>
        </p:nvSpPr>
        <p:spPr>
          <a:xfrm>
            <a:off x="6400800" y="529437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15分</a:t>
            </a:r>
          </a:p>
        </p:txBody>
      </p:sp>
      <p:sp>
        <p:nvSpPr>
          <p:cNvPr id="23" name="TextBox 22"/>
          <p:cNvSpPr txBox="1"/>
          <p:nvPr/>
        </p:nvSpPr>
        <p:spPr>
          <a:xfrm>
            <a:off x="896112" y="567842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ラップアップ</a:t>
            </a:r>
          </a:p>
        </p:txBody>
      </p:sp>
    </p:spTree>
    <p:extLst>
      <p:ext uri="{BB962C8B-B14F-4D97-AF65-F5344CB8AC3E}">
        <p14:creationId xmlns:p14="http://schemas.microsoft.com/office/powerpoint/2010/main" val="2642108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E55415B-F821-9DD9-AB30-566C913A03E0}"/>
              </a:ext>
            </a:extLst>
          </p:cNvPr>
          <p:cNvGraphicFramePr>
            <a:graphicFrameLocks/>
          </p:cNvGraphicFramePr>
          <p:nvPr>
            <p:custDataLst>
              <p:tags r:id="rId1"/>
            </p:custDataLst>
            <p:extLst>
              <p:ext uri="{D42A27DB-BD31-4B8C-83A1-F6EECF244321}">
                <p14:modId xmlns:p14="http://schemas.microsoft.com/office/powerpoint/2010/main" val="41543482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4" name="thinkcell data - do not delete" hidden="1">
                        <a:extLst>
                          <a:ext uri="{FF2B5EF4-FFF2-40B4-BE49-F238E27FC236}">
                            <a16:creationId xmlns:a16="http://schemas.microsoft.com/office/drawing/2014/main" id="{AE55415B-F821-9DD9-AB30-566C913A03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5"/>
          </p:nvPr>
        </p:nvSpPr>
        <p:spPr/>
        <p:txBody>
          <a:bodyPr/>
          <a:lstStyle/>
          <a:p>
            <a:r>
              <a:rPr lang="ja-JP">
                <a:latin typeface="+mj-ea"/>
                <a:ea typeface="+mj-ea"/>
              </a:rPr>
              <a:t>Phase2の全体スケジュール</a:t>
            </a:r>
          </a:p>
        </p:txBody>
      </p:sp>
      <p:sp>
        <p:nvSpPr>
          <p:cNvPr id="3" name="Title 2"/>
          <p:cNvSpPr>
            <a:spLocks noGrp="1"/>
          </p:cNvSpPr>
          <p:nvPr>
            <p:ph type="title"/>
          </p:nvPr>
        </p:nvSpPr>
        <p:spPr/>
        <p:txBody>
          <a:bodyPr vert="horz" rIns="0"/>
          <a:lstStyle/>
          <a:p>
            <a:r>
              <a:rPr lang="ja-JP" altLang="en-US">
                <a:latin typeface="+mj-ea"/>
              </a:rPr>
              <a:t>セキュア</a:t>
            </a:r>
            <a:r>
              <a:rPr lang="ja-JP">
                <a:latin typeface="+mj-ea"/>
              </a:rPr>
              <a:t>公開・データ投入はITEC様が主導し、弊社は改修・引継ぎと品質の評価・定着で支援します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mj-ea"/>
                <a:ea typeface="+mj-ea"/>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3</a:t>
            </a:fld>
            <a:endParaRPr kumimoji="0" lang="ja-JP" altLang="en-US" sz="900" b="0" i="0" u="none" strike="noStrike" kern="1200" cap="none" spc="0" normalizeH="0" baseline="0" noProof="0">
              <a:ln>
                <a:noFill/>
              </a:ln>
              <a:solidFill>
                <a:prstClr val="black"/>
              </a:solidFill>
              <a:effectLst/>
              <a:uLnTx/>
              <a:uFillTx/>
              <a:latin typeface="+mj-ea"/>
              <a:ea typeface="+mj-ea"/>
              <a:cs typeface="+mn-cs"/>
            </a:endParaRPr>
          </a:p>
        </p:txBody>
      </p:sp>
      <p:sp>
        <p:nvSpPr>
          <p:cNvPr id="7" name="Rectangle 6"/>
          <p:cNvSpPr/>
          <p:nvPr/>
        </p:nvSpPr>
        <p:spPr>
          <a:xfrm>
            <a:off x="9098280" y="1060704"/>
            <a:ext cx="2606040" cy="347472"/>
          </a:xfrm>
          <a:prstGeom prst="rect">
            <a:avLst/>
          </a:prstGeom>
          <a:solidFill>
            <a:srgbClr val="F3F3F3"/>
          </a:solidFill>
          <a:ln>
            <a:noFill/>
          </a:ln>
        </p:spPr>
        <p:txBody>
          <a:bodyPr wrap="square" lIns="54864" tIns="27432" rIns="54864" bIns="27432" rtlCol="0" anchor="ctr">
            <a:noAutofit/>
          </a:bodyPr>
          <a:lstStyle/>
          <a:p>
            <a:pPr algn="ctr">
              <a:buNone/>
            </a:pPr>
            <a:r>
              <a:rPr lang="ja-JP" altLang="en-US" sz="1200" b="1">
                <a:solidFill>
                  <a:srgbClr val="262626"/>
                </a:solidFill>
                <a:latin typeface="+mj-ea"/>
                <a:ea typeface="+mj-ea"/>
              </a:rPr>
              <a:t>2026/10/1 – 11/30</a:t>
            </a:r>
          </a:p>
        </p:txBody>
      </p:sp>
      <p:sp>
        <p:nvSpPr>
          <p:cNvPr id="8" name="Rectangle 7"/>
          <p:cNvSpPr/>
          <p:nvPr/>
        </p:nvSpPr>
        <p:spPr>
          <a:xfrm>
            <a:off x="475488" y="1645920"/>
            <a:ext cx="2011680" cy="502920"/>
          </a:xfrm>
          <a:prstGeom prst="rect">
            <a:avLst/>
          </a:prstGeom>
          <a:solidFill>
            <a:srgbClr val="F3F3F3"/>
          </a:solidFill>
          <a:ln>
            <a:noFill/>
          </a:ln>
        </p:spPr>
        <p:txBody>
          <a:bodyPr wrap="square" lIns="54864" tIns="27432" rIns="54864" bIns="27432" rtlCol="0" anchor="ctr">
            <a:noAutofit/>
          </a:bodyPr>
          <a:lstStyle/>
          <a:p>
            <a:pPr algn="ctr">
              <a:buNone/>
            </a:pPr>
            <a:r>
              <a:rPr lang="ja-JP" altLang="en-US" sz="1200" b="1">
                <a:solidFill>
                  <a:srgbClr val="595959"/>
                </a:solidFill>
                <a:latin typeface="+mj-ea"/>
                <a:ea typeface="+mj-ea"/>
              </a:rPr>
              <a:t>ワークストリーム</a:t>
            </a:r>
          </a:p>
        </p:txBody>
      </p:sp>
      <p:sp>
        <p:nvSpPr>
          <p:cNvPr id="9" name="Rectangle 8"/>
          <p:cNvSpPr/>
          <p:nvPr/>
        </p:nvSpPr>
        <p:spPr>
          <a:xfrm>
            <a:off x="2514600" y="1645920"/>
            <a:ext cx="1389888" cy="502920"/>
          </a:xfrm>
          <a:prstGeom prst="rect">
            <a:avLst/>
          </a:prstGeom>
          <a:solidFill>
            <a:srgbClr val="F3F3F3"/>
          </a:solidFill>
          <a:ln>
            <a:noFill/>
          </a:ln>
        </p:spPr>
        <p:txBody>
          <a:bodyPr wrap="square" lIns="54864" tIns="27432" rIns="54864" bIns="27432" rtlCol="0" anchor="ctr">
            <a:noAutofit/>
          </a:bodyPr>
          <a:lstStyle/>
          <a:p>
            <a:pPr algn="ctr">
              <a:buNone/>
            </a:pPr>
            <a:r>
              <a:rPr lang="ja-JP" altLang="en-US" sz="1200" b="1">
                <a:solidFill>
                  <a:srgbClr val="595959"/>
                </a:solidFill>
                <a:latin typeface="+mj-ea"/>
                <a:ea typeface="+mj-ea"/>
              </a:rPr>
              <a:t>主体／支援</a:t>
            </a:r>
          </a:p>
        </p:txBody>
      </p:sp>
      <p:sp>
        <p:nvSpPr>
          <p:cNvPr id="10" name="Rectangle 9"/>
          <p:cNvSpPr/>
          <p:nvPr/>
        </p:nvSpPr>
        <p:spPr>
          <a:xfrm>
            <a:off x="3931920" y="1645920"/>
            <a:ext cx="4290568" cy="256032"/>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200" b="1">
                <a:solidFill>
                  <a:srgbClr val="FFFFFF"/>
                </a:solidFill>
                <a:latin typeface="+mj-ea"/>
                <a:ea typeface="+mj-ea"/>
              </a:rPr>
              <a:t>10月</a:t>
            </a:r>
          </a:p>
        </p:txBody>
      </p:sp>
      <p:sp>
        <p:nvSpPr>
          <p:cNvPr id="11" name="Rectangle 10"/>
          <p:cNvSpPr/>
          <p:nvPr/>
        </p:nvSpPr>
        <p:spPr>
          <a:xfrm>
            <a:off x="8249920" y="1645920"/>
            <a:ext cx="3454400" cy="256032"/>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200" b="1">
                <a:solidFill>
                  <a:srgbClr val="FFFFFF"/>
                </a:solidFill>
                <a:latin typeface="+mj-ea"/>
                <a:ea typeface="+mj-ea"/>
              </a:rPr>
              <a:t>11月</a:t>
            </a:r>
          </a:p>
        </p:txBody>
      </p:sp>
      <p:cxnSp>
        <p:nvCxnSpPr>
          <p:cNvPr id="12" name="Connector 11"/>
          <p:cNvCxnSpPr/>
          <p:nvPr/>
        </p:nvCxnSpPr>
        <p:spPr>
          <a:xfrm>
            <a:off x="4795520" y="1938528"/>
            <a:ext cx="0" cy="3849624"/>
          </a:xfrm>
          <a:prstGeom prst="line">
            <a:avLst/>
          </a:prstGeom>
          <a:ln w="6350">
            <a:solidFill>
              <a:srgbClr val="E8E8E8"/>
            </a:solidFill>
          </a:ln>
        </p:spPr>
      </p:cxnSp>
      <p:cxnSp>
        <p:nvCxnSpPr>
          <p:cNvPr id="13" name="Connector 12"/>
          <p:cNvCxnSpPr/>
          <p:nvPr/>
        </p:nvCxnSpPr>
        <p:spPr>
          <a:xfrm>
            <a:off x="5659119" y="1938528"/>
            <a:ext cx="0" cy="3849624"/>
          </a:xfrm>
          <a:prstGeom prst="line">
            <a:avLst/>
          </a:prstGeom>
          <a:ln w="6350">
            <a:solidFill>
              <a:srgbClr val="E8E8E8"/>
            </a:solidFill>
          </a:ln>
        </p:spPr>
      </p:cxnSp>
      <p:cxnSp>
        <p:nvCxnSpPr>
          <p:cNvPr id="14" name="Connector 13"/>
          <p:cNvCxnSpPr/>
          <p:nvPr/>
        </p:nvCxnSpPr>
        <p:spPr>
          <a:xfrm>
            <a:off x="6522720" y="1938528"/>
            <a:ext cx="0" cy="3849624"/>
          </a:xfrm>
          <a:prstGeom prst="line">
            <a:avLst/>
          </a:prstGeom>
          <a:ln w="6350">
            <a:solidFill>
              <a:srgbClr val="E8E8E8"/>
            </a:solidFill>
          </a:ln>
        </p:spPr>
      </p:cxnSp>
      <p:cxnSp>
        <p:nvCxnSpPr>
          <p:cNvPr id="15" name="Connector 14"/>
          <p:cNvCxnSpPr/>
          <p:nvPr/>
        </p:nvCxnSpPr>
        <p:spPr>
          <a:xfrm>
            <a:off x="7386320" y="1938528"/>
            <a:ext cx="0" cy="3849624"/>
          </a:xfrm>
          <a:prstGeom prst="line">
            <a:avLst/>
          </a:prstGeom>
          <a:ln w="6350">
            <a:solidFill>
              <a:srgbClr val="E8E8E8"/>
            </a:solidFill>
          </a:ln>
        </p:spPr>
      </p:cxnSp>
      <p:cxnSp>
        <p:nvCxnSpPr>
          <p:cNvPr id="16" name="Connector 15"/>
          <p:cNvCxnSpPr/>
          <p:nvPr/>
        </p:nvCxnSpPr>
        <p:spPr>
          <a:xfrm>
            <a:off x="8249920" y="1938528"/>
            <a:ext cx="0" cy="3849624"/>
          </a:xfrm>
          <a:prstGeom prst="line">
            <a:avLst/>
          </a:prstGeom>
          <a:ln w="6350">
            <a:solidFill>
              <a:srgbClr val="E8E8E8"/>
            </a:solidFill>
          </a:ln>
        </p:spPr>
      </p:cxnSp>
      <p:cxnSp>
        <p:nvCxnSpPr>
          <p:cNvPr id="17" name="Connector 16"/>
          <p:cNvCxnSpPr/>
          <p:nvPr/>
        </p:nvCxnSpPr>
        <p:spPr>
          <a:xfrm>
            <a:off x="9113519" y="1938528"/>
            <a:ext cx="0" cy="3849624"/>
          </a:xfrm>
          <a:prstGeom prst="line">
            <a:avLst/>
          </a:prstGeom>
          <a:ln w="6350">
            <a:solidFill>
              <a:srgbClr val="E8E8E8"/>
            </a:solidFill>
          </a:ln>
        </p:spPr>
      </p:cxnSp>
      <p:cxnSp>
        <p:nvCxnSpPr>
          <p:cNvPr id="18" name="Connector 17"/>
          <p:cNvCxnSpPr/>
          <p:nvPr/>
        </p:nvCxnSpPr>
        <p:spPr>
          <a:xfrm>
            <a:off x="9977120" y="1938528"/>
            <a:ext cx="0" cy="3849624"/>
          </a:xfrm>
          <a:prstGeom prst="line">
            <a:avLst/>
          </a:prstGeom>
          <a:ln w="6350">
            <a:solidFill>
              <a:srgbClr val="E8E8E8"/>
            </a:solidFill>
          </a:ln>
        </p:spPr>
      </p:cxnSp>
      <p:cxnSp>
        <p:nvCxnSpPr>
          <p:cNvPr id="19" name="Connector 18"/>
          <p:cNvCxnSpPr/>
          <p:nvPr/>
        </p:nvCxnSpPr>
        <p:spPr>
          <a:xfrm>
            <a:off x="10840719" y="1938528"/>
            <a:ext cx="0" cy="3849624"/>
          </a:xfrm>
          <a:prstGeom prst="line">
            <a:avLst/>
          </a:prstGeom>
          <a:ln w="6350">
            <a:solidFill>
              <a:srgbClr val="E8E8E8"/>
            </a:solidFill>
          </a:ln>
        </p:spPr>
      </p:cxnSp>
      <p:cxnSp>
        <p:nvCxnSpPr>
          <p:cNvPr id="20" name="Connector 19"/>
          <p:cNvCxnSpPr/>
          <p:nvPr/>
        </p:nvCxnSpPr>
        <p:spPr>
          <a:xfrm>
            <a:off x="8249920" y="1645920"/>
            <a:ext cx="0" cy="4142232"/>
          </a:xfrm>
          <a:prstGeom prst="line">
            <a:avLst/>
          </a:prstGeom>
          <a:ln w="12700">
            <a:solidFill>
              <a:srgbClr val="8C8C8C"/>
            </a:solidFill>
          </a:ln>
        </p:spPr>
      </p:cxnSp>
      <p:cxnSp>
        <p:nvCxnSpPr>
          <p:cNvPr id="21" name="Connector 20"/>
          <p:cNvCxnSpPr/>
          <p:nvPr/>
        </p:nvCxnSpPr>
        <p:spPr>
          <a:xfrm>
            <a:off x="475488" y="2167128"/>
            <a:ext cx="11228832" cy="0"/>
          </a:xfrm>
          <a:prstGeom prst="line">
            <a:avLst/>
          </a:prstGeom>
          <a:ln w="9525">
            <a:solidFill>
              <a:srgbClr val="D0D0CE"/>
            </a:solidFill>
          </a:ln>
        </p:spPr>
      </p:cxnSp>
      <p:cxnSp>
        <p:nvCxnSpPr>
          <p:cNvPr id="22" name="Connector 21"/>
          <p:cNvCxnSpPr/>
          <p:nvPr/>
        </p:nvCxnSpPr>
        <p:spPr>
          <a:xfrm>
            <a:off x="475488" y="2734056"/>
            <a:ext cx="11228832" cy="0"/>
          </a:xfrm>
          <a:prstGeom prst="line">
            <a:avLst/>
          </a:prstGeom>
          <a:ln w="9525">
            <a:solidFill>
              <a:srgbClr val="D0D0CE"/>
            </a:solidFill>
          </a:ln>
        </p:spPr>
      </p:cxnSp>
      <p:cxnSp>
        <p:nvCxnSpPr>
          <p:cNvPr id="23" name="Connector 22"/>
          <p:cNvCxnSpPr/>
          <p:nvPr/>
        </p:nvCxnSpPr>
        <p:spPr>
          <a:xfrm>
            <a:off x="475488" y="4215384"/>
            <a:ext cx="11228832" cy="0"/>
          </a:xfrm>
          <a:prstGeom prst="line">
            <a:avLst/>
          </a:prstGeom>
          <a:ln w="9525">
            <a:solidFill>
              <a:srgbClr val="D0D0CE"/>
            </a:solidFill>
          </a:ln>
        </p:spPr>
      </p:cxnSp>
      <p:cxnSp>
        <p:nvCxnSpPr>
          <p:cNvPr id="24" name="Connector 23"/>
          <p:cNvCxnSpPr/>
          <p:nvPr/>
        </p:nvCxnSpPr>
        <p:spPr>
          <a:xfrm>
            <a:off x="475488" y="5349240"/>
            <a:ext cx="11228832" cy="0"/>
          </a:xfrm>
          <a:prstGeom prst="line">
            <a:avLst/>
          </a:prstGeom>
          <a:ln w="9525">
            <a:solidFill>
              <a:srgbClr val="D0D0CE"/>
            </a:solidFill>
          </a:ln>
        </p:spPr>
      </p:cxnSp>
      <p:cxnSp>
        <p:nvCxnSpPr>
          <p:cNvPr id="25" name="Connector 24"/>
          <p:cNvCxnSpPr/>
          <p:nvPr/>
        </p:nvCxnSpPr>
        <p:spPr>
          <a:xfrm>
            <a:off x="475488" y="5788152"/>
            <a:ext cx="11228832" cy="0"/>
          </a:xfrm>
          <a:prstGeom prst="line">
            <a:avLst/>
          </a:prstGeom>
          <a:ln w="9525">
            <a:solidFill>
              <a:srgbClr val="D0D0CE"/>
            </a:solidFill>
          </a:ln>
        </p:spPr>
      </p:cxnSp>
      <p:cxnSp>
        <p:nvCxnSpPr>
          <p:cNvPr id="26" name="Connector 25"/>
          <p:cNvCxnSpPr/>
          <p:nvPr/>
        </p:nvCxnSpPr>
        <p:spPr>
          <a:xfrm>
            <a:off x="2514600" y="3282696"/>
            <a:ext cx="9189720" cy="0"/>
          </a:xfrm>
          <a:prstGeom prst="line">
            <a:avLst/>
          </a:prstGeom>
          <a:ln w="6350">
            <a:solidFill>
              <a:srgbClr val="E8E8E8"/>
            </a:solidFill>
          </a:ln>
        </p:spPr>
      </p:cxnSp>
      <p:cxnSp>
        <p:nvCxnSpPr>
          <p:cNvPr id="27" name="Connector 26"/>
          <p:cNvCxnSpPr/>
          <p:nvPr/>
        </p:nvCxnSpPr>
        <p:spPr>
          <a:xfrm>
            <a:off x="2514600" y="4782312"/>
            <a:ext cx="9189720" cy="0"/>
          </a:xfrm>
          <a:prstGeom prst="line">
            <a:avLst/>
          </a:prstGeom>
          <a:ln w="6350">
            <a:solidFill>
              <a:srgbClr val="E8E8E8"/>
            </a:solidFill>
          </a:ln>
        </p:spPr>
      </p:cxnSp>
      <p:sp>
        <p:nvSpPr>
          <p:cNvPr id="29" name="Rounded Rectangle 28"/>
          <p:cNvSpPr/>
          <p:nvPr/>
        </p:nvSpPr>
        <p:spPr>
          <a:xfrm>
            <a:off x="4843272" y="1663503"/>
            <a:ext cx="768096" cy="210312"/>
          </a:xfrm>
          <a:prstGeom prst="roundRect">
            <a:avLst>
              <a:gd name="adj" fmla="val 50000"/>
            </a:avLst>
          </a:prstGeom>
          <a:solidFill>
            <a:srgbClr val="262626"/>
          </a:solidFill>
          <a:ln>
            <a:noFill/>
          </a:ln>
        </p:spPr>
        <p:txBody>
          <a:bodyPr wrap="square" lIns="36576" tIns="0" rIns="36576" bIns="0" rtlCol="0" anchor="ctr">
            <a:noAutofit/>
          </a:bodyPr>
          <a:lstStyle/>
          <a:p>
            <a:pPr algn="ctr">
              <a:buNone/>
            </a:pPr>
            <a:r>
              <a:rPr lang="ja-JP" altLang="en-US" sz="1000" b="1">
                <a:solidFill>
                  <a:srgbClr val="FFFFFF"/>
                </a:solidFill>
                <a:latin typeface="+mj-ea"/>
                <a:ea typeface="+mj-ea"/>
              </a:rPr>
              <a:t>本日 10/7</a:t>
            </a:r>
          </a:p>
        </p:txBody>
      </p:sp>
      <p:sp>
        <p:nvSpPr>
          <p:cNvPr id="30" name="TextBox 29"/>
          <p:cNvSpPr txBox="1"/>
          <p:nvPr/>
        </p:nvSpPr>
        <p:spPr>
          <a:xfrm>
            <a:off x="4162552"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1W</a:t>
            </a:r>
          </a:p>
        </p:txBody>
      </p:sp>
      <p:sp>
        <p:nvSpPr>
          <p:cNvPr id="31" name="TextBox 30"/>
          <p:cNvSpPr txBox="1"/>
          <p:nvPr/>
        </p:nvSpPr>
        <p:spPr>
          <a:xfrm>
            <a:off x="5026152"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2W</a:t>
            </a:r>
          </a:p>
        </p:txBody>
      </p:sp>
      <p:sp>
        <p:nvSpPr>
          <p:cNvPr id="32" name="TextBox 31"/>
          <p:cNvSpPr txBox="1"/>
          <p:nvPr/>
        </p:nvSpPr>
        <p:spPr>
          <a:xfrm>
            <a:off x="5889752"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3W</a:t>
            </a:r>
          </a:p>
        </p:txBody>
      </p:sp>
      <p:sp>
        <p:nvSpPr>
          <p:cNvPr id="33" name="TextBox 32"/>
          <p:cNvSpPr txBox="1"/>
          <p:nvPr/>
        </p:nvSpPr>
        <p:spPr>
          <a:xfrm>
            <a:off x="6753352"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4W</a:t>
            </a:r>
          </a:p>
        </p:txBody>
      </p:sp>
      <p:sp>
        <p:nvSpPr>
          <p:cNvPr id="34" name="TextBox 33"/>
          <p:cNvSpPr txBox="1"/>
          <p:nvPr/>
        </p:nvSpPr>
        <p:spPr>
          <a:xfrm>
            <a:off x="7616951"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5W</a:t>
            </a:r>
          </a:p>
        </p:txBody>
      </p:sp>
      <p:sp>
        <p:nvSpPr>
          <p:cNvPr id="35" name="TextBox 34"/>
          <p:cNvSpPr txBox="1"/>
          <p:nvPr/>
        </p:nvSpPr>
        <p:spPr>
          <a:xfrm>
            <a:off x="8480551"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1W</a:t>
            </a:r>
          </a:p>
        </p:txBody>
      </p:sp>
      <p:sp>
        <p:nvSpPr>
          <p:cNvPr id="36" name="TextBox 35"/>
          <p:cNvSpPr txBox="1"/>
          <p:nvPr/>
        </p:nvSpPr>
        <p:spPr>
          <a:xfrm>
            <a:off x="9344151"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2W</a:t>
            </a:r>
          </a:p>
        </p:txBody>
      </p:sp>
      <p:sp>
        <p:nvSpPr>
          <p:cNvPr id="37" name="TextBox 36"/>
          <p:cNvSpPr txBox="1"/>
          <p:nvPr/>
        </p:nvSpPr>
        <p:spPr>
          <a:xfrm>
            <a:off x="10207751"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3W</a:t>
            </a:r>
          </a:p>
        </p:txBody>
      </p:sp>
      <p:sp>
        <p:nvSpPr>
          <p:cNvPr id="38" name="TextBox 37"/>
          <p:cNvSpPr txBox="1"/>
          <p:nvPr/>
        </p:nvSpPr>
        <p:spPr>
          <a:xfrm>
            <a:off x="11071351" y="1938528"/>
            <a:ext cx="402336" cy="210312"/>
          </a:xfrm>
          <a:prstGeom prst="rect">
            <a:avLst/>
          </a:prstGeom>
          <a:solidFill>
            <a:srgbClr val="FFFFFF"/>
          </a:solidFill>
        </p:spPr>
        <p:txBody>
          <a:bodyPr wrap="square" lIns="0" tIns="0" rIns="0" bIns="0" anchor="ctr">
            <a:noAutofit/>
          </a:bodyPr>
          <a:lstStyle/>
          <a:p>
            <a:pPr algn="ctr">
              <a:buNone/>
            </a:pPr>
            <a:r>
              <a:rPr lang="ja-JP" altLang="en-US" sz="1100" b="0">
                <a:solidFill>
                  <a:srgbClr val="595959"/>
                </a:solidFill>
                <a:latin typeface="+mj-ea"/>
                <a:ea typeface="+mj-ea"/>
              </a:rPr>
              <a:t>4W</a:t>
            </a:r>
          </a:p>
        </p:txBody>
      </p:sp>
      <p:sp>
        <p:nvSpPr>
          <p:cNvPr id="39" name="TextBox 38"/>
          <p:cNvSpPr txBox="1"/>
          <p:nvPr/>
        </p:nvSpPr>
        <p:spPr>
          <a:xfrm>
            <a:off x="548640" y="2167128"/>
            <a:ext cx="1920240" cy="566928"/>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マイルストーン</a:t>
            </a:r>
          </a:p>
        </p:txBody>
      </p:sp>
      <p:sp>
        <p:nvSpPr>
          <p:cNvPr id="40" name="Rectangle 39"/>
          <p:cNvSpPr/>
          <p:nvPr/>
        </p:nvSpPr>
        <p:spPr>
          <a:xfrm>
            <a:off x="548640" y="2990088"/>
            <a:ext cx="384048" cy="310896"/>
          </a:xfrm>
          <a:prstGeom prst="rect">
            <a:avLst/>
          </a:prstGeom>
          <a:solidFill>
            <a:srgbClr val="404040"/>
          </a:solidFill>
          <a:ln>
            <a:noFill/>
          </a:ln>
        </p:spPr>
        <p:txBody>
          <a:bodyPr wrap="square" lIns="54864" tIns="27432" rIns="54864" bIns="27432" rtlCol="0" anchor="ctr">
            <a:noAutofit/>
          </a:bodyPr>
          <a:lstStyle/>
          <a:p>
            <a:pPr algn="ctr">
              <a:buNone/>
            </a:pPr>
            <a:r>
              <a:rPr lang="ja-JP" altLang="en-US" sz="1100" b="1">
                <a:solidFill>
                  <a:srgbClr val="FFFFFF"/>
                </a:solidFill>
                <a:latin typeface="+mj-ea"/>
                <a:ea typeface="+mj-ea"/>
              </a:rPr>
              <a:t>B1</a:t>
            </a:r>
          </a:p>
        </p:txBody>
      </p:sp>
      <p:sp>
        <p:nvSpPr>
          <p:cNvPr id="41" name="Rectangle 40"/>
          <p:cNvSpPr/>
          <p:nvPr/>
        </p:nvSpPr>
        <p:spPr>
          <a:xfrm>
            <a:off x="548640" y="3355848"/>
            <a:ext cx="384048" cy="310896"/>
          </a:xfrm>
          <a:prstGeom prst="rect">
            <a:avLst/>
          </a:prstGeom>
          <a:solidFill>
            <a:srgbClr val="404040"/>
          </a:solidFill>
          <a:ln>
            <a:noFill/>
          </a:ln>
        </p:spPr>
        <p:txBody>
          <a:bodyPr wrap="square" lIns="54864" tIns="27432" rIns="54864" bIns="27432" rtlCol="0" anchor="ctr">
            <a:noAutofit/>
          </a:bodyPr>
          <a:lstStyle/>
          <a:p>
            <a:pPr algn="ctr">
              <a:buNone/>
            </a:pPr>
            <a:r>
              <a:rPr lang="ja-JP" altLang="en-US" sz="1100" b="1">
                <a:solidFill>
                  <a:srgbClr val="FFFFFF"/>
                </a:solidFill>
                <a:latin typeface="+mj-ea"/>
                <a:ea typeface="+mj-ea"/>
              </a:rPr>
              <a:t>B2</a:t>
            </a:r>
          </a:p>
        </p:txBody>
      </p:sp>
      <p:sp>
        <p:nvSpPr>
          <p:cNvPr id="42" name="Rectangle 41"/>
          <p:cNvSpPr/>
          <p:nvPr/>
        </p:nvSpPr>
        <p:spPr>
          <a:xfrm>
            <a:off x="548640" y="3721608"/>
            <a:ext cx="384048" cy="310896"/>
          </a:xfrm>
          <a:prstGeom prst="rect">
            <a:avLst/>
          </a:prstGeom>
          <a:solidFill>
            <a:srgbClr val="404040"/>
          </a:solidFill>
          <a:ln>
            <a:noFill/>
          </a:ln>
        </p:spPr>
        <p:txBody>
          <a:bodyPr wrap="square" lIns="54864" tIns="27432" rIns="54864" bIns="27432" rtlCol="0" anchor="ctr">
            <a:noAutofit/>
          </a:bodyPr>
          <a:lstStyle/>
          <a:p>
            <a:pPr algn="ctr">
              <a:buNone/>
            </a:pPr>
            <a:r>
              <a:rPr lang="ja-JP" altLang="en-US" sz="1100" b="1">
                <a:solidFill>
                  <a:srgbClr val="FFFFFF"/>
                </a:solidFill>
                <a:latin typeface="+mj-ea"/>
                <a:ea typeface="+mj-ea"/>
              </a:rPr>
              <a:t>B3</a:t>
            </a:r>
          </a:p>
        </p:txBody>
      </p:sp>
      <p:sp>
        <p:nvSpPr>
          <p:cNvPr id="43" name="TextBox 42"/>
          <p:cNvSpPr txBox="1"/>
          <p:nvPr/>
        </p:nvSpPr>
        <p:spPr>
          <a:xfrm>
            <a:off x="1024128" y="2734056"/>
            <a:ext cx="1463040" cy="1481328"/>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既存Quick-Win</a:t>
            </a:r>
          </a:p>
          <a:p>
            <a:pPr algn="l">
              <a:buNone/>
            </a:pPr>
            <a:r>
              <a:rPr lang="ja-JP" altLang="en-US" sz="1200" b="1">
                <a:solidFill>
                  <a:srgbClr val="262626"/>
                </a:solidFill>
                <a:latin typeface="+mj-ea"/>
                <a:ea typeface="+mj-ea"/>
              </a:rPr>
              <a:t>アプリの品質対応</a:t>
            </a:r>
          </a:p>
        </p:txBody>
      </p:sp>
      <p:sp>
        <p:nvSpPr>
          <p:cNvPr id="44" name="Rectangle 43"/>
          <p:cNvSpPr/>
          <p:nvPr/>
        </p:nvSpPr>
        <p:spPr>
          <a:xfrm>
            <a:off x="548640" y="4626864"/>
            <a:ext cx="384048" cy="310896"/>
          </a:xfrm>
          <a:prstGeom prst="rect">
            <a:avLst/>
          </a:prstGeom>
          <a:solidFill>
            <a:srgbClr val="404040"/>
          </a:solidFill>
          <a:ln>
            <a:noFill/>
          </a:ln>
        </p:spPr>
        <p:txBody>
          <a:bodyPr wrap="square" lIns="54864" tIns="27432" rIns="54864" bIns="27432" rtlCol="0" anchor="ctr">
            <a:noAutofit/>
          </a:bodyPr>
          <a:lstStyle/>
          <a:p>
            <a:pPr algn="ctr">
              <a:buNone/>
            </a:pPr>
            <a:r>
              <a:rPr lang="ja-JP" altLang="en-US" sz="1100" b="1">
                <a:solidFill>
                  <a:srgbClr val="FFFFFF"/>
                </a:solidFill>
                <a:latin typeface="+mj-ea"/>
                <a:ea typeface="+mj-ea"/>
              </a:rPr>
              <a:t>B4</a:t>
            </a:r>
          </a:p>
        </p:txBody>
      </p:sp>
      <p:sp>
        <p:nvSpPr>
          <p:cNvPr id="45" name="TextBox 44"/>
          <p:cNvSpPr txBox="1"/>
          <p:nvPr/>
        </p:nvSpPr>
        <p:spPr>
          <a:xfrm>
            <a:off x="1024128" y="4215384"/>
            <a:ext cx="1463040" cy="1133855"/>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改修と引継ぎ</a:t>
            </a:r>
          </a:p>
          <a:p>
            <a:pPr algn="l">
              <a:buNone/>
            </a:pPr>
            <a:r>
              <a:rPr lang="ja-JP" altLang="en-US" sz="1200" b="1">
                <a:solidFill>
                  <a:srgbClr val="262626"/>
                </a:solidFill>
                <a:latin typeface="+mj-ea"/>
                <a:ea typeface="+mj-ea"/>
              </a:rPr>
              <a:t>（検証環境）</a:t>
            </a:r>
          </a:p>
        </p:txBody>
      </p:sp>
      <p:sp>
        <p:nvSpPr>
          <p:cNvPr id="46" name="TextBox 45"/>
          <p:cNvSpPr txBox="1"/>
          <p:nvPr/>
        </p:nvSpPr>
        <p:spPr>
          <a:xfrm>
            <a:off x="548640" y="5349240"/>
            <a:ext cx="1920240" cy="438912"/>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共通</a:t>
            </a:r>
          </a:p>
        </p:txBody>
      </p:sp>
      <p:sp>
        <p:nvSpPr>
          <p:cNvPr id="47" name="TextBox 46"/>
          <p:cNvSpPr txBox="1"/>
          <p:nvPr/>
        </p:nvSpPr>
        <p:spPr>
          <a:xfrm>
            <a:off x="2514600" y="2734056"/>
            <a:ext cx="1389888" cy="548639"/>
          </a:xfrm>
          <a:prstGeom prst="rect">
            <a:avLst/>
          </a:prstGeom>
          <a:noFill/>
        </p:spPr>
        <p:txBody>
          <a:bodyPr wrap="square" lIns="0" tIns="0" rIns="0" bIns="0" anchor="ctr">
            <a:noAutofit/>
          </a:bodyPr>
          <a:lstStyle/>
          <a:p>
            <a:pPr algn="ctr">
              <a:buNone/>
            </a:pPr>
            <a:r>
              <a:rPr lang="ja-JP" altLang="en-US" sz="1100" b="0">
                <a:solidFill>
                  <a:srgbClr val="595959"/>
                </a:solidFill>
                <a:latin typeface="+mj-ea"/>
                <a:ea typeface="+mj-ea"/>
              </a:rPr>
              <a:t>貴社・ITEC様</a:t>
            </a:r>
          </a:p>
          <a:p>
            <a:pPr algn="ctr">
              <a:buNone/>
            </a:pPr>
            <a:r>
              <a:rPr lang="ja-JP" altLang="en-US" sz="1100" b="0">
                <a:solidFill>
                  <a:srgbClr val="595959"/>
                </a:solidFill>
                <a:latin typeface="+mj-ea"/>
                <a:ea typeface="+mj-ea"/>
              </a:rPr>
              <a:t>主体</a:t>
            </a:r>
          </a:p>
        </p:txBody>
      </p:sp>
      <p:sp>
        <p:nvSpPr>
          <p:cNvPr id="48" name="TextBox 47"/>
          <p:cNvSpPr txBox="1"/>
          <p:nvPr/>
        </p:nvSpPr>
        <p:spPr>
          <a:xfrm>
            <a:off x="2514600" y="3282696"/>
            <a:ext cx="1389888" cy="932688"/>
          </a:xfrm>
          <a:prstGeom prst="rect">
            <a:avLst/>
          </a:prstGeom>
          <a:noFill/>
        </p:spPr>
        <p:txBody>
          <a:bodyPr wrap="square" lIns="0" tIns="0" rIns="0" bIns="0" anchor="ctr">
            <a:noAutofit/>
          </a:bodyPr>
          <a:lstStyle/>
          <a:p>
            <a:pPr algn="ctr">
              <a:buNone/>
            </a:pPr>
            <a:r>
              <a:rPr lang="ja-JP" altLang="en-US" sz="1100" b="0">
                <a:solidFill>
                  <a:srgbClr val="595959"/>
                </a:solidFill>
                <a:latin typeface="+mj-ea"/>
                <a:ea typeface="+mj-ea"/>
              </a:rPr>
              <a:t>弊社</a:t>
            </a:r>
          </a:p>
          <a:p>
            <a:pPr algn="ctr">
              <a:buNone/>
            </a:pPr>
            <a:r>
              <a:rPr lang="ja-JP" altLang="en-US" sz="1100" b="0">
                <a:solidFill>
                  <a:srgbClr val="595959"/>
                </a:solidFill>
                <a:latin typeface="+mj-ea"/>
                <a:ea typeface="+mj-ea"/>
              </a:rPr>
              <a:t>助言・技術支援</a:t>
            </a:r>
          </a:p>
        </p:txBody>
      </p:sp>
      <p:sp>
        <p:nvSpPr>
          <p:cNvPr id="49" name="TextBox 48"/>
          <p:cNvSpPr txBox="1"/>
          <p:nvPr/>
        </p:nvSpPr>
        <p:spPr>
          <a:xfrm>
            <a:off x="2514600" y="4215384"/>
            <a:ext cx="1389888" cy="566928"/>
          </a:xfrm>
          <a:prstGeom prst="rect">
            <a:avLst/>
          </a:prstGeom>
          <a:noFill/>
        </p:spPr>
        <p:txBody>
          <a:bodyPr wrap="square" lIns="0" tIns="0" rIns="0" bIns="0" anchor="ctr">
            <a:noAutofit/>
          </a:bodyPr>
          <a:lstStyle/>
          <a:p>
            <a:pPr algn="ctr">
              <a:buNone/>
            </a:pPr>
            <a:r>
              <a:rPr lang="ja-JP" altLang="en-US" sz="1100" b="0">
                <a:solidFill>
                  <a:srgbClr val="595959"/>
                </a:solidFill>
                <a:latin typeface="+mj-ea"/>
                <a:ea typeface="+mj-ea"/>
              </a:rPr>
              <a:t>弊社</a:t>
            </a:r>
          </a:p>
          <a:p>
            <a:pPr algn="ctr">
              <a:buNone/>
            </a:pPr>
            <a:r>
              <a:rPr lang="ja-JP" altLang="en-US" sz="1100" b="0">
                <a:solidFill>
                  <a:srgbClr val="595959"/>
                </a:solidFill>
                <a:latin typeface="+mj-ea"/>
                <a:ea typeface="+mj-ea"/>
              </a:rPr>
              <a:t>主体</a:t>
            </a:r>
          </a:p>
        </p:txBody>
      </p:sp>
      <p:sp>
        <p:nvSpPr>
          <p:cNvPr id="50" name="TextBox 49"/>
          <p:cNvSpPr txBox="1"/>
          <p:nvPr/>
        </p:nvSpPr>
        <p:spPr>
          <a:xfrm>
            <a:off x="2514600" y="4782312"/>
            <a:ext cx="1389888" cy="566927"/>
          </a:xfrm>
          <a:prstGeom prst="rect">
            <a:avLst/>
          </a:prstGeom>
          <a:noFill/>
        </p:spPr>
        <p:txBody>
          <a:bodyPr wrap="square" lIns="0" tIns="0" rIns="0" bIns="0" anchor="ctr">
            <a:noAutofit/>
          </a:bodyPr>
          <a:lstStyle/>
          <a:p>
            <a:pPr algn="ctr">
              <a:buNone/>
            </a:pPr>
            <a:r>
              <a:rPr lang="ja-JP" altLang="en-US" sz="1100" b="0">
                <a:solidFill>
                  <a:srgbClr val="595959"/>
                </a:solidFill>
                <a:latin typeface="+mj-ea"/>
                <a:ea typeface="+mj-ea"/>
              </a:rPr>
              <a:t>貴社・ITEC様</a:t>
            </a:r>
          </a:p>
          <a:p>
            <a:pPr algn="ctr">
              <a:buNone/>
            </a:pPr>
            <a:r>
              <a:rPr lang="ja-JP" altLang="en-US" sz="1100" b="0">
                <a:solidFill>
                  <a:srgbClr val="595959"/>
                </a:solidFill>
                <a:latin typeface="+mj-ea"/>
                <a:ea typeface="+mj-ea"/>
              </a:rPr>
              <a:t>確認・取り込み</a:t>
            </a:r>
          </a:p>
        </p:txBody>
      </p:sp>
      <p:sp>
        <p:nvSpPr>
          <p:cNvPr id="51" name="TextBox 50"/>
          <p:cNvSpPr txBox="1"/>
          <p:nvPr/>
        </p:nvSpPr>
        <p:spPr>
          <a:xfrm>
            <a:off x="2514600" y="5349240"/>
            <a:ext cx="1389888" cy="438912"/>
          </a:xfrm>
          <a:prstGeom prst="rect">
            <a:avLst/>
          </a:prstGeom>
          <a:noFill/>
        </p:spPr>
        <p:txBody>
          <a:bodyPr wrap="square" lIns="0" tIns="0" rIns="0" bIns="0" anchor="ctr">
            <a:noAutofit/>
          </a:bodyPr>
          <a:lstStyle/>
          <a:p>
            <a:pPr algn="ctr">
              <a:buNone/>
            </a:pPr>
            <a:r>
              <a:rPr lang="ja-JP" altLang="en-US" sz="1100" b="0">
                <a:solidFill>
                  <a:srgbClr val="595959"/>
                </a:solidFill>
                <a:latin typeface="+mj-ea"/>
                <a:ea typeface="+mj-ea"/>
              </a:rPr>
              <a:t>貴社 運営／弊社 資料</a:t>
            </a:r>
          </a:p>
        </p:txBody>
      </p:sp>
      <p:sp>
        <p:nvSpPr>
          <p:cNvPr id="52" name="Pentagon 51"/>
          <p:cNvSpPr/>
          <p:nvPr/>
        </p:nvSpPr>
        <p:spPr>
          <a:xfrm>
            <a:off x="3959352" y="2807208"/>
            <a:ext cx="808735" cy="402336"/>
          </a:xfrm>
          <a:prstGeom prst="homePlate">
            <a:avLst>
              <a:gd name="adj" fmla="val 15909"/>
            </a:avLst>
          </a:prstGeom>
          <a:solidFill>
            <a:srgbClr val="E6E6E6"/>
          </a:solidFill>
          <a:ln>
            <a:noFill/>
          </a:ln>
        </p:spPr>
        <p:txBody>
          <a:bodyPr wrap="square" lIns="27432" tIns="9144" rIns="36576" bIns="9144" rtlCol="0" anchor="ctr">
            <a:noAutofit/>
          </a:bodyPr>
          <a:lstStyle/>
          <a:p>
            <a:pPr algn="ctr">
              <a:buNone/>
            </a:pPr>
            <a:r>
              <a:rPr lang="ja-JP" altLang="en-US" sz="1050" b="0">
                <a:solidFill>
                  <a:srgbClr val="262626"/>
                </a:solidFill>
                <a:latin typeface="+mj-ea"/>
                <a:ea typeface="+mj-ea"/>
              </a:rPr>
              <a:t>移行判定</a:t>
            </a:r>
          </a:p>
          <a:p>
            <a:pPr algn="ctr">
              <a:buNone/>
            </a:pPr>
            <a:r>
              <a:rPr lang="ja-JP" altLang="en-US" sz="1050" b="0">
                <a:solidFill>
                  <a:srgbClr val="262626"/>
                </a:solidFill>
                <a:latin typeface="+mj-ea"/>
                <a:ea typeface="+mj-ea"/>
              </a:rPr>
              <a:t>→公開</a:t>
            </a:r>
          </a:p>
        </p:txBody>
      </p:sp>
      <p:sp>
        <p:nvSpPr>
          <p:cNvPr id="53" name="Pentagon 52"/>
          <p:cNvSpPr/>
          <p:nvPr/>
        </p:nvSpPr>
        <p:spPr>
          <a:xfrm>
            <a:off x="4822952" y="2807208"/>
            <a:ext cx="3399536" cy="402336"/>
          </a:xfrm>
          <a:prstGeom prst="homePlate">
            <a:avLst>
              <a:gd name="adj" fmla="val 35000"/>
            </a:avLst>
          </a:prstGeom>
          <a:solidFill>
            <a:srgbClr val="E6E6E6"/>
          </a:solidFill>
          <a:ln>
            <a:noFill/>
          </a:ln>
        </p:spPr>
        <p:txBody>
          <a:bodyPr wrap="square" lIns="54864" tIns="18288" rIns="109728" bIns="18288" rtlCol="0" anchor="ctr">
            <a:noAutofit/>
          </a:bodyPr>
          <a:lstStyle/>
          <a:p>
            <a:pPr algn="ctr">
              <a:buNone/>
            </a:pPr>
            <a:r>
              <a:rPr lang="ja-JP" altLang="en-US" sz="1100" b="0">
                <a:solidFill>
                  <a:srgbClr val="262626"/>
                </a:solidFill>
                <a:latin typeface="+mj-ea"/>
                <a:ea typeface="+mj-ea"/>
              </a:rPr>
              <a:t>初版の運用・問合せ対応（BX推進部・一部役員）</a:t>
            </a:r>
          </a:p>
        </p:txBody>
      </p:sp>
      <p:sp>
        <p:nvSpPr>
          <p:cNvPr id="54" name="Pentagon 53"/>
          <p:cNvSpPr/>
          <p:nvPr/>
        </p:nvSpPr>
        <p:spPr>
          <a:xfrm>
            <a:off x="8277351" y="2807208"/>
            <a:ext cx="3399536" cy="402336"/>
          </a:xfrm>
          <a:prstGeom prst="homePlate">
            <a:avLst>
              <a:gd name="adj" fmla="val 35000"/>
            </a:avLst>
          </a:prstGeom>
          <a:solidFill>
            <a:srgbClr val="E6E6E6"/>
          </a:solidFill>
          <a:ln>
            <a:noFill/>
          </a:ln>
        </p:spPr>
        <p:txBody>
          <a:bodyPr wrap="square" lIns="54864" tIns="18288" rIns="109728" bIns="18288" rtlCol="0" anchor="ctr">
            <a:noAutofit/>
          </a:bodyPr>
          <a:lstStyle/>
          <a:p>
            <a:pPr algn="ctr">
              <a:buNone/>
            </a:pPr>
            <a:r>
              <a:rPr lang="ja-JP" altLang="en-US" sz="1100" b="0">
                <a:solidFill>
                  <a:srgbClr val="262626"/>
                </a:solidFill>
                <a:latin typeface="+mj-ea"/>
                <a:ea typeface="+mj-ea"/>
              </a:rPr>
              <a:t>利用推進・利用者評価の収集／権限・運用の設計</a:t>
            </a:r>
          </a:p>
        </p:txBody>
      </p:sp>
      <p:sp>
        <p:nvSpPr>
          <p:cNvPr id="55" name="Pentagon 54"/>
          <p:cNvSpPr/>
          <p:nvPr/>
        </p:nvSpPr>
        <p:spPr>
          <a:xfrm>
            <a:off x="3959352" y="3337560"/>
            <a:ext cx="808735" cy="384048"/>
          </a:xfrm>
          <a:prstGeom prst="homePlate">
            <a:avLst>
              <a:gd name="adj" fmla="val 16666"/>
            </a:avLst>
          </a:prstGeom>
          <a:solidFill>
            <a:srgbClr val="FFFFFF"/>
          </a:solidFill>
          <a:ln w="12700">
            <a:solidFill>
              <a:srgbClr val="7F7F7F"/>
            </a:solidFill>
            <a:prstDash val="dash"/>
          </a:ln>
        </p:spPr>
        <p:txBody>
          <a:bodyPr wrap="square" lIns="18288" tIns="9144" rIns="27432" bIns="9144" rtlCol="0" anchor="ctr">
            <a:noAutofit/>
          </a:bodyPr>
          <a:lstStyle/>
          <a:p>
            <a:pPr algn="ctr">
              <a:buNone/>
            </a:pPr>
            <a:r>
              <a:rPr lang="ja-JP" altLang="en-US" sz="950" b="1">
                <a:solidFill>
                  <a:srgbClr val="404040"/>
                </a:solidFill>
                <a:latin typeface="+mj-ea"/>
                <a:ea typeface="+mj-ea"/>
              </a:rPr>
              <a:t>B1</a:t>
            </a:r>
          </a:p>
          <a:p>
            <a:pPr algn="ctr">
              <a:buNone/>
            </a:pPr>
            <a:r>
              <a:rPr lang="ja-JP" altLang="en-US" sz="950" b="1">
                <a:solidFill>
                  <a:srgbClr val="404040"/>
                </a:solidFill>
                <a:latin typeface="+mj-ea"/>
                <a:ea typeface="+mj-ea"/>
              </a:rPr>
              <a:t>公開前支援</a:t>
            </a:r>
          </a:p>
        </p:txBody>
      </p:sp>
      <p:sp>
        <p:nvSpPr>
          <p:cNvPr id="56" name="Pentagon 55"/>
          <p:cNvSpPr/>
          <p:nvPr/>
        </p:nvSpPr>
        <p:spPr>
          <a:xfrm>
            <a:off x="4822952" y="3337560"/>
            <a:ext cx="3399536" cy="384048"/>
          </a:xfrm>
          <a:prstGeom prst="homePlate">
            <a:avLst>
              <a:gd name="adj" fmla="val 35000"/>
            </a:avLst>
          </a:prstGeom>
          <a:solidFill>
            <a:srgbClr val="FFFFFF"/>
          </a:solidFill>
          <a:ln w="12700">
            <a:solidFill>
              <a:srgbClr val="7F7F7F"/>
            </a:solidFill>
            <a:prstDash val="dash"/>
          </a:ln>
        </p:spPr>
        <p:txBody>
          <a:bodyPr wrap="square" lIns="54864" tIns="18288" rIns="109728" bIns="18288" rtlCol="0" anchor="ctr">
            <a:noAutofit/>
          </a:bodyPr>
          <a:lstStyle/>
          <a:p>
            <a:pPr algn="ctr">
              <a:buNone/>
            </a:pPr>
            <a:r>
              <a:rPr lang="ja-JP" altLang="en-US" sz="1100" b="1">
                <a:solidFill>
                  <a:srgbClr val="404040"/>
                </a:solidFill>
                <a:latin typeface="+mj-ea"/>
                <a:ea typeface="+mj-ea"/>
              </a:rPr>
              <a:t>B2 初版公開フォロー</a:t>
            </a:r>
          </a:p>
        </p:txBody>
      </p:sp>
      <p:sp>
        <p:nvSpPr>
          <p:cNvPr id="57" name="Pentagon 56"/>
          <p:cNvSpPr/>
          <p:nvPr/>
        </p:nvSpPr>
        <p:spPr>
          <a:xfrm>
            <a:off x="5686552" y="3776472"/>
            <a:ext cx="5990336" cy="384048"/>
          </a:xfrm>
          <a:prstGeom prst="homePlate">
            <a:avLst>
              <a:gd name="adj" fmla="val 35000"/>
            </a:avLst>
          </a:prstGeom>
          <a:solidFill>
            <a:srgbClr val="FFFFFF"/>
          </a:solidFill>
          <a:ln w="12700">
            <a:solidFill>
              <a:srgbClr val="7F7F7F"/>
            </a:solidFill>
            <a:prstDash val="dash"/>
          </a:ln>
        </p:spPr>
        <p:txBody>
          <a:bodyPr wrap="square" lIns="54864" tIns="18288" rIns="109728" bIns="18288" rtlCol="0" anchor="ctr">
            <a:noAutofit/>
          </a:bodyPr>
          <a:lstStyle/>
          <a:p>
            <a:pPr algn="ctr">
              <a:buNone/>
            </a:pPr>
            <a:r>
              <a:rPr lang="ja-JP" altLang="en-US" sz="1100" b="1">
                <a:solidFill>
                  <a:srgbClr val="404040"/>
                </a:solidFill>
                <a:latin typeface="+mj-ea"/>
                <a:ea typeface="+mj-ea"/>
              </a:rPr>
              <a:t>B3 品質評価・定着支援（定点評価、AI回答の粒度・品質のチューニング、改修優先順位）</a:t>
            </a:r>
          </a:p>
        </p:txBody>
      </p:sp>
      <p:sp>
        <p:nvSpPr>
          <p:cNvPr id="58" name="Pentagon 57"/>
          <p:cNvSpPr/>
          <p:nvPr/>
        </p:nvSpPr>
        <p:spPr>
          <a:xfrm>
            <a:off x="3959352" y="4279392"/>
            <a:ext cx="4263136" cy="438912"/>
          </a:xfrm>
          <a:prstGeom prst="homePlate">
            <a:avLst>
              <a:gd name="adj" fmla="val 35000"/>
            </a:avLst>
          </a:prstGeom>
          <a:solidFill>
            <a:srgbClr val="046A38"/>
          </a:solidFill>
          <a:ln>
            <a:noFill/>
          </a:ln>
        </p:spPr>
        <p:txBody>
          <a:bodyPr wrap="square" lIns="54864" tIns="18288" rIns="109728" bIns="18288" rtlCol="0" anchor="ctr">
            <a:noAutofit/>
          </a:bodyPr>
          <a:lstStyle/>
          <a:p>
            <a:pPr algn="ctr">
              <a:buNone/>
            </a:pPr>
            <a:r>
              <a:rPr lang="ja-JP" altLang="en-US" sz="1100" b="1">
                <a:solidFill>
                  <a:srgbClr val="FFFFFF"/>
                </a:solidFill>
                <a:latin typeface="+mj-ea"/>
                <a:ea typeface="+mj-ea"/>
              </a:rPr>
              <a:t>B4 検証環境での改修（9/11版以降の残要望・新規要望）</a:t>
            </a:r>
          </a:p>
          <a:p>
            <a:pPr algn="ctr">
              <a:buNone/>
            </a:pPr>
            <a:r>
              <a:rPr lang="ja-JP" altLang="en-US" sz="1100" b="1">
                <a:solidFill>
                  <a:srgbClr val="FFFFFF"/>
                </a:solidFill>
                <a:latin typeface="+mj-ea"/>
                <a:ea typeface="+mj-ea"/>
              </a:rPr>
              <a:t>と改修台帳の管理・引継ぎ</a:t>
            </a:r>
          </a:p>
        </p:txBody>
      </p:sp>
      <p:sp>
        <p:nvSpPr>
          <p:cNvPr id="59" name="Pentagon 58"/>
          <p:cNvSpPr/>
          <p:nvPr/>
        </p:nvSpPr>
        <p:spPr>
          <a:xfrm>
            <a:off x="8277351" y="4306824"/>
            <a:ext cx="3399536" cy="384048"/>
          </a:xfrm>
          <a:prstGeom prst="homePlate">
            <a:avLst>
              <a:gd name="adj" fmla="val 35000"/>
            </a:avLst>
          </a:prstGeom>
          <a:solidFill>
            <a:srgbClr val="FFFFFF"/>
          </a:solidFill>
          <a:ln w="12700">
            <a:solidFill>
              <a:srgbClr val="BFBFBF"/>
            </a:solidFill>
            <a:prstDash val="dash"/>
          </a:ln>
        </p:spPr>
        <p:txBody>
          <a:bodyPr wrap="square" lIns="54864" tIns="18288" rIns="109728" bIns="18288" rtlCol="0" anchor="ctr">
            <a:noAutofit/>
          </a:bodyPr>
          <a:lstStyle/>
          <a:p>
            <a:pPr algn="ctr">
              <a:buNone/>
            </a:pPr>
            <a:r>
              <a:rPr lang="ja-JP" altLang="en-US" sz="1100" b="0">
                <a:solidFill>
                  <a:srgbClr val="595959"/>
                </a:solidFill>
                <a:latin typeface="+mj-ea"/>
                <a:ea typeface="+mj-ea"/>
              </a:rPr>
              <a:t>11月以降に発生する場合は相談のうえ対応</a:t>
            </a:r>
          </a:p>
        </p:txBody>
      </p:sp>
      <p:sp>
        <p:nvSpPr>
          <p:cNvPr id="60" name="Pentagon 59"/>
          <p:cNvSpPr/>
          <p:nvPr/>
        </p:nvSpPr>
        <p:spPr>
          <a:xfrm>
            <a:off x="3959352" y="5413248"/>
            <a:ext cx="7717536" cy="310896"/>
          </a:xfrm>
          <a:prstGeom prst="homePlate">
            <a:avLst>
              <a:gd name="adj" fmla="val 35000"/>
            </a:avLst>
          </a:prstGeom>
          <a:solidFill>
            <a:srgbClr val="FFFFFF"/>
          </a:solidFill>
          <a:ln w="12700">
            <a:solidFill>
              <a:srgbClr val="BFBFBF"/>
            </a:solidFill>
            <a:prstDash val="dash"/>
          </a:ln>
        </p:spPr>
        <p:txBody>
          <a:bodyPr wrap="square" lIns="54864" tIns="18288" rIns="109728" bIns="18288" rtlCol="0" anchor="ctr">
            <a:noAutofit/>
          </a:bodyPr>
          <a:lstStyle/>
          <a:p>
            <a:pPr algn="ctr">
              <a:buNone/>
            </a:pPr>
            <a:r>
              <a:rPr lang="ja-JP" altLang="en-US" sz="1100" b="0">
                <a:solidFill>
                  <a:srgbClr val="595959"/>
                </a:solidFill>
                <a:latin typeface="+mj-ea"/>
                <a:ea typeface="+mj-ea"/>
              </a:rPr>
              <a:t>週次定例（進捗・課題・改修台帳の確認）</a:t>
            </a:r>
          </a:p>
        </p:txBody>
      </p:sp>
      <p:sp>
        <p:nvSpPr>
          <p:cNvPr id="61" name="Diamond 60"/>
          <p:cNvSpPr/>
          <p:nvPr/>
        </p:nvSpPr>
        <p:spPr>
          <a:xfrm>
            <a:off x="5972048" y="4946904"/>
            <a:ext cx="237744" cy="237744"/>
          </a:xfrm>
          <a:prstGeom prst="diamond">
            <a:avLst/>
          </a:prstGeom>
          <a:solidFill>
            <a:srgbClr val="FFFFFF"/>
          </a:solidFill>
          <a:ln w="15875">
            <a:solidFill>
              <a:srgbClr val="404040"/>
            </a:solidFill>
          </a:ln>
        </p:spPr>
        <p:txBody>
          <a:bodyPr wrap="square" lIns="54864" tIns="27432" rIns="54864" bIns="27432" rtlCol="0" anchor="ctr">
            <a:noAutofit/>
          </a:bodyPr>
          <a:lstStyle/>
          <a:p>
            <a:pPr algn="ctr"/>
            <a:endParaRPr>
              <a:latin typeface="+mj-ea"/>
              <a:ea typeface="+mj-ea"/>
            </a:endParaRPr>
          </a:p>
        </p:txBody>
      </p:sp>
      <p:sp>
        <p:nvSpPr>
          <p:cNvPr id="62" name="Diamond 61"/>
          <p:cNvSpPr/>
          <p:nvPr/>
        </p:nvSpPr>
        <p:spPr>
          <a:xfrm>
            <a:off x="7699248" y="4946904"/>
            <a:ext cx="237744" cy="237744"/>
          </a:xfrm>
          <a:prstGeom prst="diamond">
            <a:avLst/>
          </a:prstGeom>
          <a:solidFill>
            <a:srgbClr val="FFFFFF"/>
          </a:solidFill>
          <a:ln w="15875">
            <a:solidFill>
              <a:srgbClr val="404040"/>
            </a:solidFill>
          </a:ln>
        </p:spPr>
        <p:txBody>
          <a:bodyPr wrap="square" lIns="54864" tIns="27432" rIns="54864" bIns="27432" rtlCol="0" anchor="ctr">
            <a:noAutofit/>
          </a:bodyPr>
          <a:lstStyle/>
          <a:p>
            <a:pPr algn="ctr"/>
            <a:endParaRPr>
              <a:latin typeface="+mj-ea"/>
              <a:ea typeface="+mj-ea"/>
            </a:endParaRPr>
          </a:p>
        </p:txBody>
      </p:sp>
      <p:sp>
        <p:nvSpPr>
          <p:cNvPr id="63" name="Diamond 62"/>
          <p:cNvSpPr/>
          <p:nvPr/>
        </p:nvSpPr>
        <p:spPr>
          <a:xfrm>
            <a:off x="4704080" y="2231136"/>
            <a:ext cx="182880" cy="182880"/>
          </a:xfrm>
          <a:prstGeom prst="diamond">
            <a:avLst/>
          </a:prstGeom>
          <a:solidFill>
            <a:srgbClr val="404040"/>
          </a:solidFill>
          <a:ln>
            <a:noFill/>
          </a:ln>
        </p:spPr>
        <p:txBody>
          <a:bodyPr wrap="square" lIns="54864" tIns="27432" rIns="54864" bIns="27432" rtlCol="0" anchor="ctr">
            <a:noAutofit/>
          </a:bodyPr>
          <a:lstStyle/>
          <a:p>
            <a:pPr algn="ctr"/>
            <a:endParaRPr>
              <a:latin typeface="+mj-ea"/>
              <a:ea typeface="+mj-ea"/>
            </a:endParaRPr>
          </a:p>
        </p:txBody>
      </p:sp>
      <p:sp>
        <p:nvSpPr>
          <p:cNvPr id="64" name="TextBox 63"/>
          <p:cNvSpPr txBox="1"/>
          <p:nvPr/>
        </p:nvSpPr>
        <p:spPr>
          <a:xfrm>
            <a:off x="4923536" y="2203704"/>
            <a:ext cx="1638934" cy="237744"/>
          </a:xfrm>
          <a:prstGeom prst="rect">
            <a:avLst/>
          </a:prstGeom>
          <a:solidFill>
            <a:srgbClr val="FFFFFF"/>
          </a:solidFill>
        </p:spPr>
        <p:txBody>
          <a:bodyPr wrap="square" lIns="0" tIns="0" rIns="0" bIns="0" anchor="ctr">
            <a:noAutofit/>
          </a:bodyPr>
          <a:lstStyle/>
          <a:p>
            <a:pPr algn="l">
              <a:buNone/>
            </a:pPr>
            <a:r>
              <a:rPr lang="ja-JP" altLang="en-US" sz="1100" b="1">
                <a:solidFill>
                  <a:srgbClr val="404040"/>
                </a:solidFill>
                <a:latin typeface="+mj-ea"/>
                <a:ea typeface="+mj-ea"/>
              </a:rPr>
              <a:t>10/5 初版セキュア公開</a:t>
            </a:r>
          </a:p>
        </p:txBody>
      </p:sp>
      <p:sp>
        <p:nvSpPr>
          <p:cNvPr id="65" name="Diamond 64"/>
          <p:cNvSpPr/>
          <p:nvPr/>
        </p:nvSpPr>
        <p:spPr>
          <a:xfrm>
            <a:off x="8158480" y="2231136"/>
            <a:ext cx="182880" cy="182880"/>
          </a:xfrm>
          <a:prstGeom prst="diamond">
            <a:avLst/>
          </a:prstGeom>
          <a:solidFill>
            <a:srgbClr val="404040"/>
          </a:solidFill>
          <a:ln>
            <a:noFill/>
          </a:ln>
        </p:spPr>
        <p:txBody>
          <a:bodyPr wrap="square" lIns="54864" tIns="27432" rIns="54864" bIns="27432" rtlCol="0" anchor="ctr">
            <a:noAutofit/>
          </a:bodyPr>
          <a:lstStyle/>
          <a:p>
            <a:pPr algn="ctr"/>
            <a:endParaRPr>
              <a:latin typeface="+mj-ea"/>
              <a:ea typeface="+mj-ea"/>
            </a:endParaRPr>
          </a:p>
        </p:txBody>
      </p:sp>
      <p:sp>
        <p:nvSpPr>
          <p:cNvPr id="66" name="TextBox 65"/>
          <p:cNvSpPr txBox="1"/>
          <p:nvPr/>
        </p:nvSpPr>
        <p:spPr>
          <a:xfrm>
            <a:off x="8377936" y="2203704"/>
            <a:ext cx="1408430" cy="237744"/>
          </a:xfrm>
          <a:prstGeom prst="rect">
            <a:avLst/>
          </a:prstGeom>
          <a:solidFill>
            <a:srgbClr val="FFFFFF"/>
          </a:solidFill>
        </p:spPr>
        <p:txBody>
          <a:bodyPr wrap="square" lIns="0" tIns="0" rIns="0" bIns="0" anchor="ctr">
            <a:noAutofit/>
          </a:bodyPr>
          <a:lstStyle/>
          <a:p>
            <a:pPr algn="l">
              <a:buNone/>
            </a:pPr>
            <a:r>
              <a:rPr lang="ja-JP" altLang="en-US" sz="1100" b="1">
                <a:solidFill>
                  <a:srgbClr val="404040"/>
                </a:solidFill>
                <a:latin typeface="+mj-ea"/>
                <a:ea typeface="+mj-ea"/>
              </a:rPr>
              <a:t>中間報告（10月末）</a:t>
            </a:r>
          </a:p>
        </p:txBody>
      </p:sp>
      <p:sp>
        <p:nvSpPr>
          <p:cNvPr id="67" name="Diamond 66"/>
          <p:cNvSpPr/>
          <p:nvPr/>
        </p:nvSpPr>
        <p:spPr>
          <a:xfrm>
            <a:off x="11483339" y="2231136"/>
            <a:ext cx="182880" cy="182880"/>
          </a:xfrm>
          <a:prstGeom prst="diamond">
            <a:avLst/>
          </a:prstGeom>
          <a:solidFill>
            <a:srgbClr val="404040"/>
          </a:solidFill>
          <a:ln>
            <a:noFill/>
          </a:ln>
        </p:spPr>
        <p:txBody>
          <a:bodyPr wrap="square" lIns="54864" tIns="27432" rIns="54864" bIns="27432" rtlCol="0" anchor="ctr">
            <a:noAutofit/>
          </a:bodyPr>
          <a:lstStyle/>
          <a:p>
            <a:pPr algn="ctr"/>
            <a:endParaRPr>
              <a:latin typeface="+mj-ea"/>
              <a:ea typeface="+mj-ea"/>
            </a:endParaRPr>
          </a:p>
        </p:txBody>
      </p:sp>
      <p:sp>
        <p:nvSpPr>
          <p:cNvPr id="68" name="TextBox 67"/>
          <p:cNvSpPr txBox="1"/>
          <p:nvPr/>
        </p:nvSpPr>
        <p:spPr>
          <a:xfrm>
            <a:off x="9898633" y="2203704"/>
            <a:ext cx="1548130" cy="237744"/>
          </a:xfrm>
          <a:prstGeom prst="rect">
            <a:avLst/>
          </a:prstGeom>
          <a:solidFill>
            <a:srgbClr val="FFFFFF"/>
          </a:solidFill>
        </p:spPr>
        <p:txBody>
          <a:bodyPr wrap="square" lIns="0" tIns="0" rIns="0" bIns="0" anchor="ctr">
            <a:noAutofit/>
          </a:bodyPr>
          <a:lstStyle/>
          <a:p>
            <a:pPr algn="r">
              <a:buNone/>
            </a:pPr>
            <a:r>
              <a:rPr lang="ja-JP" altLang="en-US" sz="1100" b="1">
                <a:solidFill>
                  <a:srgbClr val="404040"/>
                </a:solidFill>
                <a:latin typeface="+mj-ea"/>
                <a:ea typeface="+mj-ea"/>
              </a:rPr>
              <a:t>最終報告（11月下旬）</a:t>
            </a:r>
          </a:p>
        </p:txBody>
      </p:sp>
      <p:sp>
        <p:nvSpPr>
          <p:cNvPr id="69" name="Diamond 68"/>
          <p:cNvSpPr/>
          <p:nvPr/>
        </p:nvSpPr>
        <p:spPr>
          <a:xfrm>
            <a:off x="6172200" y="2487168"/>
            <a:ext cx="182880" cy="182880"/>
          </a:xfrm>
          <a:prstGeom prst="diamond">
            <a:avLst/>
          </a:prstGeom>
          <a:solidFill>
            <a:srgbClr val="404040"/>
          </a:solidFill>
          <a:ln>
            <a:noFill/>
          </a:ln>
        </p:spPr>
        <p:txBody>
          <a:bodyPr wrap="square" lIns="54864" tIns="27432" rIns="54864" bIns="27432" rtlCol="0" anchor="ctr">
            <a:noAutofit/>
          </a:bodyPr>
          <a:lstStyle/>
          <a:p>
            <a:pPr algn="ctr"/>
            <a:endParaRPr>
              <a:latin typeface="+mj-ea"/>
              <a:ea typeface="+mj-ea"/>
            </a:endParaRPr>
          </a:p>
        </p:txBody>
      </p:sp>
      <p:sp>
        <p:nvSpPr>
          <p:cNvPr id="70" name="TextBox 69"/>
          <p:cNvSpPr txBox="1"/>
          <p:nvPr/>
        </p:nvSpPr>
        <p:spPr>
          <a:xfrm>
            <a:off x="6391655" y="2459736"/>
            <a:ext cx="2442209" cy="237744"/>
          </a:xfrm>
          <a:prstGeom prst="rect">
            <a:avLst/>
          </a:prstGeom>
          <a:solidFill>
            <a:srgbClr val="FFFFFF"/>
          </a:solidFill>
        </p:spPr>
        <p:txBody>
          <a:bodyPr wrap="square" lIns="0" tIns="0" rIns="0" bIns="0" anchor="ctr">
            <a:noAutofit/>
          </a:bodyPr>
          <a:lstStyle/>
          <a:p>
            <a:r>
              <a:rPr lang="ja-JP" altLang="en-US" sz="1100" b="1">
                <a:solidFill>
                  <a:srgbClr val="404040"/>
                </a:solidFill>
                <a:latin typeface="+mj-ea"/>
                <a:ea typeface="+mj-ea"/>
              </a:rPr>
              <a:t>10/15頃 10/7版を公開＋データ投入</a:t>
            </a:r>
          </a:p>
        </p:txBody>
      </p:sp>
      <p:sp>
        <p:nvSpPr>
          <p:cNvPr id="71" name="Diamond 70"/>
          <p:cNvSpPr/>
          <p:nvPr/>
        </p:nvSpPr>
        <p:spPr>
          <a:xfrm>
            <a:off x="9281160" y="2487168"/>
            <a:ext cx="182880" cy="182880"/>
          </a:xfrm>
          <a:prstGeom prst="diamond">
            <a:avLst/>
          </a:prstGeom>
          <a:solidFill>
            <a:srgbClr val="404040"/>
          </a:solidFill>
          <a:ln>
            <a:noFill/>
          </a:ln>
        </p:spPr>
        <p:txBody>
          <a:bodyPr wrap="square" lIns="54864" tIns="27432" rIns="54864" bIns="27432" rtlCol="0" anchor="ctr">
            <a:noAutofit/>
          </a:bodyPr>
          <a:lstStyle/>
          <a:p>
            <a:pPr algn="ctr"/>
            <a:endParaRPr>
              <a:latin typeface="+mj-ea"/>
              <a:ea typeface="+mj-ea"/>
            </a:endParaRPr>
          </a:p>
        </p:txBody>
      </p:sp>
      <p:sp>
        <p:nvSpPr>
          <p:cNvPr id="72" name="TextBox 71"/>
          <p:cNvSpPr txBox="1"/>
          <p:nvPr/>
        </p:nvSpPr>
        <p:spPr>
          <a:xfrm>
            <a:off x="9500616" y="2459736"/>
            <a:ext cx="1995169" cy="237744"/>
          </a:xfrm>
          <a:prstGeom prst="rect">
            <a:avLst/>
          </a:prstGeom>
          <a:solidFill>
            <a:srgbClr val="FFFFFF"/>
          </a:solidFill>
        </p:spPr>
        <p:txBody>
          <a:bodyPr wrap="square" lIns="0" tIns="0" rIns="0" bIns="0" anchor="ctr">
            <a:noAutofit/>
          </a:bodyPr>
          <a:lstStyle>
            <a:defPPr>
              <a:defRPr lang="ja-JP"/>
            </a:defPPr>
            <a:lvl1pPr>
              <a:defRPr sz="1100" b="1">
                <a:solidFill>
                  <a:srgbClr val="404040"/>
                </a:solidFill>
              </a:defRPr>
            </a:lvl1pPr>
          </a:lstStyle>
          <a:p>
            <a:r>
              <a:rPr lang="ja-JP" altLang="en-US">
                <a:latin typeface="+mj-ea"/>
                <a:ea typeface="+mj-ea"/>
              </a:rPr>
              <a:t>11/10 嶋田社長・野村専務へ</a:t>
            </a:r>
          </a:p>
        </p:txBody>
      </p:sp>
      <p:sp>
        <p:nvSpPr>
          <p:cNvPr id="73" name="Rectangle 72"/>
          <p:cNvSpPr/>
          <p:nvPr/>
        </p:nvSpPr>
        <p:spPr>
          <a:xfrm>
            <a:off x="475488" y="5961888"/>
            <a:ext cx="310896" cy="182880"/>
          </a:xfrm>
          <a:prstGeom prst="rect">
            <a:avLst/>
          </a:prstGeom>
          <a:solidFill>
            <a:srgbClr val="E6E6E6"/>
          </a:solidFill>
          <a:ln>
            <a:noFill/>
          </a:ln>
        </p:spPr>
        <p:txBody>
          <a:bodyPr wrap="square" lIns="54864" tIns="27432" rIns="54864" bIns="27432" rtlCol="0" anchor="ctr">
            <a:noAutofit/>
          </a:bodyPr>
          <a:lstStyle/>
          <a:p>
            <a:pPr algn="ctr"/>
            <a:endParaRPr>
              <a:latin typeface="+mj-ea"/>
              <a:ea typeface="+mj-ea"/>
            </a:endParaRPr>
          </a:p>
        </p:txBody>
      </p:sp>
      <p:sp>
        <p:nvSpPr>
          <p:cNvPr id="74" name="TextBox 73"/>
          <p:cNvSpPr txBox="1"/>
          <p:nvPr/>
        </p:nvSpPr>
        <p:spPr>
          <a:xfrm>
            <a:off x="841248" y="5916168"/>
            <a:ext cx="1386839" cy="274320"/>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貴社・ITEC様（主体）</a:t>
            </a:r>
          </a:p>
        </p:txBody>
      </p:sp>
      <p:sp>
        <p:nvSpPr>
          <p:cNvPr id="75" name="Rectangle 74"/>
          <p:cNvSpPr/>
          <p:nvPr/>
        </p:nvSpPr>
        <p:spPr>
          <a:xfrm>
            <a:off x="2374392" y="5961888"/>
            <a:ext cx="310896" cy="182880"/>
          </a:xfrm>
          <a:prstGeom prst="rect">
            <a:avLst/>
          </a:prstGeom>
          <a:solidFill>
            <a:srgbClr val="046A38"/>
          </a:solidFill>
          <a:ln>
            <a:noFill/>
          </a:ln>
        </p:spPr>
        <p:txBody>
          <a:bodyPr wrap="square" lIns="54864" tIns="27432" rIns="54864" bIns="27432" rtlCol="0" anchor="ctr">
            <a:noAutofit/>
          </a:bodyPr>
          <a:lstStyle/>
          <a:p>
            <a:pPr algn="ctr"/>
            <a:endParaRPr>
              <a:latin typeface="+mj-ea"/>
              <a:ea typeface="+mj-ea"/>
            </a:endParaRPr>
          </a:p>
        </p:txBody>
      </p:sp>
      <p:sp>
        <p:nvSpPr>
          <p:cNvPr id="76" name="TextBox 75"/>
          <p:cNvSpPr txBox="1"/>
          <p:nvPr/>
        </p:nvSpPr>
        <p:spPr>
          <a:xfrm>
            <a:off x="2740152" y="5916168"/>
            <a:ext cx="853439" cy="274320"/>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弊社（主体）</a:t>
            </a:r>
          </a:p>
        </p:txBody>
      </p:sp>
      <p:sp>
        <p:nvSpPr>
          <p:cNvPr id="77" name="Rectangle 76"/>
          <p:cNvSpPr/>
          <p:nvPr/>
        </p:nvSpPr>
        <p:spPr>
          <a:xfrm>
            <a:off x="3739896" y="5961888"/>
            <a:ext cx="310896" cy="182880"/>
          </a:xfrm>
          <a:prstGeom prst="rect">
            <a:avLst/>
          </a:prstGeom>
          <a:solidFill>
            <a:srgbClr val="FFFFFF"/>
          </a:solidFill>
          <a:ln w="9525">
            <a:solidFill>
              <a:srgbClr val="7F7F7F"/>
            </a:solidFill>
            <a:prstDash val="dash"/>
          </a:ln>
        </p:spPr>
        <p:txBody>
          <a:bodyPr wrap="square" lIns="54864" tIns="27432" rIns="54864" bIns="27432" rtlCol="0" anchor="ctr">
            <a:noAutofit/>
          </a:bodyPr>
          <a:lstStyle/>
          <a:p>
            <a:pPr algn="ctr"/>
            <a:endParaRPr>
              <a:latin typeface="+mj-ea"/>
              <a:ea typeface="+mj-ea"/>
            </a:endParaRPr>
          </a:p>
        </p:txBody>
      </p:sp>
      <p:sp>
        <p:nvSpPr>
          <p:cNvPr id="78" name="TextBox 77"/>
          <p:cNvSpPr txBox="1"/>
          <p:nvPr/>
        </p:nvSpPr>
        <p:spPr>
          <a:xfrm>
            <a:off x="4105656" y="5916168"/>
            <a:ext cx="1488439" cy="274320"/>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弊社（助言・技術支援）</a:t>
            </a:r>
          </a:p>
        </p:txBody>
      </p:sp>
      <p:sp>
        <p:nvSpPr>
          <p:cNvPr id="79" name="Diamond 78"/>
          <p:cNvSpPr/>
          <p:nvPr/>
        </p:nvSpPr>
        <p:spPr>
          <a:xfrm>
            <a:off x="5813552" y="5961888"/>
            <a:ext cx="182880" cy="182880"/>
          </a:xfrm>
          <a:prstGeom prst="diamond">
            <a:avLst/>
          </a:prstGeom>
          <a:solidFill>
            <a:srgbClr val="404040"/>
          </a:solidFill>
          <a:ln>
            <a:noFill/>
          </a:ln>
        </p:spPr>
        <p:txBody>
          <a:bodyPr wrap="square" lIns="54864" tIns="27432" rIns="54864" bIns="27432" rtlCol="0" anchor="ctr">
            <a:noAutofit/>
          </a:bodyPr>
          <a:lstStyle/>
          <a:p>
            <a:pPr algn="ctr"/>
            <a:endParaRPr>
              <a:latin typeface="+mj-ea"/>
              <a:ea typeface="+mj-ea"/>
            </a:endParaRPr>
          </a:p>
        </p:txBody>
      </p:sp>
      <p:sp>
        <p:nvSpPr>
          <p:cNvPr id="80" name="TextBox 79"/>
          <p:cNvSpPr txBox="1"/>
          <p:nvPr/>
        </p:nvSpPr>
        <p:spPr>
          <a:xfrm>
            <a:off x="6106160" y="5916168"/>
            <a:ext cx="980440" cy="274320"/>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マイルストーン</a:t>
            </a:r>
          </a:p>
        </p:txBody>
      </p:sp>
      <p:sp>
        <p:nvSpPr>
          <p:cNvPr id="81" name="Diamond 80"/>
          <p:cNvSpPr/>
          <p:nvPr/>
        </p:nvSpPr>
        <p:spPr>
          <a:xfrm>
            <a:off x="7306056" y="5961888"/>
            <a:ext cx="182880" cy="182880"/>
          </a:xfrm>
          <a:prstGeom prst="diamond">
            <a:avLst/>
          </a:prstGeom>
          <a:solidFill>
            <a:srgbClr val="046A38"/>
          </a:solidFill>
          <a:ln>
            <a:noFill/>
          </a:ln>
        </p:spPr>
        <p:txBody>
          <a:bodyPr wrap="square" lIns="54864" tIns="27432" rIns="54864" bIns="27432" rtlCol="0" anchor="ctr">
            <a:noAutofit/>
          </a:bodyPr>
          <a:lstStyle/>
          <a:p>
            <a:pPr algn="ctr"/>
            <a:endParaRPr>
              <a:latin typeface="+mj-ea"/>
              <a:ea typeface="+mj-ea"/>
            </a:endParaRPr>
          </a:p>
        </p:txBody>
      </p:sp>
      <p:sp>
        <p:nvSpPr>
          <p:cNvPr id="82" name="TextBox 81"/>
          <p:cNvSpPr txBox="1"/>
          <p:nvPr/>
        </p:nvSpPr>
        <p:spPr>
          <a:xfrm>
            <a:off x="7598664" y="5916168"/>
            <a:ext cx="1234439" cy="274320"/>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足元で合意した予定</a:t>
            </a:r>
          </a:p>
        </p:txBody>
      </p:sp>
      <p:sp>
        <p:nvSpPr>
          <p:cNvPr id="83" name="Diamond 82"/>
          <p:cNvSpPr/>
          <p:nvPr/>
        </p:nvSpPr>
        <p:spPr>
          <a:xfrm>
            <a:off x="9052560" y="5961888"/>
            <a:ext cx="182880" cy="182880"/>
          </a:xfrm>
          <a:prstGeom prst="diamond">
            <a:avLst/>
          </a:prstGeom>
          <a:solidFill>
            <a:srgbClr val="FFFFFF"/>
          </a:solidFill>
          <a:ln w="15875">
            <a:solidFill>
              <a:srgbClr val="404040"/>
            </a:solidFill>
          </a:ln>
        </p:spPr>
        <p:txBody>
          <a:bodyPr wrap="square" lIns="54864" tIns="27432" rIns="54864" bIns="27432" rtlCol="0" anchor="ctr">
            <a:noAutofit/>
          </a:bodyPr>
          <a:lstStyle/>
          <a:p>
            <a:pPr algn="ctr"/>
            <a:endParaRPr>
              <a:latin typeface="+mj-ea"/>
              <a:ea typeface="+mj-ea"/>
            </a:endParaRPr>
          </a:p>
        </p:txBody>
      </p:sp>
      <p:sp>
        <p:nvSpPr>
          <p:cNvPr id="84" name="TextBox 83"/>
          <p:cNvSpPr txBox="1"/>
          <p:nvPr/>
        </p:nvSpPr>
        <p:spPr>
          <a:xfrm>
            <a:off x="9345168" y="5916168"/>
            <a:ext cx="1824989" cy="274320"/>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BX推進部の確認→本番取り込み</a:t>
            </a:r>
          </a:p>
        </p:txBody>
      </p:sp>
      <p:cxnSp>
        <p:nvCxnSpPr>
          <p:cNvPr id="28" name="Connector 27"/>
          <p:cNvCxnSpPr/>
          <p:nvPr/>
        </p:nvCxnSpPr>
        <p:spPr>
          <a:xfrm>
            <a:off x="5227320" y="1920240"/>
            <a:ext cx="0" cy="3867912"/>
          </a:xfrm>
          <a:prstGeom prst="line">
            <a:avLst/>
          </a:prstGeom>
          <a:ln w="19050">
            <a:solidFill>
              <a:srgbClr val="DA291C"/>
            </a:solidFill>
            <a:prstDash val="dash"/>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73A2C3B-C5F3-F87E-8665-D3AE135740A3}"/>
              </a:ext>
            </a:extLst>
          </p:cNvPr>
          <p:cNvGraphicFramePr>
            <a:graphicFrameLocks/>
          </p:cNvGraphicFramePr>
          <p:nvPr>
            <p:custDataLst>
              <p:tags r:id="rId1"/>
            </p:custDataLst>
            <p:extLst>
              <p:ext uri="{D42A27DB-BD31-4B8C-83A1-F6EECF244321}">
                <p14:modId xmlns:p14="http://schemas.microsoft.com/office/powerpoint/2010/main" val="14161781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4" name="thinkcell data - do not delete" hidden="1">
                        <a:extLst>
                          <a:ext uri="{FF2B5EF4-FFF2-40B4-BE49-F238E27FC236}">
                            <a16:creationId xmlns:a16="http://schemas.microsoft.com/office/drawing/2014/main" id="{773A2C3B-C5F3-F87E-8665-D3AE135740A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5"/>
          </p:nvPr>
        </p:nvSpPr>
        <p:spPr/>
        <p:txBody>
          <a:bodyPr/>
          <a:lstStyle/>
          <a:p>
            <a:r>
              <a:rPr lang="ja-JP">
                <a:latin typeface="+mj-ea"/>
                <a:ea typeface="+mj-ea"/>
              </a:rPr>
              <a:t>プロジェクトステータス概要（10/1〜10/6）</a:t>
            </a:r>
          </a:p>
        </p:txBody>
      </p:sp>
      <p:sp>
        <p:nvSpPr>
          <p:cNvPr id="3" name="Title 2"/>
          <p:cNvSpPr>
            <a:spLocks noGrp="1"/>
          </p:cNvSpPr>
          <p:nvPr>
            <p:ph type="title"/>
          </p:nvPr>
        </p:nvSpPr>
        <p:spPr/>
        <p:txBody>
          <a:bodyPr vert="horz" rIns="0"/>
          <a:lstStyle/>
          <a:p>
            <a:r>
              <a:rPr lang="ja-JP">
                <a:latin typeface="+mj-ea"/>
              </a:rPr>
              <a:t>Phase2初週は予定通りの進捗です。10/5にセキュア公開版（9/11版）がリリースされ、最新版を早期に反映するための準備を進めています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mj-ea"/>
                <a:ea typeface="+mj-ea"/>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4</a:t>
            </a:fld>
            <a:endParaRPr kumimoji="0" lang="ja-JP" altLang="en-US" sz="900" b="0" i="0" u="none" strike="noStrike" kern="1200" cap="none" spc="0" normalizeH="0" baseline="0" noProof="0">
              <a:ln>
                <a:noFill/>
              </a:ln>
              <a:solidFill>
                <a:prstClr val="black"/>
              </a:solidFill>
              <a:effectLst/>
              <a:uLnTx/>
              <a:uFillTx/>
              <a:latin typeface="+mj-ea"/>
              <a:ea typeface="+mj-ea"/>
              <a:cs typeface="+mn-cs"/>
            </a:endParaRPr>
          </a:p>
        </p:txBody>
      </p:sp>
      <p:sp>
        <p:nvSpPr>
          <p:cNvPr id="7" name="Oval 6"/>
          <p:cNvSpPr/>
          <p:nvPr/>
        </p:nvSpPr>
        <p:spPr>
          <a:xfrm>
            <a:off x="9098280" y="1069848"/>
            <a:ext cx="237744" cy="146304"/>
          </a:xfrm>
          <a:prstGeom prst="ellipse">
            <a:avLst/>
          </a:prstGeom>
          <a:solidFill>
            <a:srgbClr val="046A38"/>
          </a:solidFill>
          <a:ln>
            <a:noFill/>
          </a:ln>
        </p:spPr>
        <p:txBody>
          <a:bodyPr wrap="square" lIns="54864" tIns="27432" rIns="54864" bIns="27432" rtlCol="0" anchor="ctr">
            <a:noAutofit/>
          </a:bodyPr>
          <a:lstStyle/>
          <a:p>
            <a:pPr algn="ctr"/>
            <a:endParaRPr>
              <a:latin typeface="+mj-ea"/>
              <a:ea typeface="+mj-ea"/>
            </a:endParaRPr>
          </a:p>
        </p:txBody>
      </p:sp>
      <p:sp>
        <p:nvSpPr>
          <p:cNvPr id="8" name="TextBox 7"/>
          <p:cNvSpPr txBox="1"/>
          <p:nvPr/>
        </p:nvSpPr>
        <p:spPr>
          <a:xfrm>
            <a:off x="8732520" y="1234440"/>
            <a:ext cx="969264" cy="182880"/>
          </a:xfrm>
          <a:prstGeom prst="rect">
            <a:avLst/>
          </a:prstGeom>
          <a:noFill/>
        </p:spPr>
        <p:txBody>
          <a:bodyPr wrap="square" lIns="0" tIns="0" rIns="0" bIns="0" anchor="ctr">
            <a:noAutofit/>
          </a:bodyPr>
          <a:lstStyle/>
          <a:p>
            <a:pPr algn="ctr">
              <a:buNone/>
            </a:pPr>
            <a:r>
              <a:rPr lang="ja-JP" altLang="en-US" sz="950" b="1">
                <a:solidFill>
                  <a:srgbClr val="262626"/>
                </a:solidFill>
                <a:latin typeface="+mj-ea"/>
                <a:ea typeface="+mj-ea"/>
              </a:rPr>
              <a:t>予定通り</a:t>
            </a:r>
          </a:p>
        </p:txBody>
      </p:sp>
      <p:sp>
        <p:nvSpPr>
          <p:cNvPr id="9" name="Oval 8"/>
          <p:cNvSpPr/>
          <p:nvPr/>
        </p:nvSpPr>
        <p:spPr>
          <a:xfrm>
            <a:off x="10104120" y="1069848"/>
            <a:ext cx="237744" cy="146304"/>
          </a:xfrm>
          <a:prstGeom prst="ellipse">
            <a:avLst/>
          </a:prstGeom>
          <a:solidFill>
            <a:srgbClr val="D9D9D9"/>
          </a:solidFill>
          <a:ln>
            <a:noFill/>
          </a:ln>
        </p:spPr>
        <p:txBody>
          <a:bodyPr wrap="square" lIns="54864" tIns="27432" rIns="54864" bIns="27432" rtlCol="0" anchor="ctr">
            <a:noAutofit/>
          </a:bodyPr>
          <a:lstStyle/>
          <a:p>
            <a:pPr algn="ctr"/>
            <a:endParaRPr>
              <a:latin typeface="+mj-ea"/>
              <a:ea typeface="+mj-ea"/>
            </a:endParaRPr>
          </a:p>
        </p:txBody>
      </p:sp>
      <p:sp>
        <p:nvSpPr>
          <p:cNvPr id="10" name="TextBox 9"/>
          <p:cNvSpPr txBox="1"/>
          <p:nvPr/>
        </p:nvSpPr>
        <p:spPr>
          <a:xfrm>
            <a:off x="9738360" y="1234440"/>
            <a:ext cx="969264" cy="182880"/>
          </a:xfrm>
          <a:prstGeom prst="rect">
            <a:avLst/>
          </a:prstGeom>
          <a:noFill/>
        </p:spPr>
        <p:txBody>
          <a:bodyPr wrap="square" lIns="0" tIns="0" rIns="0" bIns="0" anchor="ctr">
            <a:noAutofit/>
          </a:bodyPr>
          <a:lstStyle/>
          <a:p>
            <a:pPr algn="ctr">
              <a:buNone/>
            </a:pPr>
            <a:r>
              <a:rPr lang="ja-JP" altLang="en-US" sz="950" b="0">
                <a:solidFill>
                  <a:srgbClr val="8C8C8C"/>
                </a:solidFill>
                <a:latin typeface="+mj-ea"/>
                <a:ea typeface="+mj-ea"/>
              </a:rPr>
              <a:t>遅延（挽回可）</a:t>
            </a:r>
          </a:p>
        </p:txBody>
      </p:sp>
      <p:sp>
        <p:nvSpPr>
          <p:cNvPr id="11" name="Oval 10"/>
          <p:cNvSpPr/>
          <p:nvPr/>
        </p:nvSpPr>
        <p:spPr>
          <a:xfrm>
            <a:off x="11109960" y="1069848"/>
            <a:ext cx="237744" cy="146304"/>
          </a:xfrm>
          <a:prstGeom prst="ellipse">
            <a:avLst/>
          </a:prstGeom>
          <a:solidFill>
            <a:srgbClr val="D9D9D9"/>
          </a:solidFill>
          <a:ln>
            <a:noFill/>
          </a:ln>
        </p:spPr>
        <p:txBody>
          <a:bodyPr wrap="square" lIns="54864" tIns="27432" rIns="54864" bIns="27432" rtlCol="0" anchor="ctr">
            <a:noAutofit/>
          </a:bodyPr>
          <a:lstStyle/>
          <a:p>
            <a:pPr algn="ctr"/>
            <a:endParaRPr>
              <a:latin typeface="+mj-ea"/>
              <a:ea typeface="+mj-ea"/>
            </a:endParaRPr>
          </a:p>
        </p:txBody>
      </p:sp>
      <p:sp>
        <p:nvSpPr>
          <p:cNvPr id="12" name="TextBox 11"/>
          <p:cNvSpPr txBox="1"/>
          <p:nvPr/>
        </p:nvSpPr>
        <p:spPr>
          <a:xfrm>
            <a:off x="10744200" y="1234440"/>
            <a:ext cx="969264" cy="182880"/>
          </a:xfrm>
          <a:prstGeom prst="rect">
            <a:avLst/>
          </a:prstGeom>
          <a:noFill/>
        </p:spPr>
        <p:txBody>
          <a:bodyPr wrap="square" lIns="0" tIns="0" rIns="0" bIns="0" anchor="ctr">
            <a:noAutofit/>
          </a:bodyPr>
          <a:lstStyle/>
          <a:p>
            <a:pPr algn="ctr">
              <a:buNone/>
            </a:pPr>
            <a:r>
              <a:rPr lang="ja-JP" altLang="en-US" sz="950" b="0">
                <a:solidFill>
                  <a:srgbClr val="8C8C8C"/>
                </a:solidFill>
                <a:latin typeface="+mj-ea"/>
                <a:ea typeface="+mj-ea"/>
              </a:rPr>
              <a:t>遅延（見直し要）</a:t>
            </a:r>
          </a:p>
        </p:txBody>
      </p:sp>
      <p:sp>
        <p:nvSpPr>
          <p:cNvPr id="13" name="Oval 12"/>
          <p:cNvSpPr/>
          <p:nvPr/>
        </p:nvSpPr>
        <p:spPr>
          <a:xfrm>
            <a:off x="8769096" y="987552"/>
            <a:ext cx="896112" cy="475488"/>
          </a:xfrm>
          <a:prstGeom prst="ellipse">
            <a:avLst/>
          </a:prstGeom>
          <a:noFill/>
          <a:ln w="12700">
            <a:solidFill>
              <a:srgbClr val="262626"/>
            </a:solidFill>
          </a:ln>
        </p:spPr>
        <p:txBody>
          <a:bodyPr wrap="square" lIns="54864" tIns="27432" rIns="54864" bIns="27432" rtlCol="0" anchor="ctr">
            <a:noAutofit/>
          </a:bodyPr>
          <a:lstStyle/>
          <a:p>
            <a:pPr algn="ctr"/>
            <a:endParaRPr>
              <a:latin typeface="+mj-ea"/>
              <a:ea typeface="+mj-ea"/>
            </a:endParaRPr>
          </a:p>
        </p:txBody>
      </p:sp>
      <p:sp>
        <p:nvSpPr>
          <p:cNvPr id="14" name="Rectangle 13"/>
          <p:cNvSpPr/>
          <p:nvPr/>
        </p:nvSpPr>
        <p:spPr>
          <a:xfrm>
            <a:off x="475488" y="1600200"/>
            <a:ext cx="5486400" cy="347472"/>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300" b="1">
                <a:solidFill>
                  <a:srgbClr val="FFFFFF"/>
                </a:solidFill>
                <a:latin typeface="+mj-ea"/>
                <a:ea typeface="+mj-ea"/>
              </a:rPr>
              <a:t>今週までの実施事項（実績）</a:t>
            </a:r>
          </a:p>
        </p:txBody>
      </p:sp>
      <p:sp>
        <p:nvSpPr>
          <p:cNvPr id="15" name="Rectangle 14"/>
          <p:cNvSpPr/>
          <p:nvPr/>
        </p:nvSpPr>
        <p:spPr>
          <a:xfrm>
            <a:off x="475488" y="1947672"/>
            <a:ext cx="5486400" cy="2753282"/>
          </a:xfrm>
          <a:prstGeom prst="rect">
            <a:avLst/>
          </a:prstGeom>
          <a:solidFill>
            <a:srgbClr val="FFFFFF"/>
          </a:solidFill>
          <a:ln w="9525">
            <a:solidFill>
              <a:srgbClr val="D0D0CE"/>
            </a:solidFill>
          </a:ln>
        </p:spPr>
        <p:txBody>
          <a:bodyPr wrap="square" lIns="54864" tIns="27432" rIns="54864" bIns="27432" rtlCol="0" anchor="ctr">
            <a:noAutofit/>
          </a:bodyPr>
          <a:lstStyle/>
          <a:p>
            <a:pPr algn="ctr"/>
            <a:endParaRPr>
              <a:latin typeface="+mj-ea"/>
              <a:ea typeface="+mj-ea"/>
            </a:endParaRPr>
          </a:p>
        </p:txBody>
      </p:sp>
      <p:sp>
        <p:nvSpPr>
          <p:cNvPr id="16" name="TextBox 15"/>
          <p:cNvSpPr txBox="1"/>
          <p:nvPr/>
        </p:nvSpPr>
        <p:spPr>
          <a:xfrm>
            <a:off x="640080" y="2048256"/>
            <a:ext cx="5175504" cy="2331720"/>
          </a:xfrm>
          <a:prstGeom prst="rect">
            <a:avLst/>
          </a:prstGeom>
          <a:noFill/>
        </p:spPr>
        <p:txBody>
          <a:bodyPr wrap="square" lIns="0" tIns="0" rIns="0" bIns="0" anchor="t">
            <a:noAutofit/>
          </a:bodyPr>
          <a:lstStyle/>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10/5 </a:t>
            </a:r>
            <a:r>
              <a:rPr lang="ja-JP" altLang="en-US" sz="1200" b="0">
                <a:solidFill>
                  <a:srgbClr val="262626"/>
                </a:solidFill>
                <a:latin typeface="+mj-ea"/>
                <a:ea typeface="+mj-ea"/>
              </a:rPr>
              <a:t>セキュア公開版（9/11版）のリリースと、ログイン・アクセス確認の開始（ITEC様→BX推進部）</a:t>
            </a:r>
          </a:p>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改修 </a:t>
            </a:r>
            <a:r>
              <a:rPr lang="ja-JP" altLang="en-US" sz="1200" b="0">
                <a:solidFill>
                  <a:srgbClr val="262626"/>
                </a:solidFill>
                <a:latin typeface="+mj-ea"/>
                <a:ea typeface="+mj-ea"/>
              </a:rPr>
              <a:t>最終報告以降のご依頼・改善62件を、すべて検証環境に反映（計画系3機能の追加改修①ほか）</a:t>
            </a:r>
          </a:p>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外部データ </a:t>
            </a:r>
            <a:r>
              <a:rPr lang="ja-JP" altLang="en-US" sz="1200" b="0">
                <a:solidFill>
                  <a:srgbClr val="262626"/>
                </a:solidFill>
                <a:latin typeface="+mj-ea"/>
                <a:ea typeface="+mj-ea"/>
              </a:rPr>
              <a:t>10/2時点で取れていなかった70ソースのうち57ソースで取得が進んだ</a:t>
            </a:r>
          </a:p>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品質 </a:t>
            </a:r>
            <a:r>
              <a:rPr lang="ja-JP" altLang="en-US" sz="1200" b="0">
                <a:solidFill>
                  <a:srgbClr val="262626"/>
                </a:solidFill>
                <a:latin typeface="+mj-ea"/>
                <a:ea typeface="+mj-ea"/>
              </a:rPr>
              <a:t>ログイン直後の読み込みの高速化、全画面の点検とコード整理</a:t>
            </a:r>
          </a:p>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ドキュメント </a:t>
            </a:r>
            <a:r>
              <a:rPr lang="ja-JP" altLang="en-US" sz="1200" b="0">
                <a:solidFill>
                  <a:srgbClr val="262626"/>
                </a:solidFill>
                <a:latin typeface="+mj-ea"/>
                <a:ea typeface="+mj-ea"/>
              </a:rPr>
              <a:t>アプリ仕様書・利用者マニュアル・開発者マニュアルを最新版に合わせて更新</a:t>
            </a:r>
          </a:p>
        </p:txBody>
      </p:sp>
      <p:sp>
        <p:nvSpPr>
          <p:cNvPr id="17" name="Rectangle 16"/>
          <p:cNvSpPr/>
          <p:nvPr/>
        </p:nvSpPr>
        <p:spPr>
          <a:xfrm>
            <a:off x="6217920" y="1600200"/>
            <a:ext cx="5486400" cy="347472"/>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300" b="1">
                <a:solidFill>
                  <a:srgbClr val="FFFFFF"/>
                </a:solidFill>
                <a:latin typeface="+mj-ea"/>
                <a:ea typeface="+mj-ea"/>
              </a:rPr>
              <a:t>次回定例までの実施事項（予定）</a:t>
            </a:r>
          </a:p>
        </p:txBody>
      </p:sp>
      <p:sp>
        <p:nvSpPr>
          <p:cNvPr id="18" name="Rectangle 17"/>
          <p:cNvSpPr/>
          <p:nvPr/>
        </p:nvSpPr>
        <p:spPr>
          <a:xfrm>
            <a:off x="6217920" y="1947672"/>
            <a:ext cx="5486400" cy="2753282"/>
          </a:xfrm>
          <a:prstGeom prst="rect">
            <a:avLst/>
          </a:prstGeom>
          <a:solidFill>
            <a:srgbClr val="FFFFFF"/>
          </a:solidFill>
          <a:ln w="9525">
            <a:solidFill>
              <a:srgbClr val="D0D0CE"/>
            </a:solidFill>
          </a:ln>
        </p:spPr>
        <p:txBody>
          <a:bodyPr wrap="square" lIns="54864" tIns="27432" rIns="54864" bIns="27432" rtlCol="0" anchor="ctr">
            <a:noAutofit/>
          </a:bodyPr>
          <a:lstStyle/>
          <a:p>
            <a:pPr algn="ctr"/>
            <a:endParaRPr>
              <a:latin typeface="+mj-ea"/>
              <a:ea typeface="+mj-ea"/>
            </a:endParaRPr>
          </a:p>
        </p:txBody>
      </p:sp>
      <p:sp>
        <p:nvSpPr>
          <p:cNvPr id="19" name="TextBox 18"/>
          <p:cNvSpPr txBox="1"/>
          <p:nvPr/>
        </p:nvSpPr>
        <p:spPr>
          <a:xfrm>
            <a:off x="6382512" y="2048256"/>
            <a:ext cx="5175504" cy="2331720"/>
          </a:xfrm>
          <a:prstGeom prst="rect">
            <a:avLst/>
          </a:prstGeom>
          <a:noFill/>
        </p:spPr>
        <p:txBody>
          <a:bodyPr wrap="square" lIns="0" tIns="0" rIns="0" bIns="0" anchor="t">
            <a:noAutofit/>
          </a:bodyPr>
          <a:lstStyle/>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10/7 </a:t>
            </a:r>
            <a:r>
              <a:rPr lang="ja-JP" altLang="en-US" sz="1200" b="0">
                <a:solidFill>
                  <a:srgbClr val="262626"/>
                </a:solidFill>
                <a:latin typeface="+mj-ea"/>
                <a:ea typeface="+mj-ea"/>
              </a:rPr>
              <a:t>午前にアドホック改修を一旦Close（10/7版として確定）</a:t>
            </a:r>
          </a:p>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10/8〜 </a:t>
            </a:r>
            <a:r>
              <a:rPr lang="ja-JP" altLang="en-US" sz="1200" b="0">
                <a:solidFill>
                  <a:srgbClr val="262626"/>
                </a:solidFill>
                <a:latin typeface="+mj-ea"/>
                <a:ea typeface="+mj-ea"/>
              </a:rPr>
              <a:t>ITEC様による10/7版のセキュア環境への</a:t>
            </a:r>
            <a:r>
              <a:rPr lang="ja-JP" altLang="en-US" sz="1200">
                <a:solidFill>
                  <a:srgbClr val="262626"/>
                </a:solidFill>
                <a:latin typeface="+mj-ea"/>
                <a:ea typeface="+mj-ea"/>
              </a:rPr>
              <a:t>移行作業を開始</a:t>
            </a:r>
            <a:endParaRPr lang="ja-JP" altLang="en-US" sz="1200" b="0">
              <a:solidFill>
                <a:srgbClr val="262626"/>
              </a:solidFill>
              <a:latin typeface="+mj-ea"/>
              <a:ea typeface="+mj-ea"/>
            </a:endParaRPr>
          </a:p>
          <a:p>
            <a:pPr marL="146304" indent="-146304" algn="l">
              <a:lnSpc>
                <a:spcPct val="105000"/>
              </a:lnSpc>
              <a:spcBef>
                <a:spcPts val="500"/>
              </a:spcBef>
              <a:buClr>
                <a:srgbClr val="8C8C8C"/>
              </a:buClr>
              <a:buFont typeface="Arial"/>
              <a:buChar char="•"/>
            </a:pPr>
            <a:r>
              <a:rPr lang="ja-JP" altLang="en-US" sz="1200" b="1">
                <a:solidFill>
                  <a:srgbClr val="262626"/>
                </a:solidFill>
                <a:latin typeface="+mj-ea"/>
                <a:ea typeface="+mj-ea"/>
              </a:rPr>
              <a:t>引継ぎ </a:t>
            </a:r>
            <a:r>
              <a:rPr lang="ja-JP" altLang="en-US" sz="1200" b="0">
                <a:solidFill>
                  <a:srgbClr val="262626"/>
                </a:solidFill>
                <a:latin typeface="+mj-ea"/>
                <a:ea typeface="+mj-ea"/>
              </a:rPr>
              <a:t>今週1回・来週1回の引継ぎ会で、差分と反映の手順をご説明（弊社）</a:t>
            </a:r>
          </a:p>
        </p:txBody>
      </p:sp>
      <p:sp>
        <p:nvSpPr>
          <p:cNvPr id="20" name="Rectangle 19"/>
          <p:cNvSpPr/>
          <p:nvPr/>
        </p:nvSpPr>
        <p:spPr>
          <a:xfrm>
            <a:off x="475488" y="4895086"/>
            <a:ext cx="11228832" cy="310896"/>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250" b="1">
                <a:solidFill>
                  <a:srgbClr val="FFFFFF"/>
                </a:solidFill>
                <a:latin typeface="+mj-ea"/>
                <a:ea typeface="+mj-ea"/>
              </a:rPr>
              <a:t>主なリスクと課題</a:t>
            </a:r>
          </a:p>
        </p:txBody>
      </p:sp>
      <p:graphicFrame>
        <p:nvGraphicFramePr>
          <p:cNvPr id="21" name="Table 20"/>
          <p:cNvGraphicFramePr>
            <a:graphicFrameLocks noGrp="1"/>
          </p:cNvGraphicFramePr>
          <p:nvPr>
            <p:extLst>
              <p:ext uri="{D42A27DB-BD31-4B8C-83A1-F6EECF244321}">
                <p14:modId xmlns:p14="http://schemas.microsoft.com/office/powerpoint/2010/main" val="2094495025"/>
              </p:ext>
            </p:extLst>
          </p:nvPr>
        </p:nvGraphicFramePr>
        <p:xfrm>
          <a:off x="475488" y="5205982"/>
          <a:ext cx="11228832" cy="657797"/>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6382512">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256032">
                <a:tc>
                  <a:txBody>
                    <a:bodyPr/>
                    <a:lstStyle/>
                    <a:p>
                      <a:pPr algn="ctr">
                        <a:lnSpc>
                          <a:spcPts val="1350"/>
                        </a:lnSpc>
                        <a:buNone/>
                      </a:pPr>
                      <a:r>
                        <a:rPr lang="ja-JP" altLang="en-US" sz="1100" b="1">
                          <a:solidFill>
                            <a:srgbClr val="595959"/>
                          </a:solidFill>
                        </a:rPr>
                        <a:t>区分</a:t>
                      </a:r>
                    </a:p>
                  </a:txBody>
                  <a:tcPr marL="73152" marR="73152" marT="27432" marB="27432"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1">
                          <a:solidFill>
                            <a:srgbClr val="595959"/>
                          </a:solidFill>
                        </a:rPr>
                        <a:t>No</a:t>
                      </a:r>
                    </a:p>
                  </a:txBody>
                  <a:tcPr marL="73152" marR="73152" marT="27432" marB="27432" anchor="ctr">
                    <a:lnL w="0">
                      <a:noFill/>
                    </a:lnL>
                    <a:lnR w="0">
                      <a:noFill/>
                    </a:lnR>
                    <a:lnT w="0">
                      <a:noFill/>
                    </a:lnT>
                    <a:lnB w="9525">
                      <a:solidFill>
                        <a:srgbClr val="E3E3E3"/>
                      </a:solidFill>
                    </a:lnB>
                    <a:solidFill>
                      <a:srgbClr val="F3F3F3"/>
                    </a:solidFill>
                  </a:tcPr>
                </a:tc>
                <a:tc>
                  <a:txBody>
                    <a:bodyPr/>
                    <a:lstStyle/>
                    <a:p>
                      <a:pPr algn="l">
                        <a:lnSpc>
                          <a:spcPts val="1350"/>
                        </a:lnSpc>
                        <a:buNone/>
                      </a:pPr>
                      <a:r>
                        <a:rPr lang="ja-JP" altLang="en-US" sz="1100" b="1">
                          <a:solidFill>
                            <a:srgbClr val="595959"/>
                          </a:solidFill>
                        </a:rPr>
                        <a:t>リスク／課題</a:t>
                      </a:r>
                    </a:p>
                  </a:txBody>
                  <a:tcPr marL="73152" marR="73152" marT="27432" marB="27432" anchor="ctr">
                    <a:lnL w="0">
                      <a:noFill/>
                    </a:lnL>
                    <a:lnR w="0">
                      <a:noFill/>
                    </a:lnR>
                    <a:lnT w="0">
                      <a:noFill/>
                    </a:lnT>
                    <a:lnB w="9525">
                      <a:solidFill>
                        <a:srgbClr val="E3E3E3"/>
                      </a:solidFill>
                    </a:lnB>
                    <a:solidFill>
                      <a:srgbClr val="F3F3F3"/>
                    </a:solidFill>
                  </a:tcPr>
                </a:tc>
                <a:tc>
                  <a:txBody>
                    <a:bodyPr/>
                    <a:lstStyle/>
                    <a:p>
                      <a:pPr algn="l">
                        <a:lnSpc>
                          <a:spcPts val="1350"/>
                        </a:lnSpc>
                        <a:buNone/>
                      </a:pPr>
                      <a:r>
                        <a:rPr lang="ja-JP" altLang="en-US" sz="1100" b="1">
                          <a:solidFill>
                            <a:srgbClr val="595959"/>
                          </a:solidFill>
                        </a:rPr>
                        <a:t>概要</a:t>
                      </a:r>
                    </a:p>
                  </a:txBody>
                  <a:tcPr marL="73152" marR="73152" marT="27432" marB="27432"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1">
                          <a:solidFill>
                            <a:srgbClr val="595959"/>
                          </a:solidFill>
                        </a:rPr>
                        <a:t>対応期限</a:t>
                      </a:r>
                    </a:p>
                  </a:txBody>
                  <a:tcPr marL="73152" marR="73152" marT="27432" marB="27432" anchor="ctr">
                    <a:lnL w="0">
                      <a:noFill/>
                    </a:lnL>
                    <a:lnR w="0">
                      <a:noFill/>
                    </a:lnR>
                    <a:lnT w="0">
                      <a:noFill/>
                    </a:lnT>
                    <a:lnB w="9525">
                      <a:solidFill>
                        <a:srgbClr val="E3E3E3"/>
                      </a:solidFill>
                    </a:lnB>
                    <a:solidFill>
                      <a:srgbClr val="F3F3F3"/>
                    </a:solidFill>
                  </a:tcPr>
                </a:tc>
                <a:extLst>
                  <a:ext uri="{0D108BD9-81ED-4DB2-BD59-A6C34878D82A}">
                    <a16:rowId xmlns:a16="http://schemas.microsoft.com/office/drawing/2014/main" val="10000"/>
                  </a:ext>
                </a:extLst>
              </a:tr>
              <a:tr h="384048">
                <a:tc>
                  <a:txBody>
                    <a:bodyPr/>
                    <a:lstStyle/>
                    <a:p>
                      <a:pPr algn="ctr">
                        <a:lnSpc>
                          <a:spcPts val="1350"/>
                        </a:lnSpc>
                        <a:buNone/>
                      </a:pPr>
                      <a:r>
                        <a:rPr lang="ja-JP" altLang="en-US" sz="1100" b="0">
                          <a:solidFill>
                            <a:srgbClr val="1A1A1A"/>
                          </a:solidFill>
                        </a:rPr>
                        <a:t>課題</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350"/>
                        </a:lnSpc>
                        <a:buNone/>
                      </a:pPr>
                      <a:r>
                        <a:rPr lang="ja-JP" altLang="en-US" sz="1100" b="0">
                          <a:solidFill>
                            <a:srgbClr val="1A1A1A"/>
                          </a:solidFill>
                        </a:rPr>
                        <a:t>1</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100" b="1">
                          <a:solidFill>
                            <a:srgbClr val="1A1A1A"/>
                          </a:solidFill>
                        </a:rPr>
                        <a:t>10/7版への切り替え</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100" b="0">
                          <a:solidFill>
                            <a:srgbClr val="1A1A1A"/>
                          </a:solidFill>
                        </a:rPr>
                        <a:t>9/11版からの改修の差分が大きい（台帳17項目）</a:t>
                      </a:r>
                      <a:endParaRPr lang="ja-JP" altLang="ja-JP" sz="1100" b="0">
                        <a:solidFill>
                          <a:srgbClr val="1A1A1A"/>
                        </a:solidFill>
                      </a:endParaRPr>
                    </a:p>
                    <a:p>
                      <a:pPr algn="l">
                        <a:lnSpc>
                          <a:spcPts val="1350"/>
                        </a:lnSpc>
                        <a:buNone/>
                      </a:pPr>
                      <a:r>
                        <a:rPr lang="ja-JP" altLang="en-US" sz="1100" b="0">
                          <a:solidFill>
                            <a:srgbClr val="1A1A1A"/>
                          </a:solidFill>
                        </a:rPr>
                        <a:t>反映の手順と確認の観点を、ITEC様と早期に共有する必要</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350"/>
                        </a:lnSpc>
                        <a:buNone/>
                      </a:pPr>
                      <a:r>
                        <a:rPr lang="ja-JP" altLang="en-US" sz="1100" b="0">
                          <a:solidFill>
                            <a:srgbClr val="1A1A1A"/>
                          </a:solidFill>
                        </a:rPr>
                        <a:t>10/14</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B71CAFC-00F2-01D0-81FC-AA970423E1A9}"/>
              </a:ext>
            </a:extLst>
          </p:cNvPr>
          <p:cNvGraphicFramePr>
            <a:graphicFrameLocks/>
          </p:cNvGraphicFramePr>
          <p:nvPr>
            <p:custDataLst>
              <p:tags r:id="rId1"/>
            </p:custDataLst>
            <p:extLst>
              <p:ext uri="{D42A27DB-BD31-4B8C-83A1-F6EECF244321}">
                <p14:modId xmlns:p14="http://schemas.microsoft.com/office/powerpoint/2010/main" val="1482734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2" name="thinkcell data - do not delete" hidden="1">
                        <a:extLst>
                          <a:ext uri="{FF2B5EF4-FFF2-40B4-BE49-F238E27FC236}">
                            <a16:creationId xmlns:a16="http://schemas.microsoft.com/office/drawing/2014/main" id="{9B71CAFC-00F2-01D0-81FC-AA970423E1A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latin typeface="+mj-ea"/>
                <a:ea typeface="+mj-ea"/>
              </a:rPr>
              <a:pPr/>
              <a:t>5</a:t>
            </a:fld>
            <a:endParaRPr lang="ja-JP" altLang="en-US">
              <a:latin typeface="+mj-ea"/>
              <a:ea typeface="+mj-ea"/>
            </a:endParaRPr>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latin typeface="+mj-ea"/>
              </a:rPr>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0" name="ハイライト"/>
          <p:cNvSpPr/>
          <p:nvPr/>
        </p:nvSpPr>
        <p:spPr>
          <a:xfrm>
            <a:off x="402336" y="2231136"/>
            <a:ext cx="7269480" cy="1115568"/>
          </a:xfrm>
          <a:prstGeom prst="rect">
            <a:avLst/>
          </a:prstGeom>
          <a:solidFill>
            <a:srgbClr val="63666A"/>
          </a:solidFill>
          <a:ln>
            <a:noFill/>
          </a:ln>
        </p:spPr>
        <p:txBody>
          <a:bodyPr wrap="square" lIns="54864" tIns="27432" rIns="54864" bIns="27432" rtlCol="0" anchor="ctr">
            <a:noAutofit/>
          </a:bodyPr>
          <a:lstStyle/>
          <a:p>
            <a:pPr algn="ctr"/>
            <a:endParaRPr>
              <a:latin typeface="+mj-ea"/>
              <a:ea typeface="+mj-ea"/>
            </a:endParaRPr>
          </a:p>
        </p:txBody>
      </p:sp>
      <p:sp>
        <p:nvSpPr>
          <p:cNvPr id="11" name="TextBox 10"/>
          <p:cNvSpPr txBox="1"/>
          <p:nvPr/>
        </p:nvSpPr>
        <p:spPr>
          <a:xfrm>
            <a:off x="566928" y="2276856"/>
            <a:ext cx="5852160" cy="402336"/>
          </a:xfrm>
          <a:prstGeom prst="rect">
            <a:avLst/>
          </a:prstGeom>
          <a:noFill/>
        </p:spPr>
        <p:txBody>
          <a:bodyPr wrap="square" lIns="0" tIns="0" rIns="0" bIns="0" anchor="ctr">
            <a:noAutofit/>
          </a:bodyPr>
          <a:lstStyle/>
          <a:p>
            <a:pPr algn="l">
              <a:buNone/>
            </a:pPr>
            <a:r>
              <a:rPr lang="ja-JP" altLang="en-US" sz="1700" b="1">
                <a:solidFill>
                  <a:srgbClr val="FFFFFF"/>
                </a:solidFill>
                <a:latin typeface="+mj-ea"/>
                <a:ea typeface="+mj-ea"/>
              </a:rPr>
              <a:t>2．改修内容と最新アプリの状態</a:t>
            </a:r>
          </a:p>
        </p:txBody>
      </p:sp>
      <p:sp>
        <p:nvSpPr>
          <p:cNvPr id="12" name="TextBox 11"/>
          <p:cNvSpPr txBox="1"/>
          <p:nvPr/>
        </p:nvSpPr>
        <p:spPr>
          <a:xfrm>
            <a:off x="6400800" y="2276856"/>
            <a:ext cx="1143000" cy="402336"/>
          </a:xfrm>
          <a:prstGeom prst="rect">
            <a:avLst/>
          </a:prstGeom>
          <a:noFill/>
        </p:spPr>
        <p:txBody>
          <a:bodyPr wrap="square" lIns="0" tIns="0" rIns="0" bIns="0" anchor="ctr">
            <a:noAutofit/>
          </a:bodyPr>
          <a:lstStyle/>
          <a:p>
            <a:pPr algn="r">
              <a:buNone/>
            </a:pPr>
            <a:r>
              <a:rPr lang="ja-JP" altLang="en-US" sz="1600" b="1">
                <a:solidFill>
                  <a:srgbClr val="FFFFFF"/>
                </a:solidFill>
                <a:latin typeface="+mj-ea"/>
                <a:ea typeface="+mj-ea"/>
              </a:rPr>
              <a:t>10分</a:t>
            </a:r>
          </a:p>
        </p:txBody>
      </p:sp>
      <p:sp>
        <p:nvSpPr>
          <p:cNvPr id="13" name="TextBox 12"/>
          <p:cNvSpPr txBox="1"/>
          <p:nvPr/>
        </p:nvSpPr>
        <p:spPr>
          <a:xfrm>
            <a:off x="896112" y="2660904"/>
            <a:ext cx="6309360" cy="310896"/>
          </a:xfrm>
          <a:prstGeom prst="rect">
            <a:avLst/>
          </a:prstGeom>
          <a:noFill/>
        </p:spPr>
        <p:txBody>
          <a:bodyPr wrap="square" lIns="0" tIns="0" rIns="0" bIns="0" anchor="ctr">
            <a:noAutofit/>
          </a:bodyPr>
          <a:lstStyle/>
          <a:p>
            <a:pPr algn="l">
              <a:buNone/>
            </a:pPr>
            <a:r>
              <a:rPr lang="ja-JP" altLang="en-US" sz="1350" b="1">
                <a:solidFill>
                  <a:srgbClr val="FFFFFF"/>
                </a:solidFill>
                <a:latin typeface="+mj-ea"/>
                <a:ea typeface="+mj-ea"/>
              </a:rPr>
              <a:t>✓  </a:t>
            </a:r>
            <a:r>
              <a:rPr lang="ja-JP" altLang="en-US" sz="1350" b="0">
                <a:solidFill>
                  <a:srgbClr val="FFFFFF"/>
                </a:solidFill>
                <a:latin typeface="+mj-ea"/>
                <a:ea typeface="+mj-ea"/>
              </a:rPr>
              <a:t>改修台帳（15項目＋Phase2の追加）と今週の改修</a:t>
            </a:r>
          </a:p>
        </p:txBody>
      </p:sp>
      <p:sp>
        <p:nvSpPr>
          <p:cNvPr id="14" name="TextBox 13"/>
          <p:cNvSpPr txBox="1"/>
          <p:nvPr/>
        </p:nvSpPr>
        <p:spPr>
          <a:xfrm>
            <a:off x="896112" y="2990088"/>
            <a:ext cx="6309360" cy="310896"/>
          </a:xfrm>
          <a:prstGeom prst="rect">
            <a:avLst/>
          </a:prstGeom>
          <a:noFill/>
        </p:spPr>
        <p:txBody>
          <a:bodyPr wrap="square" lIns="0" tIns="0" rIns="0" bIns="0" anchor="ctr">
            <a:noAutofit/>
          </a:bodyPr>
          <a:lstStyle/>
          <a:p>
            <a:pPr algn="l">
              <a:buNone/>
            </a:pPr>
            <a:r>
              <a:rPr lang="ja-JP" altLang="en-US" sz="1350" b="1">
                <a:solidFill>
                  <a:srgbClr val="FFFFFF"/>
                </a:solidFill>
                <a:latin typeface="+mj-ea"/>
                <a:ea typeface="+mj-ea"/>
              </a:rPr>
              <a:t>✓  </a:t>
            </a:r>
            <a:r>
              <a:rPr lang="ja-JP" altLang="en-US" sz="1350" b="0">
                <a:solidFill>
                  <a:srgbClr val="FFFFFF"/>
                </a:solidFill>
                <a:latin typeface="+mj-ea"/>
                <a:ea typeface="+mj-ea"/>
              </a:rPr>
              <a:t>外部取得データソースの改善</a:t>
            </a:r>
          </a:p>
        </p:txBody>
      </p:sp>
      <p:sp>
        <p:nvSpPr>
          <p:cNvPr id="15" name="TextBox 14"/>
          <p:cNvSpPr txBox="1"/>
          <p:nvPr/>
        </p:nvSpPr>
        <p:spPr>
          <a:xfrm>
            <a:off x="566928" y="361188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3．当面のタイムラインとITEC様への引継ぎ</a:t>
            </a:r>
          </a:p>
        </p:txBody>
      </p:sp>
      <p:sp>
        <p:nvSpPr>
          <p:cNvPr id="16" name="TextBox 15"/>
          <p:cNvSpPr txBox="1"/>
          <p:nvPr/>
        </p:nvSpPr>
        <p:spPr>
          <a:xfrm>
            <a:off x="6400800" y="361188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7" name="TextBox 16"/>
          <p:cNvSpPr txBox="1"/>
          <p:nvPr/>
        </p:nvSpPr>
        <p:spPr>
          <a:xfrm>
            <a:off x="566928" y="428853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4．ITEC様からのご報告</a:t>
            </a:r>
          </a:p>
        </p:txBody>
      </p:sp>
      <p:sp>
        <p:nvSpPr>
          <p:cNvPr id="18" name="TextBox 17"/>
          <p:cNvSpPr txBox="1"/>
          <p:nvPr/>
        </p:nvSpPr>
        <p:spPr>
          <a:xfrm>
            <a:off x="6400800" y="428853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20分</a:t>
            </a:r>
          </a:p>
        </p:txBody>
      </p:sp>
      <p:sp>
        <p:nvSpPr>
          <p:cNvPr id="19" name="TextBox 18"/>
          <p:cNvSpPr txBox="1"/>
          <p:nvPr/>
        </p:nvSpPr>
        <p:spPr>
          <a:xfrm>
            <a:off x="896112" y="467258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セキュア公開版の状況、10/7版の反映・データ投入の計画</a:t>
            </a: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ラップアップ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A708BA2-8747-2A91-D5A1-B685124CBCF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5" name="thinkcell data - do not delete" hidden="1">
                        <a:extLst>
                          <a:ext uri="{FF2B5EF4-FFF2-40B4-BE49-F238E27FC236}">
                            <a16:creationId xmlns:a16="http://schemas.microsoft.com/office/drawing/2014/main" id="{EA708BA2-8747-2A91-D5A1-B685124CBCF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5"/>
          </p:nvPr>
        </p:nvSpPr>
        <p:spPr/>
        <p:txBody>
          <a:bodyPr/>
          <a:lstStyle/>
          <a:p>
            <a:r>
              <a:rPr lang="ja-JP">
                <a:latin typeface="+mj-ea"/>
                <a:ea typeface="+mj-ea"/>
              </a:rPr>
              <a:t>改修台帳（Phase1の15項目＋Phase2の追加）と今週の改修</a:t>
            </a:r>
          </a:p>
        </p:txBody>
      </p:sp>
      <p:sp>
        <p:nvSpPr>
          <p:cNvPr id="3" name="Title 2"/>
          <p:cNvSpPr>
            <a:spLocks noGrp="1"/>
          </p:cNvSpPr>
          <p:nvPr>
            <p:ph type="title"/>
          </p:nvPr>
        </p:nvSpPr>
        <p:spPr/>
        <p:txBody>
          <a:bodyPr vert="horz" rIns="0"/>
          <a:lstStyle/>
          <a:p>
            <a:r>
              <a:rPr lang="ja-JP">
                <a:latin typeface="+mj-ea"/>
              </a:rPr>
              <a:t>最終報告以降も89件のご依頼・改善をすべて検証環境に反映し</a:t>
            </a:r>
            <a:r>
              <a:rPr lang="ja-JP" altLang="en-US">
                <a:latin typeface="+mj-ea"/>
              </a:rPr>
              <a:t>、</a:t>
            </a:r>
            <a:r>
              <a:rPr lang="ja-JP">
                <a:latin typeface="+mj-ea"/>
              </a:rPr>
              <a:t>この断面を10/7版としてITEC様へ引き継ぎます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mj-ea"/>
                <a:ea typeface="+mj-ea"/>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6</a:t>
            </a:fld>
            <a:endParaRPr kumimoji="0" lang="ja-JP" altLang="en-US" sz="900" b="0" i="0" u="none" strike="noStrike" kern="1200" cap="none" spc="0" normalizeH="0" baseline="0" noProof="0">
              <a:ln>
                <a:noFill/>
              </a:ln>
              <a:solidFill>
                <a:prstClr val="black"/>
              </a:solidFill>
              <a:effectLst/>
              <a:uLnTx/>
              <a:uFillTx/>
              <a:latin typeface="+mj-ea"/>
              <a:ea typeface="+mj-ea"/>
              <a:cs typeface="+mn-cs"/>
            </a:endParaRPr>
          </a:p>
        </p:txBody>
      </p:sp>
      <p:graphicFrame>
        <p:nvGraphicFramePr>
          <p:cNvPr id="7" name="Table 6"/>
          <p:cNvGraphicFramePr>
            <a:graphicFrameLocks noGrp="1"/>
          </p:cNvGraphicFramePr>
          <p:nvPr/>
        </p:nvGraphicFramePr>
        <p:xfrm>
          <a:off x="475488" y="1627632"/>
          <a:ext cx="6766560" cy="4347044"/>
        </p:xfrm>
        <a:graphic>
          <a:graphicData uri="http://schemas.openxmlformats.org/drawingml/2006/table">
            <a:tbl>
              <a:tblPr>
                <a:tableStyleId>{2D5ABB26-0587-4C30-8999-92F81FD0307C}</a:tableStyleId>
              </a:tblPr>
              <a:tblGrid>
                <a:gridCol w="914400">
                  <a:extLst>
                    <a:ext uri="{9D8B030D-6E8A-4147-A177-3AD203B41FA5}">
                      <a16:colId xmlns:a16="http://schemas.microsoft.com/office/drawing/2014/main" val="20000"/>
                    </a:ext>
                  </a:extLst>
                </a:gridCol>
                <a:gridCol w="384048">
                  <a:extLst>
                    <a:ext uri="{9D8B030D-6E8A-4147-A177-3AD203B41FA5}">
                      <a16:colId xmlns:a16="http://schemas.microsoft.com/office/drawing/2014/main" val="20001"/>
                    </a:ext>
                  </a:extLst>
                </a:gridCol>
                <a:gridCol w="2852928">
                  <a:extLst>
                    <a:ext uri="{9D8B030D-6E8A-4147-A177-3AD203B41FA5}">
                      <a16:colId xmlns:a16="http://schemas.microsoft.com/office/drawing/2014/main" val="20002"/>
                    </a:ext>
                  </a:extLst>
                </a:gridCol>
                <a:gridCol w="2615184">
                  <a:extLst>
                    <a:ext uri="{9D8B030D-6E8A-4147-A177-3AD203B41FA5}">
                      <a16:colId xmlns:a16="http://schemas.microsoft.com/office/drawing/2014/main" val="20003"/>
                    </a:ext>
                  </a:extLst>
                </a:gridCol>
              </a:tblGrid>
              <a:tr h="274320">
                <a:tc>
                  <a:txBody>
                    <a:bodyPr/>
                    <a:lstStyle/>
                    <a:p>
                      <a:pPr algn="ctr">
                        <a:lnSpc>
                          <a:spcPts val="1350"/>
                        </a:lnSpc>
                        <a:buNone/>
                      </a:pPr>
                      <a:r>
                        <a:rPr lang="ja-JP" altLang="en-US" sz="1150" b="1">
                          <a:solidFill>
                            <a:srgbClr val="FFFFFF"/>
                          </a:solidFill>
                        </a:rPr>
                        <a:t>アプリ</a:t>
                      </a:r>
                    </a:p>
                  </a:txBody>
                  <a:tcPr marL="73152" marR="73152" marT="27432" marB="27432" anchor="ctr">
                    <a:lnL w="0">
                      <a:noFill/>
                    </a:lnL>
                    <a:lnR w="0">
                      <a:noFill/>
                    </a:lnR>
                    <a:lnT w="0">
                      <a:noFill/>
                    </a:lnT>
                    <a:lnB w="9525">
                      <a:solidFill>
                        <a:srgbClr val="E3E3E3"/>
                      </a:solidFill>
                    </a:lnB>
                    <a:solidFill>
                      <a:srgbClr val="63666A"/>
                    </a:solidFill>
                  </a:tcPr>
                </a:tc>
                <a:tc>
                  <a:txBody>
                    <a:bodyPr/>
                    <a:lstStyle/>
                    <a:p>
                      <a:pPr algn="ctr">
                        <a:lnSpc>
                          <a:spcPts val="1350"/>
                        </a:lnSpc>
                        <a:buNone/>
                      </a:pPr>
                      <a:r>
                        <a:rPr lang="ja-JP" altLang="en-US" sz="1150" b="1">
                          <a:solidFill>
                            <a:srgbClr val="FFFFFF"/>
                          </a:solidFill>
                        </a:rPr>
                        <a:t>No</a:t>
                      </a:r>
                    </a:p>
                  </a:txBody>
                  <a:tcPr marL="73152" marR="73152" marT="27432" marB="27432" anchor="ctr">
                    <a:lnL w="0">
                      <a:noFill/>
                    </a:lnL>
                    <a:lnR w="0">
                      <a:noFill/>
                    </a:lnR>
                    <a:lnT w="0">
                      <a:noFill/>
                    </a:lnT>
                    <a:lnB w="9525">
                      <a:solidFill>
                        <a:srgbClr val="E3E3E3"/>
                      </a:solidFill>
                    </a:lnB>
                    <a:solidFill>
                      <a:srgbClr val="63666A"/>
                    </a:solidFill>
                  </a:tcPr>
                </a:tc>
                <a:tc>
                  <a:txBody>
                    <a:bodyPr/>
                    <a:lstStyle/>
                    <a:p>
                      <a:pPr algn="ctr">
                        <a:lnSpc>
                          <a:spcPts val="1350"/>
                        </a:lnSpc>
                        <a:buNone/>
                      </a:pPr>
                      <a:r>
                        <a:rPr lang="ja-JP" altLang="en-US" sz="1150" b="1">
                          <a:solidFill>
                            <a:srgbClr val="FFFFFF"/>
                          </a:solidFill>
                        </a:rPr>
                        <a:t>機能</a:t>
                      </a:r>
                    </a:p>
                  </a:txBody>
                  <a:tcPr marL="73152" marR="73152" marT="27432" marB="27432" anchor="ctr">
                    <a:lnL w="0">
                      <a:noFill/>
                    </a:lnL>
                    <a:lnR w="0">
                      <a:noFill/>
                    </a:lnR>
                    <a:lnT w="0">
                      <a:noFill/>
                    </a:lnT>
                    <a:lnB w="9525">
                      <a:solidFill>
                        <a:srgbClr val="E3E3E3"/>
                      </a:solidFill>
                    </a:lnB>
                    <a:solidFill>
                      <a:srgbClr val="63666A"/>
                    </a:solidFill>
                  </a:tcPr>
                </a:tc>
                <a:tc>
                  <a:txBody>
                    <a:bodyPr/>
                    <a:lstStyle/>
                    <a:p>
                      <a:pPr algn="ctr">
                        <a:lnSpc>
                          <a:spcPts val="1350"/>
                        </a:lnSpc>
                        <a:buNone/>
                      </a:pPr>
                      <a:r>
                        <a:rPr lang="ja-JP" altLang="en-US" sz="1150" b="1">
                          <a:solidFill>
                            <a:srgbClr val="FFFFFF"/>
                          </a:solidFill>
                        </a:rPr>
                        <a:t>今週（9/28〜10/6）の改修</a:t>
                      </a:r>
                    </a:p>
                  </a:txBody>
                  <a:tcPr marL="73152" marR="73152" marT="27432" marB="27432" anchor="ctr">
                    <a:lnL w="0">
                      <a:noFill/>
                    </a:lnL>
                    <a:lnR w="0">
                      <a:noFill/>
                    </a:lnR>
                    <a:lnT w="0">
                      <a:noFill/>
                    </a:lnT>
                    <a:lnB w="9525">
                      <a:solidFill>
                        <a:srgbClr val="E3E3E3"/>
                      </a:solidFill>
                    </a:lnB>
                    <a:solidFill>
                      <a:srgbClr val="63666A"/>
                    </a:solidFill>
                  </a:tcPr>
                </a:tc>
                <a:extLst>
                  <a:ext uri="{0D108BD9-81ED-4DB2-BD59-A6C34878D82A}">
                    <a16:rowId xmlns:a16="http://schemas.microsoft.com/office/drawing/2014/main" val="10000"/>
                  </a:ext>
                </a:extLst>
              </a:tr>
              <a:tr h="239572">
                <a:tc rowSpan="7">
                  <a:txBody>
                    <a:bodyPr/>
                    <a:lstStyle/>
                    <a:p>
                      <a:pPr algn="ctr">
                        <a:lnSpc>
                          <a:spcPts val="1350"/>
                        </a:lnSpc>
                        <a:buNone/>
                      </a:pPr>
                      <a:r>
                        <a:rPr lang="ja-JP" altLang="en-US" sz="1100" b="1">
                          <a:solidFill>
                            <a:srgbClr val="262626"/>
                          </a:solidFill>
                        </a:rPr>
                        <a:t>AI経営ナビ</a:t>
                      </a:r>
                    </a:p>
                  </a:txBody>
                  <a:tcPr marL="27432" marR="27432" marT="18288" marB="18288" anchor="ctr">
                    <a:lnL w="0">
                      <a:noFill/>
                    </a:lnL>
                    <a:lnR w="0">
                      <a:noFill/>
                    </a:lnR>
                    <a:lnT w="9525" cap="flat" cmpd="sng" algn="ctr">
                      <a:solidFill>
                        <a:srgbClr val="E3E3E3"/>
                      </a:solidFill>
                      <a:prstDash val="solid"/>
                      <a:round/>
                      <a:headEnd type="none" w="med" len="med"/>
                      <a:tailEnd type="none" w="med" len="med"/>
                    </a:lnT>
                    <a:lnB w="25400">
                      <a:solidFill>
                        <a:srgbClr val="FFFFFF"/>
                      </a:solidFill>
                    </a:lnB>
                    <a:solidFill>
                      <a:srgbClr val="F3F3F3"/>
                    </a:solidFill>
                  </a:tcPr>
                </a:tc>
                <a:tc>
                  <a:txBody>
                    <a:bodyPr/>
                    <a:lstStyle/>
                    <a:p>
                      <a:pPr algn="ctr">
                        <a:lnSpc>
                          <a:spcPts val="1350"/>
                        </a:lnSpc>
                        <a:buNone/>
                      </a:pPr>
                      <a:r>
                        <a:rPr lang="ja-JP" altLang="en-US" sz="1100" b="0">
                          <a:solidFill>
                            <a:srgbClr val="262626"/>
                          </a:solidFill>
                        </a:rPr>
                        <a:t>1</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センシングボード・SNS分析</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火種の倍率順・外部指標の統一</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01"/>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2</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計画の前提を洗い直す</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レポートの文字サイズ・行間</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02"/>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3</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戦略・計画を点検する</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追加改修①を反映（12件）</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03"/>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4</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グループ横断で計画を束ねる</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追加改修①を反映（12件）</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04"/>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5</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計画・案件の検証</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計画・案件の追加改修①（48件）</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05"/>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6</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深掘り・保存した結果（計画支援共通）</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時期の目安の表記を調整</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06"/>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7</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AI壁打ち（外部情報・成果物）</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回答完了の表示・評価・コピー</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07"/>
                  </a:ext>
                </a:extLst>
              </a:tr>
              <a:tr h="239572">
                <a:tc rowSpan="5">
                  <a:txBody>
                    <a:bodyPr/>
                    <a:lstStyle/>
                    <a:p>
                      <a:pPr algn="ctr">
                        <a:lnSpc>
                          <a:spcPts val="1350"/>
                        </a:lnSpc>
                        <a:buNone/>
                      </a:pPr>
                      <a:r>
                        <a:rPr lang="ja-JP" altLang="en-US" sz="1100" b="1">
                          <a:solidFill>
                            <a:srgbClr val="262626"/>
                          </a:solidFill>
                        </a:rPr>
                        <a:t>総会QA</a:t>
                      </a:r>
                    </a:p>
                  </a:txBody>
                  <a:tcPr marL="27432" marR="27432" marT="18288" marB="18288" anchor="ctr">
                    <a:lnL w="0">
                      <a:noFill/>
                    </a:lnL>
                    <a:lnR w="0">
                      <a:noFill/>
                    </a:lnR>
                    <a:lnT w="25400" cap="flat" cmpd="sng" algn="ctr">
                      <a:solidFill>
                        <a:srgbClr val="FFFFFF"/>
                      </a:solidFill>
                      <a:prstDash val="solid"/>
                      <a:round/>
                      <a:headEnd type="none" w="med" len="med"/>
                      <a:tailEnd type="none" w="med" len="med"/>
                    </a:lnT>
                    <a:lnB w="25400">
                      <a:solidFill>
                        <a:srgbClr val="FFFFFF"/>
                      </a:solidFill>
                    </a:lnB>
                    <a:solidFill>
                      <a:srgbClr val="F3F3F3"/>
                    </a:solidFill>
                  </a:tcPr>
                </a:tc>
                <a:tc>
                  <a:txBody>
                    <a:bodyPr/>
                    <a:lstStyle/>
                    <a:p>
                      <a:pPr algn="ctr">
                        <a:lnSpc>
                          <a:spcPts val="1350"/>
                        </a:lnSpc>
                        <a:buNone/>
                      </a:pPr>
                      <a:r>
                        <a:rPr lang="ja-JP" altLang="en-US" sz="1100" b="0">
                          <a:solidFill>
                            <a:srgbClr val="262626"/>
                          </a:solidFill>
                        </a:rPr>
                        <a:t>8</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100" b="0">
                          <a:solidFill>
                            <a:srgbClr val="1A1A1A"/>
                          </a:solidFill>
                        </a:rPr>
                        <a:t>所属階層と閲覧範囲</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350"/>
                        </a:lnSpc>
                        <a:buNone/>
                      </a:pPr>
                      <a:r>
                        <a:rPr lang="ja-JP" altLang="en-US" sz="1100" b="0">
                          <a:solidFill>
                            <a:srgbClr val="8C8C8C"/>
                          </a:solidFill>
                        </a:rPr>
                        <a:t>—</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8"/>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9</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100" b="0">
                          <a:solidFill>
                            <a:srgbClr val="1A1A1A"/>
                          </a:solidFill>
                        </a:rPr>
                        <a:t>当日回答作成（新設）</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350"/>
                        </a:lnSpc>
                        <a:buNone/>
                      </a:pPr>
                      <a:r>
                        <a:rPr lang="ja-JP" altLang="en-US" sz="1100" b="0">
                          <a:solidFill>
                            <a:srgbClr val="8C8C8C"/>
                          </a:solidFill>
                        </a:rPr>
                        <a:t>—</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9"/>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10</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質問作成</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今年度QAの取り込み</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10"/>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11</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回答作成・Word出力</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今年度QAの取り込み</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11"/>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12</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AI壁打ち</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回答完了の表示・評価・コピー</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12"/>
                  </a:ext>
                </a:extLst>
              </a:tr>
              <a:tr h="239572">
                <a:tc rowSpan="3">
                  <a:txBody>
                    <a:bodyPr/>
                    <a:lstStyle/>
                    <a:p>
                      <a:pPr algn="ctr">
                        <a:lnSpc>
                          <a:spcPts val="1350"/>
                        </a:lnSpc>
                        <a:buNone/>
                      </a:pPr>
                      <a:r>
                        <a:rPr lang="ja-JP" altLang="en-US" sz="1100" b="1">
                          <a:solidFill>
                            <a:srgbClr val="262626"/>
                          </a:solidFill>
                        </a:rPr>
                        <a:t>共通</a:t>
                      </a:r>
                    </a:p>
                  </a:txBody>
                  <a:tcPr marL="27432" marR="27432" marT="18288" marB="18288" anchor="ctr">
                    <a:lnL w="0">
                      <a:noFill/>
                    </a:lnL>
                    <a:lnR w="0">
                      <a:noFill/>
                    </a:lnR>
                    <a:lnT w="25400" cap="flat" cmpd="sng" algn="ctr">
                      <a:solidFill>
                        <a:srgbClr val="FFFFFF"/>
                      </a:solidFill>
                      <a:prstDash val="solid"/>
                      <a:round/>
                      <a:headEnd type="none" w="med" len="med"/>
                      <a:tailEnd type="none" w="med" len="med"/>
                    </a:lnT>
                    <a:lnB w="25400">
                      <a:solidFill>
                        <a:srgbClr val="FFFFFF"/>
                      </a:solidFill>
                    </a:lnB>
                    <a:solidFill>
                      <a:srgbClr val="F3F3F3"/>
                    </a:solidFill>
                  </a:tcPr>
                </a:tc>
                <a:tc>
                  <a:txBody>
                    <a:bodyPr/>
                    <a:lstStyle/>
                    <a:p>
                      <a:pPr algn="ctr">
                        <a:lnSpc>
                          <a:spcPts val="1350"/>
                        </a:lnSpc>
                        <a:buNone/>
                      </a:pPr>
                      <a:r>
                        <a:rPr lang="ja-JP" altLang="en-US" sz="1100" b="0">
                          <a:solidFill>
                            <a:srgbClr val="262626"/>
                          </a:solidFill>
                        </a:rPr>
                        <a:t>13</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100" b="0">
                          <a:solidFill>
                            <a:srgbClr val="1A1A1A"/>
                          </a:solidFill>
                        </a:rPr>
                        <a:t>機密データ受け渡し箱（新設）</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350"/>
                        </a:lnSpc>
                        <a:buNone/>
                      </a:pPr>
                      <a:r>
                        <a:rPr lang="ja-JP" altLang="en-US" sz="1100" b="0">
                          <a:solidFill>
                            <a:srgbClr val="8C8C8C"/>
                          </a:solidFill>
                        </a:rPr>
                        <a:t>—</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13"/>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14</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権限の総点検</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ctr">
                        <a:lnSpc>
                          <a:spcPts val="1350"/>
                        </a:lnSpc>
                        <a:buNone/>
                      </a:pPr>
                      <a:r>
                        <a:rPr lang="ja-JP" altLang="en-US" sz="1100" b="0">
                          <a:solidFill>
                            <a:srgbClr val="046A38"/>
                          </a:solidFill>
                        </a:rPr>
                        <a:t>BU×資料の種類で付与</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14"/>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15</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100" b="0">
                          <a:solidFill>
                            <a:srgbClr val="1A1A1A"/>
                          </a:solidFill>
                        </a:rPr>
                        <a:t>LLMをClaude Opus 5.5へ切替</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350"/>
                        </a:lnSpc>
                        <a:buNone/>
                      </a:pPr>
                      <a:r>
                        <a:rPr lang="ja-JP" altLang="en-US" sz="1100" b="0">
                          <a:solidFill>
                            <a:srgbClr val="8C8C8C"/>
                          </a:solidFill>
                        </a:rPr>
                        <a:t>—</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15"/>
                  </a:ext>
                </a:extLst>
              </a:tr>
              <a:tr h="239572">
                <a:tc rowSpan="2">
                  <a:txBody>
                    <a:bodyPr/>
                    <a:lstStyle/>
                    <a:p>
                      <a:pPr algn="ctr">
                        <a:lnSpc>
                          <a:spcPts val="1350"/>
                        </a:lnSpc>
                        <a:buNone/>
                      </a:pPr>
                      <a:r>
                        <a:rPr lang="ja-JP" altLang="en-US" sz="1100" b="1">
                          <a:solidFill>
                            <a:srgbClr val="262626"/>
                          </a:solidFill>
                        </a:rPr>
                        <a:t>Phase2で</a:t>
                      </a:r>
                    </a:p>
                    <a:p>
                      <a:pPr algn="ctr">
                        <a:lnSpc>
                          <a:spcPts val="1350"/>
                        </a:lnSpc>
                        <a:buNone/>
                      </a:pPr>
                      <a:r>
                        <a:rPr lang="ja-JP" altLang="en-US" sz="1100" b="1">
                          <a:solidFill>
                            <a:srgbClr val="262626"/>
                          </a:solidFill>
                        </a:rPr>
                        <a:t>追加</a:t>
                      </a:r>
                    </a:p>
                  </a:txBody>
                  <a:tcPr marL="27432" marR="27432" marT="18288" marB="18288" anchor="ctr">
                    <a:lnL w="0">
                      <a:noFill/>
                    </a:lnL>
                    <a:lnR w="0">
                      <a:noFill/>
                    </a:lnR>
                    <a:lnT w="25400" cap="flat" cmpd="sng" algn="ctr">
                      <a:solidFill>
                        <a:srgbClr val="FFFFFF"/>
                      </a:solidFill>
                      <a:prstDash val="solid"/>
                      <a:round/>
                      <a:headEnd type="none" w="med" len="med"/>
                      <a:tailEnd type="none" w="med" len="med"/>
                    </a:lnT>
                    <a:lnB w="25400">
                      <a:solidFill>
                        <a:srgbClr val="FFFFFF"/>
                      </a:solidFill>
                    </a:lnB>
                    <a:solidFill>
                      <a:srgbClr val="F3F3F3"/>
                    </a:solidFill>
                  </a:tcPr>
                </a:tc>
                <a:tc>
                  <a:txBody>
                    <a:bodyPr/>
                    <a:lstStyle/>
                    <a:p>
                      <a:pPr algn="ctr">
                        <a:lnSpc>
                          <a:spcPts val="1350"/>
                        </a:lnSpc>
                        <a:buNone/>
                      </a:pPr>
                      <a:r>
                        <a:rPr lang="ja-JP" altLang="en-US" sz="1100" b="0">
                          <a:solidFill>
                            <a:srgbClr val="262626"/>
                          </a:solidFill>
                        </a:rPr>
                        <a:t>16</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外部データの拡充と取得の流れ</a:t>
                      </a:r>
                      <a:r>
                        <a:rPr lang="ja-JP" altLang="en-US" sz="950" b="1">
                          <a:solidFill>
                            <a:srgbClr val="046A38"/>
                          </a:solidFill>
                        </a:rPr>
                        <a:t>  NEW</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取得元＋60件・指標を47に統一</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16"/>
                  </a:ext>
                </a:extLst>
              </a:tr>
              <a:tr h="239572">
                <a:tc vMerge="1">
                  <a:txBody>
                    <a:bodyPr/>
                    <a:lstStyle/>
                    <a:p>
                      <a:pPr algn="ctr">
                        <a:lnSpc>
                          <a:spcPts val="1350"/>
                        </a:lnSpc>
                        <a:buNone/>
                      </a:pPr>
                      <a:endParaRPr/>
                    </a:p>
                  </a:txBody>
                  <a:tcPr marL="27432" marR="27432" marT="18288" marB="18288"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0">
                          <a:solidFill>
                            <a:srgbClr val="262626"/>
                          </a:solidFill>
                        </a:rPr>
                        <a:t>17</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0">
                          <a:solidFill>
                            <a:srgbClr val="1A1A1A"/>
                          </a:solidFill>
                        </a:rPr>
                        <a:t>読み込みの高速化・全画面の点検</a:t>
                      </a:r>
                      <a:r>
                        <a:rPr lang="ja-JP" altLang="en-US" sz="950" b="1">
                          <a:solidFill>
                            <a:srgbClr val="046A38"/>
                          </a:solidFill>
                        </a:rPr>
                        <a:t>  NEW</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tc>
                  <a:txBody>
                    <a:bodyPr/>
                    <a:lstStyle/>
                    <a:p>
                      <a:pPr algn="l">
                        <a:lnSpc>
                          <a:spcPts val="1350"/>
                        </a:lnSpc>
                        <a:buNone/>
                      </a:pPr>
                      <a:r>
                        <a:rPr lang="ja-JP" altLang="en-US" sz="1100" b="1">
                          <a:solidFill>
                            <a:srgbClr val="046A38"/>
                          </a:solidFill>
                        </a:rPr>
                        <a:t>両アプリを全体点検（10/6）</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solidFill>
                      <a:srgbClr val="EEF3EF"/>
                    </a:solidFill>
                  </a:tcPr>
                </a:tc>
                <a:extLst>
                  <a:ext uri="{0D108BD9-81ED-4DB2-BD59-A6C34878D82A}">
                    <a16:rowId xmlns:a16="http://schemas.microsoft.com/office/drawing/2014/main" val="10017"/>
                  </a:ext>
                </a:extLst>
              </a:tr>
            </a:tbl>
          </a:graphicData>
        </a:graphic>
      </p:graphicFrame>
      <p:sp>
        <p:nvSpPr>
          <p:cNvPr id="8" name="TextBox 7"/>
          <p:cNvSpPr txBox="1"/>
          <p:nvPr/>
        </p:nvSpPr>
        <p:spPr>
          <a:xfrm>
            <a:off x="475488" y="6006436"/>
            <a:ext cx="6766560" cy="256032"/>
          </a:xfrm>
          <a:prstGeom prst="rect">
            <a:avLst/>
          </a:prstGeom>
          <a:noFill/>
        </p:spPr>
        <p:txBody>
          <a:bodyPr wrap="square" lIns="0" tIns="0" rIns="0" bIns="0" anchor="ctr">
            <a:noAutofit/>
          </a:bodyPr>
          <a:lstStyle/>
          <a:p>
            <a:pPr algn="l">
              <a:buNone/>
            </a:pPr>
            <a:r>
              <a:rPr lang="ja-JP" altLang="en-US" sz="1000" b="0">
                <a:solidFill>
                  <a:srgbClr val="C9D9CE"/>
                </a:solidFill>
                <a:latin typeface="+mj-ea"/>
                <a:ea typeface="+mj-ea"/>
              </a:rPr>
              <a:t>■</a:t>
            </a:r>
            <a:r>
              <a:rPr lang="ja-JP" altLang="en-US" sz="1000" b="0">
                <a:solidFill>
                  <a:srgbClr val="595959"/>
                </a:solidFill>
                <a:latin typeface="+mj-ea"/>
                <a:ea typeface="+mj-ea"/>
              </a:rPr>
              <a:t> 今週更新・新設した項目　　No.1〜15はPhase1（9/27断面）でご報告済み</a:t>
            </a:r>
          </a:p>
        </p:txBody>
      </p:sp>
      <p:sp>
        <p:nvSpPr>
          <p:cNvPr id="9" name="Rectangle 8"/>
          <p:cNvSpPr/>
          <p:nvPr/>
        </p:nvSpPr>
        <p:spPr>
          <a:xfrm>
            <a:off x="7516368" y="1627632"/>
            <a:ext cx="2039112" cy="896112"/>
          </a:xfrm>
          <a:prstGeom prst="rect">
            <a:avLst/>
          </a:prstGeom>
          <a:solidFill>
            <a:srgbClr val="F3F3F3"/>
          </a:solidFill>
          <a:ln>
            <a:noFill/>
          </a:ln>
        </p:spPr>
        <p:txBody>
          <a:bodyPr wrap="square" lIns="54864" tIns="27432" rIns="54864" bIns="27432" rtlCol="0" anchor="ctr">
            <a:noAutofit/>
          </a:bodyPr>
          <a:lstStyle/>
          <a:p>
            <a:pPr algn="ctr"/>
            <a:endParaRPr>
              <a:latin typeface="+mj-ea"/>
              <a:ea typeface="+mj-ea"/>
            </a:endParaRPr>
          </a:p>
        </p:txBody>
      </p:sp>
      <p:sp>
        <p:nvSpPr>
          <p:cNvPr id="10" name="TextBox 9"/>
          <p:cNvSpPr txBox="1"/>
          <p:nvPr/>
        </p:nvSpPr>
        <p:spPr>
          <a:xfrm>
            <a:off x="7516368" y="1645920"/>
            <a:ext cx="2039112" cy="475488"/>
          </a:xfrm>
          <a:prstGeom prst="rect">
            <a:avLst/>
          </a:prstGeom>
          <a:noFill/>
        </p:spPr>
        <p:txBody>
          <a:bodyPr wrap="square" lIns="0" tIns="0" rIns="0" bIns="0" anchor="ctr">
            <a:noAutofit/>
          </a:bodyPr>
          <a:lstStyle/>
          <a:p>
            <a:pPr algn="ctr">
              <a:buNone/>
            </a:pPr>
            <a:r>
              <a:rPr lang="ja-JP" altLang="en-US" sz="2800" b="1">
                <a:solidFill>
                  <a:srgbClr val="046A38"/>
                </a:solidFill>
                <a:latin typeface="+mj-ea"/>
                <a:ea typeface="+mj-ea"/>
              </a:rPr>
              <a:t>89</a:t>
            </a:r>
            <a:r>
              <a:rPr lang="ja-JP" altLang="en-US" sz="1200" b="1">
                <a:solidFill>
                  <a:srgbClr val="046A38"/>
                </a:solidFill>
                <a:latin typeface="+mj-ea"/>
                <a:ea typeface="+mj-ea"/>
              </a:rPr>
              <a:t> 件</a:t>
            </a:r>
          </a:p>
        </p:txBody>
      </p:sp>
      <p:sp>
        <p:nvSpPr>
          <p:cNvPr id="11" name="TextBox 10"/>
          <p:cNvSpPr txBox="1"/>
          <p:nvPr/>
        </p:nvSpPr>
        <p:spPr>
          <a:xfrm>
            <a:off x="7516368" y="2103120"/>
            <a:ext cx="2039112" cy="384048"/>
          </a:xfrm>
          <a:prstGeom prst="rect">
            <a:avLst/>
          </a:prstGeom>
          <a:noFill/>
        </p:spPr>
        <p:txBody>
          <a:bodyPr wrap="square" lIns="0" tIns="0" rIns="0" bIns="0" anchor="t">
            <a:noAutofit/>
          </a:bodyPr>
          <a:lstStyle/>
          <a:p>
            <a:pPr algn="ctr">
              <a:buNone/>
            </a:pPr>
            <a:r>
              <a:rPr lang="ja-JP" altLang="en-US" sz="1000" b="0">
                <a:solidFill>
                  <a:srgbClr val="595959"/>
                </a:solidFill>
                <a:latin typeface="+mj-ea"/>
                <a:ea typeface="+mj-ea"/>
                <a:cs typeface="Arial"/>
              </a:rPr>
              <a:t>9/28〜10/</a:t>
            </a:r>
            <a:r>
              <a:rPr lang="ja-JP" altLang="en-US" sz="1000">
                <a:solidFill>
                  <a:srgbClr val="595959"/>
                </a:solidFill>
                <a:latin typeface="+mj-ea"/>
                <a:ea typeface="+mj-ea"/>
                <a:cs typeface="Arial"/>
              </a:rPr>
              <a:t>6</a:t>
            </a:r>
            <a:r>
              <a:rPr lang="ja-JP" altLang="en-US" sz="1000" b="0">
                <a:solidFill>
                  <a:srgbClr val="595959"/>
                </a:solidFill>
                <a:latin typeface="+mj-ea"/>
                <a:ea typeface="+mj-ea"/>
                <a:cs typeface="Arial"/>
              </a:rPr>
              <a:t>に受けたご依頼・改善</a:t>
            </a:r>
          </a:p>
          <a:p>
            <a:pPr algn="ctr">
              <a:buNone/>
            </a:pPr>
            <a:r>
              <a:rPr lang="ja-JP" altLang="en-US" sz="1000" b="1">
                <a:solidFill>
                  <a:srgbClr val="262626"/>
                </a:solidFill>
                <a:latin typeface="+mj-ea"/>
                <a:ea typeface="+mj-ea"/>
              </a:rPr>
              <a:t>すべて反映済み</a:t>
            </a:r>
          </a:p>
        </p:txBody>
      </p:sp>
      <p:sp>
        <p:nvSpPr>
          <p:cNvPr id="12" name="Rectangle 11"/>
          <p:cNvSpPr/>
          <p:nvPr/>
        </p:nvSpPr>
        <p:spPr>
          <a:xfrm>
            <a:off x="9665208" y="1627632"/>
            <a:ext cx="2039112" cy="896112"/>
          </a:xfrm>
          <a:prstGeom prst="rect">
            <a:avLst/>
          </a:prstGeom>
          <a:solidFill>
            <a:srgbClr val="F3F3F3"/>
          </a:solidFill>
          <a:ln>
            <a:noFill/>
          </a:ln>
        </p:spPr>
        <p:txBody>
          <a:bodyPr wrap="square" lIns="54864" tIns="27432" rIns="54864" bIns="27432" rtlCol="0" anchor="ctr">
            <a:noAutofit/>
          </a:bodyPr>
          <a:lstStyle/>
          <a:p>
            <a:pPr algn="ctr"/>
            <a:endParaRPr>
              <a:latin typeface="+mj-ea"/>
              <a:ea typeface="+mj-ea"/>
            </a:endParaRPr>
          </a:p>
        </p:txBody>
      </p:sp>
      <p:sp>
        <p:nvSpPr>
          <p:cNvPr id="13" name="TextBox 12"/>
          <p:cNvSpPr txBox="1"/>
          <p:nvPr/>
        </p:nvSpPr>
        <p:spPr>
          <a:xfrm>
            <a:off x="9665208" y="1645920"/>
            <a:ext cx="2039112" cy="475488"/>
          </a:xfrm>
          <a:prstGeom prst="rect">
            <a:avLst/>
          </a:prstGeom>
          <a:noFill/>
        </p:spPr>
        <p:txBody>
          <a:bodyPr wrap="square" lIns="0" tIns="0" rIns="0" bIns="0" anchor="ctr">
            <a:noAutofit/>
          </a:bodyPr>
          <a:lstStyle/>
          <a:p>
            <a:pPr algn="ctr">
              <a:buNone/>
            </a:pPr>
            <a:r>
              <a:rPr lang="ja-JP" altLang="en-US" sz="2800" b="1">
                <a:solidFill>
                  <a:srgbClr val="046A38"/>
                </a:solidFill>
                <a:latin typeface="+mj-ea"/>
                <a:ea typeface="+mj-ea"/>
              </a:rPr>
              <a:t>17</a:t>
            </a:r>
            <a:r>
              <a:rPr lang="ja-JP" altLang="en-US" sz="1200" b="1">
                <a:solidFill>
                  <a:srgbClr val="046A38"/>
                </a:solidFill>
                <a:latin typeface="+mj-ea"/>
                <a:ea typeface="+mj-ea"/>
              </a:rPr>
              <a:t> 項目</a:t>
            </a:r>
          </a:p>
        </p:txBody>
      </p:sp>
      <p:sp>
        <p:nvSpPr>
          <p:cNvPr id="14" name="TextBox 13"/>
          <p:cNvSpPr txBox="1"/>
          <p:nvPr/>
        </p:nvSpPr>
        <p:spPr>
          <a:xfrm>
            <a:off x="9665208" y="2103120"/>
            <a:ext cx="2039112" cy="384048"/>
          </a:xfrm>
          <a:prstGeom prst="rect">
            <a:avLst/>
          </a:prstGeom>
          <a:noFill/>
        </p:spPr>
        <p:txBody>
          <a:bodyPr wrap="square" lIns="0" tIns="0" rIns="0" bIns="0" anchor="t">
            <a:noAutofit/>
          </a:bodyPr>
          <a:lstStyle/>
          <a:p>
            <a:pPr algn="ctr">
              <a:buNone/>
            </a:pPr>
            <a:r>
              <a:rPr lang="ja-JP" altLang="en-US" sz="1000" b="0">
                <a:solidFill>
                  <a:srgbClr val="595959"/>
                </a:solidFill>
                <a:latin typeface="+mj-ea"/>
                <a:ea typeface="+mj-ea"/>
              </a:rPr>
              <a:t>改修台帳</a:t>
            </a:r>
          </a:p>
          <a:p>
            <a:pPr algn="ctr">
              <a:buNone/>
            </a:pPr>
            <a:r>
              <a:rPr lang="ja-JP" altLang="en-US" sz="1000" b="1">
                <a:solidFill>
                  <a:srgbClr val="262626"/>
                </a:solidFill>
                <a:latin typeface="+mj-ea"/>
                <a:ea typeface="+mj-ea"/>
              </a:rPr>
              <a:t>Phase1の15項目＋2項目</a:t>
            </a:r>
          </a:p>
        </p:txBody>
      </p:sp>
      <p:sp>
        <p:nvSpPr>
          <p:cNvPr id="15" name="TextBox 14"/>
          <p:cNvSpPr txBox="1"/>
          <p:nvPr/>
        </p:nvSpPr>
        <p:spPr>
          <a:xfrm>
            <a:off x="7516368" y="2633472"/>
            <a:ext cx="4187952" cy="274320"/>
          </a:xfrm>
          <a:prstGeom prst="rect">
            <a:avLst/>
          </a:prstGeom>
          <a:noFill/>
        </p:spPr>
        <p:txBody>
          <a:bodyPr wrap="square" lIns="0" tIns="0" rIns="0" bIns="0" anchor="ctr">
            <a:noAutofit/>
          </a:bodyPr>
          <a:lstStyle/>
          <a:p>
            <a:pPr algn="l">
              <a:buNone/>
            </a:pPr>
            <a:r>
              <a:rPr lang="ja-JP" altLang="en-US" sz="1300" b="1">
                <a:solidFill>
                  <a:srgbClr val="262626"/>
                </a:solidFill>
                <a:latin typeface="+mj-ea"/>
                <a:ea typeface="+mj-ea"/>
              </a:rPr>
              <a:t>今週の改修のポイント</a:t>
            </a:r>
          </a:p>
        </p:txBody>
      </p:sp>
      <p:sp>
        <p:nvSpPr>
          <p:cNvPr id="16" name="Oval 15"/>
          <p:cNvSpPr/>
          <p:nvPr/>
        </p:nvSpPr>
        <p:spPr>
          <a:xfrm>
            <a:off x="7516368" y="2953512"/>
            <a:ext cx="256032" cy="256032"/>
          </a:xfrm>
          <a:prstGeom prst="ellipse">
            <a:avLst/>
          </a:prstGeom>
          <a:solidFill>
            <a:srgbClr val="046A38"/>
          </a:solidFill>
          <a:ln>
            <a:noFill/>
          </a:ln>
        </p:spPr>
        <p:txBody>
          <a:bodyPr wrap="square" lIns="0" tIns="0" rIns="0" bIns="0" rtlCol="0" anchor="ctr">
            <a:noAutofit/>
          </a:bodyPr>
          <a:lstStyle/>
          <a:p>
            <a:pPr algn="ctr">
              <a:buNone/>
            </a:pPr>
            <a:r>
              <a:rPr lang="ja-JP" altLang="en-US" sz="1050" b="1">
                <a:solidFill>
                  <a:srgbClr val="FFFFFF"/>
                </a:solidFill>
                <a:latin typeface="+mj-ea"/>
                <a:ea typeface="+mj-ea"/>
              </a:rPr>
              <a:t>1</a:t>
            </a:r>
          </a:p>
        </p:txBody>
      </p:sp>
      <p:sp>
        <p:nvSpPr>
          <p:cNvPr id="17" name="TextBox 16"/>
          <p:cNvSpPr txBox="1"/>
          <p:nvPr/>
        </p:nvSpPr>
        <p:spPr>
          <a:xfrm>
            <a:off x="7882128" y="2926080"/>
            <a:ext cx="2953511" cy="292608"/>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計画・案件系の追加改修①（72件）</a:t>
            </a:r>
          </a:p>
        </p:txBody>
      </p:sp>
      <p:sp>
        <p:nvSpPr>
          <p:cNvPr id="18" name="TextBox 17"/>
          <p:cNvSpPr txBox="1"/>
          <p:nvPr/>
        </p:nvSpPr>
        <p:spPr>
          <a:xfrm>
            <a:off x="10835640" y="2926080"/>
            <a:ext cx="868680" cy="292608"/>
          </a:xfrm>
          <a:prstGeom prst="rect">
            <a:avLst/>
          </a:prstGeom>
          <a:noFill/>
        </p:spPr>
        <p:txBody>
          <a:bodyPr wrap="square" lIns="0" tIns="0" rIns="0" bIns="0" anchor="ctr">
            <a:noAutofit/>
          </a:bodyPr>
          <a:lstStyle/>
          <a:p>
            <a:pPr algn="r">
              <a:buNone/>
            </a:pPr>
            <a:r>
              <a:rPr lang="ja-JP" altLang="en-US" sz="950" b="0">
                <a:solidFill>
                  <a:srgbClr val="8C8C8C"/>
                </a:solidFill>
                <a:latin typeface="+mj-ea"/>
                <a:ea typeface="+mj-ea"/>
              </a:rPr>
              <a:t>No.3〜5</a:t>
            </a:r>
          </a:p>
        </p:txBody>
      </p:sp>
      <p:sp>
        <p:nvSpPr>
          <p:cNvPr id="19" name="TextBox 18"/>
          <p:cNvSpPr txBox="1"/>
          <p:nvPr/>
        </p:nvSpPr>
        <p:spPr>
          <a:xfrm>
            <a:off x="7882128" y="3209544"/>
            <a:ext cx="3822191" cy="384048"/>
          </a:xfrm>
          <a:prstGeom prst="rect">
            <a:avLst/>
          </a:prstGeom>
          <a:noFill/>
        </p:spPr>
        <p:txBody>
          <a:bodyPr wrap="square" lIns="0" tIns="0" rIns="0" bIns="0" anchor="t">
            <a:noAutofit/>
          </a:bodyPr>
          <a:lstStyle/>
          <a:p>
            <a:pPr algn="l">
              <a:lnSpc>
                <a:spcPct val="100000"/>
              </a:lnSpc>
              <a:buNone/>
            </a:pPr>
            <a:r>
              <a:rPr lang="ja-JP" altLang="en-US" sz="1050" b="0">
                <a:solidFill>
                  <a:srgbClr val="595959"/>
                </a:solidFill>
                <a:latin typeface="+mj-ea"/>
                <a:ea typeface="+mj-ea"/>
              </a:rPr>
              <a:t>点検・束ねる・計画の検証で書き方と型をそろえ、個別案件はカルテの保存・台帳の自動更新・管理者の手直しを追加</a:t>
            </a:r>
          </a:p>
        </p:txBody>
      </p:sp>
      <p:cxnSp>
        <p:nvCxnSpPr>
          <p:cNvPr id="20" name="Connector 19"/>
          <p:cNvCxnSpPr/>
          <p:nvPr/>
        </p:nvCxnSpPr>
        <p:spPr>
          <a:xfrm>
            <a:off x="7882128" y="3584448"/>
            <a:ext cx="3822192" cy="0"/>
          </a:xfrm>
          <a:prstGeom prst="line">
            <a:avLst/>
          </a:prstGeom>
          <a:ln w="6350">
            <a:solidFill>
              <a:srgbClr val="E3E3E3"/>
            </a:solidFill>
          </a:ln>
        </p:spPr>
      </p:cxnSp>
      <p:sp>
        <p:nvSpPr>
          <p:cNvPr id="21" name="Oval 20"/>
          <p:cNvSpPr/>
          <p:nvPr/>
        </p:nvSpPr>
        <p:spPr>
          <a:xfrm>
            <a:off x="7516368" y="3630168"/>
            <a:ext cx="256032" cy="256032"/>
          </a:xfrm>
          <a:prstGeom prst="ellipse">
            <a:avLst/>
          </a:prstGeom>
          <a:solidFill>
            <a:srgbClr val="046A38"/>
          </a:solidFill>
          <a:ln>
            <a:noFill/>
          </a:ln>
        </p:spPr>
        <p:txBody>
          <a:bodyPr wrap="square" lIns="0" tIns="0" rIns="0" bIns="0" rtlCol="0" anchor="ctr">
            <a:noAutofit/>
          </a:bodyPr>
          <a:lstStyle/>
          <a:p>
            <a:pPr algn="ctr">
              <a:buNone/>
            </a:pPr>
            <a:r>
              <a:rPr lang="ja-JP" altLang="en-US" sz="1050" b="1">
                <a:solidFill>
                  <a:srgbClr val="FFFFFF"/>
                </a:solidFill>
                <a:latin typeface="+mj-ea"/>
                <a:ea typeface="+mj-ea"/>
              </a:rPr>
              <a:t>2</a:t>
            </a:r>
          </a:p>
        </p:txBody>
      </p:sp>
      <p:sp>
        <p:nvSpPr>
          <p:cNvPr id="22" name="TextBox 21"/>
          <p:cNvSpPr txBox="1"/>
          <p:nvPr/>
        </p:nvSpPr>
        <p:spPr>
          <a:xfrm>
            <a:off x="7882128" y="3602736"/>
            <a:ext cx="2953511" cy="292608"/>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0928版へのご意見（9件）</a:t>
            </a:r>
          </a:p>
        </p:txBody>
      </p:sp>
      <p:sp>
        <p:nvSpPr>
          <p:cNvPr id="23" name="TextBox 22"/>
          <p:cNvSpPr txBox="1"/>
          <p:nvPr/>
        </p:nvSpPr>
        <p:spPr>
          <a:xfrm>
            <a:off x="10835640" y="3602736"/>
            <a:ext cx="868680" cy="292608"/>
          </a:xfrm>
          <a:prstGeom prst="rect">
            <a:avLst/>
          </a:prstGeom>
          <a:noFill/>
        </p:spPr>
        <p:txBody>
          <a:bodyPr wrap="square" lIns="0" tIns="0" rIns="0" bIns="0" anchor="ctr">
            <a:noAutofit/>
          </a:bodyPr>
          <a:lstStyle/>
          <a:p>
            <a:pPr algn="r">
              <a:buNone/>
            </a:pPr>
            <a:r>
              <a:rPr lang="ja-JP" altLang="en-US" sz="950" b="0">
                <a:solidFill>
                  <a:srgbClr val="8C8C8C"/>
                </a:solidFill>
                <a:latin typeface="+mj-ea"/>
                <a:ea typeface="+mj-ea"/>
              </a:rPr>
              <a:t>No.1・2・4・6</a:t>
            </a:r>
          </a:p>
        </p:txBody>
      </p:sp>
      <p:sp>
        <p:nvSpPr>
          <p:cNvPr id="24" name="TextBox 23"/>
          <p:cNvSpPr txBox="1"/>
          <p:nvPr/>
        </p:nvSpPr>
        <p:spPr>
          <a:xfrm>
            <a:off x="7882128" y="3886200"/>
            <a:ext cx="3822191" cy="384048"/>
          </a:xfrm>
          <a:prstGeom prst="rect">
            <a:avLst/>
          </a:prstGeom>
          <a:noFill/>
        </p:spPr>
        <p:txBody>
          <a:bodyPr wrap="square" lIns="0" tIns="0" rIns="0" bIns="0" anchor="t">
            <a:noAutofit/>
          </a:bodyPr>
          <a:lstStyle/>
          <a:p>
            <a:pPr algn="l">
              <a:lnSpc>
                <a:spcPct val="100000"/>
              </a:lnSpc>
              <a:buNone/>
            </a:pPr>
            <a:r>
              <a:rPr lang="ja-JP" altLang="en-US" sz="1050" b="0">
                <a:solidFill>
                  <a:srgbClr val="595959"/>
                </a:solidFill>
                <a:latin typeface="+mj-ea"/>
                <a:ea typeface="+mj-ea"/>
              </a:rPr>
              <a:t>SNSの火種を前週比の倍率順に、各指標に「いつの値か」を表示、BX推進部の利用者の権限を整理</a:t>
            </a:r>
          </a:p>
        </p:txBody>
      </p:sp>
      <p:cxnSp>
        <p:nvCxnSpPr>
          <p:cNvPr id="25" name="Connector 24"/>
          <p:cNvCxnSpPr/>
          <p:nvPr/>
        </p:nvCxnSpPr>
        <p:spPr>
          <a:xfrm>
            <a:off x="7882128" y="4261104"/>
            <a:ext cx="3822192" cy="0"/>
          </a:xfrm>
          <a:prstGeom prst="line">
            <a:avLst/>
          </a:prstGeom>
          <a:ln w="6350">
            <a:solidFill>
              <a:srgbClr val="E3E3E3"/>
            </a:solidFill>
          </a:ln>
        </p:spPr>
      </p:cxnSp>
      <p:sp>
        <p:nvSpPr>
          <p:cNvPr id="26" name="Oval 25"/>
          <p:cNvSpPr/>
          <p:nvPr/>
        </p:nvSpPr>
        <p:spPr>
          <a:xfrm>
            <a:off x="7516368" y="4306824"/>
            <a:ext cx="256032" cy="256032"/>
          </a:xfrm>
          <a:prstGeom prst="ellipse">
            <a:avLst/>
          </a:prstGeom>
          <a:solidFill>
            <a:srgbClr val="046A38"/>
          </a:solidFill>
          <a:ln>
            <a:noFill/>
          </a:ln>
        </p:spPr>
        <p:txBody>
          <a:bodyPr wrap="square" lIns="0" tIns="0" rIns="0" bIns="0" rtlCol="0" anchor="ctr">
            <a:noAutofit/>
          </a:bodyPr>
          <a:lstStyle/>
          <a:p>
            <a:pPr algn="ctr">
              <a:buNone/>
            </a:pPr>
            <a:r>
              <a:rPr lang="ja-JP" altLang="en-US" sz="1050" b="1">
                <a:solidFill>
                  <a:srgbClr val="FFFFFF"/>
                </a:solidFill>
                <a:latin typeface="+mj-ea"/>
                <a:ea typeface="+mj-ea"/>
              </a:rPr>
              <a:t>3</a:t>
            </a:r>
          </a:p>
        </p:txBody>
      </p:sp>
      <p:sp>
        <p:nvSpPr>
          <p:cNvPr id="27" name="TextBox 26"/>
          <p:cNvSpPr txBox="1"/>
          <p:nvPr/>
        </p:nvSpPr>
        <p:spPr>
          <a:xfrm>
            <a:off x="7882128" y="4279392"/>
            <a:ext cx="2953511" cy="292608"/>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外部データの拡充と指標の統一</a:t>
            </a:r>
          </a:p>
        </p:txBody>
      </p:sp>
      <p:sp>
        <p:nvSpPr>
          <p:cNvPr id="28" name="TextBox 27"/>
          <p:cNvSpPr txBox="1"/>
          <p:nvPr/>
        </p:nvSpPr>
        <p:spPr>
          <a:xfrm>
            <a:off x="10835640" y="4279392"/>
            <a:ext cx="868680" cy="292608"/>
          </a:xfrm>
          <a:prstGeom prst="rect">
            <a:avLst/>
          </a:prstGeom>
          <a:noFill/>
        </p:spPr>
        <p:txBody>
          <a:bodyPr wrap="square" lIns="0" tIns="0" rIns="0" bIns="0" anchor="ctr">
            <a:noAutofit/>
          </a:bodyPr>
          <a:lstStyle/>
          <a:p>
            <a:pPr algn="r">
              <a:buNone/>
            </a:pPr>
            <a:r>
              <a:rPr lang="ja-JP" altLang="en-US" sz="950" b="0">
                <a:solidFill>
                  <a:srgbClr val="8C8C8C"/>
                </a:solidFill>
                <a:latin typeface="+mj-ea"/>
                <a:ea typeface="+mj-ea"/>
              </a:rPr>
              <a:t>No.1・16</a:t>
            </a:r>
          </a:p>
        </p:txBody>
      </p:sp>
      <p:sp>
        <p:nvSpPr>
          <p:cNvPr id="29" name="TextBox 28"/>
          <p:cNvSpPr txBox="1"/>
          <p:nvPr/>
        </p:nvSpPr>
        <p:spPr>
          <a:xfrm>
            <a:off x="7882128" y="4562855"/>
            <a:ext cx="3822191" cy="384048"/>
          </a:xfrm>
          <a:prstGeom prst="rect">
            <a:avLst/>
          </a:prstGeom>
          <a:noFill/>
        </p:spPr>
        <p:txBody>
          <a:bodyPr wrap="square" lIns="0" tIns="0" rIns="0" bIns="0" anchor="t">
            <a:noAutofit/>
          </a:bodyPr>
          <a:lstStyle/>
          <a:p>
            <a:pPr algn="l">
              <a:lnSpc>
                <a:spcPct val="100000"/>
              </a:lnSpc>
              <a:buNone/>
            </a:pPr>
            <a:r>
              <a:rPr lang="ja-JP" altLang="en-US" sz="1050" b="0">
                <a:solidFill>
                  <a:srgbClr val="595959"/>
                </a:solidFill>
                <a:latin typeface="+mj-ea"/>
                <a:ea typeface="+mj-ea"/>
              </a:rPr>
              <a:t>取得元を60件追加し、監視設定の外部指標は重複を整理して47に統一。取得した値は公式値と照合（次頁）</a:t>
            </a:r>
          </a:p>
        </p:txBody>
      </p:sp>
      <p:cxnSp>
        <p:nvCxnSpPr>
          <p:cNvPr id="30" name="Connector 29"/>
          <p:cNvCxnSpPr/>
          <p:nvPr/>
        </p:nvCxnSpPr>
        <p:spPr>
          <a:xfrm>
            <a:off x="7882128" y="4937759"/>
            <a:ext cx="3822192" cy="0"/>
          </a:xfrm>
          <a:prstGeom prst="line">
            <a:avLst/>
          </a:prstGeom>
          <a:ln w="6350">
            <a:solidFill>
              <a:srgbClr val="E3E3E3"/>
            </a:solidFill>
          </a:ln>
        </p:spPr>
      </p:cxnSp>
      <p:sp>
        <p:nvSpPr>
          <p:cNvPr id="31" name="Oval 30"/>
          <p:cNvSpPr/>
          <p:nvPr/>
        </p:nvSpPr>
        <p:spPr>
          <a:xfrm>
            <a:off x="7516368" y="4983480"/>
            <a:ext cx="256032" cy="256032"/>
          </a:xfrm>
          <a:prstGeom prst="ellipse">
            <a:avLst/>
          </a:prstGeom>
          <a:solidFill>
            <a:srgbClr val="046A38"/>
          </a:solidFill>
          <a:ln>
            <a:noFill/>
          </a:ln>
        </p:spPr>
        <p:txBody>
          <a:bodyPr wrap="square" lIns="0" tIns="0" rIns="0" bIns="0" rtlCol="0" anchor="ctr">
            <a:noAutofit/>
          </a:bodyPr>
          <a:lstStyle/>
          <a:p>
            <a:pPr algn="ctr">
              <a:buNone/>
            </a:pPr>
            <a:r>
              <a:rPr lang="ja-JP" altLang="en-US" sz="1050" b="1">
                <a:solidFill>
                  <a:srgbClr val="FFFFFF"/>
                </a:solidFill>
                <a:latin typeface="+mj-ea"/>
                <a:ea typeface="+mj-ea"/>
              </a:rPr>
              <a:t>4</a:t>
            </a:r>
          </a:p>
        </p:txBody>
      </p:sp>
      <p:sp>
        <p:nvSpPr>
          <p:cNvPr id="32" name="TextBox 31"/>
          <p:cNvSpPr txBox="1"/>
          <p:nvPr/>
        </p:nvSpPr>
        <p:spPr>
          <a:xfrm>
            <a:off x="7882128" y="4956048"/>
            <a:ext cx="2953511" cy="292608"/>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総会QA：今年度QAの取り込み（1件）</a:t>
            </a:r>
          </a:p>
        </p:txBody>
      </p:sp>
      <p:sp>
        <p:nvSpPr>
          <p:cNvPr id="33" name="TextBox 32"/>
          <p:cNvSpPr txBox="1"/>
          <p:nvPr/>
        </p:nvSpPr>
        <p:spPr>
          <a:xfrm>
            <a:off x="10835640" y="4956048"/>
            <a:ext cx="868680" cy="292608"/>
          </a:xfrm>
          <a:prstGeom prst="rect">
            <a:avLst/>
          </a:prstGeom>
          <a:noFill/>
        </p:spPr>
        <p:txBody>
          <a:bodyPr wrap="square" lIns="0" tIns="0" rIns="0" bIns="0" anchor="ctr">
            <a:noAutofit/>
          </a:bodyPr>
          <a:lstStyle/>
          <a:p>
            <a:pPr algn="r">
              <a:buNone/>
            </a:pPr>
            <a:r>
              <a:rPr lang="ja-JP" altLang="en-US" sz="950" b="0">
                <a:solidFill>
                  <a:srgbClr val="8C8C8C"/>
                </a:solidFill>
                <a:latin typeface="+mj-ea"/>
                <a:ea typeface="+mj-ea"/>
              </a:rPr>
              <a:t>No.10・11</a:t>
            </a:r>
          </a:p>
        </p:txBody>
      </p:sp>
      <p:sp>
        <p:nvSpPr>
          <p:cNvPr id="34" name="TextBox 33"/>
          <p:cNvSpPr txBox="1"/>
          <p:nvPr/>
        </p:nvSpPr>
        <p:spPr>
          <a:xfrm>
            <a:off x="7882128" y="5239512"/>
            <a:ext cx="3822191" cy="384048"/>
          </a:xfrm>
          <a:prstGeom prst="rect">
            <a:avLst/>
          </a:prstGeom>
          <a:noFill/>
        </p:spPr>
        <p:txBody>
          <a:bodyPr wrap="square" lIns="0" tIns="0" rIns="0" bIns="0" anchor="t">
            <a:noAutofit/>
          </a:bodyPr>
          <a:lstStyle/>
          <a:p>
            <a:pPr algn="l">
              <a:lnSpc>
                <a:spcPct val="100000"/>
              </a:lnSpc>
              <a:buNone/>
            </a:pPr>
            <a:r>
              <a:rPr lang="ja-JP" altLang="en-US" sz="1050" b="0">
                <a:solidFill>
                  <a:srgbClr val="595959"/>
                </a:solidFill>
                <a:latin typeface="+mj-ea"/>
                <a:ea typeface="+mj-ea"/>
              </a:rPr>
              <a:t>質問作成・回答作成で今年度のQAを取り込めるように。取り込んだ行の表示と重複の確認つき</a:t>
            </a:r>
          </a:p>
        </p:txBody>
      </p:sp>
      <p:cxnSp>
        <p:nvCxnSpPr>
          <p:cNvPr id="35" name="Connector 34"/>
          <p:cNvCxnSpPr/>
          <p:nvPr/>
        </p:nvCxnSpPr>
        <p:spPr>
          <a:xfrm>
            <a:off x="7882128" y="5614416"/>
            <a:ext cx="3822192" cy="0"/>
          </a:xfrm>
          <a:prstGeom prst="line">
            <a:avLst/>
          </a:prstGeom>
          <a:ln w="6350">
            <a:solidFill>
              <a:srgbClr val="E3E3E3"/>
            </a:solidFill>
          </a:ln>
        </p:spPr>
      </p:cxnSp>
      <p:sp>
        <p:nvSpPr>
          <p:cNvPr id="36" name="Oval 35"/>
          <p:cNvSpPr/>
          <p:nvPr/>
        </p:nvSpPr>
        <p:spPr>
          <a:xfrm>
            <a:off x="7516368" y="5660136"/>
            <a:ext cx="256032" cy="256032"/>
          </a:xfrm>
          <a:prstGeom prst="ellipse">
            <a:avLst/>
          </a:prstGeom>
          <a:solidFill>
            <a:srgbClr val="046A38"/>
          </a:solidFill>
          <a:ln>
            <a:noFill/>
          </a:ln>
        </p:spPr>
        <p:txBody>
          <a:bodyPr wrap="square" lIns="0" tIns="0" rIns="0" bIns="0" rtlCol="0" anchor="ctr">
            <a:noAutofit/>
          </a:bodyPr>
          <a:lstStyle/>
          <a:p>
            <a:pPr algn="ctr">
              <a:buNone/>
            </a:pPr>
            <a:r>
              <a:rPr lang="ja-JP" altLang="en-US" sz="1050" b="1">
                <a:solidFill>
                  <a:srgbClr val="FFFFFF"/>
                </a:solidFill>
                <a:latin typeface="+mj-ea"/>
                <a:ea typeface="+mj-ea"/>
              </a:rPr>
              <a:t>5</a:t>
            </a:r>
          </a:p>
        </p:txBody>
      </p:sp>
      <p:sp>
        <p:nvSpPr>
          <p:cNvPr id="37" name="TextBox 36"/>
          <p:cNvSpPr txBox="1"/>
          <p:nvPr/>
        </p:nvSpPr>
        <p:spPr>
          <a:xfrm>
            <a:off x="7882128" y="5632704"/>
            <a:ext cx="2953511" cy="292608"/>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速さ・使い勝手の底上げ（7件）</a:t>
            </a:r>
          </a:p>
        </p:txBody>
      </p:sp>
      <p:sp>
        <p:nvSpPr>
          <p:cNvPr id="38" name="TextBox 37"/>
          <p:cNvSpPr txBox="1"/>
          <p:nvPr/>
        </p:nvSpPr>
        <p:spPr>
          <a:xfrm>
            <a:off x="10835640" y="5632704"/>
            <a:ext cx="868680" cy="292608"/>
          </a:xfrm>
          <a:prstGeom prst="rect">
            <a:avLst/>
          </a:prstGeom>
          <a:noFill/>
        </p:spPr>
        <p:txBody>
          <a:bodyPr wrap="square" lIns="0" tIns="0" rIns="0" bIns="0" anchor="ctr">
            <a:noAutofit/>
          </a:bodyPr>
          <a:lstStyle/>
          <a:p>
            <a:pPr algn="r">
              <a:buNone/>
            </a:pPr>
            <a:r>
              <a:rPr lang="ja-JP" altLang="en-US" sz="950" b="0">
                <a:solidFill>
                  <a:srgbClr val="8C8C8C"/>
                </a:solidFill>
                <a:latin typeface="+mj-ea"/>
                <a:ea typeface="+mj-ea"/>
              </a:rPr>
              <a:t>No.7・12・17</a:t>
            </a:r>
          </a:p>
        </p:txBody>
      </p:sp>
      <p:sp>
        <p:nvSpPr>
          <p:cNvPr id="39" name="TextBox 38"/>
          <p:cNvSpPr txBox="1"/>
          <p:nvPr/>
        </p:nvSpPr>
        <p:spPr>
          <a:xfrm>
            <a:off x="7882128" y="5916168"/>
            <a:ext cx="3822191" cy="384048"/>
          </a:xfrm>
          <a:prstGeom prst="rect">
            <a:avLst/>
          </a:prstGeom>
          <a:noFill/>
        </p:spPr>
        <p:txBody>
          <a:bodyPr wrap="square" lIns="0" tIns="0" rIns="0" bIns="0" anchor="t">
            <a:noAutofit/>
          </a:bodyPr>
          <a:lstStyle/>
          <a:p>
            <a:pPr algn="l">
              <a:lnSpc>
                <a:spcPct val="100000"/>
              </a:lnSpc>
              <a:buNone/>
            </a:pPr>
            <a:r>
              <a:rPr lang="ja-JP" altLang="en-US" sz="1050" b="0">
                <a:solidFill>
                  <a:srgbClr val="595959"/>
                </a:solidFill>
                <a:latin typeface="+mj-ea"/>
                <a:ea typeface="+mj-ea"/>
              </a:rPr>
              <a:t>ログイン直後の読み込みを高速化、AI回答に完了・評価・コピーを表示。10/6に両アプリを全画面・実データで再点検</a:t>
            </a:r>
          </a:p>
        </p:txBody>
      </p:sp>
      <p:sp>
        <p:nvSpPr>
          <p:cNvPr id="40" name="テキスト ボックス 39">
            <a:extLst>
              <a:ext uri="{FF2B5EF4-FFF2-40B4-BE49-F238E27FC236}">
                <a16:creationId xmlns:a16="http://schemas.microsoft.com/office/drawing/2014/main" id="{175C121A-91DE-CA65-0D5F-E76EFE3315BE}"/>
              </a:ext>
            </a:extLst>
          </p:cNvPr>
          <p:cNvSpPr txBox="1"/>
          <p:nvPr/>
        </p:nvSpPr>
        <p:spPr bwMode="gray">
          <a:xfrm>
            <a:off x="498934" y="6276770"/>
            <a:ext cx="6766560" cy="323165"/>
          </a:xfrm>
          <a:prstGeom prst="rect">
            <a:avLst/>
          </a:prstGeom>
          <a:noFill/>
        </p:spPr>
        <p:txBody>
          <a:bodyPr wrap="square" lIns="0" tIns="0" rIns="0" bIns="0" rtlCol="0">
            <a:spAutoFit/>
          </a:bodyPr>
          <a:lstStyle/>
          <a:p>
            <a:pPr defTabSz="990564" fontAlgn="auto">
              <a:spcBef>
                <a:spcPts val="0"/>
              </a:spcBef>
              <a:spcAft>
                <a:spcPts val="0"/>
              </a:spcAft>
              <a:buSzPct val="100000"/>
            </a:pPr>
            <a:r>
              <a:rPr kumimoji="1" lang="ja-JP" altLang="en-US" sz="1050" b="0" i="0" u="none" strike="noStrike" kern="1200" cap="none" spc="0" normalizeH="0" baseline="0" noProof="0">
                <a:ln>
                  <a:noFill/>
                </a:ln>
                <a:solidFill>
                  <a:prstClr val="black"/>
                </a:solidFill>
                <a:effectLst/>
                <a:uLnTx/>
                <a:uFillTx/>
                <a:latin typeface="+mj-ea"/>
                <a:ea typeface="+mj-ea"/>
                <a:cs typeface="+mn-cs"/>
              </a:rPr>
              <a:t>詳細はバックログご確認ください：</a:t>
            </a:r>
            <a:endParaRPr kumimoji="1" lang="ja-JP" altLang="ja-JP" sz="1050" b="0" i="0" u="none" strike="noStrike" kern="1200" cap="none" spc="0" normalizeH="0" baseline="0" noProof="0">
              <a:ln>
                <a:noFill/>
              </a:ln>
              <a:solidFill>
                <a:prstClr val="black"/>
              </a:solidFill>
              <a:effectLst/>
              <a:uLnTx/>
              <a:uFillTx/>
              <a:latin typeface="+mj-ea"/>
              <a:ea typeface="+mj-ea"/>
              <a:cs typeface="+mn-cs"/>
            </a:endParaRPr>
          </a:p>
          <a:p>
            <a:pPr defTabSz="990564" fontAlgn="auto">
              <a:spcBef>
                <a:spcPts val="0"/>
              </a:spcBef>
              <a:spcAft>
                <a:spcPts val="0"/>
              </a:spcAft>
              <a:buSzPct val="100000"/>
            </a:pPr>
            <a:r>
              <a:rPr lang="ja-JP" altLang="ja-JP" sz="1050">
                <a:latin typeface="+mj-ea"/>
                <a:ea typeface="+mj-ea"/>
                <a:hlinkClick r:id="rId6"/>
              </a:rPr>
              <a:t>HHHD_PoC検証_タスク管理_20261006.xlsx | Powered by Box</a:t>
            </a:r>
            <a:endParaRPr kumimoji="1" lang="ja-JP" altLang="en-US" sz="1050" b="0" i="0" u="none" strike="noStrike" kern="1200" cap="none" spc="0" normalizeH="0" baseline="0" noProof="0">
              <a:ln>
                <a:noFill/>
              </a:ln>
              <a:solidFill>
                <a:prstClr val="black"/>
              </a:solidFill>
              <a:effectLst/>
              <a:uLnTx/>
              <a:uFillTx/>
              <a:latin typeface="+mj-ea"/>
              <a:ea typeface="+mj-ea"/>
              <a:cs typeface="+mn-cs"/>
            </a:endParaRPr>
          </a:p>
        </p:txBody>
      </p:sp>
    </p:spTree>
    <p:extLst>
      <p:ext uri="{BB962C8B-B14F-4D97-AF65-F5344CB8AC3E}">
        <p14:creationId xmlns:p14="http://schemas.microsoft.com/office/powerpoint/2010/main" val="3352350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F9BBC5-36ED-CB56-A022-6E059211EA6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4" name="thinkcell data - do not delete" hidden="1">
                        <a:extLst>
                          <a:ext uri="{FF2B5EF4-FFF2-40B4-BE49-F238E27FC236}">
                            <a16:creationId xmlns:a16="http://schemas.microsoft.com/office/drawing/2014/main" id="{9BF9BBC5-36ED-CB56-A022-6E059211EA6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5"/>
          </p:nvPr>
        </p:nvSpPr>
        <p:spPr/>
        <p:txBody>
          <a:bodyPr/>
          <a:lstStyle/>
          <a:p>
            <a:r>
              <a:rPr lang="ja-JP">
                <a:latin typeface="+mj-ea"/>
                <a:ea typeface="+mj-ea"/>
              </a:rPr>
              <a:t>外部取得データソースの改善結果</a:t>
            </a:r>
          </a:p>
        </p:txBody>
      </p:sp>
      <p:sp>
        <p:nvSpPr>
          <p:cNvPr id="3" name="Title 2"/>
          <p:cNvSpPr>
            <a:spLocks noGrp="1"/>
          </p:cNvSpPr>
          <p:nvPr>
            <p:ph type="title"/>
          </p:nvPr>
        </p:nvSpPr>
        <p:spPr/>
        <p:txBody>
          <a:bodyPr vert="horz" rIns="0"/>
          <a:lstStyle/>
          <a:p>
            <a:r>
              <a:rPr lang="ja-JP">
                <a:latin typeface="+mj-ea"/>
              </a:rPr>
              <a:t>外部データは</a:t>
            </a:r>
            <a:r>
              <a:rPr lang="ja-JP" altLang="en-US">
                <a:latin typeface="+mj-ea"/>
              </a:rPr>
              <a:t>最終報告</a:t>
            </a:r>
            <a:r>
              <a:rPr lang="ja-JP">
                <a:latin typeface="+mj-ea"/>
              </a:rPr>
              <a:t>時点で取れていなかった70ソースのうち57ソース（</a:t>
            </a:r>
            <a:r>
              <a:rPr lang="ja-JP" altLang="ja-JP">
                <a:latin typeface="+mj-ea"/>
              </a:rPr>
              <a:t>8</a:t>
            </a:r>
            <a:r>
              <a:rPr lang="ja-JP" altLang="en-US">
                <a:latin typeface="+mj-ea"/>
              </a:rPr>
              <a:t>割</a:t>
            </a:r>
            <a:r>
              <a:rPr lang="ja-JP">
                <a:latin typeface="+mj-ea"/>
              </a:rPr>
              <a:t>）で</a:t>
            </a:r>
            <a:r>
              <a:rPr lang="ja-JP" altLang="en-US">
                <a:latin typeface="+mj-ea"/>
              </a:rPr>
              <a:t>代替案で取れるようになりました</a:t>
            </a:r>
            <a:endParaRPr>
              <a:latin typeface="+mj-ea"/>
            </a:endParaRP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mj-ea"/>
                <a:ea typeface="+mj-ea"/>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7</a:t>
            </a:fld>
            <a:endParaRPr kumimoji="0" lang="ja-JP" altLang="en-US" sz="900" b="0" i="0" u="none" strike="noStrike" kern="1200" cap="none" spc="0" normalizeH="0" baseline="0" noProof="0">
              <a:ln>
                <a:noFill/>
              </a:ln>
              <a:solidFill>
                <a:prstClr val="black"/>
              </a:solidFill>
              <a:effectLst/>
              <a:uLnTx/>
              <a:uFillTx/>
              <a:latin typeface="+mj-ea"/>
              <a:ea typeface="+mj-ea"/>
              <a:cs typeface="+mn-cs"/>
            </a:endParaRPr>
          </a:p>
        </p:txBody>
      </p:sp>
      <p:sp>
        <p:nvSpPr>
          <p:cNvPr id="7" name="Rectangle 6"/>
          <p:cNvSpPr/>
          <p:nvPr/>
        </p:nvSpPr>
        <p:spPr>
          <a:xfrm>
            <a:off x="475488" y="1627632"/>
            <a:ext cx="5257800" cy="914400"/>
          </a:xfrm>
          <a:prstGeom prst="rect">
            <a:avLst/>
          </a:prstGeom>
          <a:solidFill>
            <a:srgbClr val="F3F3F3"/>
          </a:solidFill>
          <a:ln>
            <a:noFill/>
          </a:ln>
        </p:spPr>
        <p:txBody>
          <a:bodyPr wrap="square" lIns="54864" tIns="27432" rIns="54864" bIns="27432" rtlCol="0" anchor="ctr">
            <a:noAutofit/>
          </a:bodyPr>
          <a:lstStyle/>
          <a:p>
            <a:pPr algn="ctr"/>
            <a:endParaRPr>
              <a:latin typeface="+mj-ea"/>
              <a:ea typeface="+mj-ea"/>
            </a:endParaRPr>
          </a:p>
        </p:txBody>
      </p:sp>
      <p:sp>
        <p:nvSpPr>
          <p:cNvPr id="8" name="TextBox 7"/>
          <p:cNvSpPr txBox="1"/>
          <p:nvPr/>
        </p:nvSpPr>
        <p:spPr>
          <a:xfrm>
            <a:off x="658368" y="1664208"/>
            <a:ext cx="2103120" cy="822960"/>
          </a:xfrm>
          <a:prstGeom prst="rect">
            <a:avLst/>
          </a:prstGeom>
          <a:noFill/>
        </p:spPr>
        <p:txBody>
          <a:bodyPr wrap="square" lIns="0" tIns="0" rIns="0" bIns="0" anchor="ctr">
            <a:noAutofit/>
          </a:bodyPr>
          <a:lstStyle/>
          <a:p>
            <a:pPr algn="l">
              <a:buNone/>
            </a:pPr>
            <a:r>
              <a:rPr lang="ja-JP" altLang="en-US" sz="4000" b="1">
                <a:solidFill>
                  <a:srgbClr val="046A38"/>
                </a:solidFill>
                <a:latin typeface="+mj-ea"/>
                <a:ea typeface="+mj-ea"/>
              </a:rPr>
              <a:t>57</a:t>
            </a:r>
            <a:r>
              <a:rPr lang="ja-JP" altLang="en-US" sz="2000" b="1">
                <a:solidFill>
                  <a:srgbClr val="046A38"/>
                </a:solidFill>
                <a:latin typeface="+mj-ea"/>
                <a:ea typeface="+mj-ea"/>
              </a:rPr>
              <a:t> / 70</a:t>
            </a:r>
          </a:p>
        </p:txBody>
      </p:sp>
      <p:sp>
        <p:nvSpPr>
          <p:cNvPr id="9" name="TextBox 8"/>
          <p:cNvSpPr txBox="1"/>
          <p:nvPr/>
        </p:nvSpPr>
        <p:spPr>
          <a:xfrm>
            <a:off x="2514600" y="1700784"/>
            <a:ext cx="3108960" cy="786384"/>
          </a:xfrm>
          <a:prstGeom prst="rect">
            <a:avLst/>
          </a:prstGeom>
          <a:noFill/>
        </p:spPr>
        <p:txBody>
          <a:bodyPr wrap="square" lIns="0" tIns="0" rIns="0" bIns="0" anchor="ctr">
            <a:noAutofit/>
          </a:bodyPr>
          <a:lstStyle/>
          <a:p>
            <a:pPr algn="l">
              <a:buNone/>
            </a:pPr>
            <a:r>
              <a:rPr lang="ja-JP" altLang="en-US" sz="1300" b="1">
                <a:solidFill>
                  <a:srgbClr val="262626"/>
                </a:solidFill>
                <a:latin typeface="+mj-ea"/>
                <a:ea typeface="+mj-ea"/>
              </a:rPr>
              <a:t>ソースで取得が進んだ（81%）</a:t>
            </a:r>
          </a:p>
          <a:p>
            <a:pPr algn="l">
              <a:spcBef>
                <a:spcPts val="300"/>
              </a:spcBef>
              <a:buNone/>
            </a:pPr>
            <a:r>
              <a:rPr lang="ja-JP" altLang="en-US" sz="1050" b="0">
                <a:solidFill>
                  <a:srgbClr val="595959"/>
                </a:solidFill>
                <a:latin typeface="+mj-ea"/>
                <a:ea typeface="+mj-ea"/>
              </a:rPr>
              <a:t>解消21：主な項目まで取得　改善36：一部・代わりの指標で取得　変化なし13</a:t>
            </a:r>
          </a:p>
        </p:txBody>
      </p:sp>
      <p:sp>
        <p:nvSpPr>
          <p:cNvPr id="10" name="TextBox 9"/>
          <p:cNvSpPr txBox="1"/>
          <p:nvPr/>
        </p:nvSpPr>
        <p:spPr>
          <a:xfrm>
            <a:off x="475488" y="2651760"/>
            <a:ext cx="5257800" cy="274320"/>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最終報告時点の状況別の結果（ソース数）</a:t>
            </a:r>
          </a:p>
        </p:txBody>
      </p:sp>
      <p:graphicFrame>
        <p:nvGraphicFramePr>
          <p:cNvPr id="11" name="Chart 10"/>
          <p:cNvGraphicFramePr>
            <a:graphicFrameLocks noGrp="1"/>
          </p:cNvGraphicFramePr>
          <p:nvPr/>
        </p:nvGraphicFramePr>
        <p:xfrm>
          <a:off x="384048" y="2907792"/>
          <a:ext cx="5349240" cy="1783080"/>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Box 11"/>
          <p:cNvSpPr txBox="1"/>
          <p:nvPr/>
        </p:nvSpPr>
        <p:spPr>
          <a:xfrm>
            <a:off x="475488" y="4754880"/>
            <a:ext cx="5257800" cy="274320"/>
          </a:xfrm>
          <a:prstGeom prst="rect">
            <a:avLst/>
          </a:prstGeom>
          <a:noFill/>
        </p:spPr>
        <p:txBody>
          <a:bodyPr wrap="square" lIns="0" tIns="0" rIns="0" bIns="0" anchor="ctr">
            <a:noAutofit/>
          </a:bodyPr>
          <a:lstStyle/>
          <a:p>
            <a:pPr algn="l">
              <a:buNone/>
            </a:pPr>
            <a:r>
              <a:rPr lang="ja-JP" altLang="en-US" sz="1200" b="1">
                <a:solidFill>
                  <a:srgbClr val="262626"/>
                </a:solidFill>
                <a:latin typeface="+mj-ea"/>
                <a:ea typeface="+mj-ea"/>
              </a:rPr>
              <a:t>アプリ側の変化（10/</a:t>
            </a:r>
            <a:r>
              <a:rPr lang="ja-JP" altLang="ja-JP" sz="1200" b="1">
                <a:solidFill>
                  <a:srgbClr val="262626"/>
                </a:solidFill>
                <a:latin typeface="+mj-ea"/>
                <a:ea typeface="+mj-ea"/>
              </a:rPr>
              <a:t>7</a:t>
            </a:r>
            <a:r>
              <a:rPr lang="ja-JP" altLang="en-US" sz="1200" b="1">
                <a:solidFill>
                  <a:srgbClr val="262626"/>
                </a:solidFill>
                <a:latin typeface="+mj-ea"/>
                <a:ea typeface="+mj-ea"/>
              </a:rPr>
              <a:t>時点）</a:t>
            </a:r>
          </a:p>
        </p:txBody>
      </p:sp>
      <p:cxnSp>
        <p:nvCxnSpPr>
          <p:cNvPr id="13" name="Connector 12"/>
          <p:cNvCxnSpPr/>
          <p:nvPr/>
        </p:nvCxnSpPr>
        <p:spPr>
          <a:xfrm>
            <a:off x="475488" y="5047488"/>
            <a:ext cx="5257800" cy="0"/>
          </a:xfrm>
          <a:prstGeom prst="line">
            <a:avLst/>
          </a:prstGeom>
          <a:ln w="9525">
            <a:solidFill>
              <a:srgbClr val="E3E3E3"/>
            </a:solidFill>
          </a:ln>
        </p:spPr>
      </p:cxnSp>
      <p:sp>
        <p:nvSpPr>
          <p:cNvPr id="14" name="TextBox 13"/>
          <p:cNvSpPr txBox="1"/>
          <p:nvPr/>
        </p:nvSpPr>
        <p:spPr>
          <a:xfrm>
            <a:off x="475488" y="5047488"/>
            <a:ext cx="1143000" cy="411480"/>
          </a:xfrm>
          <a:prstGeom prst="rect">
            <a:avLst/>
          </a:prstGeom>
          <a:noFill/>
        </p:spPr>
        <p:txBody>
          <a:bodyPr wrap="square" lIns="0" tIns="0" rIns="109728" bIns="0" anchor="ctr">
            <a:noAutofit/>
          </a:bodyPr>
          <a:lstStyle/>
          <a:p>
            <a:pPr algn="r">
              <a:buNone/>
            </a:pPr>
            <a:r>
              <a:rPr lang="ja-JP" altLang="en-US" sz="2000" b="1">
                <a:solidFill>
                  <a:srgbClr val="046A38"/>
                </a:solidFill>
                <a:latin typeface="+mj-ea"/>
                <a:ea typeface="+mj-ea"/>
              </a:rPr>
              <a:t>124</a:t>
            </a:r>
            <a:r>
              <a:rPr lang="ja-JP" altLang="en-US" sz="1050" b="1">
                <a:solidFill>
                  <a:srgbClr val="046A38"/>
                </a:solidFill>
                <a:latin typeface="+mj-ea"/>
                <a:ea typeface="+mj-ea"/>
              </a:rPr>
              <a:t> 件</a:t>
            </a:r>
          </a:p>
        </p:txBody>
      </p:sp>
      <p:sp>
        <p:nvSpPr>
          <p:cNvPr id="15" name="TextBox 14"/>
          <p:cNvSpPr txBox="1"/>
          <p:nvPr/>
        </p:nvSpPr>
        <p:spPr>
          <a:xfrm>
            <a:off x="1691640" y="5065775"/>
            <a:ext cx="4041648" cy="201168"/>
          </a:xfrm>
          <a:prstGeom prst="rect">
            <a:avLst/>
          </a:prstGeom>
          <a:noFill/>
        </p:spPr>
        <p:txBody>
          <a:bodyPr wrap="square" lIns="0" tIns="0" rIns="0" bIns="0" anchor="ctr">
            <a:noAutofit/>
          </a:bodyPr>
          <a:lstStyle/>
          <a:p>
            <a:pPr algn="l">
              <a:buNone/>
            </a:pPr>
            <a:r>
              <a:rPr lang="ja-JP" altLang="en-US" sz="1100" b="1">
                <a:solidFill>
                  <a:srgbClr val="262626"/>
                </a:solidFill>
                <a:latin typeface="+mj-ea"/>
                <a:ea typeface="+mj-ea"/>
              </a:rPr>
              <a:t>データの取得元</a:t>
            </a:r>
          </a:p>
        </p:txBody>
      </p:sp>
      <p:sp>
        <p:nvSpPr>
          <p:cNvPr id="16" name="TextBox 15"/>
          <p:cNvSpPr txBox="1"/>
          <p:nvPr/>
        </p:nvSpPr>
        <p:spPr>
          <a:xfrm>
            <a:off x="1691640" y="5248655"/>
            <a:ext cx="4041648" cy="201168"/>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アプリが自動でデータを取りに行く先。今回60件を追加</a:t>
            </a:r>
          </a:p>
        </p:txBody>
      </p:sp>
      <p:cxnSp>
        <p:nvCxnSpPr>
          <p:cNvPr id="17" name="Connector 16"/>
          <p:cNvCxnSpPr/>
          <p:nvPr/>
        </p:nvCxnSpPr>
        <p:spPr>
          <a:xfrm>
            <a:off x="475488" y="5458968"/>
            <a:ext cx="5257800" cy="0"/>
          </a:xfrm>
          <a:prstGeom prst="line">
            <a:avLst/>
          </a:prstGeom>
          <a:ln w="9525">
            <a:solidFill>
              <a:srgbClr val="E3E3E3"/>
            </a:solidFill>
          </a:ln>
        </p:spPr>
      </p:cxnSp>
      <p:sp>
        <p:nvSpPr>
          <p:cNvPr id="18" name="TextBox 17"/>
          <p:cNvSpPr txBox="1"/>
          <p:nvPr/>
        </p:nvSpPr>
        <p:spPr>
          <a:xfrm>
            <a:off x="475488" y="5458968"/>
            <a:ext cx="1143000" cy="411480"/>
          </a:xfrm>
          <a:prstGeom prst="rect">
            <a:avLst/>
          </a:prstGeom>
          <a:noFill/>
        </p:spPr>
        <p:txBody>
          <a:bodyPr wrap="square" lIns="0" tIns="0" rIns="109728" bIns="0" anchor="ctr">
            <a:noAutofit/>
          </a:bodyPr>
          <a:lstStyle/>
          <a:p>
            <a:pPr algn="r">
              <a:buNone/>
            </a:pPr>
            <a:r>
              <a:rPr lang="ja-JP" altLang="en-US" sz="2000" b="1">
                <a:solidFill>
                  <a:srgbClr val="046A38"/>
                </a:solidFill>
                <a:latin typeface="+mj-ea"/>
                <a:ea typeface="+mj-ea"/>
              </a:rPr>
              <a:t>47</a:t>
            </a:r>
            <a:r>
              <a:rPr lang="ja-JP" altLang="en-US" sz="1050" b="1">
                <a:solidFill>
                  <a:srgbClr val="046A38"/>
                </a:solidFill>
                <a:latin typeface="+mj-ea"/>
                <a:ea typeface="+mj-ea"/>
              </a:rPr>
              <a:t> 指標</a:t>
            </a:r>
          </a:p>
        </p:txBody>
      </p:sp>
      <p:sp>
        <p:nvSpPr>
          <p:cNvPr id="19" name="TextBox 18"/>
          <p:cNvSpPr txBox="1"/>
          <p:nvPr/>
        </p:nvSpPr>
        <p:spPr>
          <a:xfrm>
            <a:off x="1691640" y="5477255"/>
            <a:ext cx="4041648" cy="201168"/>
          </a:xfrm>
          <a:prstGeom prst="rect">
            <a:avLst/>
          </a:prstGeom>
          <a:noFill/>
        </p:spPr>
        <p:txBody>
          <a:bodyPr wrap="square" lIns="0" tIns="0" rIns="0" bIns="0" anchor="ctr">
            <a:noAutofit/>
          </a:bodyPr>
          <a:lstStyle/>
          <a:p>
            <a:pPr algn="l">
              <a:buNone/>
            </a:pPr>
            <a:r>
              <a:rPr lang="ja-JP" altLang="en-US" sz="1100" b="1">
                <a:solidFill>
                  <a:srgbClr val="262626"/>
                </a:solidFill>
                <a:latin typeface="+mj-ea"/>
                <a:ea typeface="+mj-ea"/>
              </a:rPr>
              <a:t>センシングボードで選べる外部指標</a:t>
            </a:r>
          </a:p>
        </p:txBody>
      </p:sp>
      <p:sp>
        <p:nvSpPr>
          <p:cNvPr id="20" name="TextBox 19"/>
          <p:cNvSpPr txBox="1"/>
          <p:nvPr/>
        </p:nvSpPr>
        <p:spPr>
          <a:xfrm>
            <a:off x="1691640" y="5660136"/>
            <a:ext cx="4041648" cy="201168"/>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重複を整理して72から統一。うち38は地域・項目なども選べる</a:t>
            </a:r>
          </a:p>
        </p:txBody>
      </p:sp>
      <p:cxnSp>
        <p:nvCxnSpPr>
          <p:cNvPr id="21" name="Connector 20"/>
          <p:cNvCxnSpPr/>
          <p:nvPr/>
        </p:nvCxnSpPr>
        <p:spPr>
          <a:xfrm>
            <a:off x="475488" y="5870448"/>
            <a:ext cx="5257800" cy="0"/>
          </a:xfrm>
          <a:prstGeom prst="line">
            <a:avLst/>
          </a:prstGeom>
          <a:ln w="9525">
            <a:solidFill>
              <a:srgbClr val="E3E3E3"/>
            </a:solidFill>
          </a:ln>
        </p:spPr>
      </p:cxnSp>
      <p:sp>
        <p:nvSpPr>
          <p:cNvPr id="22" name="TextBox 21"/>
          <p:cNvSpPr txBox="1"/>
          <p:nvPr/>
        </p:nvSpPr>
        <p:spPr>
          <a:xfrm>
            <a:off x="475488" y="5870448"/>
            <a:ext cx="1143000" cy="411480"/>
          </a:xfrm>
          <a:prstGeom prst="rect">
            <a:avLst/>
          </a:prstGeom>
          <a:noFill/>
        </p:spPr>
        <p:txBody>
          <a:bodyPr wrap="square" lIns="0" tIns="0" rIns="109728" bIns="0" anchor="ctr">
            <a:noAutofit/>
          </a:bodyPr>
          <a:lstStyle/>
          <a:p>
            <a:pPr algn="r">
              <a:buNone/>
            </a:pPr>
            <a:r>
              <a:rPr lang="ja-JP" altLang="en-US" sz="2000" b="1">
                <a:solidFill>
                  <a:srgbClr val="046A38"/>
                </a:solidFill>
                <a:latin typeface="+mj-ea"/>
                <a:ea typeface="+mj-ea"/>
              </a:rPr>
              <a:t>5</a:t>
            </a:r>
            <a:r>
              <a:rPr lang="ja-JP" altLang="en-US" sz="1050" b="1">
                <a:solidFill>
                  <a:srgbClr val="046A38"/>
                </a:solidFill>
                <a:latin typeface="+mj-ea"/>
                <a:ea typeface="+mj-ea"/>
              </a:rPr>
              <a:t> 区分</a:t>
            </a:r>
          </a:p>
        </p:txBody>
      </p:sp>
      <p:sp>
        <p:nvSpPr>
          <p:cNvPr id="23" name="TextBox 22"/>
          <p:cNvSpPr txBox="1"/>
          <p:nvPr/>
        </p:nvSpPr>
        <p:spPr>
          <a:xfrm>
            <a:off x="1691640" y="5888736"/>
            <a:ext cx="4041648" cy="201168"/>
          </a:xfrm>
          <a:prstGeom prst="rect">
            <a:avLst/>
          </a:prstGeom>
          <a:noFill/>
        </p:spPr>
        <p:txBody>
          <a:bodyPr wrap="square" lIns="0" tIns="0" rIns="0" bIns="0" anchor="ctr">
            <a:noAutofit/>
          </a:bodyPr>
          <a:lstStyle/>
          <a:p>
            <a:pPr algn="l">
              <a:buNone/>
            </a:pPr>
            <a:r>
              <a:rPr lang="ja-JP" altLang="en-US" sz="1100" b="1">
                <a:solidFill>
                  <a:srgbClr val="262626"/>
                </a:solidFill>
                <a:latin typeface="+mj-ea"/>
                <a:ea typeface="+mj-ea"/>
              </a:rPr>
              <a:t>データの取りに行き方</a:t>
            </a:r>
          </a:p>
        </p:txBody>
      </p:sp>
      <p:sp>
        <p:nvSpPr>
          <p:cNvPr id="24" name="TextBox 23"/>
          <p:cNvSpPr txBox="1"/>
          <p:nvPr/>
        </p:nvSpPr>
        <p:spPr>
          <a:xfrm>
            <a:off x="1691640" y="6071616"/>
            <a:ext cx="4041648" cy="201168"/>
          </a:xfrm>
          <a:prstGeom prst="rect">
            <a:avLst/>
          </a:prstGeom>
          <a:noFill/>
        </p:spPr>
        <p:txBody>
          <a:bodyPr wrap="square" lIns="0" tIns="0" rIns="0" bIns="0" anchor="ctr">
            <a:noAutofit/>
          </a:bodyPr>
          <a:lstStyle/>
          <a:p>
            <a:pPr algn="l">
              <a:buNone/>
            </a:pPr>
            <a:r>
              <a:rPr lang="ja-JP" altLang="en-US" sz="1000" b="0">
                <a:solidFill>
                  <a:srgbClr val="595959"/>
                </a:solidFill>
                <a:latin typeface="+mj-ea"/>
                <a:ea typeface="+mj-ea"/>
              </a:rPr>
              <a:t>株価は随時、統計は週次・月次など、更新頻度に合わせて取得</a:t>
            </a:r>
          </a:p>
        </p:txBody>
      </p:sp>
      <p:cxnSp>
        <p:nvCxnSpPr>
          <p:cNvPr id="25" name="Connector 24"/>
          <p:cNvCxnSpPr/>
          <p:nvPr/>
        </p:nvCxnSpPr>
        <p:spPr>
          <a:xfrm>
            <a:off x="475488" y="6281928"/>
            <a:ext cx="5257800" cy="0"/>
          </a:xfrm>
          <a:prstGeom prst="line">
            <a:avLst/>
          </a:prstGeom>
          <a:ln w="9525">
            <a:solidFill>
              <a:srgbClr val="E3E3E3"/>
            </a:solidFill>
          </a:ln>
        </p:spPr>
      </p:cxnSp>
      <p:sp>
        <p:nvSpPr>
          <p:cNvPr id="26" name="Rectangle 25"/>
          <p:cNvSpPr/>
          <p:nvPr/>
        </p:nvSpPr>
        <p:spPr>
          <a:xfrm>
            <a:off x="6035040" y="1627632"/>
            <a:ext cx="5669280" cy="329184"/>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250" b="1">
                <a:solidFill>
                  <a:srgbClr val="FFFFFF"/>
                </a:solidFill>
                <a:latin typeface="+mj-ea"/>
                <a:ea typeface="+mj-ea"/>
              </a:rPr>
              <a:t>残りの課題（49ソース）と対応</a:t>
            </a:r>
          </a:p>
        </p:txBody>
      </p:sp>
      <p:graphicFrame>
        <p:nvGraphicFramePr>
          <p:cNvPr id="27" name="Table 26"/>
          <p:cNvGraphicFramePr>
            <a:graphicFrameLocks noGrp="1"/>
          </p:cNvGraphicFramePr>
          <p:nvPr/>
        </p:nvGraphicFramePr>
        <p:xfrm>
          <a:off x="6035040" y="1956816"/>
          <a:ext cx="5669280" cy="3675888"/>
        </p:xfrm>
        <a:graphic>
          <a:graphicData uri="http://schemas.openxmlformats.org/drawingml/2006/table">
            <a:tbl>
              <a:tblPr>
                <a:tableStyleId>{2D5ABB26-0587-4C30-8999-92F81FD0307C}</a:tableStyleId>
              </a:tblPr>
              <a:tblGrid>
                <a:gridCol w="1572768">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2157984">
                  <a:extLst>
                    <a:ext uri="{9D8B030D-6E8A-4147-A177-3AD203B41FA5}">
                      <a16:colId xmlns:a16="http://schemas.microsoft.com/office/drawing/2014/main" val="20002"/>
                    </a:ext>
                  </a:extLst>
                </a:gridCol>
                <a:gridCol w="1481328">
                  <a:extLst>
                    <a:ext uri="{9D8B030D-6E8A-4147-A177-3AD203B41FA5}">
                      <a16:colId xmlns:a16="http://schemas.microsoft.com/office/drawing/2014/main" val="20003"/>
                    </a:ext>
                  </a:extLst>
                </a:gridCol>
              </a:tblGrid>
              <a:tr h="274320">
                <a:tc>
                  <a:txBody>
                    <a:bodyPr/>
                    <a:lstStyle/>
                    <a:p>
                      <a:pPr algn="l">
                        <a:lnSpc>
                          <a:spcPts val="1350"/>
                        </a:lnSpc>
                        <a:buNone/>
                      </a:pPr>
                      <a:r>
                        <a:rPr lang="ja-JP" altLang="en-US" sz="1100" b="1">
                          <a:solidFill>
                            <a:srgbClr val="595959"/>
                          </a:solidFill>
                        </a:rPr>
                        <a:t>状況</a:t>
                      </a:r>
                    </a:p>
                  </a:txBody>
                  <a:tcPr marL="73152" marR="73152" marT="27432" marB="27432" anchor="ctr">
                    <a:lnL w="0">
                      <a:noFill/>
                    </a:lnL>
                    <a:lnR w="0">
                      <a:noFill/>
                    </a:lnR>
                    <a:lnT w="0">
                      <a:noFill/>
                    </a:lnT>
                    <a:lnB w="9525">
                      <a:solidFill>
                        <a:srgbClr val="E3E3E3"/>
                      </a:solidFill>
                    </a:lnB>
                    <a:solidFill>
                      <a:srgbClr val="F3F3F3"/>
                    </a:solidFill>
                  </a:tcPr>
                </a:tc>
                <a:tc>
                  <a:txBody>
                    <a:bodyPr/>
                    <a:lstStyle/>
                    <a:p>
                      <a:pPr algn="ctr">
                        <a:lnSpc>
                          <a:spcPts val="1350"/>
                        </a:lnSpc>
                        <a:buNone/>
                      </a:pPr>
                      <a:r>
                        <a:rPr lang="ja-JP" altLang="en-US" sz="1100" b="1">
                          <a:solidFill>
                            <a:srgbClr val="595959"/>
                          </a:solidFill>
                        </a:rPr>
                        <a:t>数</a:t>
                      </a:r>
                    </a:p>
                  </a:txBody>
                  <a:tcPr marL="73152" marR="73152" marT="27432" marB="27432" anchor="ctr">
                    <a:lnL w="0">
                      <a:noFill/>
                    </a:lnL>
                    <a:lnR w="0">
                      <a:noFill/>
                    </a:lnR>
                    <a:lnT w="0">
                      <a:noFill/>
                    </a:lnT>
                    <a:lnB w="9525">
                      <a:solidFill>
                        <a:srgbClr val="E3E3E3"/>
                      </a:solidFill>
                    </a:lnB>
                    <a:solidFill>
                      <a:srgbClr val="F3F3F3"/>
                    </a:solidFill>
                  </a:tcPr>
                </a:tc>
                <a:tc>
                  <a:txBody>
                    <a:bodyPr/>
                    <a:lstStyle/>
                    <a:p>
                      <a:pPr algn="l">
                        <a:lnSpc>
                          <a:spcPts val="1350"/>
                        </a:lnSpc>
                        <a:buNone/>
                      </a:pPr>
                      <a:r>
                        <a:rPr lang="ja-JP" altLang="en-US" sz="1100" b="1">
                          <a:solidFill>
                            <a:srgbClr val="595959"/>
                          </a:solidFill>
                        </a:rPr>
                        <a:t>対応の方針</a:t>
                      </a:r>
                    </a:p>
                  </a:txBody>
                  <a:tcPr marL="73152" marR="73152" marT="27432" marB="27432" anchor="ctr">
                    <a:lnL w="0">
                      <a:noFill/>
                    </a:lnL>
                    <a:lnR w="0">
                      <a:noFill/>
                    </a:lnR>
                    <a:lnT w="0">
                      <a:noFill/>
                    </a:lnT>
                    <a:lnB w="9525">
                      <a:solidFill>
                        <a:srgbClr val="E3E3E3"/>
                      </a:solidFill>
                    </a:lnB>
                    <a:solidFill>
                      <a:srgbClr val="F3F3F3"/>
                    </a:solidFill>
                  </a:tcPr>
                </a:tc>
                <a:tc>
                  <a:txBody>
                    <a:bodyPr/>
                    <a:lstStyle/>
                    <a:p>
                      <a:pPr algn="l">
                        <a:lnSpc>
                          <a:spcPts val="1350"/>
                        </a:lnSpc>
                        <a:buNone/>
                      </a:pPr>
                      <a:r>
                        <a:rPr lang="ja-JP" altLang="en-US" sz="1100" b="1">
                          <a:solidFill>
                            <a:srgbClr val="595959"/>
                          </a:solidFill>
                        </a:rPr>
                        <a:t>担当・時期</a:t>
                      </a:r>
                    </a:p>
                  </a:txBody>
                  <a:tcPr marL="73152" marR="73152" marT="27432" marB="27432" anchor="ctr">
                    <a:lnL w="0">
                      <a:noFill/>
                    </a:lnL>
                    <a:lnR w="0">
                      <a:noFill/>
                    </a:lnR>
                    <a:lnT w="0">
                      <a:noFill/>
                    </a:lnT>
                    <a:lnB w="9525">
                      <a:solidFill>
                        <a:srgbClr val="E3E3E3"/>
                      </a:solidFill>
                    </a:lnB>
                    <a:solidFill>
                      <a:srgbClr val="F3F3F3"/>
                    </a:solidFill>
                  </a:tcPr>
                </a:tc>
                <a:extLst>
                  <a:ext uri="{0D108BD9-81ED-4DB2-BD59-A6C34878D82A}">
                    <a16:rowId xmlns:a16="http://schemas.microsoft.com/office/drawing/2014/main" val="10000"/>
                  </a:ext>
                </a:extLst>
              </a:tr>
              <a:tr h="566928">
                <a:tc>
                  <a:txBody>
                    <a:bodyPr/>
                    <a:lstStyle/>
                    <a:p>
                      <a:pPr algn="l">
                        <a:lnSpc>
                          <a:spcPts val="1350"/>
                        </a:lnSpc>
                        <a:buNone/>
                      </a:pPr>
                      <a:r>
                        <a:rPr lang="ja-JP" altLang="en-US" sz="1100" b="1">
                          <a:solidFill>
                            <a:srgbClr val="8C8C8C"/>
                          </a:solidFill>
                        </a:rPr>
                        <a:t>① </a:t>
                      </a:r>
                      <a:r>
                        <a:rPr lang="ja-JP" altLang="en-US" sz="1100" b="1">
                          <a:solidFill>
                            <a:srgbClr val="1A1A1A"/>
                          </a:solidFill>
                        </a:rPr>
                        <a:t>取り方を足せば取れる</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600"/>
                        </a:lnSpc>
                        <a:buNone/>
                      </a:pPr>
                      <a:r>
                        <a:rPr lang="ja-JP" altLang="en-US" sz="1300" b="1">
                          <a:solidFill>
                            <a:srgbClr val="046A38"/>
                          </a:solidFill>
                        </a:rPr>
                        <a:t>6</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既存の取得の仕組みに表・列・地点を足す（新規求人倍率・将来の総人口・基準地価 ほか）</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ITEC様（実装）</a:t>
                      </a:r>
                    </a:p>
                    <a:p>
                      <a:pPr algn="l">
                        <a:lnSpc>
                          <a:spcPts val="1300"/>
                        </a:lnSpc>
                        <a:buNone/>
                      </a:pPr>
                      <a:r>
                        <a:rPr lang="ja-JP" altLang="en-US" sz="1000" b="0">
                          <a:solidFill>
                            <a:srgbClr val="8C8C8C"/>
                          </a:solidFill>
                        </a:rPr>
                        <a:t>短期・次の改修</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1"/>
                  </a:ext>
                </a:extLst>
              </a:tr>
              <a:tr h="566928">
                <a:tc>
                  <a:txBody>
                    <a:bodyPr/>
                    <a:lstStyle/>
                    <a:p>
                      <a:pPr algn="l">
                        <a:lnSpc>
                          <a:spcPts val="1350"/>
                        </a:lnSpc>
                        <a:buNone/>
                      </a:pPr>
                      <a:r>
                        <a:rPr lang="ja-JP" altLang="en-US" sz="1100" b="1">
                          <a:solidFill>
                            <a:srgbClr val="8C8C8C"/>
                          </a:solidFill>
                        </a:rPr>
                        <a:t>② </a:t>
                      </a:r>
                      <a:r>
                        <a:rPr lang="ja-JP" altLang="en-US" sz="1100" b="1">
                          <a:solidFill>
                            <a:srgbClr val="1A1A1A"/>
                          </a:solidFill>
                        </a:rPr>
                        <a:t>複雑な仕組みの実装が必要</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600"/>
                        </a:lnSpc>
                        <a:buNone/>
                      </a:pPr>
                      <a:r>
                        <a:rPr lang="ja-JP" altLang="en-US" sz="1300" b="1">
                          <a:solidFill>
                            <a:srgbClr val="046A38"/>
                          </a:solidFill>
                        </a:rPr>
                        <a:t>12</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PDF・本文からの数値の読み取り、XBRL・GIS・REIT開示の解析。小さく検証してから実装</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BX推進部（優先度）・ITEC様</a:t>
                      </a:r>
                    </a:p>
                    <a:p>
                      <a:pPr algn="l">
                        <a:lnSpc>
                          <a:spcPts val="1300"/>
                        </a:lnSpc>
                        <a:buNone/>
                      </a:pPr>
                      <a:r>
                        <a:rPr lang="ja-JP" altLang="en-US" sz="1000" b="0">
                          <a:solidFill>
                            <a:srgbClr val="8C8C8C"/>
                          </a:solidFill>
                        </a:rPr>
                        <a:t>中期</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2"/>
                  </a:ext>
                </a:extLst>
              </a:tr>
              <a:tr h="566928">
                <a:tc>
                  <a:txBody>
                    <a:bodyPr/>
                    <a:lstStyle/>
                    <a:p>
                      <a:pPr algn="l">
                        <a:lnSpc>
                          <a:spcPts val="1350"/>
                        </a:lnSpc>
                        <a:buNone/>
                      </a:pPr>
                      <a:r>
                        <a:rPr lang="ja-JP" altLang="en-US" sz="1100" b="1">
                          <a:solidFill>
                            <a:srgbClr val="8C8C8C"/>
                          </a:solidFill>
                        </a:rPr>
                        <a:t>③ </a:t>
                      </a:r>
                      <a:r>
                        <a:rPr lang="ja-JP" altLang="en-US" sz="1100" b="1">
                          <a:solidFill>
                            <a:srgbClr val="1A1A1A"/>
                          </a:solidFill>
                        </a:rPr>
                        <a:t>有償データ</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600"/>
                        </a:lnSpc>
                        <a:buNone/>
                      </a:pPr>
                      <a:r>
                        <a:rPr lang="ja-JP" altLang="en-US" sz="1300" b="1">
                          <a:solidFill>
                            <a:srgbClr val="046A38"/>
                          </a:solidFill>
                        </a:rPr>
                        <a:t>9</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人流・航空の座席・運賃指数・日経など。BUごとに費用対効果を確かめ、契約を判断</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BX推進部（判断・契約）</a:t>
                      </a:r>
                    </a:p>
                    <a:p>
                      <a:pPr algn="l">
                        <a:lnSpc>
                          <a:spcPts val="1300"/>
                        </a:lnSpc>
                        <a:buNone/>
                      </a:pPr>
                      <a:r>
                        <a:rPr lang="ja-JP" altLang="en-US" sz="1000" b="0">
                          <a:solidFill>
                            <a:srgbClr val="8C8C8C"/>
                          </a:solidFill>
                        </a:rPr>
                        <a:t>判断は短期</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3"/>
                  </a:ext>
                </a:extLst>
              </a:tr>
              <a:tr h="566928">
                <a:tc>
                  <a:txBody>
                    <a:bodyPr/>
                    <a:lstStyle/>
                    <a:p>
                      <a:pPr algn="l">
                        <a:lnSpc>
                          <a:spcPts val="1350"/>
                        </a:lnSpc>
                        <a:buNone/>
                      </a:pPr>
                      <a:r>
                        <a:rPr lang="ja-JP" altLang="en-US" sz="1100" b="1">
                          <a:solidFill>
                            <a:srgbClr val="8C8C8C"/>
                          </a:solidFill>
                        </a:rPr>
                        <a:t>④ </a:t>
                      </a:r>
                      <a:r>
                        <a:rPr lang="ja-JP" altLang="en-US" sz="1100" b="1">
                          <a:solidFill>
                            <a:srgbClr val="1A1A1A"/>
                          </a:solidFill>
                        </a:rPr>
                        <a:t>商用利用・自動取得の許可が要る</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600"/>
                        </a:lnSpc>
                        <a:buNone/>
                      </a:pPr>
                      <a:r>
                        <a:rPr lang="ja-JP" altLang="en-US" sz="1300" b="1">
                          <a:solidFill>
                            <a:srgbClr val="046A38"/>
                          </a:solidFill>
                        </a:rPr>
                        <a:t>5</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提供元に利用許諾・機械での取得の可否を相談（迂回はしない）</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BX推進部（相談）</a:t>
                      </a:r>
                    </a:p>
                    <a:p>
                      <a:pPr algn="l">
                        <a:lnSpc>
                          <a:spcPts val="1300"/>
                        </a:lnSpc>
                        <a:buNone/>
                      </a:pPr>
                      <a:r>
                        <a:rPr lang="ja-JP" altLang="en-US" sz="1000" b="0">
                          <a:solidFill>
                            <a:srgbClr val="8C8C8C"/>
                          </a:solidFill>
                        </a:rPr>
                        <a:t>相談は短期</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4"/>
                  </a:ext>
                </a:extLst>
              </a:tr>
              <a:tr h="566928">
                <a:tc>
                  <a:txBody>
                    <a:bodyPr/>
                    <a:lstStyle/>
                    <a:p>
                      <a:pPr algn="l">
                        <a:lnSpc>
                          <a:spcPts val="1350"/>
                        </a:lnSpc>
                        <a:buNone/>
                      </a:pPr>
                      <a:r>
                        <a:rPr lang="ja-JP" altLang="en-US" sz="1100" b="1">
                          <a:solidFill>
                            <a:srgbClr val="8C8C8C"/>
                          </a:solidFill>
                        </a:rPr>
                        <a:t>⑤ </a:t>
                      </a:r>
                      <a:r>
                        <a:rPr lang="ja-JP" altLang="en-US" sz="1100" b="1">
                          <a:solidFill>
                            <a:srgbClr val="1A1A1A"/>
                          </a:solidFill>
                        </a:rPr>
                        <a:t>無償の公開データが無い</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600"/>
                        </a:lnSpc>
                        <a:buNone/>
                      </a:pPr>
                      <a:r>
                        <a:rPr lang="ja-JP" altLang="en-US" sz="1300" b="1">
                          <a:solidFill>
                            <a:srgbClr val="046A38"/>
                          </a:solidFill>
                        </a:rPr>
                        <a:t>11</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代わりの指標で運用し、半年〜1年ごとに新しい公開・提供の再開を確認</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ITEC様（定期の見直し）</a:t>
                      </a:r>
                    </a:p>
                    <a:p>
                      <a:pPr algn="l">
                        <a:lnSpc>
                          <a:spcPts val="1300"/>
                        </a:lnSpc>
                        <a:buNone/>
                      </a:pPr>
                      <a:r>
                        <a:rPr lang="ja-JP" altLang="en-US" sz="1000" b="0">
                          <a:solidFill>
                            <a:srgbClr val="8C8C8C"/>
                          </a:solidFill>
                        </a:rPr>
                        <a:t>継続</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5"/>
                  </a:ext>
                </a:extLst>
              </a:tr>
              <a:tr h="566928">
                <a:tc>
                  <a:txBody>
                    <a:bodyPr/>
                    <a:lstStyle/>
                    <a:p>
                      <a:pPr algn="l">
                        <a:lnSpc>
                          <a:spcPts val="1350"/>
                        </a:lnSpc>
                        <a:buNone/>
                      </a:pPr>
                      <a:r>
                        <a:rPr lang="ja-JP" altLang="en-US" sz="1100" b="1">
                          <a:solidFill>
                            <a:srgbClr val="8C8C8C"/>
                          </a:solidFill>
                        </a:rPr>
                        <a:t>⑥ </a:t>
                      </a:r>
                      <a:r>
                        <a:rPr lang="ja-JP" altLang="en-US" sz="1100" b="1">
                          <a:solidFill>
                            <a:srgbClr val="1A1A1A"/>
                          </a:solidFill>
                        </a:rPr>
                        <a:t>現状の指標で足りている</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ctr">
                        <a:lnSpc>
                          <a:spcPts val="1600"/>
                        </a:lnSpc>
                        <a:buNone/>
                      </a:pPr>
                      <a:r>
                        <a:rPr lang="ja-JP" altLang="en-US" sz="1300" b="1">
                          <a:solidFill>
                            <a:srgbClr val="046A38"/>
                          </a:solidFill>
                        </a:rPr>
                        <a:t>6</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回答・設計どおり。BUから要望が出たときに追加を検討</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00"/>
                        </a:lnSpc>
                        <a:buNone/>
                      </a:pPr>
                      <a:r>
                        <a:rPr lang="ja-JP" altLang="en-US" sz="1050" b="0">
                          <a:solidFill>
                            <a:srgbClr val="1A1A1A"/>
                          </a:solidFill>
                        </a:rPr>
                        <a:t>BX推進部（要望の受付）</a:t>
                      </a:r>
                    </a:p>
                    <a:p>
                      <a:pPr algn="l">
                        <a:lnSpc>
                          <a:spcPts val="1300"/>
                        </a:lnSpc>
                        <a:buNone/>
                      </a:pPr>
                      <a:r>
                        <a:rPr lang="ja-JP" altLang="en-US" sz="1000" b="0">
                          <a:solidFill>
                            <a:srgbClr val="8C8C8C"/>
                          </a:solidFill>
                        </a:rPr>
                        <a:t>必要時</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6"/>
                  </a:ext>
                </a:extLst>
              </a:tr>
            </a:tbl>
          </a:graphicData>
        </a:graphic>
      </p:graphicFrame>
      <p:sp>
        <p:nvSpPr>
          <p:cNvPr id="28" name="TextBox 27"/>
          <p:cNvSpPr txBox="1"/>
          <p:nvPr/>
        </p:nvSpPr>
        <p:spPr>
          <a:xfrm>
            <a:off x="6035040" y="5724144"/>
            <a:ext cx="5669280" cy="566928"/>
          </a:xfrm>
          <a:prstGeom prst="rect">
            <a:avLst/>
          </a:prstGeom>
          <a:noFill/>
        </p:spPr>
        <p:txBody>
          <a:bodyPr wrap="square" lIns="0" tIns="0" rIns="0" bIns="0" anchor="t">
            <a:noAutofit/>
          </a:bodyPr>
          <a:lstStyle/>
          <a:p>
            <a:pPr algn="l">
              <a:buNone/>
            </a:pPr>
            <a:r>
              <a:rPr lang="ja-JP" altLang="en-US" sz="1000" b="0">
                <a:solidFill>
                  <a:srgbClr val="595959"/>
                </a:solidFill>
                <a:latin typeface="+mj-ea"/>
                <a:ea typeface="+mj-ea"/>
              </a:rPr>
              <a:t>※ 有償データは使っていない（J-Quants・EDINET・e-Stat などは無償の登録で利用）</a:t>
            </a:r>
          </a:p>
          <a:p>
            <a:pPr algn="l">
              <a:buNone/>
            </a:pPr>
            <a:r>
              <a:rPr lang="ja-JP" altLang="en-US" sz="1000" b="0">
                <a:solidFill>
                  <a:srgbClr val="595959"/>
                </a:solidFill>
                <a:latin typeface="+mj-ea"/>
                <a:ea typeface="+mj-ea"/>
              </a:rPr>
              <a:t>※ ソースごとの明細：【取得状況（改善結果）】AI経営ナビ 外部データ_20261005.xlsx</a:t>
            </a:r>
          </a:p>
          <a:p>
            <a:pPr algn="l">
              <a:buNone/>
            </a:pPr>
            <a:r>
              <a:rPr lang="ja-JP" altLang="en-US" sz="1000" b="0">
                <a:solidFill>
                  <a:srgbClr val="595959"/>
                </a:solidFill>
                <a:latin typeface="+mj-ea"/>
                <a:ea typeface="+mj-ea"/>
              </a:rPr>
              <a:t>※ 10/6：取得した値を公式値と照合し、取り方を19件修正（鉱工業生産指数・人口など）</a:t>
            </a:r>
          </a:p>
        </p:txBody>
      </p:sp>
      <p:sp>
        <p:nvSpPr>
          <p:cNvPr id="5" name="テキスト ボックス 4">
            <a:extLst>
              <a:ext uri="{FF2B5EF4-FFF2-40B4-BE49-F238E27FC236}">
                <a16:creationId xmlns:a16="http://schemas.microsoft.com/office/drawing/2014/main" id="{0F62602C-FBC7-57A2-DB0F-3828C53A2F2F}"/>
              </a:ext>
            </a:extLst>
          </p:cNvPr>
          <p:cNvSpPr txBox="1"/>
          <p:nvPr/>
        </p:nvSpPr>
        <p:spPr bwMode="gray">
          <a:xfrm>
            <a:off x="475488" y="6400429"/>
            <a:ext cx="6176186" cy="153888"/>
          </a:xfrm>
          <a:prstGeom prst="rect">
            <a:avLst/>
          </a:prstGeom>
          <a:noFill/>
        </p:spPr>
        <p:txBody>
          <a:bodyPr wrap="square" lIns="0" tIns="0" rIns="0" bIns="0" rtlCol="0">
            <a:spAutoFit/>
          </a:bodyPr>
          <a:lstStyle/>
          <a:p>
            <a:pPr defTabSz="990564" fontAlgn="auto">
              <a:spcBef>
                <a:spcPts val="0"/>
              </a:spcBef>
              <a:spcAft>
                <a:spcPts val="0"/>
              </a:spcAft>
              <a:buSzPct val="100000"/>
            </a:pPr>
            <a:r>
              <a:rPr lang="ja-JP" altLang="ja-JP" sz="1000">
                <a:hlinkClick r:id="rId7"/>
              </a:rPr>
              <a:t>【反映状況】AI経営ナビ　外部データ_20261005.xlsx | Powered by Box</a:t>
            </a:r>
            <a:endParaRPr kumimoji="1" lang="ja-JP" altLang="en-US" sz="10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1938414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10B0C8C-424F-0142-90C4-A6EB9A158685}"/>
              </a:ext>
            </a:extLst>
          </p:cNvPr>
          <p:cNvGraphicFramePr>
            <a:graphicFrameLocks/>
          </p:cNvGraphicFramePr>
          <p:nvPr>
            <p:custDataLst>
              <p:tags r:id="rId1"/>
            </p:custDataLst>
            <p:extLst>
              <p:ext uri="{D42A27DB-BD31-4B8C-83A1-F6EECF244321}">
                <p14:modId xmlns:p14="http://schemas.microsoft.com/office/powerpoint/2010/main" val="26904356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2" name="thinkcell data - do not delete" hidden="1">
                        <a:extLst>
                          <a:ext uri="{FF2B5EF4-FFF2-40B4-BE49-F238E27FC236}">
                            <a16:creationId xmlns:a16="http://schemas.microsoft.com/office/drawing/2014/main" id="{910B0C8C-424F-0142-90C4-A6EB9A15868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latin typeface="+mj-ea"/>
                <a:ea typeface="+mj-ea"/>
              </a:rPr>
              <a:pPr/>
              <a:t>8</a:t>
            </a:fld>
            <a:endParaRPr lang="ja-JP" altLang="en-US">
              <a:latin typeface="+mj-ea"/>
              <a:ea typeface="+mj-ea"/>
            </a:endParaRPr>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latin typeface="+mj-ea"/>
              </a:rPr>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0" name="TextBox 9"/>
          <p:cNvSpPr txBox="1"/>
          <p:nvPr/>
        </p:nvSpPr>
        <p:spPr>
          <a:xfrm>
            <a:off x="566928" y="227685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2．改修内容と最新アプリの状態</a:t>
            </a:r>
          </a:p>
        </p:txBody>
      </p:sp>
      <p:sp>
        <p:nvSpPr>
          <p:cNvPr id="11" name="TextBox 10"/>
          <p:cNvSpPr txBox="1"/>
          <p:nvPr/>
        </p:nvSpPr>
        <p:spPr>
          <a:xfrm>
            <a:off x="6400800" y="227685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10分</a:t>
            </a:r>
          </a:p>
        </p:txBody>
      </p:sp>
      <p:sp>
        <p:nvSpPr>
          <p:cNvPr id="12" name="TextBox 11"/>
          <p:cNvSpPr txBox="1"/>
          <p:nvPr/>
        </p:nvSpPr>
        <p:spPr>
          <a:xfrm>
            <a:off x="896112" y="266090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改修台帳（15項目＋Phase2の追加）と今週の改修</a:t>
            </a:r>
          </a:p>
        </p:txBody>
      </p:sp>
      <p:sp>
        <p:nvSpPr>
          <p:cNvPr id="13" name="TextBox 12"/>
          <p:cNvSpPr txBox="1"/>
          <p:nvPr/>
        </p:nvSpPr>
        <p:spPr>
          <a:xfrm>
            <a:off x="896112" y="2990088"/>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外部取得データソースの改善</a:t>
            </a:r>
          </a:p>
        </p:txBody>
      </p:sp>
      <p:sp>
        <p:nvSpPr>
          <p:cNvPr id="14" name="ハイライト"/>
          <p:cNvSpPr/>
          <p:nvPr/>
        </p:nvSpPr>
        <p:spPr>
          <a:xfrm>
            <a:off x="402336" y="3566160"/>
            <a:ext cx="7269480" cy="457200"/>
          </a:xfrm>
          <a:prstGeom prst="rect">
            <a:avLst/>
          </a:prstGeom>
          <a:solidFill>
            <a:srgbClr val="63666A"/>
          </a:solidFill>
          <a:ln>
            <a:noFill/>
          </a:ln>
        </p:spPr>
        <p:txBody>
          <a:bodyPr wrap="square" lIns="54864" tIns="27432" rIns="54864" bIns="27432" rtlCol="0" anchor="ctr">
            <a:noAutofit/>
          </a:bodyPr>
          <a:lstStyle/>
          <a:p>
            <a:pPr algn="ctr"/>
            <a:endParaRPr>
              <a:latin typeface="+mj-ea"/>
              <a:ea typeface="+mj-ea"/>
            </a:endParaRPr>
          </a:p>
        </p:txBody>
      </p:sp>
      <p:sp>
        <p:nvSpPr>
          <p:cNvPr id="15" name="TextBox 14"/>
          <p:cNvSpPr txBox="1"/>
          <p:nvPr/>
        </p:nvSpPr>
        <p:spPr>
          <a:xfrm>
            <a:off x="566928" y="3611880"/>
            <a:ext cx="5852160" cy="402336"/>
          </a:xfrm>
          <a:prstGeom prst="rect">
            <a:avLst/>
          </a:prstGeom>
          <a:noFill/>
        </p:spPr>
        <p:txBody>
          <a:bodyPr wrap="square" lIns="0" tIns="0" rIns="0" bIns="0" anchor="ctr">
            <a:noAutofit/>
          </a:bodyPr>
          <a:lstStyle/>
          <a:p>
            <a:pPr algn="l">
              <a:buNone/>
            </a:pPr>
            <a:r>
              <a:rPr lang="ja-JP" altLang="en-US" sz="1700" b="1">
                <a:solidFill>
                  <a:srgbClr val="FFFFFF"/>
                </a:solidFill>
                <a:latin typeface="+mj-ea"/>
                <a:ea typeface="+mj-ea"/>
              </a:rPr>
              <a:t>3．当面のタイムラインとITEC様への引継ぎ</a:t>
            </a:r>
          </a:p>
        </p:txBody>
      </p:sp>
      <p:sp>
        <p:nvSpPr>
          <p:cNvPr id="16" name="TextBox 15"/>
          <p:cNvSpPr txBox="1"/>
          <p:nvPr/>
        </p:nvSpPr>
        <p:spPr>
          <a:xfrm>
            <a:off x="6400800" y="3611880"/>
            <a:ext cx="1143000" cy="402336"/>
          </a:xfrm>
          <a:prstGeom prst="rect">
            <a:avLst/>
          </a:prstGeom>
          <a:noFill/>
        </p:spPr>
        <p:txBody>
          <a:bodyPr wrap="square" lIns="0" tIns="0" rIns="0" bIns="0" anchor="ctr">
            <a:noAutofit/>
          </a:bodyPr>
          <a:lstStyle/>
          <a:p>
            <a:pPr algn="r">
              <a:buNone/>
            </a:pPr>
            <a:r>
              <a:rPr lang="ja-JP" altLang="en-US" sz="1600" b="1">
                <a:solidFill>
                  <a:srgbClr val="FFFFFF"/>
                </a:solidFill>
                <a:latin typeface="+mj-ea"/>
                <a:ea typeface="+mj-ea"/>
              </a:rPr>
              <a:t>5分</a:t>
            </a:r>
          </a:p>
        </p:txBody>
      </p:sp>
      <p:sp>
        <p:nvSpPr>
          <p:cNvPr id="17" name="TextBox 16"/>
          <p:cNvSpPr txBox="1"/>
          <p:nvPr/>
        </p:nvSpPr>
        <p:spPr>
          <a:xfrm>
            <a:off x="566928" y="428853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4．ITEC様からのご報告</a:t>
            </a:r>
          </a:p>
        </p:txBody>
      </p:sp>
      <p:sp>
        <p:nvSpPr>
          <p:cNvPr id="18" name="TextBox 17"/>
          <p:cNvSpPr txBox="1"/>
          <p:nvPr/>
        </p:nvSpPr>
        <p:spPr>
          <a:xfrm>
            <a:off x="6400800" y="428853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20分</a:t>
            </a:r>
          </a:p>
        </p:txBody>
      </p:sp>
      <p:sp>
        <p:nvSpPr>
          <p:cNvPr id="19" name="TextBox 18"/>
          <p:cNvSpPr txBox="1"/>
          <p:nvPr/>
        </p:nvSpPr>
        <p:spPr>
          <a:xfrm>
            <a:off x="896112" y="467258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セキュア公開版の状況、10/7版の反映・データ投入の計画</a:t>
            </a: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ラップアップ</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ED8AC64-CA74-EF8B-596B-7CBBD1721112}"/>
              </a:ext>
            </a:extLst>
          </p:cNvPr>
          <p:cNvGraphicFramePr>
            <a:graphicFrameLocks/>
          </p:cNvGraphicFramePr>
          <p:nvPr>
            <p:custDataLst>
              <p:tags r:id="rId1"/>
            </p:custDataLst>
            <p:extLst>
              <p:ext uri="{D42A27DB-BD31-4B8C-83A1-F6EECF244321}">
                <p14:modId xmlns:p14="http://schemas.microsoft.com/office/powerpoint/2010/main" val="57773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4" name="thinkcell data - do not delete" hidden="1">
                        <a:extLst>
                          <a:ext uri="{FF2B5EF4-FFF2-40B4-BE49-F238E27FC236}">
                            <a16:creationId xmlns:a16="http://schemas.microsoft.com/office/drawing/2014/main" id="{0ED8AC64-CA74-EF8B-596B-7CBBD17211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5"/>
          </p:nvPr>
        </p:nvSpPr>
        <p:spPr/>
        <p:txBody>
          <a:bodyPr/>
          <a:lstStyle/>
          <a:p>
            <a:r>
              <a:rPr lang="ja-JP">
                <a:latin typeface="+mj-ea"/>
                <a:ea typeface="+mj-ea"/>
              </a:rPr>
              <a:t>足元のタイムライン（BX推進部・ITEC様・デロイトで合意）</a:t>
            </a:r>
          </a:p>
        </p:txBody>
      </p:sp>
      <p:sp>
        <p:nvSpPr>
          <p:cNvPr id="3" name="Title 2"/>
          <p:cNvSpPr>
            <a:spLocks noGrp="1"/>
          </p:cNvSpPr>
          <p:nvPr>
            <p:ph type="title"/>
          </p:nvPr>
        </p:nvSpPr>
        <p:spPr/>
        <p:txBody>
          <a:bodyPr vert="horz" rIns="0"/>
          <a:lstStyle/>
          <a:p>
            <a:r>
              <a:rPr lang="ja-JP">
                <a:latin typeface="+mj-ea"/>
              </a:rPr>
              <a:t>9/11版以降に改修を重ねた最新版は、予定より早く10/15頃にセキュア環境へ反映し、あわせてデータを投入する見込みです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mj-ea"/>
                <a:ea typeface="+mj-ea"/>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9</a:t>
            </a:fld>
            <a:endParaRPr kumimoji="0" lang="ja-JP" altLang="en-US" sz="900" b="0" i="0" u="none" strike="noStrike" kern="1200" cap="none" spc="0" normalizeH="0" baseline="0" noProof="0">
              <a:ln>
                <a:noFill/>
              </a:ln>
              <a:solidFill>
                <a:prstClr val="black"/>
              </a:solidFill>
              <a:effectLst/>
              <a:uLnTx/>
              <a:uFillTx/>
              <a:latin typeface="+mj-ea"/>
              <a:ea typeface="+mj-ea"/>
              <a:cs typeface="+mn-cs"/>
            </a:endParaRPr>
          </a:p>
        </p:txBody>
      </p:sp>
      <p:sp>
        <p:nvSpPr>
          <p:cNvPr id="7" name="Rectangle 6"/>
          <p:cNvSpPr/>
          <p:nvPr/>
        </p:nvSpPr>
        <p:spPr>
          <a:xfrm>
            <a:off x="475487" y="1627632"/>
            <a:ext cx="3319505" cy="585216"/>
          </a:xfrm>
          <a:prstGeom prst="rect">
            <a:avLst/>
          </a:prstGeom>
          <a:solidFill>
            <a:srgbClr val="F3F3F3"/>
          </a:solidFill>
          <a:ln>
            <a:noFill/>
          </a:ln>
        </p:spPr>
        <p:txBody>
          <a:bodyPr wrap="square" lIns="109728" tIns="27432" rIns="73152" bIns="27432" rtlCol="0" anchor="t">
            <a:noAutofit/>
          </a:bodyPr>
          <a:lstStyle/>
          <a:p>
            <a:pPr algn="l">
              <a:buNone/>
            </a:pPr>
            <a:r>
              <a:rPr lang="ja-JP" altLang="en-US" sz="1200" b="1">
                <a:solidFill>
                  <a:srgbClr val="262626"/>
                </a:solidFill>
                <a:latin typeface="+mj-ea"/>
                <a:ea typeface="+mj-ea"/>
              </a:rPr>
              <a:t>〜10/7　デロイトが検証環境で改修</a:t>
            </a:r>
          </a:p>
          <a:p>
            <a:pPr algn="l">
              <a:spcBef>
                <a:spcPts val="100"/>
              </a:spcBef>
              <a:buNone/>
            </a:pPr>
            <a:r>
              <a:rPr lang="ja-JP" altLang="en-US" sz="1000" b="0">
                <a:solidFill>
                  <a:srgbClr val="595959"/>
                </a:solidFill>
                <a:latin typeface="+mj-ea"/>
                <a:ea typeface="+mj-ea"/>
              </a:rPr>
              <a:t>ご依頼を日々反映（アドホック改修）</a:t>
            </a:r>
            <a:r>
              <a:rPr lang="ja-JP" altLang="ja-JP" sz="1000" b="0">
                <a:solidFill>
                  <a:srgbClr val="595959"/>
                </a:solidFill>
                <a:latin typeface="+mj-ea"/>
                <a:ea typeface="+mj-ea"/>
              </a:rPr>
              <a:t>10/7</a:t>
            </a:r>
            <a:r>
              <a:rPr lang="ja-JP" altLang="en-US" sz="1000" b="0">
                <a:solidFill>
                  <a:srgbClr val="595959"/>
                </a:solidFill>
                <a:latin typeface="+mj-ea"/>
                <a:ea typeface="+mj-ea"/>
              </a:rPr>
              <a:t>以降の改修は相談しながら決めていく</a:t>
            </a:r>
            <a:endParaRPr lang="ja-JP" altLang="ja-JP" sz="1000" b="0">
              <a:solidFill>
                <a:srgbClr val="595959"/>
              </a:solidFill>
              <a:latin typeface="+mj-ea"/>
              <a:ea typeface="+mj-ea"/>
            </a:endParaRPr>
          </a:p>
          <a:p>
            <a:pPr algn="l">
              <a:spcBef>
                <a:spcPts val="100"/>
              </a:spcBef>
              <a:buNone/>
            </a:pPr>
            <a:endParaRPr lang="ja-JP" altLang="en-US" sz="1000" b="0">
              <a:solidFill>
                <a:srgbClr val="595959"/>
              </a:solidFill>
              <a:latin typeface="+mj-ea"/>
              <a:ea typeface="+mj-ea"/>
            </a:endParaRPr>
          </a:p>
        </p:txBody>
      </p:sp>
      <p:sp>
        <p:nvSpPr>
          <p:cNvPr id="8" name="Rectangle 7"/>
          <p:cNvSpPr/>
          <p:nvPr/>
        </p:nvSpPr>
        <p:spPr>
          <a:xfrm>
            <a:off x="3903785" y="1627632"/>
            <a:ext cx="3188678" cy="585216"/>
          </a:xfrm>
          <a:prstGeom prst="rect">
            <a:avLst/>
          </a:prstGeom>
          <a:solidFill>
            <a:srgbClr val="F3F3F3"/>
          </a:solidFill>
          <a:ln>
            <a:noFill/>
          </a:ln>
        </p:spPr>
        <p:txBody>
          <a:bodyPr wrap="square" lIns="109728" tIns="27432" rIns="73152" bIns="27432" rtlCol="0" anchor="t">
            <a:noAutofit/>
          </a:bodyPr>
          <a:lstStyle/>
          <a:p>
            <a:pPr algn="l">
              <a:buNone/>
            </a:pPr>
            <a:r>
              <a:rPr lang="ja-JP" altLang="en-US" sz="1200" b="1">
                <a:solidFill>
                  <a:srgbClr val="262626"/>
                </a:solidFill>
                <a:latin typeface="+mj-ea"/>
                <a:ea typeface="+mj-ea"/>
              </a:rPr>
              <a:t>10/8〜14　反映・引継ぎ</a:t>
            </a:r>
          </a:p>
          <a:p>
            <a:pPr algn="l">
              <a:spcBef>
                <a:spcPts val="100"/>
              </a:spcBef>
              <a:buNone/>
            </a:pPr>
            <a:r>
              <a:rPr lang="ja-JP" altLang="en-US" sz="1000" b="0">
                <a:solidFill>
                  <a:srgbClr val="595959"/>
                </a:solidFill>
                <a:latin typeface="+mj-ea"/>
                <a:ea typeface="+mj-ea"/>
              </a:rPr>
              <a:t>引継ぎ会 今週1回・来週1回</a:t>
            </a:r>
          </a:p>
        </p:txBody>
      </p:sp>
      <p:sp>
        <p:nvSpPr>
          <p:cNvPr id="9" name="Rectangle 8"/>
          <p:cNvSpPr/>
          <p:nvPr/>
        </p:nvSpPr>
        <p:spPr>
          <a:xfrm>
            <a:off x="7201256" y="1627632"/>
            <a:ext cx="4503063" cy="585216"/>
          </a:xfrm>
          <a:prstGeom prst="rect">
            <a:avLst/>
          </a:prstGeom>
          <a:solidFill>
            <a:srgbClr val="F3F3F3"/>
          </a:solidFill>
          <a:ln>
            <a:noFill/>
          </a:ln>
        </p:spPr>
        <p:txBody>
          <a:bodyPr wrap="square" lIns="109728" tIns="27432" rIns="73152" bIns="27432" rtlCol="0" anchor="t">
            <a:noAutofit/>
          </a:bodyPr>
          <a:lstStyle/>
          <a:p>
            <a:pPr algn="l">
              <a:buNone/>
            </a:pPr>
            <a:r>
              <a:rPr lang="ja-JP" altLang="en-US" sz="1200" b="1">
                <a:solidFill>
                  <a:srgbClr val="262626"/>
                </a:solidFill>
                <a:latin typeface="+mj-ea"/>
                <a:ea typeface="+mj-ea"/>
              </a:rPr>
              <a:t>10/15〜　ITEC様主導の運用・データ投入へ</a:t>
            </a:r>
          </a:p>
          <a:p>
            <a:pPr algn="l">
              <a:spcBef>
                <a:spcPts val="100"/>
              </a:spcBef>
              <a:buNone/>
            </a:pPr>
            <a:r>
              <a:rPr lang="ja-JP" altLang="en-US" sz="1000" b="0">
                <a:solidFill>
                  <a:srgbClr val="595959"/>
                </a:solidFill>
                <a:latin typeface="+mj-ea"/>
                <a:ea typeface="+mj-ea"/>
              </a:rPr>
              <a:t>改修も段階的にITEC様主導、デロイトは技術アドバイザリーへ</a:t>
            </a:r>
          </a:p>
        </p:txBody>
      </p:sp>
      <p:cxnSp>
        <p:nvCxnSpPr>
          <p:cNvPr id="10" name="Connector 9"/>
          <p:cNvCxnSpPr>
            <a:cxnSpLocks/>
          </p:cNvCxnSpPr>
          <p:nvPr/>
        </p:nvCxnSpPr>
        <p:spPr>
          <a:xfrm>
            <a:off x="1322363" y="2674620"/>
            <a:ext cx="9614916" cy="0"/>
          </a:xfrm>
          <a:prstGeom prst="line">
            <a:avLst/>
          </a:prstGeom>
          <a:ln w="25400">
            <a:solidFill>
              <a:srgbClr val="C8C8C8"/>
            </a:solidFill>
          </a:ln>
        </p:spPr>
      </p:cxnSp>
      <p:cxnSp>
        <p:nvCxnSpPr>
          <p:cNvPr id="11" name="Connector 10"/>
          <p:cNvCxnSpPr/>
          <p:nvPr/>
        </p:nvCxnSpPr>
        <p:spPr>
          <a:xfrm>
            <a:off x="1322363" y="2674620"/>
            <a:ext cx="2194560" cy="0"/>
          </a:xfrm>
          <a:prstGeom prst="line">
            <a:avLst/>
          </a:prstGeom>
          <a:ln w="25400">
            <a:solidFill>
              <a:srgbClr val="046A38"/>
            </a:solidFill>
          </a:ln>
        </p:spPr>
      </p:cxnSp>
      <p:sp>
        <p:nvSpPr>
          <p:cNvPr id="12" name="Oval 11"/>
          <p:cNvSpPr/>
          <p:nvPr/>
        </p:nvSpPr>
        <p:spPr>
          <a:xfrm>
            <a:off x="1825283" y="2537460"/>
            <a:ext cx="274320" cy="274320"/>
          </a:xfrm>
          <a:prstGeom prst="ellipse">
            <a:avLst/>
          </a:prstGeom>
          <a:solidFill>
            <a:srgbClr val="046A38"/>
          </a:solidFill>
          <a:ln>
            <a:noFill/>
          </a:ln>
        </p:spPr>
        <p:txBody>
          <a:bodyPr wrap="square" lIns="0" tIns="0" rIns="0" bIns="0" rtlCol="0" anchor="ctr">
            <a:noAutofit/>
          </a:bodyPr>
          <a:lstStyle/>
          <a:p>
            <a:pPr algn="ctr">
              <a:buNone/>
            </a:pPr>
            <a:r>
              <a:rPr lang="ja-JP" altLang="en-US" sz="1000" b="1">
                <a:solidFill>
                  <a:srgbClr val="FFFFFF"/>
                </a:solidFill>
                <a:latin typeface="+mj-ea"/>
                <a:ea typeface="+mj-ea"/>
              </a:rPr>
              <a:t>✓</a:t>
            </a:r>
          </a:p>
        </p:txBody>
      </p:sp>
      <p:sp>
        <p:nvSpPr>
          <p:cNvPr id="13" name="Rectangle 12"/>
          <p:cNvSpPr/>
          <p:nvPr/>
        </p:nvSpPr>
        <p:spPr>
          <a:xfrm>
            <a:off x="1253783" y="2994660"/>
            <a:ext cx="1417320" cy="1627632"/>
          </a:xfrm>
          <a:prstGeom prst="rect">
            <a:avLst/>
          </a:prstGeom>
          <a:solidFill>
            <a:srgbClr val="F3F3F3"/>
          </a:solidFill>
          <a:ln>
            <a:noFill/>
          </a:ln>
        </p:spPr>
        <p:txBody>
          <a:bodyPr wrap="square" lIns="54864" tIns="27432" rIns="54864" bIns="27432" rtlCol="0" anchor="ctr">
            <a:noAutofit/>
          </a:bodyPr>
          <a:lstStyle/>
          <a:p>
            <a:pPr algn="ctr"/>
            <a:endParaRPr>
              <a:latin typeface="+mj-ea"/>
              <a:ea typeface="+mj-ea"/>
            </a:endParaRPr>
          </a:p>
        </p:txBody>
      </p:sp>
      <p:sp>
        <p:nvSpPr>
          <p:cNvPr id="14" name="TextBox 13"/>
          <p:cNvSpPr txBox="1"/>
          <p:nvPr/>
        </p:nvSpPr>
        <p:spPr>
          <a:xfrm>
            <a:off x="1345223" y="3049524"/>
            <a:ext cx="1234440" cy="292608"/>
          </a:xfrm>
          <a:prstGeom prst="rect">
            <a:avLst/>
          </a:prstGeom>
          <a:noFill/>
        </p:spPr>
        <p:txBody>
          <a:bodyPr wrap="square" lIns="0" tIns="0" rIns="0" bIns="0" anchor="ctr">
            <a:noAutofit/>
          </a:bodyPr>
          <a:lstStyle/>
          <a:p>
            <a:pPr algn="l">
              <a:buNone/>
            </a:pPr>
            <a:r>
              <a:rPr lang="ja-JP" altLang="en-US" sz="1300" b="1">
                <a:solidFill>
                  <a:srgbClr val="046A38"/>
                </a:solidFill>
                <a:latin typeface="+mj-ea"/>
                <a:ea typeface="+mj-ea"/>
              </a:rPr>
              <a:t>10/5（月）</a:t>
            </a:r>
          </a:p>
        </p:txBody>
      </p:sp>
      <p:sp>
        <p:nvSpPr>
          <p:cNvPr id="15" name="TextBox 14"/>
          <p:cNvSpPr txBox="1"/>
          <p:nvPr/>
        </p:nvSpPr>
        <p:spPr>
          <a:xfrm>
            <a:off x="1345223" y="3360420"/>
            <a:ext cx="1234440" cy="566928"/>
          </a:xfrm>
          <a:prstGeom prst="rect">
            <a:avLst/>
          </a:prstGeom>
          <a:noFill/>
        </p:spPr>
        <p:txBody>
          <a:bodyPr wrap="square" lIns="0" tIns="0" rIns="0" bIns="0" anchor="t">
            <a:noAutofit/>
          </a:bodyPr>
          <a:lstStyle/>
          <a:p>
            <a:pPr algn="l">
              <a:lnSpc>
                <a:spcPct val="100000"/>
              </a:lnSpc>
              <a:buNone/>
            </a:pPr>
            <a:r>
              <a:rPr lang="ja-JP" altLang="en-US" sz="1150" b="1">
                <a:solidFill>
                  <a:srgbClr val="262626"/>
                </a:solidFill>
                <a:latin typeface="+mj-ea"/>
                <a:ea typeface="+mj-ea"/>
              </a:rPr>
              <a:t>9/11版をセキュア</a:t>
            </a:r>
            <a:endParaRPr lang="ja-JP" altLang="ja-JP" sz="1150" b="1">
              <a:solidFill>
                <a:srgbClr val="262626"/>
              </a:solidFill>
              <a:latin typeface="+mj-ea"/>
              <a:ea typeface="+mj-ea"/>
            </a:endParaRPr>
          </a:p>
          <a:p>
            <a:pPr algn="l">
              <a:lnSpc>
                <a:spcPct val="100000"/>
              </a:lnSpc>
              <a:buNone/>
            </a:pPr>
            <a:r>
              <a:rPr lang="ja-JP" altLang="en-US" sz="1150" b="1">
                <a:solidFill>
                  <a:srgbClr val="262626"/>
                </a:solidFill>
                <a:latin typeface="+mj-ea"/>
                <a:ea typeface="+mj-ea"/>
              </a:rPr>
              <a:t>公開</a:t>
            </a:r>
          </a:p>
        </p:txBody>
      </p:sp>
      <p:sp>
        <p:nvSpPr>
          <p:cNvPr id="16" name="TextBox 15"/>
          <p:cNvSpPr txBox="1"/>
          <p:nvPr/>
        </p:nvSpPr>
        <p:spPr>
          <a:xfrm>
            <a:off x="1345223" y="3909060"/>
            <a:ext cx="1234440" cy="365760"/>
          </a:xfrm>
          <a:prstGeom prst="rect">
            <a:avLst/>
          </a:prstGeom>
          <a:noFill/>
        </p:spPr>
        <p:txBody>
          <a:bodyPr wrap="square" lIns="0" tIns="0" rIns="0" bIns="0" anchor="t">
            <a:noAutofit/>
          </a:bodyPr>
          <a:lstStyle/>
          <a:p>
            <a:pPr algn="l">
              <a:buNone/>
            </a:pPr>
            <a:r>
              <a:rPr lang="ja-JP" altLang="en-US" sz="1000" b="0">
                <a:solidFill>
                  <a:srgbClr val="595959"/>
                </a:solidFill>
                <a:latin typeface="+mj-ea"/>
                <a:ea typeface="+mj-ea"/>
              </a:rPr>
              <a:t>ログイン・アクセスの確認を開始</a:t>
            </a:r>
          </a:p>
        </p:txBody>
      </p:sp>
      <p:sp>
        <p:nvSpPr>
          <p:cNvPr id="17" name="Rounded Rectangle 16"/>
          <p:cNvSpPr/>
          <p:nvPr/>
        </p:nvSpPr>
        <p:spPr>
          <a:xfrm>
            <a:off x="1308647" y="4311396"/>
            <a:ext cx="1307592" cy="228600"/>
          </a:xfrm>
          <a:prstGeom prst="roundRect">
            <a:avLst>
              <a:gd name="adj" fmla="val 50000"/>
            </a:avLst>
          </a:prstGeom>
          <a:solidFill>
            <a:srgbClr val="FFFFFF"/>
          </a:solidFill>
          <a:ln w="9525">
            <a:solidFill>
              <a:srgbClr val="D0D0CE"/>
            </a:solidFill>
          </a:ln>
        </p:spPr>
        <p:txBody>
          <a:bodyPr wrap="square" lIns="36576" tIns="0" rIns="36576" bIns="0" rtlCol="0" anchor="ctr">
            <a:noAutofit/>
          </a:bodyPr>
          <a:lstStyle/>
          <a:p>
            <a:pPr algn="ctr">
              <a:buNone/>
            </a:pPr>
            <a:r>
              <a:rPr lang="ja-JP" altLang="en-US" sz="900" b="1">
                <a:solidFill>
                  <a:srgbClr val="595959"/>
                </a:solidFill>
                <a:latin typeface="+mj-ea"/>
                <a:ea typeface="+mj-ea"/>
              </a:rPr>
              <a:t>ITEC様→BX推進部</a:t>
            </a:r>
          </a:p>
        </p:txBody>
      </p:sp>
      <p:sp>
        <p:nvSpPr>
          <p:cNvPr id="18" name="Oval 17"/>
          <p:cNvSpPr/>
          <p:nvPr/>
        </p:nvSpPr>
        <p:spPr>
          <a:xfrm>
            <a:off x="3370619" y="2528316"/>
            <a:ext cx="292608" cy="292608"/>
          </a:xfrm>
          <a:prstGeom prst="ellipse">
            <a:avLst/>
          </a:prstGeom>
          <a:solidFill>
            <a:srgbClr val="FFFFFF"/>
          </a:solidFill>
          <a:ln w="31750">
            <a:solidFill>
              <a:srgbClr val="046A38"/>
            </a:solidFill>
          </a:ln>
        </p:spPr>
        <p:txBody>
          <a:bodyPr wrap="square" lIns="54864" tIns="27432" rIns="54864" bIns="27432" rtlCol="0" anchor="ctr">
            <a:noAutofit/>
          </a:bodyPr>
          <a:lstStyle/>
          <a:p>
            <a:pPr algn="ctr"/>
            <a:endParaRPr>
              <a:latin typeface="+mj-ea"/>
              <a:ea typeface="+mj-ea"/>
            </a:endParaRPr>
          </a:p>
        </p:txBody>
      </p:sp>
      <p:sp>
        <p:nvSpPr>
          <p:cNvPr id="19" name="Rounded Rectangle 18"/>
          <p:cNvSpPr/>
          <p:nvPr/>
        </p:nvSpPr>
        <p:spPr>
          <a:xfrm>
            <a:off x="3224315" y="2281428"/>
            <a:ext cx="585216" cy="201168"/>
          </a:xfrm>
          <a:prstGeom prst="roundRect">
            <a:avLst>
              <a:gd name="adj" fmla="val 50000"/>
            </a:avLst>
          </a:prstGeom>
          <a:solidFill>
            <a:srgbClr val="262626"/>
          </a:solidFill>
          <a:ln>
            <a:noFill/>
          </a:ln>
        </p:spPr>
        <p:txBody>
          <a:bodyPr wrap="square" lIns="36576" tIns="0" rIns="36576" bIns="0" rtlCol="0" anchor="ctr">
            <a:noAutofit/>
          </a:bodyPr>
          <a:lstStyle/>
          <a:p>
            <a:pPr algn="ctr">
              <a:buNone/>
            </a:pPr>
            <a:r>
              <a:rPr lang="ja-JP" altLang="en-US" sz="950" b="1">
                <a:solidFill>
                  <a:srgbClr val="FFFFFF"/>
                </a:solidFill>
                <a:latin typeface="+mj-ea"/>
                <a:ea typeface="+mj-ea"/>
              </a:rPr>
              <a:t>本日</a:t>
            </a:r>
          </a:p>
        </p:txBody>
      </p:sp>
      <p:sp>
        <p:nvSpPr>
          <p:cNvPr id="20" name="Rectangle 19"/>
          <p:cNvSpPr/>
          <p:nvPr/>
        </p:nvSpPr>
        <p:spPr>
          <a:xfrm>
            <a:off x="2808263" y="2994660"/>
            <a:ext cx="1417320" cy="1627632"/>
          </a:xfrm>
          <a:prstGeom prst="rect">
            <a:avLst/>
          </a:prstGeom>
          <a:solidFill>
            <a:srgbClr val="F3F3F3"/>
          </a:solidFill>
          <a:ln>
            <a:noFill/>
          </a:ln>
        </p:spPr>
        <p:txBody>
          <a:bodyPr wrap="square" lIns="54864" tIns="27432" rIns="54864" bIns="27432" rtlCol="0" anchor="ctr">
            <a:noAutofit/>
          </a:bodyPr>
          <a:lstStyle/>
          <a:p>
            <a:pPr algn="ctr"/>
            <a:endParaRPr>
              <a:latin typeface="+mj-ea"/>
              <a:ea typeface="+mj-ea"/>
            </a:endParaRPr>
          </a:p>
        </p:txBody>
      </p:sp>
      <p:sp>
        <p:nvSpPr>
          <p:cNvPr id="21" name="TextBox 20"/>
          <p:cNvSpPr txBox="1"/>
          <p:nvPr/>
        </p:nvSpPr>
        <p:spPr>
          <a:xfrm>
            <a:off x="2899703" y="3049524"/>
            <a:ext cx="1234440" cy="292608"/>
          </a:xfrm>
          <a:prstGeom prst="rect">
            <a:avLst/>
          </a:prstGeom>
          <a:noFill/>
        </p:spPr>
        <p:txBody>
          <a:bodyPr wrap="square" lIns="0" tIns="0" rIns="0" bIns="0" anchor="ctr">
            <a:noAutofit/>
          </a:bodyPr>
          <a:lstStyle/>
          <a:p>
            <a:pPr algn="l">
              <a:buNone/>
            </a:pPr>
            <a:r>
              <a:rPr lang="ja-JP" altLang="en-US" sz="1300" b="1">
                <a:solidFill>
                  <a:srgbClr val="262626"/>
                </a:solidFill>
                <a:latin typeface="+mj-ea"/>
                <a:ea typeface="+mj-ea"/>
              </a:rPr>
              <a:t>10/7（水）午前</a:t>
            </a:r>
          </a:p>
        </p:txBody>
      </p:sp>
      <p:sp>
        <p:nvSpPr>
          <p:cNvPr id="22" name="TextBox 21"/>
          <p:cNvSpPr txBox="1"/>
          <p:nvPr/>
        </p:nvSpPr>
        <p:spPr>
          <a:xfrm>
            <a:off x="2899703" y="3360420"/>
            <a:ext cx="1234440" cy="566928"/>
          </a:xfrm>
          <a:prstGeom prst="rect">
            <a:avLst/>
          </a:prstGeom>
          <a:noFill/>
        </p:spPr>
        <p:txBody>
          <a:bodyPr wrap="square" lIns="0" tIns="0" rIns="0" bIns="0" anchor="t">
            <a:noAutofit/>
          </a:bodyPr>
          <a:lstStyle/>
          <a:p>
            <a:pPr algn="l">
              <a:lnSpc>
                <a:spcPct val="100000"/>
              </a:lnSpc>
              <a:buNone/>
            </a:pPr>
            <a:r>
              <a:rPr lang="ja-JP" altLang="en-US" sz="1150" b="1">
                <a:solidFill>
                  <a:srgbClr val="262626"/>
                </a:solidFill>
                <a:latin typeface="+mj-ea"/>
                <a:ea typeface="+mj-ea"/>
              </a:rPr>
              <a:t>アドホック改修を</a:t>
            </a:r>
            <a:endParaRPr lang="ja-JP" altLang="ja-JP" sz="1150" b="1">
              <a:solidFill>
                <a:srgbClr val="262626"/>
              </a:solidFill>
              <a:latin typeface="+mj-ea"/>
              <a:ea typeface="+mj-ea"/>
            </a:endParaRPr>
          </a:p>
          <a:p>
            <a:pPr algn="l">
              <a:lnSpc>
                <a:spcPct val="100000"/>
              </a:lnSpc>
              <a:buNone/>
            </a:pPr>
            <a:r>
              <a:rPr lang="ja-JP" altLang="en-US" sz="1150" b="1">
                <a:solidFill>
                  <a:srgbClr val="262626"/>
                </a:solidFill>
                <a:latin typeface="+mj-ea"/>
                <a:ea typeface="+mj-ea"/>
              </a:rPr>
              <a:t>一旦Close</a:t>
            </a:r>
          </a:p>
        </p:txBody>
      </p:sp>
      <p:sp>
        <p:nvSpPr>
          <p:cNvPr id="23" name="TextBox 22"/>
          <p:cNvSpPr txBox="1"/>
          <p:nvPr/>
        </p:nvSpPr>
        <p:spPr>
          <a:xfrm>
            <a:off x="2899703" y="3909060"/>
            <a:ext cx="1234440" cy="365760"/>
          </a:xfrm>
          <a:prstGeom prst="rect">
            <a:avLst/>
          </a:prstGeom>
          <a:noFill/>
        </p:spPr>
        <p:txBody>
          <a:bodyPr wrap="square" lIns="0" tIns="0" rIns="0" bIns="0" anchor="t">
            <a:noAutofit/>
          </a:bodyPr>
          <a:lstStyle/>
          <a:p>
            <a:pPr algn="l">
              <a:buNone/>
            </a:pPr>
            <a:r>
              <a:rPr lang="ja-JP" altLang="en-US" sz="1000" b="0">
                <a:solidFill>
                  <a:srgbClr val="595959"/>
                </a:solidFill>
                <a:latin typeface="+mj-ea"/>
                <a:ea typeface="+mj-ea"/>
              </a:rPr>
              <a:t>10/7版として確定</a:t>
            </a:r>
          </a:p>
        </p:txBody>
      </p:sp>
      <p:sp>
        <p:nvSpPr>
          <p:cNvPr id="24" name="Rounded Rectangle 23"/>
          <p:cNvSpPr/>
          <p:nvPr/>
        </p:nvSpPr>
        <p:spPr>
          <a:xfrm>
            <a:off x="2863127" y="4311396"/>
            <a:ext cx="1307592" cy="228600"/>
          </a:xfrm>
          <a:prstGeom prst="roundRect">
            <a:avLst>
              <a:gd name="adj" fmla="val 50000"/>
            </a:avLst>
          </a:prstGeom>
          <a:solidFill>
            <a:srgbClr val="FFFFFF"/>
          </a:solidFill>
          <a:ln w="9525">
            <a:solidFill>
              <a:srgbClr val="D0D0CE"/>
            </a:solidFill>
          </a:ln>
        </p:spPr>
        <p:txBody>
          <a:bodyPr wrap="square" lIns="36576" tIns="0" rIns="36576" bIns="0" rtlCol="0" anchor="ctr">
            <a:noAutofit/>
          </a:bodyPr>
          <a:lstStyle/>
          <a:p>
            <a:pPr algn="ctr">
              <a:buNone/>
            </a:pPr>
            <a:r>
              <a:rPr lang="ja-JP" altLang="en-US" sz="900" b="1">
                <a:solidFill>
                  <a:srgbClr val="595959"/>
                </a:solidFill>
                <a:latin typeface="+mj-ea"/>
                <a:ea typeface="+mj-ea"/>
              </a:rPr>
              <a:t>BX推進部→デロイト</a:t>
            </a:r>
          </a:p>
        </p:txBody>
      </p:sp>
      <p:sp>
        <p:nvSpPr>
          <p:cNvPr id="25" name="Oval 24"/>
          <p:cNvSpPr/>
          <p:nvPr/>
        </p:nvSpPr>
        <p:spPr>
          <a:xfrm>
            <a:off x="4970819" y="2555748"/>
            <a:ext cx="237744" cy="237744"/>
          </a:xfrm>
          <a:prstGeom prst="ellipse">
            <a:avLst/>
          </a:prstGeom>
          <a:solidFill>
            <a:srgbClr val="FFFFFF"/>
          </a:solidFill>
          <a:ln w="22225">
            <a:solidFill>
              <a:srgbClr val="A6A6A6"/>
            </a:solidFill>
          </a:ln>
        </p:spPr>
        <p:txBody>
          <a:bodyPr wrap="square" lIns="54864" tIns="27432" rIns="54864" bIns="27432" rtlCol="0" anchor="ctr">
            <a:noAutofit/>
          </a:bodyPr>
          <a:lstStyle/>
          <a:p>
            <a:pPr algn="ctr"/>
            <a:endParaRPr>
              <a:latin typeface="+mj-ea"/>
              <a:ea typeface="+mj-ea"/>
            </a:endParaRPr>
          </a:p>
        </p:txBody>
      </p:sp>
      <p:sp>
        <p:nvSpPr>
          <p:cNvPr id="26" name="Rectangle 25"/>
          <p:cNvSpPr/>
          <p:nvPr/>
        </p:nvSpPr>
        <p:spPr>
          <a:xfrm>
            <a:off x="4381031" y="2994660"/>
            <a:ext cx="1417320" cy="1627632"/>
          </a:xfrm>
          <a:prstGeom prst="rect">
            <a:avLst/>
          </a:prstGeom>
          <a:solidFill>
            <a:srgbClr val="F3F3F3"/>
          </a:solidFill>
          <a:ln>
            <a:noFill/>
          </a:ln>
        </p:spPr>
        <p:txBody>
          <a:bodyPr wrap="square" lIns="54864" tIns="27432" rIns="54864" bIns="27432" rtlCol="0" anchor="ctr">
            <a:noAutofit/>
          </a:bodyPr>
          <a:lstStyle/>
          <a:p>
            <a:pPr algn="ctr"/>
            <a:endParaRPr>
              <a:latin typeface="+mj-ea"/>
              <a:ea typeface="+mj-ea"/>
            </a:endParaRPr>
          </a:p>
        </p:txBody>
      </p:sp>
      <p:sp>
        <p:nvSpPr>
          <p:cNvPr id="27" name="TextBox 26"/>
          <p:cNvSpPr txBox="1"/>
          <p:nvPr/>
        </p:nvSpPr>
        <p:spPr>
          <a:xfrm>
            <a:off x="4472471" y="3049524"/>
            <a:ext cx="1234440" cy="292608"/>
          </a:xfrm>
          <a:prstGeom prst="rect">
            <a:avLst/>
          </a:prstGeom>
          <a:noFill/>
        </p:spPr>
        <p:txBody>
          <a:bodyPr wrap="square" lIns="0" tIns="0" rIns="0" bIns="0" anchor="ctr">
            <a:noAutofit/>
          </a:bodyPr>
          <a:lstStyle/>
          <a:p>
            <a:pPr algn="l">
              <a:buNone/>
            </a:pPr>
            <a:r>
              <a:rPr lang="ja-JP" altLang="en-US" sz="1300" b="1">
                <a:solidFill>
                  <a:srgbClr val="262626"/>
                </a:solidFill>
                <a:latin typeface="+mj-ea"/>
                <a:ea typeface="+mj-ea"/>
              </a:rPr>
              <a:t>10/8（木）〜</a:t>
            </a:r>
          </a:p>
        </p:txBody>
      </p:sp>
      <p:sp>
        <p:nvSpPr>
          <p:cNvPr id="28" name="TextBox 27"/>
          <p:cNvSpPr txBox="1"/>
          <p:nvPr/>
        </p:nvSpPr>
        <p:spPr>
          <a:xfrm>
            <a:off x="4472471" y="3360420"/>
            <a:ext cx="1234440" cy="566928"/>
          </a:xfrm>
          <a:prstGeom prst="rect">
            <a:avLst/>
          </a:prstGeom>
          <a:noFill/>
        </p:spPr>
        <p:txBody>
          <a:bodyPr wrap="square" lIns="0" tIns="0" rIns="0" bIns="0" anchor="t">
            <a:noAutofit/>
          </a:bodyPr>
          <a:lstStyle/>
          <a:p>
            <a:pPr algn="l">
              <a:lnSpc>
                <a:spcPct val="100000"/>
              </a:lnSpc>
              <a:buNone/>
            </a:pPr>
            <a:r>
              <a:rPr lang="ja-JP" altLang="en-US" sz="1150" b="1">
                <a:solidFill>
                  <a:srgbClr val="262626"/>
                </a:solidFill>
                <a:latin typeface="+mj-ea"/>
                <a:ea typeface="+mj-ea"/>
              </a:rPr>
              <a:t>最新版をセキュア</a:t>
            </a:r>
            <a:endParaRPr lang="ja-JP" altLang="ja-JP" sz="1150" b="1">
              <a:solidFill>
                <a:srgbClr val="262626"/>
              </a:solidFill>
              <a:latin typeface="+mj-ea"/>
              <a:ea typeface="+mj-ea"/>
            </a:endParaRPr>
          </a:p>
          <a:p>
            <a:pPr algn="l">
              <a:lnSpc>
                <a:spcPct val="100000"/>
              </a:lnSpc>
              <a:buNone/>
            </a:pPr>
            <a:r>
              <a:rPr lang="ja-JP" altLang="en-US" sz="1150" b="1">
                <a:solidFill>
                  <a:srgbClr val="262626"/>
                </a:solidFill>
                <a:latin typeface="+mj-ea"/>
                <a:ea typeface="+mj-ea"/>
              </a:rPr>
              <a:t>環境へ実装着手</a:t>
            </a:r>
          </a:p>
        </p:txBody>
      </p:sp>
      <p:sp>
        <p:nvSpPr>
          <p:cNvPr id="29" name="Rounded Rectangle 28"/>
          <p:cNvSpPr/>
          <p:nvPr/>
        </p:nvSpPr>
        <p:spPr>
          <a:xfrm>
            <a:off x="4435895" y="4311396"/>
            <a:ext cx="1307592" cy="228600"/>
          </a:xfrm>
          <a:prstGeom prst="roundRect">
            <a:avLst>
              <a:gd name="adj" fmla="val 50000"/>
            </a:avLst>
          </a:prstGeom>
          <a:solidFill>
            <a:srgbClr val="FFFFFF"/>
          </a:solidFill>
          <a:ln w="9525">
            <a:solidFill>
              <a:srgbClr val="D0D0CE"/>
            </a:solidFill>
          </a:ln>
        </p:spPr>
        <p:txBody>
          <a:bodyPr wrap="square" lIns="36576" tIns="0" rIns="36576" bIns="0" rtlCol="0" anchor="ctr">
            <a:noAutofit/>
          </a:bodyPr>
          <a:lstStyle/>
          <a:p>
            <a:pPr algn="ctr">
              <a:buNone/>
            </a:pPr>
            <a:r>
              <a:rPr lang="ja-JP" altLang="en-US" sz="900" b="1">
                <a:solidFill>
                  <a:srgbClr val="595959"/>
                </a:solidFill>
                <a:latin typeface="+mj-ea"/>
                <a:ea typeface="+mj-ea"/>
              </a:rPr>
              <a:t>ITEC様</a:t>
            </a:r>
          </a:p>
        </p:txBody>
      </p:sp>
      <p:sp>
        <p:nvSpPr>
          <p:cNvPr id="30" name="Oval 29"/>
          <p:cNvSpPr/>
          <p:nvPr/>
        </p:nvSpPr>
        <p:spPr>
          <a:xfrm>
            <a:off x="6945923" y="2537460"/>
            <a:ext cx="274320" cy="274320"/>
          </a:xfrm>
          <a:prstGeom prst="ellipse">
            <a:avLst/>
          </a:prstGeom>
          <a:solidFill>
            <a:srgbClr val="046A38"/>
          </a:solidFill>
          <a:ln>
            <a:noFill/>
          </a:ln>
        </p:spPr>
        <p:txBody>
          <a:bodyPr wrap="square" lIns="54864" tIns="27432" rIns="54864" bIns="27432" rtlCol="0" anchor="ctr">
            <a:noAutofit/>
          </a:bodyPr>
          <a:lstStyle/>
          <a:p>
            <a:pPr algn="ctr"/>
            <a:endParaRPr>
              <a:latin typeface="+mj-ea"/>
              <a:ea typeface="+mj-ea"/>
            </a:endParaRPr>
          </a:p>
        </p:txBody>
      </p:sp>
      <p:sp>
        <p:nvSpPr>
          <p:cNvPr id="31" name="Rectangle 30"/>
          <p:cNvSpPr/>
          <p:nvPr/>
        </p:nvSpPr>
        <p:spPr>
          <a:xfrm>
            <a:off x="6374423" y="2994660"/>
            <a:ext cx="1417320" cy="1627632"/>
          </a:xfrm>
          <a:prstGeom prst="rect">
            <a:avLst/>
          </a:prstGeom>
          <a:solidFill>
            <a:srgbClr val="FFFFFF"/>
          </a:solidFill>
          <a:ln w="15875">
            <a:solidFill>
              <a:srgbClr val="046A38"/>
            </a:solidFill>
          </a:ln>
        </p:spPr>
        <p:txBody>
          <a:bodyPr wrap="square" lIns="54864" tIns="27432" rIns="54864" bIns="27432" rtlCol="0" anchor="ctr">
            <a:noAutofit/>
          </a:bodyPr>
          <a:lstStyle/>
          <a:p>
            <a:pPr algn="ctr"/>
            <a:endParaRPr>
              <a:latin typeface="+mj-ea"/>
              <a:ea typeface="+mj-ea"/>
            </a:endParaRPr>
          </a:p>
        </p:txBody>
      </p:sp>
      <p:sp>
        <p:nvSpPr>
          <p:cNvPr id="32" name="TextBox 31"/>
          <p:cNvSpPr txBox="1"/>
          <p:nvPr/>
        </p:nvSpPr>
        <p:spPr>
          <a:xfrm>
            <a:off x="6465863" y="3049524"/>
            <a:ext cx="1234440" cy="292608"/>
          </a:xfrm>
          <a:prstGeom prst="rect">
            <a:avLst/>
          </a:prstGeom>
          <a:noFill/>
        </p:spPr>
        <p:txBody>
          <a:bodyPr wrap="square" lIns="0" tIns="0" rIns="0" bIns="0" anchor="ctr">
            <a:noAutofit/>
          </a:bodyPr>
          <a:lstStyle/>
          <a:p>
            <a:pPr algn="l">
              <a:buNone/>
            </a:pPr>
            <a:r>
              <a:rPr lang="ja-JP" altLang="en-US" sz="1300" b="1">
                <a:solidFill>
                  <a:srgbClr val="046A38"/>
                </a:solidFill>
                <a:latin typeface="+mj-ea"/>
                <a:ea typeface="+mj-ea"/>
              </a:rPr>
              <a:t>10/15頃</a:t>
            </a:r>
          </a:p>
        </p:txBody>
      </p:sp>
      <p:sp>
        <p:nvSpPr>
          <p:cNvPr id="33" name="TextBox 32"/>
          <p:cNvSpPr txBox="1"/>
          <p:nvPr/>
        </p:nvSpPr>
        <p:spPr>
          <a:xfrm>
            <a:off x="6465863" y="3360420"/>
            <a:ext cx="1234440" cy="566928"/>
          </a:xfrm>
          <a:prstGeom prst="rect">
            <a:avLst/>
          </a:prstGeom>
          <a:noFill/>
        </p:spPr>
        <p:txBody>
          <a:bodyPr wrap="square" lIns="0" tIns="0" rIns="0" bIns="0" anchor="t">
            <a:noAutofit/>
          </a:bodyPr>
          <a:lstStyle/>
          <a:p>
            <a:pPr algn="l">
              <a:lnSpc>
                <a:spcPct val="100000"/>
              </a:lnSpc>
              <a:buNone/>
            </a:pPr>
            <a:r>
              <a:rPr lang="ja-JP" altLang="en-US" sz="1150" b="1">
                <a:solidFill>
                  <a:srgbClr val="262626"/>
                </a:solidFill>
                <a:latin typeface="+mj-ea"/>
                <a:ea typeface="+mj-ea"/>
              </a:rPr>
              <a:t>10/7版を公開＋</a:t>
            </a:r>
            <a:endParaRPr lang="ja-JP" altLang="ja-JP" sz="1150" b="1">
              <a:solidFill>
                <a:srgbClr val="262626"/>
              </a:solidFill>
              <a:latin typeface="+mj-ea"/>
              <a:ea typeface="+mj-ea"/>
            </a:endParaRPr>
          </a:p>
          <a:p>
            <a:pPr algn="l">
              <a:lnSpc>
                <a:spcPct val="100000"/>
              </a:lnSpc>
              <a:buNone/>
            </a:pPr>
            <a:r>
              <a:rPr lang="ja-JP" altLang="en-US" sz="1150" b="1">
                <a:solidFill>
                  <a:srgbClr val="262626"/>
                </a:solidFill>
                <a:latin typeface="+mj-ea"/>
                <a:ea typeface="+mj-ea"/>
              </a:rPr>
              <a:t>データ投入</a:t>
            </a:r>
          </a:p>
        </p:txBody>
      </p:sp>
      <p:sp>
        <p:nvSpPr>
          <p:cNvPr id="34" name="TextBox 33"/>
          <p:cNvSpPr txBox="1"/>
          <p:nvPr/>
        </p:nvSpPr>
        <p:spPr>
          <a:xfrm>
            <a:off x="6465863" y="3909060"/>
            <a:ext cx="1234440" cy="365760"/>
          </a:xfrm>
          <a:prstGeom prst="rect">
            <a:avLst/>
          </a:prstGeom>
          <a:noFill/>
        </p:spPr>
        <p:txBody>
          <a:bodyPr wrap="square" lIns="0" tIns="0" rIns="0" bIns="0" anchor="t">
            <a:noAutofit/>
          </a:bodyPr>
          <a:lstStyle/>
          <a:p>
            <a:pPr algn="l">
              <a:buNone/>
            </a:pPr>
            <a:r>
              <a:rPr lang="ja-JP" altLang="en-US" sz="1000" b="0">
                <a:solidFill>
                  <a:srgbClr val="595959"/>
                </a:solidFill>
                <a:latin typeface="+mj-ea"/>
                <a:ea typeface="+mj-ea"/>
              </a:rPr>
              <a:t>セキュア環境で公開</a:t>
            </a:r>
          </a:p>
        </p:txBody>
      </p:sp>
      <p:sp>
        <p:nvSpPr>
          <p:cNvPr id="35" name="Rounded Rectangle 34"/>
          <p:cNvSpPr/>
          <p:nvPr/>
        </p:nvSpPr>
        <p:spPr>
          <a:xfrm>
            <a:off x="6429287" y="4311396"/>
            <a:ext cx="1307592" cy="228600"/>
          </a:xfrm>
          <a:prstGeom prst="roundRect">
            <a:avLst>
              <a:gd name="adj" fmla="val 50000"/>
            </a:avLst>
          </a:prstGeom>
          <a:solidFill>
            <a:srgbClr val="046A38"/>
          </a:solidFill>
          <a:ln>
            <a:noFill/>
          </a:ln>
        </p:spPr>
        <p:txBody>
          <a:bodyPr wrap="square" lIns="36576" tIns="0" rIns="36576" bIns="0" rtlCol="0" anchor="ctr">
            <a:noAutofit/>
          </a:bodyPr>
          <a:lstStyle/>
          <a:p>
            <a:pPr algn="ctr">
              <a:buNone/>
            </a:pPr>
            <a:r>
              <a:rPr lang="ja-JP" altLang="en-US" sz="900" b="1">
                <a:solidFill>
                  <a:srgbClr val="FFFFFF"/>
                </a:solidFill>
                <a:latin typeface="+mj-ea"/>
                <a:ea typeface="+mj-ea"/>
              </a:rPr>
              <a:t>ITEC様・BX推進部</a:t>
            </a:r>
          </a:p>
        </p:txBody>
      </p:sp>
      <p:sp>
        <p:nvSpPr>
          <p:cNvPr id="36" name="Oval 35"/>
          <p:cNvSpPr/>
          <p:nvPr/>
        </p:nvSpPr>
        <p:spPr>
          <a:xfrm>
            <a:off x="8536978" y="2555748"/>
            <a:ext cx="237744" cy="237744"/>
          </a:xfrm>
          <a:prstGeom prst="ellipse">
            <a:avLst/>
          </a:prstGeom>
          <a:solidFill>
            <a:srgbClr val="FFFFFF"/>
          </a:solidFill>
          <a:ln w="22225">
            <a:solidFill>
              <a:srgbClr val="A6A6A6"/>
            </a:solidFill>
          </a:ln>
        </p:spPr>
        <p:txBody>
          <a:bodyPr wrap="square" lIns="54864" tIns="27432" rIns="54864" bIns="27432" rtlCol="0" anchor="ctr">
            <a:noAutofit/>
          </a:bodyPr>
          <a:lstStyle/>
          <a:p>
            <a:pPr algn="ctr"/>
            <a:endParaRPr>
              <a:latin typeface="+mj-ea"/>
              <a:ea typeface="+mj-ea"/>
            </a:endParaRPr>
          </a:p>
        </p:txBody>
      </p:sp>
      <p:sp>
        <p:nvSpPr>
          <p:cNvPr id="37" name="Rectangle 36"/>
          <p:cNvSpPr/>
          <p:nvPr/>
        </p:nvSpPr>
        <p:spPr>
          <a:xfrm>
            <a:off x="7947190" y="2994660"/>
            <a:ext cx="1417320" cy="1627632"/>
          </a:xfrm>
          <a:prstGeom prst="rect">
            <a:avLst/>
          </a:prstGeom>
          <a:solidFill>
            <a:srgbClr val="FFFFFF"/>
          </a:solidFill>
          <a:ln w="9525">
            <a:solidFill>
              <a:srgbClr val="D0D0CE"/>
            </a:solidFill>
          </a:ln>
        </p:spPr>
        <p:txBody>
          <a:bodyPr wrap="square" lIns="54864" tIns="27432" rIns="54864" bIns="27432" rtlCol="0" anchor="ctr">
            <a:noAutofit/>
          </a:bodyPr>
          <a:lstStyle/>
          <a:p>
            <a:pPr algn="ctr"/>
            <a:endParaRPr>
              <a:latin typeface="+mj-ea"/>
              <a:ea typeface="+mj-ea"/>
            </a:endParaRPr>
          </a:p>
        </p:txBody>
      </p:sp>
      <p:sp>
        <p:nvSpPr>
          <p:cNvPr id="38" name="TextBox 37"/>
          <p:cNvSpPr txBox="1"/>
          <p:nvPr/>
        </p:nvSpPr>
        <p:spPr>
          <a:xfrm>
            <a:off x="8038630" y="3049524"/>
            <a:ext cx="1234440" cy="292608"/>
          </a:xfrm>
          <a:prstGeom prst="rect">
            <a:avLst/>
          </a:prstGeom>
          <a:noFill/>
        </p:spPr>
        <p:txBody>
          <a:bodyPr wrap="square" lIns="0" tIns="0" rIns="0" bIns="0" anchor="ctr">
            <a:noAutofit/>
          </a:bodyPr>
          <a:lstStyle/>
          <a:p>
            <a:pPr algn="l">
              <a:buNone/>
            </a:pPr>
            <a:r>
              <a:rPr lang="ja-JP" altLang="en-US" sz="1300" b="1">
                <a:solidFill>
                  <a:srgbClr val="262626"/>
                </a:solidFill>
                <a:latin typeface="+mj-ea"/>
                <a:ea typeface="+mj-ea"/>
              </a:rPr>
              <a:t>10月末</a:t>
            </a:r>
          </a:p>
        </p:txBody>
      </p:sp>
      <p:sp>
        <p:nvSpPr>
          <p:cNvPr id="39" name="TextBox 38"/>
          <p:cNvSpPr txBox="1"/>
          <p:nvPr/>
        </p:nvSpPr>
        <p:spPr>
          <a:xfrm>
            <a:off x="8038630" y="3360420"/>
            <a:ext cx="1234440" cy="566928"/>
          </a:xfrm>
          <a:prstGeom prst="rect">
            <a:avLst/>
          </a:prstGeom>
          <a:noFill/>
        </p:spPr>
        <p:txBody>
          <a:bodyPr wrap="square" lIns="0" tIns="0" rIns="0" bIns="0" anchor="t">
            <a:noAutofit/>
          </a:bodyPr>
          <a:lstStyle/>
          <a:p>
            <a:pPr algn="l">
              <a:lnSpc>
                <a:spcPct val="100000"/>
              </a:lnSpc>
              <a:buNone/>
            </a:pPr>
            <a:r>
              <a:rPr lang="ja-JP" altLang="en-US" sz="1150" b="1">
                <a:solidFill>
                  <a:srgbClr val="262626"/>
                </a:solidFill>
                <a:latin typeface="+mj-ea"/>
                <a:ea typeface="+mj-ea"/>
              </a:rPr>
              <a:t>中間報告</a:t>
            </a:r>
          </a:p>
        </p:txBody>
      </p:sp>
      <p:sp>
        <p:nvSpPr>
          <p:cNvPr id="40" name="TextBox 39"/>
          <p:cNvSpPr txBox="1"/>
          <p:nvPr/>
        </p:nvSpPr>
        <p:spPr>
          <a:xfrm>
            <a:off x="8038630" y="3909060"/>
            <a:ext cx="1234440" cy="365760"/>
          </a:xfrm>
          <a:prstGeom prst="rect">
            <a:avLst/>
          </a:prstGeom>
          <a:noFill/>
        </p:spPr>
        <p:txBody>
          <a:bodyPr wrap="square" lIns="0" tIns="0" rIns="0" bIns="0" anchor="t">
            <a:noAutofit/>
          </a:bodyPr>
          <a:lstStyle/>
          <a:p>
            <a:pPr algn="l">
              <a:buNone/>
            </a:pPr>
            <a:r>
              <a:rPr lang="ja-JP" altLang="en-US" sz="1000" b="0">
                <a:solidFill>
                  <a:srgbClr val="595959"/>
                </a:solidFill>
                <a:latin typeface="+mj-ea"/>
                <a:ea typeface="+mj-ea"/>
              </a:rPr>
              <a:t>Phase2の進捗と論点を確認</a:t>
            </a:r>
          </a:p>
        </p:txBody>
      </p:sp>
      <p:sp>
        <p:nvSpPr>
          <p:cNvPr id="41" name="Oval 40"/>
          <p:cNvSpPr/>
          <p:nvPr/>
        </p:nvSpPr>
        <p:spPr>
          <a:xfrm>
            <a:off x="10091459" y="2537460"/>
            <a:ext cx="274320" cy="274320"/>
          </a:xfrm>
          <a:prstGeom prst="ellipse">
            <a:avLst/>
          </a:prstGeom>
          <a:solidFill>
            <a:srgbClr val="046A38"/>
          </a:solidFill>
          <a:ln>
            <a:noFill/>
          </a:ln>
        </p:spPr>
        <p:txBody>
          <a:bodyPr wrap="square" lIns="54864" tIns="27432" rIns="54864" bIns="27432" rtlCol="0" anchor="ctr">
            <a:noAutofit/>
          </a:bodyPr>
          <a:lstStyle/>
          <a:p>
            <a:pPr algn="ctr"/>
            <a:endParaRPr>
              <a:latin typeface="+mj-ea"/>
              <a:ea typeface="+mj-ea"/>
            </a:endParaRPr>
          </a:p>
        </p:txBody>
      </p:sp>
      <p:sp>
        <p:nvSpPr>
          <p:cNvPr id="42" name="Rectangle 41"/>
          <p:cNvSpPr/>
          <p:nvPr/>
        </p:nvSpPr>
        <p:spPr>
          <a:xfrm>
            <a:off x="9519959" y="2994660"/>
            <a:ext cx="1417320" cy="1627632"/>
          </a:xfrm>
          <a:prstGeom prst="rect">
            <a:avLst/>
          </a:prstGeom>
          <a:solidFill>
            <a:srgbClr val="F3F3F3"/>
          </a:solidFill>
          <a:ln>
            <a:noFill/>
          </a:ln>
        </p:spPr>
        <p:txBody>
          <a:bodyPr wrap="square" lIns="54864" tIns="27432" rIns="54864" bIns="27432" rtlCol="0" anchor="ctr">
            <a:noAutofit/>
          </a:bodyPr>
          <a:lstStyle/>
          <a:p>
            <a:pPr algn="ctr"/>
            <a:endParaRPr>
              <a:latin typeface="+mj-ea"/>
              <a:ea typeface="+mj-ea"/>
            </a:endParaRPr>
          </a:p>
        </p:txBody>
      </p:sp>
      <p:sp>
        <p:nvSpPr>
          <p:cNvPr id="43" name="TextBox 42"/>
          <p:cNvSpPr txBox="1"/>
          <p:nvPr/>
        </p:nvSpPr>
        <p:spPr>
          <a:xfrm>
            <a:off x="9611399" y="3049524"/>
            <a:ext cx="1234440" cy="292608"/>
          </a:xfrm>
          <a:prstGeom prst="rect">
            <a:avLst/>
          </a:prstGeom>
          <a:noFill/>
        </p:spPr>
        <p:txBody>
          <a:bodyPr wrap="square" lIns="0" tIns="0" rIns="0" bIns="0" anchor="ctr">
            <a:noAutofit/>
          </a:bodyPr>
          <a:lstStyle/>
          <a:p>
            <a:pPr algn="l">
              <a:buNone/>
            </a:pPr>
            <a:r>
              <a:rPr lang="ja-JP" altLang="en-US" sz="1300" b="1">
                <a:solidFill>
                  <a:srgbClr val="046A38"/>
                </a:solidFill>
                <a:latin typeface="+mj-ea"/>
                <a:ea typeface="+mj-ea"/>
              </a:rPr>
              <a:t>11/10（火）</a:t>
            </a:r>
          </a:p>
        </p:txBody>
      </p:sp>
      <p:sp>
        <p:nvSpPr>
          <p:cNvPr id="44" name="TextBox 43"/>
          <p:cNvSpPr txBox="1"/>
          <p:nvPr/>
        </p:nvSpPr>
        <p:spPr>
          <a:xfrm>
            <a:off x="9611399" y="3360420"/>
            <a:ext cx="1234440" cy="566928"/>
          </a:xfrm>
          <a:prstGeom prst="rect">
            <a:avLst/>
          </a:prstGeom>
          <a:noFill/>
        </p:spPr>
        <p:txBody>
          <a:bodyPr wrap="square" lIns="0" tIns="0" rIns="0" bIns="0" anchor="t">
            <a:noAutofit/>
          </a:bodyPr>
          <a:lstStyle/>
          <a:p>
            <a:pPr algn="l">
              <a:lnSpc>
                <a:spcPct val="100000"/>
              </a:lnSpc>
              <a:buNone/>
            </a:pPr>
            <a:r>
              <a:rPr lang="ja-JP" altLang="en-US" sz="1150" b="1">
                <a:solidFill>
                  <a:srgbClr val="262626"/>
                </a:solidFill>
                <a:latin typeface="+mj-ea"/>
                <a:ea typeface="+mj-ea"/>
              </a:rPr>
              <a:t>嶋田社長・</a:t>
            </a:r>
            <a:endParaRPr lang="ja-JP" altLang="ja-JP" sz="1150" b="1">
              <a:solidFill>
                <a:srgbClr val="262626"/>
              </a:solidFill>
              <a:latin typeface="+mj-ea"/>
              <a:ea typeface="+mj-ea"/>
            </a:endParaRPr>
          </a:p>
          <a:p>
            <a:pPr algn="l">
              <a:lnSpc>
                <a:spcPct val="100000"/>
              </a:lnSpc>
              <a:buNone/>
            </a:pPr>
            <a:r>
              <a:rPr lang="ja-JP" altLang="en-US" sz="1150" b="1">
                <a:solidFill>
                  <a:srgbClr val="262626"/>
                </a:solidFill>
                <a:latin typeface="+mj-ea"/>
                <a:ea typeface="+mj-ea"/>
              </a:rPr>
              <a:t>野村専務へお渡し</a:t>
            </a:r>
          </a:p>
        </p:txBody>
      </p:sp>
      <p:sp>
        <p:nvSpPr>
          <p:cNvPr id="45" name="TextBox 44"/>
          <p:cNvSpPr txBox="1"/>
          <p:nvPr/>
        </p:nvSpPr>
        <p:spPr>
          <a:xfrm>
            <a:off x="9611399" y="3909060"/>
            <a:ext cx="1234440" cy="365760"/>
          </a:xfrm>
          <a:prstGeom prst="rect">
            <a:avLst/>
          </a:prstGeom>
          <a:noFill/>
        </p:spPr>
        <p:txBody>
          <a:bodyPr wrap="square" lIns="0" tIns="0" rIns="0" bIns="0" anchor="t">
            <a:noAutofit/>
          </a:bodyPr>
          <a:lstStyle/>
          <a:p>
            <a:pPr algn="l">
              <a:buNone/>
            </a:pPr>
            <a:r>
              <a:rPr lang="ja-JP" altLang="en-US" sz="1000" b="0">
                <a:solidFill>
                  <a:srgbClr val="595959"/>
                </a:solidFill>
                <a:latin typeface="+mj-ea"/>
                <a:ea typeface="+mj-ea"/>
              </a:rPr>
              <a:t>大きなマイルストーン</a:t>
            </a:r>
          </a:p>
        </p:txBody>
      </p:sp>
      <p:sp>
        <p:nvSpPr>
          <p:cNvPr id="51" name="Rectangle 50"/>
          <p:cNvSpPr/>
          <p:nvPr/>
        </p:nvSpPr>
        <p:spPr>
          <a:xfrm>
            <a:off x="475488" y="4864608"/>
            <a:ext cx="11228832" cy="1280160"/>
          </a:xfrm>
          <a:prstGeom prst="rect">
            <a:avLst/>
          </a:prstGeom>
          <a:solidFill>
            <a:srgbClr val="FFFFFF"/>
          </a:solidFill>
          <a:ln w="9525">
            <a:solidFill>
              <a:srgbClr val="D0D0CE"/>
            </a:solidFill>
          </a:ln>
        </p:spPr>
        <p:txBody>
          <a:bodyPr wrap="square" lIns="54864" tIns="27432" rIns="54864" bIns="27432" rtlCol="0" anchor="ctr">
            <a:noAutofit/>
          </a:bodyPr>
          <a:lstStyle/>
          <a:p>
            <a:pPr algn="ctr"/>
            <a:endParaRPr>
              <a:latin typeface="+mj-ea"/>
              <a:ea typeface="+mj-ea"/>
            </a:endParaRPr>
          </a:p>
        </p:txBody>
      </p:sp>
      <p:sp>
        <p:nvSpPr>
          <p:cNvPr id="52" name="TextBox 51"/>
          <p:cNvSpPr txBox="1"/>
          <p:nvPr/>
        </p:nvSpPr>
        <p:spPr>
          <a:xfrm>
            <a:off x="658368" y="4901184"/>
            <a:ext cx="1828800" cy="310896"/>
          </a:xfrm>
          <a:prstGeom prst="rect">
            <a:avLst/>
          </a:prstGeom>
          <a:noFill/>
        </p:spPr>
        <p:txBody>
          <a:bodyPr wrap="square" lIns="0" tIns="0" rIns="0" bIns="0" anchor="ctr">
            <a:noAutofit/>
          </a:bodyPr>
          <a:lstStyle/>
          <a:p>
            <a:pPr algn="l">
              <a:buNone/>
            </a:pPr>
            <a:r>
              <a:rPr lang="ja-JP" altLang="en-US" sz="1250" b="1">
                <a:solidFill>
                  <a:srgbClr val="262626"/>
                </a:solidFill>
                <a:latin typeface="+mj-ea"/>
                <a:ea typeface="+mj-ea"/>
              </a:rPr>
              <a:t>進め方のポイント</a:t>
            </a:r>
          </a:p>
        </p:txBody>
      </p:sp>
      <p:sp>
        <p:nvSpPr>
          <p:cNvPr id="53" name="TextBox 52"/>
          <p:cNvSpPr txBox="1"/>
          <p:nvPr/>
        </p:nvSpPr>
        <p:spPr>
          <a:xfrm>
            <a:off x="658368" y="5212080"/>
            <a:ext cx="10881360" cy="914400"/>
          </a:xfrm>
          <a:prstGeom prst="rect">
            <a:avLst/>
          </a:prstGeom>
          <a:noFill/>
        </p:spPr>
        <p:txBody>
          <a:bodyPr wrap="square" lIns="0" tIns="0" rIns="0" bIns="0" anchor="t">
            <a:noAutofit/>
          </a:bodyPr>
          <a:lstStyle/>
          <a:p>
            <a:pPr algn="l">
              <a:buNone/>
            </a:pPr>
            <a:r>
              <a:rPr lang="ja-JP" altLang="en-US" sz="1200" b="1">
                <a:solidFill>
                  <a:srgbClr val="046A38"/>
                </a:solidFill>
                <a:latin typeface="+mj-ea"/>
                <a:ea typeface="+mj-ea"/>
              </a:rPr>
              <a:t>前倒し　</a:t>
            </a:r>
            <a:r>
              <a:rPr lang="ja-JP" altLang="en-US" sz="1200" b="0">
                <a:solidFill>
                  <a:srgbClr val="262626"/>
                </a:solidFill>
                <a:latin typeface="+mj-ea"/>
                <a:ea typeface="+mj-ea"/>
              </a:rPr>
              <a:t>最新版を、10/15頃に一括でセキュア環境へ反映し、あわせてデータを投入する</a:t>
            </a:r>
          </a:p>
          <a:p>
            <a:pPr algn="l">
              <a:spcBef>
                <a:spcPts val="400"/>
              </a:spcBef>
              <a:buNone/>
            </a:pPr>
            <a:r>
              <a:rPr lang="ja-JP" altLang="en-US" sz="1200" b="1">
                <a:solidFill>
                  <a:srgbClr val="046A38"/>
                </a:solidFill>
                <a:latin typeface="+mj-ea"/>
                <a:ea typeface="+mj-ea"/>
              </a:rPr>
              <a:t>区切り　</a:t>
            </a:r>
            <a:r>
              <a:rPr lang="ja-JP" altLang="en-US" sz="1200" b="0">
                <a:solidFill>
                  <a:srgbClr val="262626"/>
                </a:solidFill>
                <a:latin typeface="+mj-ea"/>
                <a:ea typeface="+mj-ea"/>
              </a:rPr>
              <a:t>10/7でアドホック改修を一旦Close。以降のご要望は改修台帳で管理し、ITEC様と反映の時期を調整する</a:t>
            </a:r>
          </a:p>
          <a:p>
            <a:pPr algn="l">
              <a:spcBef>
                <a:spcPts val="400"/>
              </a:spcBef>
              <a:buNone/>
            </a:pPr>
            <a:r>
              <a:rPr lang="ja-JP" altLang="en-US" sz="1200" b="1">
                <a:solidFill>
                  <a:srgbClr val="046A38"/>
                </a:solidFill>
                <a:latin typeface="+mj-ea"/>
                <a:ea typeface="+mj-ea"/>
              </a:rPr>
              <a:t>移行　　</a:t>
            </a:r>
            <a:r>
              <a:rPr lang="ja-JP" altLang="en-US" sz="1200" b="0">
                <a:solidFill>
                  <a:srgbClr val="262626"/>
                </a:solidFill>
                <a:latin typeface="+mj-ea"/>
                <a:ea typeface="+mj-ea"/>
              </a:rPr>
              <a:t>運用・データ投入はITEC様主導、改修も10/15以降は段階的にITEC様主導へ。デロイトは技術アドバイザリーに切り替える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t>ITEC様への引継ぎの進め方</a:t>
            </a:r>
          </a:p>
        </p:txBody>
      </p:sp>
      <p:sp>
        <p:nvSpPr>
          <p:cNvPr id="3" name="Title 2"/>
          <p:cNvSpPr>
            <a:spLocks noGrp="1"/>
          </p:cNvSpPr>
          <p:nvPr>
            <p:ph type="title"/>
          </p:nvPr>
        </p:nvSpPr>
        <p:spPr/>
        <p:txBody>
          <a:bodyPr/>
          <a:lstStyle/>
          <a:p>
            <a:r>
              <a:t>10/7版への切り替えを早めるため、今週・来週に1回ずつ引継ぎの場を設け、ITEC様と密に連携します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10</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7" name="Pentagon 6"/>
          <p:cNvSpPr/>
          <p:nvPr/>
        </p:nvSpPr>
        <p:spPr>
          <a:xfrm>
            <a:off x="475488" y="1627632"/>
            <a:ext cx="3779519" cy="402336"/>
          </a:xfrm>
          <a:prstGeom prst="homePlate">
            <a:avLst>
              <a:gd name="adj" fmla="val 25000"/>
            </a:avLst>
          </a:prstGeom>
          <a:solidFill>
            <a:srgbClr val="046A38"/>
          </a:solidFill>
          <a:ln>
            <a:noFill/>
          </a:ln>
        </p:spPr>
        <p:txBody>
          <a:bodyPr wrap="square" lIns="164592" tIns="0" bIns="0" rtlCol="0" anchor="ctr">
            <a:noAutofit/>
          </a:bodyPr>
          <a:lstStyle/>
          <a:p>
            <a:pPr algn="l">
              <a:buNone/>
            </a:pPr>
            <a:r>
              <a:rPr lang="ja-JP" altLang="en-US" sz="1250" b="1">
                <a:solidFill>
                  <a:srgbClr val="FFFFFF"/>
                </a:solidFill>
              </a:rPr>
              <a:t>STEP 1｜10/7（水）</a:t>
            </a:r>
          </a:p>
        </p:txBody>
      </p:sp>
      <p:sp>
        <p:nvSpPr>
          <p:cNvPr id="8" name="TextBox 7"/>
          <p:cNvSpPr txBox="1"/>
          <p:nvPr/>
        </p:nvSpPr>
        <p:spPr>
          <a:xfrm>
            <a:off x="585216" y="2121408"/>
            <a:ext cx="3486911" cy="310896"/>
          </a:xfrm>
          <a:prstGeom prst="rect">
            <a:avLst/>
          </a:prstGeom>
          <a:noFill/>
        </p:spPr>
        <p:txBody>
          <a:bodyPr wrap="square" lIns="0" tIns="0" rIns="0" bIns="0" anchor="ctr">
            <a:noAutofit/>
          </a:bodyPr>
          <a:lstStyle/>
          <a:p>
            <a:pPr algn="l">
              <a:buNone/>
            </a:pPr>
            <a:r>
              <a:rPr lang="ja-JP" altLang="en-US" sz="1350" b="1">
                <a:solidFill>
                  <a:srgbClr val="262626"/>
                </a:solidFill>
              </a:rPr>
              <a:t>改修を一旦Close</a:t>
            </a:r>
          </a:p>
        </p:txBody>
      </p:sp>
      <p:sp>
        <p:nvSpPr>
          <p:cNvPr id="9" name="TextBox 8"/>
          <p:cNvSpPr txBox="1"/>
          <p:nvPr/>
        </p:nvSpPr>
        <p:spPr>
          <a:xfrm>
            <a:off x="585216" y="2450592"/>
            <a:ext cx="3486911" cy="822960"/>
          </a:xfrm>
          <a:prstGeom prst="rect">
            <a:avLst/>
          </a:prstGeom>
          <a:noFill/>
        </p:spPr>
        <p:txBody>
          <a:bodyPr wrap="square" lIns="0" tIns="0" rIns="0" bIns="0" anchor="t">
            <a:noAutofit/>
          </a:bodyPr>
          <a:lstStyle/>
          <a:p>
            <a:pPr marL="146304" indent="-146304" algn="l">
              <a:lnSpc>
                <a:spcPct val="105000"/>
              </a:lnSpc>
              <a:spcBef>
                <a:spcPts val="200"/>
              </a:spcBef>
              <a:buClr>
                <a:srgbClr val="8C8C8C"/>
              </a:buClr>
              <a:buFont typeface="Arial"/>
              <a:buChar char="•"/>
            </a:pPr>
            <a:r>
              <a:rPr lang="ja-JP" altLang="en-US" sz="1200" b="0">
                <a:solidFill>
                  <a:srgbClr val="262626"/>
                </a:solidFill>
              </a:rPr>
              <a:t>10/7版のソース一式・改修台帳・ドキュメントを確定し、ITEC様へお渡し</a:t>
            </a:r>
          </a:p>
        </p:txBody>
      </p:sp>
      <p:sp>
        <p:nvSpPr>
          <p:cNvPr id="10" name="Chevron 9"/>
          <p:cNvSpPr/>
          <p:nvPr/>
        </p:nvSpPr>
        <p:spPr>
          <a:xfrm>
            <a:off x="4255007" y="1627632"/>
            <a:ext cx="3779519" cy="402336"/>
          </a:xfrm>
          <a:prstGeom prst="chevron">
            <a:avLst>
              <a:gd name="adj" fmla="val 25000"/>
            </a:avLst>
          </a:prstGeom>
          <a:solidFill>
            <a:srgbClr val="595959"/>
          </a:solidFill>
          <a:ln>
            <a:noFill/>
          </a:ln>
        </p:spPr>
        <p:txBody>
          <a:bodyPr wrap="square" lIns="274320" tIns="0" bIns="0" rtlCol="0" anchor="ctr">
            <a:noAutofit/>
          </a:bodyPr>
          <a:lstStyle/>
          <a:p>
            <a:pPr algn="l">
              <a:buNone/>
            </a:pPr>
            <a:r>
              <a:rPr lang="ja-JP" altLang="en-US" sz="1250" b="1">
                <a:solidFill>
                  <a:srgbClr val="FFFFFF"/>
                </a:solidFill>
              </a:rPr>
              <a:t>STEP 2｜10/8〜10/14</a:t>
            </a:r>
          </a:p>
        </p:txBody>
      </p:sp>
      <p:sp>
        <p:nvSpPr>
          <p:cNvPr id="11" name="TextBox 10"/>
          <p:cNvSpPr txBox="1"/>
          <p:nvPr/>
        </p:nvSpPr>
        <p:spPr>
          <a:xfrm>
            <a:off x="4364735" y="2121408"/>
            <a:ext cx="3486911" cy="310896"/>
          </a:xfrm>
          <a:prstGeom prst="rect">
            <a:avLst/>
          </a:prstGeom>
          <a:noFill/>
        </p:spPr>
        <p:txBody>
          <a:bodyPr wrap="square" lIns="0" tIns="0" rIns="0" bIns="0" anchor="ctr">
            <a:noAutofit/>
          </a:bodyPr>
          <a:lstStyle/>
          <a:p>
            <a:pPr algn="l">
              <a:buNone/>
            </a:pPr>
            <a:r>
              <a:rPr lang="ja-JP" altLang="en-US" sz="1350" b="1">
                <a:solidFill>
                  <a:srgbClr val="262626"/>
                </a:solidFill>
              </a:rPr>
              <a:t>反映作業に伴走（引継ぎ会 ×2）</a:t>
            </a:r>
          </a:p>
        </p:txBody>
      </p:sp>
      <p:sp>
        <p:nvSpPr>
          <p:cNvPr id="12" name="TextBox 11"/>
          <p:cNvSpPr txBox="1"/>
          <p:nvPr/>
        </p:nvSpPr>
        <p:spPr>
          <a:xfrm>
            <a:off x="4364735" y="2450592"/>
            <a:ext cx="3486911" cy="822960"/>
          </a:xfrm>
          <a:prstGeom prst="rect">
            <a:avLst/>
          </a:prstGeom>
          <a:noFill/>
        </p:spPr>
        <p:txBody>
          <a:bodyPr wrap="square" lIns="0" tIns="0" rIns="0" bIns="0" anchor="t">
            <a:noAutofit/>
          </a:bodyPr>
          <a:lstStyle/>
          <a:p>
            <a:pPr marL="146304" indent="-146304" algn="l">
              <a:lnSpc>
                <a:spcPct val="105000"/>
              </a:lnSpc>
              <a:spcBef>
                <a:spcPts val="200"/>
              </a:spcBef>
              <a:buClr>
                <a:srgbClr val="8C8C8C"/>
              </a:buClr>
              <a:buFont typeface="Arial"/>
              <a:buChar char="•"/>
            </a:pPr>
            <a:r>
              <a:rPr lang="ja-JP" altLang="en-US" sz="1200" b="1">
                <a:solidFill>
                  <a:srgbClr val="262626"/>
                </a:solidFill>
              </a:rPr>
              <a:t>第1回（今週）</a:t>
            </a:r>
            <a:r>
              <a:rPr lang="ja-JP" altLang="en-US" sz="1200" b="0">
                <a:solidFill>
                  <a:srgbClr val="262626"/>
                </a:solidFill>
              </a:rPr>
              <a:t>　9/11版→10/7版の差分と、反映の手順・設定</a:t>
            </a:r>
          </a:p>
          <a:p>
            <a:pPr marL="146304" indent="-146304" algn="l">
              <a:lnSpc>
                <a:spcPct val="105000"/>
              </a:lnSpc>
              <a:spcBef>
                <a:spcPts val="200"/>
              </a:spcBef>
              <a:buClr>
                <a:srgbClr val="8C8C8C"/>
              </a:buClr>
              <a:buFont typeface="Arial"/>
              <a:buChar char="•"/>
            </a:pPr>
            <a:r>
              <a:rPr lang="ja-JP" altLang="en-US" sz="1200" b="1">
                <a:solidFill>
                  <a:srgbClr val="262626"/>
                </a:solidFill>
              </a:rPr>
              <a:t>第2回（来週）</a:t>
            </a:r>
            <a:r>
              <a:rPr lang="ja-JP" altLang="en-US" sz="1200" b="0">
                <a:solidFill>
                  <a:srgbClr val="262626"/>
                </a:solidFill>
              </a:rPr>
              <a:t>　反映結果の確認、不具合の切り分け、データ投入の手順</a:t>
            </a:r>
          </a:p>
        </p:txBody>
      </p:sp>
      <p:sp>
        <p:nvSpPr>
          <p:cNvPr id="13" name="Chevron 12"/>
          <p:cNvSpPr/>
          <p:nvPr/>
        </p:nvSpPr>
        <p:spPr>
          <a:xfrm>
            <a:off x="8034527" y="1627632"/>
            <a:ext cx="3669791" cy="402336"/>
          </a:xfrm>
          <a:prstGeom prst="chevron">
            <a:avLst>
              <a:gd name="adj" fmla="val 25000"/>
            </a:avLst>
          </a:prstGeom>
          <a:solidFill>
            <a:srgbClr val="8C8C8C"/>
          </a:solidFill>
          <a:ln>
            <a:noFill/>
          </a:ln>
        </p:spPr>
        <p:txBody>
          <a:bodyPr wrap="square" lIns="274320" tIns="0" bIns="0" rtlCol="0" anchor="ctr">
            <a:noAutofit/>
          </a:bodyPr>
          <a:lstStyle/>
          <a:p>
            <a:pPr algn="l">
              <a:buNone/>
            </a:pPr>
            <a:r>
              <a:rPr lang="ja-JP" altLang="en-US" sz="1250" b="1">
                <a:solidFill>
                  <a:srgbClr val="FFFFFF"/>
                </a:solidFill>
              </a:rPr>
              <a:t>STEP 3｜10/15〜</a:t>
            </a:r>
          </a:p>
        </p:txBody>
      </p:sp>
      <p:sp>
        <p:nvSpPr>
          <p:cNvPr id="14" name="TextBox 13"/>
          <p:cNvSpPr txBox="1"/>
          <p:nvPr/>
        </p:nvSpPr>
        <p:spPr>
          <a:xfrm>
            <a:off x="8144255" y="2121408"/>
            <a:ext cx="3486911" cy="310896"/>
          </a:xfrm>
          <a:prstGeom prst="rect">
            <a:avLst/>
          </a:prstGeom>
          <a:noFill/>
        </p:spPr>
        <p:txBody>
          <a:bodyPr wrap="square" lIns="0" tIns="0" rIns="0" bIns="0" anchor="ctr">
            <a:noAutofit/>
          </a:bodyPr>
          <a:lstStyle/>
          <a:p>
            <a:pPr algn="l">
              <a:buNone/>
            </a:pPr>
            <a:r>
              <a:rPr lang="ja-JP" altLang="en-US" sz="1350" b="1">
                <a:solidFill>
                  <a:srgbClr val="262626"/>
                </a:solidFill>
              </a:rPr>
              <a:t>公開・データ投入、ITEC様主導へ</a:t>
            </a:r>
          </a:p>
        </p:txBody>
      </p:sp>
      <p:sp>
        <p:nvSpPr>
          <p:cNvPr id="15" name="TextBox 14"/>
          <p:cNvSpPr txBox="1"/>
          <p:nvPr/>
        </p:nvSpPr>
        <p:spPr>
          <a:xfrm>
            <a:off x="8144255" y="2450592"/>
            <a:ext cx="3486911" cy="822960"/>
          </a:xfrm>
          <a:prstGeom prst="rect">
            <a:avLst/>
          </a:prstGeom>
          <a:noFill/>
        </p:spPr>
        <p:txBody>
          <a:bodyPr wrap="square" lIns="0" tIns="0" rIns="0" bIns="0" anchor="t">
            <a:noAutofit/>
          </a:bodyPr>
          <a:lstStyle/>
          <a:p>
            <a:pPr marL="146304" indent="-146304" algn="l">
              <a:lnSpc>
                <a:spcPct val="105000"/>
              </a:lnSpc>
              <a:spcBef>
                <a:spcPts val="200"/>
              </a:spcBef>
              <a:buClr>
                <a:srgbClr val="8C8C8C"/>
              </a:buClr>
              <a:buFont typeface="Arial"/>
              <a:buChar char="•"/>
            </a:pPr>
            <a:r>
              <a:rPr lang="ja-JP" altLang="en-US" sz="1200" b="0">
                <a:solidFill>
                  <a:srgbClr val="262626"/>
                </a:solidFill>
              </a:rPr>
              <a:t>10/15頃に10/7版を公開し、本番データを投入。改修も段階的にITEC様主導へ</a:t>
            </a:r>
          </a:p>
        </p:txBody>
      </p:sp>
      <p:sp>
        <p:nvSpPr>
          <p:cNvPr id="16" name="Rectangle 15"/>
          <p:cNvSpPr/>
          <p:nvPr/>
        </p:nvSpPr>
        <p:spPr>
          <a:xfrm>
            <a:off x="475488" y="3456432"/>
            <a:ext cx="5715000" cy="329184"/>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250" b="1">
                <a:solidFill>
                  <a:srgbClr val="FFFFFF"/>
                </a:solidFill>
              </a:rPr>
              <a:t>お渡しするもの（10/7版）</a:t>
            </a:r>
          </a:p>
        </p:txBody>
      </p:sp>
      <p:graphicFrame>
        <p:nvGraphicFramePr>
          <p:cNvPr id="17" name="Table 16"/>
          <p:cNvGraphicFramePr>
            <a:graphicFrameLocks noGrp="1"/>
          </p:cNvGraphicFramePr>
          <p:nvPr>
            <p:extLst>
              <p:ext uri="{D42A27DB-BD31-4B8C-83A1-F6EECF244321}">
                <p14:modId xmlns:p14="http://schemas.microsoft.com/office/powerpoint/2010/main" val="2754206741"/>
              </p:ext>
            </p:extLst>
          </p:nvPr>
        </p:nvGraphicFramePr>
        <p:xfrm>
          <a:off x="475488" y="3785615"/>
          <a:ext cx="5715000" cy="2450592"/>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612648">
                <a:tc>
                  <a:txBody>
                    <a:bodyPr/>
                    <a:lstStyle/>
                    <a:p>
                      <a:pPr algn="l">
                        <a:lnSpc>
                          <a:spcPts val="1350"/>
                        </a:lnSpc>
                        <a:buNone/>
                      </a:pPr>
                      <a:r>
                        <a:rPr lang="ja-JP" altLang="en-US" sz="1200" b="1">
                          <a:solidFill>
                            <a:srgbClr val="262626"/>
                          </a:solidFill>
                        </a:rPr>
                        <a:t>ソースコード</a:t>
                      </a:r>
                    </a:p>
                  </a:txBody>
                  <a:tcPr marL="73152" marR="73152" marT="27432" marB="27432" anchor="ctr">
                    <a:lnL w="0">
                      <a:noFill/>
                    </a:lnL>
                    <a:lnR w="0">
                      <a:noFill/>
                    </a:lnR>
                    <a:lnT w="0">
                      <a:noFill/>
                    </a:lnT>
                    <a:lnB w="9525">
                      <a:solidFill>
                        <a:srgbClr val="E3E3E3"/>
                      </a:solidFill>
                    </a:lnB>
                    <a:noFill/>
                  </a:tcPr>
                </a:tc>
                <a:tc>
                  <a:txBody>
                    <a:bodyPr/>
                    <a:lstStyle/>
                    <a:p>
                      <a:pPr algn="l">
                        <a:lnSpc>
                          <a:spcPts val="1350"/>
                        </a:lnSpc>
                        <a:buNone/>
                      </a:pPr>
                      <a:r>
                        <a:rPr lang="ja-JP" altLang="en-US" sz="1200" b="0">
                          <a:solidFill>
                            <a:srgbClr val="1A1A1A"/>
                          </a:solidFill>
                        </a:rPr>
                        <a:t>10/7版のアプリ一式（収集処理・総会QAの取込・テストを含む）</a:t>
                      </a:r>
                    </a:p>
                  </a:txBody>
                  <a:tcPr marL="73152" marR="73152" marT="27432" marB="27432" anchor="ctr">
                    <a:lnL w="0">
                      <a:noFill/>
                    </a:lnL>
                    <a:lnR w="0">
                      <a:noFill/>
                    </a:lnR>
                    <a:lnT w="0">
                      <a:noFill/>
                    </a:lnT>
                    <a:lnB w="9525">
                      <a:solidFill>
                        <a:srgbClr val="E3E3E3"/>
                      </a:solidFill>
                    </a:lnB>
                    <a:noFill/>
                  </a:tcPr>
                </a:tc>
                <a:extLst>
                  <a:ext uri="{0D108BD9-81ED-4DB2-BD59-A6C34878D82A}">
                    <a16:rowId xmlns:a16="http://schemas.microsoft.com/office/drawing/2014/main" val="10000"/>
                  </a:ext>
                </a:extLst>
              </a:tr>
              <a:tr h="612648">
                <a:tc>
                  <a:txBody>
                    <a:bodyPr/>
                    <a:lstStyle/>
                    <a:p>
                      <a:pPr algn="l">
                        <a:lnSpc>
                          <a:spcPts val="1350"/>
                        </a:lnSpc>
                        <a:buNone/>
                      </a:pPr>
                      <a:r>
                        <a:rPr lang="ja-JP" altLang="en-US" sz="1200" b="1">
                          <a:solidFill>
                            <a:srgbClr val="262626"/>
                          </a:solidFill>
                        </a:rPr>
                        <a:t>改修台帳</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200" b="0">
                          <a:solidFill>
                            <a:srgbClr val="1A1A1A"/>
                          </a:solidFill>
                        </a:rPr>
                        <a:t>FIX後の改修の台帳（FX番号つき）と、改修ごとの修正案・修正記録</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1"/>
                  </a:ext>
                </a:extLst>
              </a:tr>
              <a:tr h="612648">
                <a:tc>
                  <a:txBody>
                    <a:bodyPr/>
                    <a:lstStyle/>
                    <a:p>
                      <a:pPr algn="l">
                        <a:lnSpc>
                          <a:spcPts val="1350"/>
                        </a:lnSpc>
                        <a:buNone/>
                      </a:pPr>
                      <a:r>
                        <a:rPr lang="ja-JP" altLang="en-US" sz="1200" b="1">
                          <a:solidFill>
                            <a:srgbClr val="262626"/>
                          </a:solidFill>
                        </a:rPr>
                        <a:t>ドキュメント</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200" b="0">
                          <a:solidFill>
                            <a:srgbClr val="1A1A1A"/>
                          </a:solidFill>
                        </a:rPr>
                        <a:t>アプリ仕様書・アーキテクチャ・利用者マニュアル・開発者マニュアル（最新版に合わせて更新）</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2"/>
                  </a:ext>
                </a:extLst>
              </a:tr>
              <a:tr h="612648">
                <a:tc>
                  <a:txBody>
                    <a:bodyPr/>
                    <a:lstStyle/>
                    <a:p>
                      <a:pPr algn="l">
                        <a:lnSpc>
                          <a:spcPts val="1350"/>
                        </a:lnSpc>
                        <a:buNone/>
                      </a:pPr>
                      <a:r>
                        <a:rPr lang="ja-JP" altLang="en-US" sz="1200" b="1">
                          <a:solidFill>
                            <a:srgbClr val="262626"/>
                          </a:solidFill>
                        </a:rPr>
                        <a:t>外部データの状況</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tc>
                  <a:txBody>
                    <a:bodyPr/>
                    <a:lstStyle/>
                    <a:p>
                      <a:pPr algn="l">
                        <a:lnSpc>
                          <a:spcPts val="1350"/>
                        </a:lnSpc>
                        <a:buNone/>
                      </a:pPr>
                      <a:r>
                        <a:rPr lang="ja-JP" altLang="en-US" sz="1200" b="0">
                          <a:solidFill>
                            <a:srgbClr val="1A1A1A"/>
                          </a:solidFill>
                        </a:rPr>
                        <a:t>99行の取得状況と、残課題の一覧（10/5版）</a:t>
                      </a:r>
                    </a:p>
                  </a:txBody>
                  <a:tcPr marL="73152" marR="73152" marT="27432" marB="27432" anchor="ctr">
                    <a:lnL w="0">
                      <a:noFill/>
                    </a:lnL>
                    <a:lnR w="0">
                      <a:noFill/>
                    </a:lnR>
                    <a:lnT w="9525" cap="flat" cmpd="sng" algn="ctr">
                      <a:solidFill>
                        <a:srgbClr val="E3E3E3"/>
                      </a:solidFill>
                      <a:prstDash val="solid"/>
                      <a:round/>
                      <a:headEnd type="none" w="med" len="med"/>
                      <a:tailEnd type="none" w="med" len="med"/>
                    </a:lnT>
                    <a:lnB w="9525">
                      <a:solidFill>
                        <a:srgbClr val="E3E3E3"/>
                      </a:solidFill>
                    </a:lnB>
                    <a:noFill/>
                  </a:tcPr>
                </a:tc>
                <a:extLst>
                  <a:ext uri="{0D108BD9-81ED-4DB2-BD59-A6C34878D82A}">
                    <a16:rowId xmlns:a16="http://schemas.microsoft.com/office/drawing/2014/main" val="10003"/>
                  </a:ext>
                </a:extLst>
              </a:tr>
            </a:tbl>
          </a:graphicData>
        </a:graphic>
      </p:graphicFrame>
      <p:sp>
        <p:nvSpPr>
          <p:cNvPr id="18" name="Rectangle 17"/>
          <p:cNvSpPr/>
          <p:nvPr/>
        </p:nvSpPr>
        <p:spPr>
          <a:xfrm>
            <a:off x="6446520" y="3456432"/>
            <a:ext cx="5257800" cy="329184"/>
          </a:xfrm>
          <a:prstGeom prst="rect">
            <a:avLst/>
          </a:prstGeom>
          <a:solidFill>
            <a:srgbClr val="63666A"/>
          </a:solidFill>
          <a:ln>
            <a:noFill/>
          </a:ln>
        </p:spPr>
        <p:txBody>
          <a:bodyPr wrap="square" lIns="54864" tIns="27432" rIns="54864" bIns="27432" rtlCol="0" anchor="ctr">
            <a:noAutofit/>
          </a:bodyPr>
          <a:lstStyle/>
          <a:p>
            <a:pPr algn="ctr">
              <a:buNone/>
            </a:pPr>
            <a:r>
              <a:rPr lang="ja-JP" altLang="en-US" sz="1250" b="1">
                <a:solidFill>
                  <a:srgbClr val="FFFFFF"/>
                </a:solidFill>
              </a:rPr>
              <a:t>10/15以降の役割分担</a:t>
            </a:r>
          </a:p>
        </p:txBody>
      </p:sp>
      <p:sp>
        <p:nvSpPr>
          <p:cNvPr id="19" name="Rounded Rectangle 18"/>
          <p:cNvSpPr/>
          <p:nvPr/>
        </p:nvSpPr>
        <p:spPr>
          <a:xfrm>
            <a:off x="6492240" y="3950208"/>
            <a:ext cx="1005840" cy="274320"/>
          </a:xfrm>
          <a:prstGeom prst="roundRect">
            <a:avLst>
              <a:gd name="adj" fmla="val 50000"/>
            </a:avLst>
          </a:prstGeom>
          <a:solidFill>
            <a:srgbClr val="F3F3F3"/>
          </a:solidFill>
          <a:ln>
            <a:noFill/>
          </a:ln>
        </p:spPr>
        <p:txBody>
          <a:bodyPr wrap="square" lIns="36576" tIns="0" rIns="36576" bIns="0" rtlCol="0" anchor="ctr">
            <a:noAutofit/>
          </a:bodyPr>
          <a:lstStyle/>
          <a:p>
            <a:pPr algn="ctr">
              <a:buNone/>
            </a:pPr>
            <a:r>
              <a:rPr lang="ja-JP" altLang="en-US" sz="1200" b="1">
                <a:solidFill>
                  <a:srgbClr val="262626"/>
                </a:solidFill>
              </a:rPr>
              <a:t>BX推進部</a:t>
            </a:r>
          </a:p>
        </p:txBody>
      </p:sp>
      <p:sp>
        <p:nvSpPr>
          <p:cNvPr id="20" name="TextBox 19"/>
          <p:cNvSpPr txBox="1"/>
          <p:nvPr/>
        </p:nvSpPr>
        <p:spPr>
          <a:xfrm>
            <a:off x="7616952" y="3877056"/>
            <a:ext cx="4069080" cy="420624"/>
          </a:xfrm>
          <a:prstGeom prst="rect">
            <a:avLst/>
          </a:prstGeom>
          <a:noFill/>
        </p:spPr>
        <p:txBody>
          <a:bodyPr wrap="square" lIns="0" tIns="0" rIns="0" bIns="0" anchor="ctr">
            <a:noAutofit/>
          </a:bodyPr>
          <a:lstStyle/>
          <a:p>
            <a:pPr algn="l">
              <a:buNone/>
            </a:pPr>
            <a:r>
              <a:rPr lang="ja-JP" altLang="en-US" sz="1200" b="0">
                <a:solidFill>
                  <a:srgbClr val="262626"/>
                </a:solidFill>
              </a:rPr>
              <a:t>利用者・データの確認、改修の優先順位づけ、有償データ・許諾のご判断</a:t>
            </a:r>
          </a:p>
        </p:txBody>
      </p:sp>
      <p:cxnSp>
        <p:nvCxnSpPr>
          <p:cNvPr id="21" name="Connector 20"/>
          <p:cNvCxnSpPr/>
          <p:nvPr/>
        </p:nvCxnSpPr>
        <p:spPr>
          <a:xfrm>
            <a:off x="6446520" y="4325112"/>
            <a:ext cx="5257800" cy="0"/>
          </a:xfrm>
          <a:prstGeom prst="line">
            <a:avLst/>
          </a:prstGeom>
          <a:ln w="6350">
            <a:solidFill>
              <a:srgbClr val="E3E3E3"/>
            </a:solidFill>
          </a:ln>
        </p:spPr>
      </p:cxnSp>
      <p:sp>
        <p:nvSpPr>
          <p:cNvPr id="22" name="Rounded Rectangle 21"/>
          <p:cNvSpPr/>
          <p:nvPr/>
        </p:nvSpPr>
        <p:spPr>
          <a:xfrm>
            <a:off x="6492240" y="4407408"/>
            <a:ext cx="1005840" cy="274320"/>
          </a:xfrm>
          <a:prstGeom prst="roundRect">
            <a:avLst>
              <a:gd name="adj" fmla="val 50000"/>
            </a:avLst>
          </a:prstGeom>
          <a:solidFill>
            <a:srgbClr val="F3F3F3"/>
          </a:solidFill>
          <a:ln>
            <a:noFill/>
          </a:ln>
        </p:spPr>
        <p:txBody>
          <a:bodyPr wrap="square" lIns="36576" tIns="0" rIns="36576" bIns="0" rtlCol="0" anchor="ctr">
            <a:noAutofit/>
          </a:bodyPr>
          <a:lstStyle/>
          <a:p>
            <a:pPr algn="ctr">
              <a:buNone/>
            </a:pPr>
            <a:r>
              <a:rPr lang="ja-JP" altLang="en-US" sz="1200" b="1">
                <a:solidFill>
                  <a:srgbClr val="262626"/>
                </a:solidFill>
              </a:rPr>
              <a:t>ITEC様</a:t>
            </a:r>
          </a:p>
        </p:txBody>
      </p:sp>
      <p:sp>
        <p:nvSpPr>
          <p:cNvPr id="23" name="TextBox 22"/>
          <p:cNvSpPr txBox="1"/>
          <p:nvPr/>
        </p:nvSpPr>
        <p:spPr>
          <a:xfrm>
            <a:off x="7616952" y="4334256"/>
            <a:ext cx="4069080" cy="420624"/>
          </a:xfrm>
          <a:prstGeom prst="rect">
            <a:avLst/>
          </a:prstGeom>
          <a:noFill/>
        </p:spPr>
        <p:txBody>
          <a:bodyPr wrap="square" lIns="0" tIns="0" rIns="0" bIns="0" anchor="ctr">
            <a:noAutofit/>
          </a:bodyPr>
          <a:lstStyle/>
          <a:p>
            <a:pPr algn="l">
              <a:buNone/>
            </a:pPr>
            <a:r>
              <a:rPr lang="ja-JP" altLang="en-US" sz="1200" b="0">
                <a:solidFill>
                  <a:srgbClr val="262626"/>
                </a:solidFill>
              </a:rPr>
              <a:t>アプリの運用・データ投入を主導。改修も段階的に主導</a:t>
            </a:r>
          </a:p>
        </p:txBody>
      </p:sp>
      <p:cxnSp>
        <p:nvCxnSpPr>
          <p:cNvPr id="24" name="Connector 23"/>
          <p:cNvCxnSpPr/>
          <p:nvPr/>
        </p:nvCxnSpPr>
        <p:spPr>
          <a:xfrm>
            <a:off x="6446520" y="4782312"/>
            <a:ext cx="5257800" cy="0"/>
          </a:xfrm>
          <a:prstGeom prst="line">
            <a:avLst/>
          </a:prstGeom>
          <a:ln w="6350">
            <a:solidFill>
              <a:srgbClr val="E3E3E3"/>
            </a:solidFill>
          </a:ln>
        </p:spPr>
      </p:cxnSp>
      <p:sp>
        <p:nvSpPr>
          <p:cNvPr id="25" name="Rounded Rectangle 24"/>
          <p:cNvSpPr/>
          <p:nvPr/>
        </p:nvSpPr>
        <p:spPr>
          <a:xfrm>
            <a:off x="6492240" y="4864608"/>
            <a:ext cx="1005840" cy="274320"/>
          </a:xfrm>
          <a:prstGeom prst="roundRect">
            <a:avLst>
              <a:gd name="adj" fmla="val 50000"/>
            </a:avLst>
          </a:prstGeom>
          <a:solidFill>
            <a:srgbClr val="F3F3F3"/>
          </a:solidFill>
          <a:ln>
            <a:noFill/>
          </a:ln>
        </p:spPr>
        <p:txBody>
          <a:bodyPr wrap="square" lIns="36576" tIns="0" rIns="36576" bIns="0" rtlCol="0" anchor="ctr">
            <a:noAutofit/>
          </a:bodyPr>
          <a:lstStyle/>
          <a:p>
            <a:pPr algn="ctr">
              <a:buNone/>
            </a:pPr>
            <a:r>
              <a:rPr lang="ja-JP" altLang="en-US" sz="1200" b="1">
                <a:solidFill>
                  <a:srgbClr val="262626"/>
                </a:solidFill>
              </a:rPr>
              <a:t>デロイト</a:t>
            </a:r>
          </a:p>
        </p:txBody>
      </p:sp>
      <p:sp>
        <p:nvSpPr>
          <p:cNvPr id="26" name="TextBox 25"/>
          <p:cNvSpPr txBox="1"/>
          <p:nvPr/>
        </p:nvSpPr>
        <p:spPr>
          <a:xfrm>
            <a:off x="7616952" y="4791456"/>
            <a:ext cx="4069080" cy="420624"/>
          </a:xfrm>
          <a:prstGeom prst="rect">
            <a:avLst/>
          </a:prstGeom>
          <a:noFill/>
        </p:spPr>
        <p:txBody>
          <a:bodyPr wrap="square" lIns="0" tIns="0" rIns="0" bIns="0" anchor="ctr">
            <a:noAutofit/>
          </a:bodyPr>
          <a:lstStyle/>
          <a:p>
            <a:pPr algn="l">
              <a:buNone/>
            </a:pPr>
            <a:r>
              <a:rPr lang="ja-JP" altLang="en-US" sz="1200" b="0">
                <a:solidFill>
                  <a:srgbClr val="262626"/>
                </a:solidFill>
              </a:rPr>
              <a:t>技術アドバイザリー（技術QA・設計レビュー・品質のチューニング）</a:t>
            </a:r>
          </a:p>
        </p:txBody>
      </p:sp>
      <p:cxnSp>
        <p:nvCxnSpPr>
          <p:cNvPr id="27" name="Connector 26"/>
          <p:cNvCxnSpPr/>
          <p:nvPr/>
        </p:nvCxnSpPr>
        <p:spPr>
          <a:xfrm>
            <a:off x="6446520" y="5239512"/>
            <a:ext cx="5257800" cy="0"/>
          </a:xfrm>
          <a:prstGeom prst="line">
            <a:avLst/>
          </a:prstGeom>
          <a:ln w="6350">
            <a:solidFill>
              <a:srgbClr val="E3E3E3"/>
            </a:solidFill>
          </a:ln>
        </p:spPr>
      </p:cxnSp>
      <p:sp>
        <p:nvSpPr>
          <p:cNvPr id="28" name="Rectangle 27"/>
          <p:cNvSpPr/>
          <p:nvPr/>
        </p:nvSpPr>
        <p:spPr>
          <a:xfrm>
            <a:off x="6446520" y="5321808"/>
            <a:ext cx="5257800" cy="914400"/>
          </a:xfrm>
          <a:prstGeom prst="rect">
            <a:avLst/>
          </a:prstGeom>
          <a:solidFill>
            <a:srgbClr val="F3F3F3"/>
          </a:solidFill>
          <a:ln>
            <a:noFill/>
          </a:ln>
        </p:spPr>
        <p:txBody>
          <a:bodyPr wrap="square" lIns="146304" tIns="54864" rIns="128016" bIns="54864" rtlCol="0" anchor="ctr">
            <a:noAutofit/>
          </a:bodyPr>
          <a:lstStyle/>
          <a:p>
            <a:pPr algn="l">
              <a:buNone/>
            </a:pPr>
            <a:r>
              <a:rPr lang="ja-JP" altLang="en-US" sz="1400" b="1">
                <a:solidFill>
                  <a:srgbClr val="046A38"/>
                </a:solidFill>
              </a:rPr>
              <a:t>実データの扱い</a:t>
            </a:r>
          </a:p>
          <a:p>
            <a:pPr algn="l">
              <a:spcBef>
                <a:spcPts val="300"/>
              </a:spcBef>
              <a:buNone/>
            </a:pPr>
            <a:r>
              <a:rPr lang="ja-JP" altLang="en-US" sz="1100" b="0">
                <a:solidFill>
                  <a:srgbClr val="262626"/>
                </a:solidFill>
              </a:rPr>
              <a:t>リアルデータが入るアプリ・開発環境には、デロイトは原則触れません。ハンズオンが必要な場合は、ITEC様がマスキングしたデータを受け取り、検証環境で対応します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ED49269-3712-F31E-7E5C-C02A505C3209}"/>
              </a:ext>
            </a:extLst>
          </p:cNvPr>
          <p:cNvGraphicFramePr>
            <a:graphicFrameLocks/>
          </p:cNvGraphicFramePr>
          <p:nvPr>
            <p:custDataLst>
              <p:tags r:id="rId1"/>
            </p:custDataLst>
            <p:extLst>
              <p:ext uri="{D42A27DB-BD31-4B8C-83A1-F6EECF244321}">
                <p14:modId xmlns:p14="http://schemas.microsoft.com/office/powerpoint/2010/main" val="224709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2" name="thinkcell data - do not delete" hidden="1">
                        <a:extLst>
                          <a:ext uri="{FF2B5EF4-FFF2-40B4-BE49-F238E27FC236}">
                            <a16:creationId xmlns:a16="http://schemas.microsoft.com/office/drawing/2014/main" id="{5ED49269-3712-F31E-7E5C-C02A505C320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latin typeface="+mj-ea"/>
                <a:ea typeface="+mj-ea"/>
              </a:rPr>
              <a:pPr/>
              <a:t>11</a:t>
            </a:fld>
            <a:endParaRPr lang="ja-JP" altLang="en-US">
              <a:latin typeface="+mj-ea"/>
              <a:ea typeface="+mj-ea"/>
            </a:endParaRPr>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latin typeface="+mj-ea"/>
              </a:rPr>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0" name="TextBox 9"/>
          <p:cNvSpPr txBox="1"/>
          <p:nvPr/>
        </p:nvSpPr>
        <p:spPr>
          <a:xfrm>
            <a:off x="566928" y="227685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2．改修内容と最新アプリの状態</a:t>
            </a:r>
          </a:p>
        </p:txBody>
      </p:sp>
      <p:sp>
        <p:nvSpPr>
          <p:cNvPr id="11" name="TextBox 10"/>
          <p:cNvSpPr txBox="1"/>
          <p:nvPr/>
        </p:nvSpPr>
        <p:spPr>
          <a:xfrm>
            <a:off x="6400800" y="227685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10分</a:t>
            </a:r>
          </a:p>
        </p:txBody>
      </p:sp>
      <p:sp>
        <p:nvSpPr>
          <p:cNvPr id="12" name="TextBox 11"/>
          <p:cNvSpPr txBox="1"/>
          <p:nvPr/>
        </p:nvSpPr>
        <p:spPr>
          <a:xfrm>
            <a:off x="896112" y="266090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改修台帳（15項目＋Phase2の追加）と今週の改修</a:t>
            </a:r>
          </a:p>
        </p:txBody>
      </p:sp>
      <p:sp>
        <p:nvSpPr>
          <p:cNvPr id="13" name="TextBox 12"/>
          <p:cNvSpPr txBox="1"/>
          <p:nvPr/>
        </p:nvSpPr>
        <p:spPr>
          <a:xfrm>
            <a:off x="896112" y="2990088"/>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外部取得データソースの改善</a:t>
            </a:r>
          </a:p>
        </p:txBody>
      </p:sp>
      <p:sp>
        <p:nvSpPr>
          <p:cNvPr id="14" name="TextBox 13"/>
          <p:cNvSpPr txBox="1"/>
          <p:nvPr/>
        </p:nvSpPr>
        <p:spPr>
          <a:xfrm>
            <a:off x="566928" y="361188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3．当面のタイムラインとITEC様への引継ぎ</a:t>
            </a:r>
          </a:p>
        </p:txBody>
      </p:sp>
      <p:sp>
        <p:nvSpPr>
          <p:cNvPr id="15" name="TextBox 14"/>
          <p:cNvSpPr txBox="1"/>
          <p:nvPr/>
        </p:nvSpPr>
        <p:spPr>
          <a:xfrm>
            <a:off x="6400800" y="361188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6" name="ハイライト"/>
          <p:cNvSpPr/>
          <p:nvPr/>
        </p:nvSpPr>
        <p:spPr>
          <a:xfrm>
            <a:off x="402336" y="4242816"/>
            <a:ext cx="7269480" cy="786384"/>
          </a:xfrm>
          <a:prstGeom prst="rect">
            <a:avLst/>
          </a:prstGeom>
          <a:solidFill>
            <a:srgbClr val="63666A"/>
          </a:solidFill>
          <a:ln>
            <a:noFill/>
          </a:ln>
        </p:spPr>
        <p:txBody>
          <a:bodyPr wrap="square" lIns="54864" tIns="27432" rIns="54864" bIns="27432" rtlCol="0" anchor="ctr">
            <a:noAutofit/>
          </a:bodyPr>
          <a:lstStyle/>
          <a:p>
            <a:pPr algn="ctr"/>
            <a:endParaRPr>
              <a:latin typeface="+mj-ea"/>
              <a:ea typeface="+mj-ea"/>
            </a:endParaRPr>
          </a:p>
        </p:txBody>
      </p:sp>
      <p:sp>
        <p:nvSpPr>
          <p:cNvPr id="17" name="TextBox 16"/>
          <p:cNvSpPr txBox="1"/>
          <p:nvPr/>
        </p:nvSpPr>
        <p:spPr>
          <a:xfrm>
            <a:off x="566928" y="4288536"/>
            <a:ext cx="5852160" cy="402336"/>
          </a:xfrm>
          <a:prstGeom prst="rect">
            <a:avLst/>
          </a:prstGeom>
          <a:noFill/>
        </p:spPr>
        <p:txBody>
          <a:bodyPr wrap="square" lIns="0" tIns="0" rIns="0" bIns="0" anchor="ctr">
            <a:noAutofit/>
          </a:bodyPr>
          <a:lstStyle/>
          <a:p>
            <a:pPr algn="l">
              <a:buNone/>
            </a:pPr>
            <a:r>
              <a:rPr lang="ja-JP" altLang="en-US" sz="1700" b="1">
                <a:solidFill>
                  <a:srgbClr val="FFFFFF"/>
                </a:solidFill>
                <a:latin typeface="+mj-ea"/>
                <a:ea typeface="+mj-ea"/>
              </a:rPr>
              <a:t>4．ITEC様からのご報告</a:t>
            </a:r>
          </a:p>
        </p:txBody>
      </p:sp>
      <p:sp>
        <p:nvSpPr>
          <p:cNvPr id="18" name="TextBox 17"/>
          <p:cNvSpPr txBox="1"/>
          <p:nvPr/>
        </p:nvSpPr>
        <p:spPr>
          <a:xfrm>
            <a:off x="6400800" y="4288536"/>
            <a:ext cx="1143000" cy="402336"/>
          </a:xfrm>
          <a:prstGeom prst="rect">
            <a:avLst/>
          </a:prstGeom>
          <a:noFill/>
        </p:spPr>
        <p:txBody>
          <a:bodyPr wrap="square" lIns="0" tIns="0" rIns="0" bIns="0" anchor="ctr">
            <a:noAutofit/>
          </a:bodyPr>
          <a:lstStyle/>
          <a:p>
            <a:pPr algn="r">
              <a:buNone/>
            </a:pPr>
            <a:r>
              <a:rPr lang="ja-JP" altLang="en-US" sz="1600" b="1">
                <a:solidFill>
                  <a:srgbClr val="FFFFFF"/>
                </a:solidFill>
                <a:latin typeface="+mj-ea"/>
                <a:ea typeface="+mj-ea"/>
              </a:rPr>
              <a:t>20分</a:t>
            </a:r>
          </a:p>
        </p:txBody>
      </p:sp>
      <p:sp>
        <p:nvSpPr>
          <p:cNvPr id="19" name="TextBox 18"/>
          <p:cNvSpPr txBox="1"/>
          <p:nvPr/>
        </p:nvSpPr>
        <p:spPr>
          <a:xfrm>
            <a:off x="896112" y="4672584"/>
            <a:ext cx="6309360" cy="310896"/>
          </a:xfrm>
          <a:prstGeom prst="rect">
            <a:avLst/>
          </a:prstGeom>
          <a:noFill/>
        </p:spPr>
        <p:txBody>
          <a:bodyPr wrap="square" lIns="0" tIns="0" rIns="0" bIns="0" anchor="ctr">
            <a:noAutofit/>
          </a:bodyPr>
          <a:lstStyle/>
          <a:p>
            <a:pPr algn="l">
              <a:buNone/>
            </a:pPr>
            <a:r>
              <a:rPr lang="ja-JP" altLang="en-US" sz="1350" b="1">
                <a:solidFill>
                  <a:srgbClr val="FFFFFF"/>
                </a:solidFill>
                <a:latin typeface="+mj-ea"/>
                <a:ea typeface="+mj-ea"/>
              </a:rPr>
              <a:t>✓  </a:t>
            </a:r>
            <a:r>
              <a:rPr lang="ja-JP" altLang="en-US" sz="1350" b="0">
                <a:solidFill>
                  <a:srgbClr val="FFFFFF"/>
                </a:solidFill>
                <a:latin typeface="+mj-ea"/>
                <a:ea typeface="+mj-ea"/>
              </a:rPr>
              <a:t>セキュア公開版の状況、10/7版の反映・データ投入の計画</a:t>
            </a: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ラップアップ</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09A23A5-749C-0959-195C-7E30CFCFC96B}"/>
              </a:ext>
            </a:extLst>
          </p:cNvPr>
          <p:cNvGraphicFramePr>
            <a:graphicFrameLocks/>
          </p:cNvGraphicFramePr>
          <p:nvPr>
            <p:custDataLst>
              <p:tags r:id="rId1"/>
            </p:custDataLst>
            <p:extLst>
              <p:ext uri="{D42A27DB-BD31-4B8C-83A1-F6EECF244321}">
                <p14:modId xmlns:p14="http://schemas.microsoft.com/office/powerpoint/2010/main" val="14081065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2" name="thinkcell data - do not delete" hidden="1">
                        <a:extLst>
                          <a:ext uri="{FF2B5EF4-FFF2-40B4-BE49-F238E27FC236}">
                            <a16:creationId xmlns:a16="http://schemas.microsoft.com/office/drawing/2014/main" id="{809A23A5-749C-0959-195C-7E30CFCFC96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latin typeface="+mj-ea"/>
                <a:ea typeface="+mj-ea"/>
              </a:rPr>
              <a:pPr/>
              <a:t>12</a:t>
            </a:fld>
            <a:endParaRPr lang="ja-JP" altLang="en-US">
              <a:latin typeface="+mj-ea"/>
              <a:ea typeface="+mj-ea"/>
            </a:endParaRPr>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latin typeface="+mj-ea"/>
              </a:rPr>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0" name="TextBox 9"/>
          <p:cNvSpPr txBox="1"/>
          <p:nvPr/>
        </p:nvSpPr>
        <p:spPr>
          <a:xfrm>
            <a:off x="566928" y="227685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2．改修内容と最新アプリの状態</a:t>
            </a:r>
          </a:p>
        </p:txBody>
      </p:sp>
      <p:sp>
        <p:nvSpPr>
          <p:cNvPr id="11" name="TextBox 10"/>
          <p:cNvSpPr txBox="1"/>
          <p:nvPr/>
        </p:nvSpPr>
        <p:spPr>
          <a:xfrm>
            <a:off x="6400800" y="227685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10分</a:t>
            </a:r>
          </a:p>
        </p:txBody>
      </p:sp>
      <p:sp>
        <p:nvSpPr>
          <p:cNvPr id="12" name="TextBox 11"/>
          <p:cNvSpPr txBox="1"/>
          <p:nvPr/>
        </p:nvSpPr>
        <p:spPr>
          <a:xfrm>
            <a:off x="896112" y="266090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改修台帳（15項目＋Phase2の追加）と今週の改修</a:t>
            </a:r>
          </a:p>
        </p:txBody>
      </p:sp>
      <p:sp>
        <p:nvSpPr>
          <p:cNvPr id="13" name="TextBox 12"/>
          <p:cNvSpPr txBox="1"/>
          <p:nvPr/>
        </p:nvSpPr>
        <p:spPr>
          <a:xfrm>
            <a:off x="896112" y="2990088"/>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外部取得データソースの改善</a:t>
            </a:r>
          </a:p>
        </p:txBody>
      </p:sp>
      <p:sp>
        <p:nvSpPr>
          <p:cNvPr id="14" name="TextBox 13"/>
          <p:cNvSpPr txBox="1"/>
          <p:nvPr/>
        </p:nvSpPr>
        <p:spPr>
          <a:xfrm>
            <a:off x="566928" y="3611880"/>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3．当面のタイムラインとITEC様への引継ぎ</a:t>
            </a:r>
          </a:p>
        </p:txBody>
      </p:sp>
      <p:sp>
        <p:nvSpPr>
          <p:cNvPr id="15" name="TextBox 14"/>
          <p:cNvSpPr txBox="1"/>
          <p:nvPr/>
        </p:nvSpPr>
        <p:spPr>
          <a:xfrm>
            <a:off x="6400800" y="3611880"/>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5分</a:t>
            </a:r>
          </a:p>
        </p:txBody>
      </p:sp>
      <p:sp>
        <p:nvSpPr>
          <p:cNvPr id="16" name="TextBox 15"/>
          <p:cNvSpPr txBox="1"/>
          <p:nvPr/>
        </p:nvSpPr>
        <p:spPr>
          <a:xfrm>
            <a:off x="566928" y="4288536"/>
            <a:ext cx="5852160" cy="402336"/>
          </a:xfrm>
          <a:prstGeom prst="rect">
            <a:avLst/>
          </a:prstGeom>
          <a:noFill/>
        </p:spPr>
        <p:txBody>
          <a:bodyPr wrap="square" lIns="0" tIns="0" rIns="0" bIns="0" anchor="ctr">
            <a:noAutofit/>
          </a:bodyPr>
          <a:lstStyle/>
          <a:p>
            <a:pPr algn="l">
              <a:buNone/>
            </a:pPr>
            <a:r>
              <a:rPr lang="ja-JP" altLang="en-US" sz="1700" b="0">
                <a:solidFill>
                  <a:srgbClr val="262626"/>
                </a:solidFill>
                <a:latin typeface="+mj-ea"/>
                <a:ea typeface="+mj-ea"/>
              </a:rPr>
              <a:t>4．ITEC様からのご報告</a:t>
            </a:r>
          </a:p>
        </p:txBody>
      </p:sp>
      <p:sp>
        <p:nvSpPr>
          <p:cNvPr id="17" name="TextBox 16"/>
          <p:cNvSpPr txBox="1"/>
          <p:nvPr/>
        </p:nvSpPr>
        <p:spPr>
          <a:xfrm>
            <a:off x="6400800" y="4288536"/>
            <a:ext cx="1143000" cy="402336"/>
          </a:xfrm>
          <a:prstGeom prst="rect">
            <a:avLst/>
          </a:prstGeom>
          <a:noFill/>
        </p:spPr>
        <p:txBody>
          <a:bodyPr wrap="square" lIns="0" tIns="0" rIns="0" bIns="0" anchor="ctr">
            <a:noAutofit/>
          </a:bodyPr>
          <a:lstStyle/>
          <a:p>
            <a:pPr algn="r">
              <a:buNone/>
            </a:pPr>
            <a:r>
              <a:rPr lang="ja-JP" altLang="en-US" sz="1600" b="0">
                <a:solidFill>
                  <a:srgbClr val="262626"/>
                </a:solidFill>
                <a:latin typeface="+mj-ea"/>
                <a:ea typeface="+mj-ea"/>
              </a:rPr>
              <a:t>20分</a:t>
            </a:r>
          </a:p>
        </p:txBody>
      </p:sp>
      <p:sp>
        <p:nvSpPr>
          <p:cNvPr id="18" name="TextBox 17"/>
          <p:cNvSpPr txBox="1"/>
          <p:nvPr/>
        </p:nvSpPr>
        <p:spPr>
          <a:xfrm>
            <a:off x="896112" y="4672584"/>
            <a:ext cx="6309360" cy="310896"/>
          </a:xfrm>
          <a:prstGeom prst="rect">
            <a:avLst/>
          </a:prstGeom>
          <a:noFill/>
        </p:spPr>
        <p:txBody>
          <a:bodyPr wrap="square" lIns="0" tIns="0" rIns="0" bIns="0" anchor="ctr">
            <a:noAutofit/>
          </a:bodyPr>
          <a:lstStyle/>
          <a:p>
            <a:pPr algn="l">
              <a:buNone/>
            </a:pPr>
            <a:r>
              <a:rPr lang="ja-JP" altLang="en-US" sz="1350" b="1">
                <a:solidFill>
                  <a:srgbClr val="8C8C8C"/>
                </a:solidFill>
                <a:latin typeface="+mj-ea"/>
                <a:ea typeface="+mj-ea"/>
              </a:rPr>
              <a:t>✓  </a:t>
            </a:r>
            <a:r>
              <a:rPr lang="ja-JP" altLang="en-US" sz="1350" b="0">
                <a:solidFill>
                  <a:srgbClr val="595959"/>
                </a:solidFill>
                <a:latin typeface="+mj-ea"/>
                <a:ea typeface="+mj-ea"/>
              </a:rPr>
              <a:t>セキュア公開版の状況、10/7版の反映・データ投入の計画</a:t>
            </a:r>
          </a:p>
        </p:txBody>
      </p:sp>
      <p:sp>
        <p:nvSpPr>
          <p:cNvPr id="19" name="ハイライト"/>
          <p:cNvSpPr/>
          <p:nvPr/>
        </p:nvSpPr>
        <p:spPr>
          <a:xfrm>
            <a:off x="402336" y="5248656"/>
            <a:ext cx="7269480" cy="786384"/>
          </a:xfrm>
          <a:prstGeom prst="rect">
            <a:avLst/>
          </a:prstGeom>
          <a:solidFill>
            <a:srgbClr val="63666A"/>
          </a:solidFill>
          <a:ln>
            <a:noFill/>
          </a:ln>
        </p:spPr>
        <p:txBody>
          <a:bodyPr wrap="square" lIns="54864" tIns="27432" rIns="54864" bIns="27432" rtlCol="0" anchor="ctr">
            <a:noAutofit/>
          </a:bodyPr>
          <a:lstStyle/>
          <a:p>
            <a:pPr algn="ctr"/>
            <a:endParaRPr>
              <a:latin typeface="+mj-ea"/>
              <a:ea typeface="+mj-ea"/>
            </a:endParaRP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lang="ja-JP" altLang="en-US" sz="1700" b="1">
                <a:solidFill>
                  <a:srgbClr val="FFFFFF"/>
                </a:solidFill>
                <a:latin typeface="+mj-ea"/>
                <a:ea typeface="+mj-ea"/>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lang="ja-JP" altLang="en-US" sz="1600" b="1">
                <a:solidFill>
                  <a:srgbClr val="FFFFFF"/>
                </a:solidFill>
                <a:latin typeface="+mj-ea"/>
                <a:ea typeface="+mj-ea"/>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lang="ja-JP" altLang="en-US" sz="1350" b="1">
                <a:solidFill>
                  <a:srgbClr val="FFFFFF"/>
                </a:solidFill>
                <a:latin typeface="+mj-ea"/>
                <a:ea typeface="+mj-ea"/>
              </a:rPr>
              <a:t>✓  </a:t>
            </a:r>
            <a:r>
              <a:rPr lang="ja-JP" altLang="en-US" sz="1350" b="0">
                <a:solidFill>
                  <a:srgbClr val="FFFFFF"/>
                </a:solidFill>
                <a:latin typeface="+mj-ea"/>
                <a:ea typeface="+mj-ea"/>
              </a:rPr>
              <a:t>ラップアップ</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75DD-7687-18CD-6477-EC4CB4A915A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F3CE8E-0BEA-B4D6-42CB-E98F95672D8F}"/>
              </a:ext>
            </a:extLst>
          </p:cNvPr>
          <p:cNvSpPr txBox="1"/>
          <p:nvPr/>
        </p:nvSpPr>
        <p:spPr bwMode="gray">
          <a:xfrm>
            <a:off x="9639300" y="6253004"/>
            <a:ext cx="2073275" cy="246221"/>
          </a:xfrm>
          <a:prstGeom prst="rect">
            <a:avLst/>
          </a:prstGeom>
          <a:noFill/>
          <a:ln>
            <a:noFill/>
          </a:ln>
        </p:spPr>
        <p:txBody>
          <a:bodyPr wrap="square" lIns="0" tIns="0" rIns="0" bIns="0" rtlCol="0">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rPr>
              <a:t>IS/BCMSそれぞれの認証範囲はこちらをご覧ください</a:t>
            </a: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0" lang="ja-JP" altLang="en-US" sz="800" b="0" i="0" u="sng" strike="noStrike" kern="1200" cap="none" spc="0" normalizeH="0" baseline="0" noProof="0">
                <a:ln>
                  <a:noFill/>
                </a:ln>
                <a:solidFill>
                  <a:srgbClr val="0563C1"/>
                </a:solidFill>
                <a:effectLst/>
                <a:uLnTx/>
                <a:uFillTx/>
                <a:latin typeface="Yu Gothic UI"/>
                <a:ea typeface="Yu Gothic UI"/>
                <a:cs typeface="Arial" charset="0"/>
                <a:hlinkClick r:id="rId3"/>
              </a:rPr>
              <a:t>http://www.bsigroup.com/clientDirectory</a:t>
            </a:r>
            <a:endPar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 name="テキスト プレースホルダー 8">
            <a:extLst>
              <a:ext uri="{FF2B5EF4-FFF2-40B4-BE49-F238E27FC236}">
                <a16:creationId xmlns:a16="http://schemas.microsoft.com/office/drawing/2014/main" id="{090CCCCE-6D25-7612-9F7D-A4033FB1AEEC}"/>
              </a:ext>
            </a:extLst>
          </p:cNvPr>
          <p:cNvSpPr txBox="1">
            <a:spLocks/>
          </p:cNvSpPr>
          <p:nvPr/>
        </p:nvSpPr>
        <p:spPr bwMode="gray">
          <a:xfrm>
            <a:off x="358493" y="3470575"/>
            <a:ext cx="8820000" cy="3028650"/>
          </a:xfrm>
          <a:prstGeom prst="rect">
            <a:avLst/>
          </a:prstGeom>
        </p:spPr>
        <p:txBody>
          <a:bodyPr/>
          <a:lst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lang="ja-JP" altLang="en-US"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alt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alt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alt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alt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lang="ja-JP" altLang="en-US"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lang="ja-JP" altLang="en-US"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lang="ja-JP" altLang="en-US"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lang="ja-JP" altLang="en-US" sz="1300" kern="1200" baseline="0">
                <a:solidFill>
                  <a:schemeClr val="tx1"/>
                </a:solidFill>
                <a:latin typeface="+mn-lt"/>
                <a:ea typeface="+mn-ea"/>
                <a:cs typeface="+mn-cs"/>
              </a:defRPr>
            </a:lvl9pPr>
          </a:lstStyle>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トーマツ グループは、日本におけるデロイト アジア パシフィック リミテッドおよびデロイトネットワークのメンバーである合同会社デロイト トーマツ グループならびにそのグループ法人（有限責任監査法人トーマツ、合同会社デロイト トーマツ、デロイト トーマツ税理士法人およびDT弁護士法人を含む）の総称です。デロイト トーマツ グループは、日本で最大級のプロフェッショナルグループのひとつであり、各法人がそれぞれの適用法令に従いプロフェッショナルサービスを提供しています。また、国内30都市以上に2万人超の専門家を擁し、多国籍企業や主要な日本企業をクライアントとしています。詳細はデロイト トーマツ グループWebサイト、</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4"/>
              </a:rPr>
              <a:t>www.deloitte.com/jp</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Deloitte（デロイト）とは、Deloitte Touche Tohmatsu Limited（“Deloitte Global”）、そのグローバルネットワーク組織を構成するメンバーファームおよびそれらの関係法人（総称して“デロイトネットワーク”）のひとつまたは複数を指します。Deloitte Globalならびに各メンバーファームおよび関係法人はそれぞれ法的に独立した別個の組織体であり、第三者に関して相互に義務を課しまたは拘束させることはありません。Deloitte Globalおよびその各メンバーファームならびに関係法人は、自らの作為および不作為についてのみ責任を負い、互いに他のファームまたは関係法人の作為および不作為について責任を負うものではありません。Deloitte Globalはクライアントへのサービス提供を行いません。詳細は </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5"/>
              </a:rPr>
              <a:t>www.deloitte.com/jp/about</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br>
              <a:rPr kumimoji="1" lang="ja-JP" altLang="en-US" sz="800" b="0" i="0" u="none" strike="noStrike" kern="1200" cap="none" spc="0" normalizeH="0" baseline="0" noProof="0">
                <a:ln>
                  <a:noFill/>
                </a:ln>
                <a:solidFill>
                  <a:prstClr val="black"/>
                </a:solidFill>
                <a:effectLst/>
                <a:uLnTx/>
                <a:uFillTx/>
                <a:latin typeface="Calibri"/>
                <a:ea typeface="Yu Gothic UI"/>
                <a:cs typeface="+mn-cs"/>
              </a:rPr>
            </a:b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アジア パシフィック リミテッドは保証有限責任会社であり、Deloitte Globalのメンバーファームです。デロイト アジア パシフィック リミテッドのメンバーおよびそれらの関係法人は、それぞれ法的に独立した別個の組織体であり、アジア パシフィックにおける100を超える都市（オークランド、バンコク、北京、ベンガルール、ハノイ、香港、ジャカルタ、クアラルンプール、マニラ、メルボルン、ムンバイ、ニューデリー、大阪、ソウル、上海、シンガポール、シドニー、台北、東京を含む）にてサービスを提供しています。</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Deloitte（デロイト）は、最先端のプロフェッショナルサービスを、Fortune Global 500®の約9割の企業や多数のプライベート（非公開）企業を含むクライアントに提供しています。デロイトは、資本市場に対する社会的な信頼を高め、クライアントの変革と繁栄を促進することで、計測可能で継続性のある成果をもたらすプロフェッショナルの集団です。デロイトは、創設以来180年の歴史を有し、150を超える国・地域にわたって活動を展開しています。 “Making an impact that matters”をパーパス（存在理由）として標榜するデロイトの約46万人の人材の活動の詳細については、</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6"/>
              </a:rPr>
              <a:t>www.deloitte.com</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本資料は皆様への情報提供として一般的な情報を掲載するのみであり、Deloitte Touche Tohmatsu Limited (”Deloitte Global”)、そのグローバルネットワーク組織を構成するメンバーファームおよびそれらの関係法人（総称して“デロイトネットワーク”）が本資料をもって専門的な助言やサービスを提供するものではありません。皆様の財務または事業に影響を与えるような意思決定または行動をされる前に、適切な専門家にご相談ください。本資料における情報の正確性や完全性に関して、いかなる表明、保証または確約（明示・黙示を問いません）をするものではありません。またDeloitte Global、そのメンバーファーム、関係法人、社員・職員または代理人のいずれも、本資料に依拠した人に関係して直接または間接に発生したいかなる損失および損害に対しても責任を負いません。Deloitte Globalならびに各メンバーファームおよび関係法人はそれぞれ法的に独立した別個の組織体です。</a:t>
            </a:r>
          </a:p>
        </p:txBody>
      </p:sp>
    </p:spTree>
    <p:extLst>
      <p:ext uri="{BB962C8B-B14F-4D97-AF65-F5344CB8AC3E}">
        <p14:creationId xmlns:p14="http://schemas.microsoft.com/office/powerpoint/2010/main" val="1475542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LANGUAGE_ID" val="1041"/>
  <p:tag name="EE4P_STYLE_ID" val="076a8867-8b72-4914-890a-d2f9a5d03d99"/>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T Template_16:9_J_202507">
  <a:themeElements>
    <a:clrScheme name="Deloitte2025">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8E462FA6-9B00-4E7F-BFC0-B6BC63B792EF}"/>
    </a:ext>
  </a:extLst>
</a:theme>
</file>

<file path=ppt/theme/theme2.xml><?xml version="1.0" encoding="utf-8"?>
<a:theme xmlns:a="http://schemas.openxmlformats.org/drawingml/2006/main" name="DT Template_16:9_J_202507_基本版②">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EC5F9899-8C00-41A7-90E2-1AA9CB841817}"/>
    </a:ext>
  </a:extLst>
</a:theme>
</file>

<file path=ppt/theme/theme3.xml><?xml version="1.0" encoding="utf-8"?>
<a:theme xmlns:a="http://schemas.openxmlformats.org/drawingml/2006/main" name="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4.xml><?xml version="1.0" encoding="utf-8"?>
<a:theme xmlns:a="http://schemas.openxmlformats.org/drawingml/2006/main" name="1_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12700" algn="ctr">
          <a:solidFill>
            <a:srgbClr val="BBBCBC"/>
          </a:solidFill>
          <a:miter lim="800000"/>
          <a:headEnd/>
          <a:tailEnd/>
        </a:ln>
      </a:spPr>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F4429DF024E5448FC59C7B7B43C1AC" ma:contentTypeVersion="11" ma:contentTypeDescription="Create a new document." ma:contentTypeScope="" ma:versionID="acb135f8ac1bd7cde167a21f1321cadb">
  <xsd:schema xmlns:xsd="http://www.w3.org/2001/XMLSchema" xmlns:xs="http://www.w3.org/2001/XMLSchema" xmlns:p="http://schemas.microsoft.com/office/2006/metadata/properties" xmlns:ns2="736c8bd6-b1a7-463d-a242-abcb0c1a3ab7" xmlns:ns3="25a5c49f-f1be-44ee-b7a9-954566e675d2" targetNamespace="http://schemas.microsoft.com/office/2006/metadata/properties" ma:root="true" ma:fieldsID="72c5b997e5e4c90e17cc0c94290d5872" ns2:_="" ns3:_="">
    <xsd:import namespace="736c8bd6-b1a7-463d-a242-abcb0c1a3ab7"/>
    <xsd:import namespace="25a5c49f-f1be-44ee-b7a9-954566e675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c8bd6-b1a7-463d-a242-abcb0c1a3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a5c49f-f1be-44ee-b7a9-954566e675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8a2c12e-9cd8-4bdc-a214-d5fe3fdc3985}" ma:internalName="TaxCatchAll" ma:showField="CatchAllData" ma:web="25a5c49f-f1be-44ee-b7a9-954566e675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36c8bd6-b1a7-463d-a242-abcb0c1a3ab7">
      <Terms xmlns="http://schemas.microsoft.com/office/infopath/2007/PartnerControls"/>
    </lcf76f155ced4ddcb4097134ff3c332f>
    <TaxCatchAll xmlns="25a5c49f-f1be-44ee-b7a9-954566e675d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063CF7-712D-46E3-A445-D9FB2B5EA7D0}">
  <ds:schemaRefs>
    <ds:schemaRef ds:uri="25a5c49f-f1be-44ee-b7a9-954566e675d2"/>
    <ds:schemaRef ds:uri="736c8bd6-b1a7-463d-a242-abcb0c1a3a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8F75EE8-E51D-4422-BE39-CF7C03367777}">
  <ds:schemaRefs>
    <ds:schemaRef ds:uri="25a5c49f-f1be-44ee-b7a9-954566e675d2"/>
    <ds:schemaRef ds:uri="736c8bd6-b1a7-463d-a242-abcb0c1a3ab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3C562D3-14B2-4A04-B255-084073502BBE}">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Widescreen</PresentationFormat>
  <Slides>13</Slides>
  <Notes>13</Notes>
  <HiddenSlides>0</HiddenSlides>
  <ScaleCrop>false</ScaleCrop>
  <HeadingPairs>
    <vt:vector size="4" baseType="variant">
      <vt:variant>
        <vt:lpstr>Theme</vt:lpstr>
      </vt:variant>
      <vt:variant>
        <vt:i4>4</vt:i4>
      </vt:variant>
      <vt:variant>
        <vt:lpstr>Slide Titles</vt:lpstr>
      </vt:variant>
      <vt:variant>
        <vt:i4>13</vt:i4>
      </vt:variant>
    </vt:vector>
  </HeadingPairs>
  <TitlesOfParts>
    <vt:vector size="17" baseType="lpstr">
      <vt:lpstr>DT Template_16:9_J_202507</vt:lpstr>
      <vt:lpstr>DT Template_16:9_J_202507_基本版②</vt:lpstr>
      <vt:lpstr>DT Template_16:9_J_202401</vt:lpstr>
      <vt:lpstr>1_DT Template_16:9_J_202401</vt:lpstr>
      <vt:lpstr>PowerPoint Presentation</vt:lpstr>
      <vt:lpstr>本日のアジェンダ</vt:lpstr>
      <vt:lpstr>セキュア公開・データ投入はITEC様が主導し、弊社は改修・引継ぎと品質の評価・定着で支援します</vt:lpstr>
      <vt:lpstr>Phase2初週は予定通りの進捗です。10/5にセキュア公開版（9/11版）がリリースされ、最新版を早期に反映するための準備を進めています</vt:lpstr>
      <vt:lpstr>本日のアジェンダ</vt:lpstr>
      <vt:lpstr>最終報告以降も89件のご依頼・改善をすべて検証環境に反映し、この断面を10/7版としてITEC様へ引き継ぎます</vt:lpstr>
      <vt:lpstr>外部データは最終報告時点で取れていなかった70ソースのうち57ソース（8割）で代替案で取れるようになりました</vt:lpstr>
      <vt:lpstr>本日のアジェンダ</vt:lpstr>
      <vt:lpstr>9/11版以降に改修を重ねた最新版は、予定より早く10/15頃にセキュア環境へ反映し、あわせてデータを投入する見込みです</vt:lpstr>
      <vt:lpstr>10/7版への切り替えを早めるため、今週・来週に1回ずつ引継ぎの場を設け、ITEC様と密に連携します</vt:lpstr>
      <vt:lpstr>本日のアジェンダ</vt:lpstr>
      <vt:lpstr>本日のアジェンダ</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Xinlong</dc:creator>
  <cp:revision>4</cp:revision>
  <dcterms:created xsi:type="dcterms:W3CDTF">2026-06-25T23:44:23Z</dcterms:created>
  <dcterms:modified xsi:type="dcterms:W3CDTF">2026-10-06T13:45:30Z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0x0101003CF4429DF024E5448FC59C7B7B43C1AC</vt:lpwstr>
  </property>
  <property fmtid="{D5CDD505-2E9C-101B-9397-08002B2CF9AE}" pid="3" name="MSIP_Label_ea60d57e-af5b-4752-ac57-3e4f28ca11dc_Enabled">
    <vt:lpwstr>true</vt:lpwstr>
  </property>
  <property fmtid="{D5CDD505-2E9C-101B-9397-08002B2CF9AE}" pid="4" name="MSIP_Label_ea60d57e-af5b-4752-ac57-3e4f28ca11dc_SetDate">
    <vt:lpwstr>2021-11-30T06:12:18Z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177f38b9-1e8a-4270-81d8-98c657c22e6c</vt:lpwstr>
  </property>
  <property fmtid="{D5CDD505-2E9C-101B-9397-08002B2CF9AE}" pid="9" name="MSIP_Label_ea60d57e-af5b-4752-ac57-3e4f28ca11dc_ContentBits">
    <vt:lpwstr>0</vt:lpwstr>
  </property>
  <property fmtid="{D5CDD505-2E9C-101B-9397-08002B2CF9AE}" pid="10" name="MediaServiceImageTags">
    <vt:lpwstr/>
  </property>
</Properties>
</file>